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comment1.xml" ContentType="application/vnd.openxmlformats-officedocument.presentationml.comments+xml"/>
  <Override PartName="/ppt/comments/comment2.xml" ContentType="application/vnd.openxmlformats-officedocument.presentationml.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2.xml" ContentType="application/vnd.openxmlformats-officedocument.presentationml.tags+xml"/>
  <Override PartName="/ppt/notesSlides/notesSlide23.xml" ContentType="application/vnd.openxmlformats-officedocument.presentationml.notesSlide+xml"/>
  <Override PartName="/ppt/tags/tag3.xml" ContentType="application/vnd.openxmlformats-officedocument.presentationml.tags+xml"/>
  <Override PartName="/ppt/notesSlides/notesSlide24.xml" ContentType="application/vnd.openxmlformats-officedocument.presentationml.notesSlide+xml"/>
  <Override PartName="/ppt/tags/tag4.xml" ContentType="application/vnd.openxmlformats-officedocument.presentationml.tags+xml"/>
  <Override PartName="/ppt/notesSlides/notesSlide25.xml" ContentType="application/vnd.openxmlformats-officedocument.presentationml.notesSlide+xml"/>
  <Override PartName="/ppt/tags/tag5.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6.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7.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69"/>
  </p:notesMasterIdLst>
  <p:handoutMasterIdLst>
    <p:handoutMasterId r:id="rId70"/>
  </p:handoutMasterIdLst>
  <p:sldIdLst>
    <p:sldId id="2145705747" r:id="rId2"/>
    <p:sldId id="2147376120" r:id="rId3"/>
    <p:sldId id="345" r:id="rId4"/>
    <p:sldId id="2123260239" r:id="rId5"/>
    <p:sldId id="2147376045" r:id="rId6"/>
    <p:sldId id="2147376049" r:id="rId7"/>
    <p:sldId id="2147376050" r:id="rId8"/>
    <p:sldId id="2123260240" r:id="rId9"/>
    <p:sldId id="2123260241" r:id="rId10"/>
    <p:sldId id="14964" r:id="rId11"/>
    <p:sldId id="2147376043" r:id="rId12"/>
    <p:sldId id="14961" r:id="rId13"/>
    <p:sldId id="14942" r:id="rId14"/>
    <p:sldId id="14535" r:id="rId15"/>
    <p:sldId id="2123260222" r:id="rId16"/>
    <p:sldId id="2147376041" r:id="rId17"/>
    <p:sldId id="2147376042" r:id="rId18"/>
    <p:sldId id="14965" r:id="rId19"/>
    <p:sldId id="2123260230" r:id="rId20"/>
    <p:sldId id="2123260194" r:id="rId21"/>
    <p:sldId id="2123260231" r:id="rId22"/>
    <p:sldId id="2147376123" r:id="rId23"/>
    <p:sldId id="2123260234" r:id="rId24"/>
    <p:sldId id="2123260235" r:id="rId25"/>
    <p:sldId id="2147376051" r:id="rId26"/>
    <p:sldId id="2123260237" r:id="rId27"/>
    <p:sldId id="2147376055" r:id="rId28"/>
    <p:sldId id="2147376115" r:id="rId29"/>
    <p:sldId id="2123260238" r:id="rId30"/>
    <p:sldId id="2123260232" r:id="rId31"/>
    <p:sldId id="2123260236" r:id="rId32"/>
    <p:sldId id="2123260242" r:id="rId33"/>
    <p:sldId id="2147376040" r:id="rId34"/>
    <p:sldId id="2147376046" r:id="rId35"/>
    <p:sldId id="435" r:id="rId36"/>
    <p:sldId id="2147376047" r:id="rId37"/>
    <p:sldId id="2147376048" r:id="rId38"/>
    <p:sldId id="439" r:id="rId39"/>
    <p:sldId id="440" r:id="rId40"/>
    <p:sldId id="437" r:id="rId41"/>
    <p:sldId id="429" r:id="rId42"/>
    <p:sldId id="441" r:id="rId43"/>
    <p:sldId id="436" r:id="rId44"/>
    <p:sldId id="430" r:id="rId45"/>
    <p:sldId id="438" r:id="rId46"/>
    <p:sldId id="428" r:id="rId47"/>
    <p:sldId id="2147376056" r:id="rId48"/>
    <p:sldId id="2147376114" r:id="rId49"/>
    <p:sldId id="2147376116" r:id="rId50"/>
    <p:sldId id="2147376117" r:id="rId51"/>
    <p:sldId id="2147376118" r:id="rId52"/>
    <p:sldId id="2147376057" r:id="rId53"/>
    <p:sldId id="2147376113" r:id="rId54"/>
    <p:sldId id="2147376121" r:id="rId55"/>
    <p:sldId id="2147376124" r:id="rId56"/>
    <p:sldId id="2147471702" r:id="rId57"/>
    <p:sldId id="2147476496" r:id="rId58"/>
    <p:sldId id="2147471701" r:id="rId59"/>
    <p:sldId id="2147471700" r:id="rId60"/>
    <p:sldId id="2147471697" r:id="rId61"/>
    <p:sldId id="2147471698" r:id="rId62"/>
    <p:sldId id="2147471703" r:id="rId63"/>
    <p:sldId id="2147476495" r:id="rId64"/>
    <p:sldId id="2147479586" r:id="rId65"/>
    <p:sldId id="2147479587" r:id="rId66"/>
    <p:sldId id="2147479588" r:id="rId67"/>
    <p:sldId id="583"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efano Cadario" initials="SC" lastIdx="1" clrIdx="0">
    <p:extLst>
      <p:ext uri="{19B8F6BF-5375-455C-9EA6-DF929625EA0E}">
        <p15:presenceInfo xmlns:p15="http://schemas.microsoft.com/office/powerpoint/2012/main" userId="S::Stefano.Cadario@arm.com::80442c5e-a86e-4e3c-a034-07962a038ecc" providerId="AD"/>
      </p:ext>
    </p:extLst>
  </p:cmAuthor>
  <p:cmAuthor id="2" name="Barbara Bengyel" initials="BB" lastIdx="1" clrIdx="1">
    <p:extLst>
      <p:ext uri="{19B8F6BF-5375-455C-9EA6-DF929625EA0E}">
        <p15:presenceInfo xmlns:p15="http://schemas.microsoft.com/office/powerpoint/2012/main" userId="S::barbara.bengyel@arm.com::e8b45ead-9f84-4a51-9340-10c649ecd501" providerId="AD"/>
      </p:ext>
    </p:extLst>
  </p:cmAuthor>
  <p:cmAuthor id="3" name="Joachim Krech" initials="JK" lastIdx="1" clrIdx="2">
    <p:extLst>
      <p:ext uri="{19B8F6BF-5375-455C-9EA6-DF929625EA0E}">
        <p15:presenceInfo xmlns:p15="http://schemas.microsoft.com/office/powerpoint/2012/main" userId="S::Joachim.Krech@arm.com::6c90bbe8-e19a-475d-8c2c-8397cc371543" providerId="AD"/>
      </p:ext>
    </p:extLst>
  </p:cmAuthor>
  <p:cmAuthor id="4" name="Reinhard Keil" initials="RK" lastIdx="1" clrIdx="3">
    <p:extLst>
      <p:ext uri="{19B8F6BF-5375-455C-9EA6-DF929625EA0E}">
        <p15:presenceInfo xmlns:p15="http://schemas.microsoft.com/office/powerpoint/2012/main" userId="S::Reinhard.Keil@arm.com::a74c14d9-6dde-4ffd-bc62-ceabab23c91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91BD"/>
    <a:srgbClr val="FFFFFF"/>
    <a:srgbClr val="363D66"/>
    <a:srgbClr val="FFC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7C0735-B6EB-4E74-A6A6-A5AC1EF4CDEE}" v="48" dt="2024-11-18T07:04:05.8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5" autoAdjust="0"/>
    <p:restoredTop sz="94660"/>
  </p:normalViewPr>
  <p:slideViewPr>
    <p:cSldViewPr snapToGrid="0" showGuides="1">
      <p:cViewPr varScale="1">
        <p:scale>
          <a:sx n="153" d="100"/>
          <a:sy n="153" d="100"/>
        </p:scale>
        <p:origin x="162" y="192"/>
      </p:cViewPr>
      <p:guideLst>
        <p:guide orient="horz" pos="2160"/>
        <p:guide pos="3840"/>
      </p:guideLst>
    </p:cSldViewPr>
  </p:slideViewPr>
  <p:notesTextViewPr>
    <p:cViewPr>
      <p:scale>
        <a:sx n="3" d="2"/>
        <a:sy n="3" d="2"/>
      </p:scale>
      <p:origin x="-6" y="-18"/>
    </p:cViewPr>
  </p:notesTextViewPr>
  <p:notesViewPr>
    <p:cSldViewPr snapToGrid="0" showGuides="1">
      <p:cViewPr varScale="1">
        <p:scale>
          <a:sx n="120" d="100"/>
          <a:sy n="120" d="100"/>
        </p:scale>
        <p:origin x="4962" y="12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microsoft.com/office/2015/10/relationships/revisionInfo" Target="revisionInfo.xml"/><Relationship Id="rId7" Type="http://schemas.openxmlformats.org/officeDocument/2006/relationships/slide" Target="slides/slide6.xml"/><Relationship Id="rId71"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1-09-27T16:35:28.195" idx="1">
    <p:pos x="4114" y="197"/>
    <p:text>Can say "from Virtual to Physical Hardware" as the concept has been introduced already</p:text>
    <p:extLst>
      <p:ext uri="{C676402C-5697-4E1C-873F-D02D1690AC5C}">
        <p15:threadingInfo xmlns:p15="http://schemas.microsoft.com/office/powerpoint/2012/main" timeZoneBias="420"/>
      </p:ext>
    </p:extLst>
  </p:cm>
  <p:cm authorId="2" dt="2021-09-30T16:00:13.255" idx="1">
    <p:pos x="4114" y="293"/>
    <p:text>Done</p:text>
    <p:extLst>
      <p:ext uri="{C676402C-5697-4E1C-873F-D02D1690AC5C}">
        <p15:threadingInfo xmlns:p15="http://schemas.microsoft.com/office/powerpoint/2012/main" timeZoneBias="-60">
          <p15:parentCm authorId="1" idx="1"/>
        </p15:threadingInfo>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3" dt="2021-12-09T08:27:20.891" idx="1">
    <p:pos x="3747" y="626"/>
    <p:text>also independently maintained? Does that mean the solution could reference a repository and retain tag/version information?</p:text>
    <p:extLst>
      <p:ext uri="{C676402C-5697-4E1C-873F-D02D1690AC5C}">
        <p15:threadingInfo xmlns:p15="http://schemas.microsoft.com/office/powerpoint/2012/main" timeZoneBias="-6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1A3C70E-54AD-4107-B38D-530E18B05AE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ABB342A8-7A12-4C03-B162-F43C14419A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08FFADC-39A7-449E-8C68-8776E6FB3C1A}" type="datetimeFigureOut">
              <a:rPr lang="en-GB" smtClean="0"/>
              <a:t>09/07/2026</a:t>
            </a:fld>
            <a:endParaRPr lang="en-GB"/>
          </a:p>
        </p:txBody>
      </p:sp>
      <p:sp>
        <p:nvSpPr>
          <p:cNvPr id="4" name="Footer Placeholder 3">
            <a:extLst>
              <a:ext uri="{FF2B5EF4-FFF2-40B4-BE49-F238E27FC236}">
                <a16:creationId xmlns:a16="http://schemas.microsoft.com/office/drawing/2014/main" id="{E4AD25A0-15E5-4BF6-9F32-8BD4E1DF518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35038C07-F7C1-4141-BF59-1847AE735BD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0C69231-AFE2-4330-AF6B-EEB343F99539}" type="slidenum">
              <a:rPr lang="en-GB" smtClean="0"/>
              <a:t>‹#›</a:t>
            </a:fld>
            <a:endParaRPr lang="en-GB"/>
          </a:p>
        </p:txBody>
      </p:sp>
    </p:spTree>
    <p:extLst>
      <p:ext uri="{BB962C8B-B14F-4D97-AF65-F5344CB8AC3E}">
        <p14:creationId xmlns:p14="http://schemas.microsoft.com/office/powerpoint/2010/main" val="6554614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B9BAAB-B703-4BB5-9D08-B460FC03C23A}" type="datetimeFigureOut">
              <a:rPr lang="en-GB" smtClean="0"/>
              <a:t>09/07/2026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766A5B-B69C-40C5-853F-D27DDBF34364}" type="slidenum">
              <a:rPr lang="en-GB" smtClean="0"/>
              <a:t>‹#›</a:t>
            </a:fld>
            <a:endParaRPr lang="en-GB"/>
          </a:p>
        </p:txBody>
      </p:sp>
    </p:spTree>
    <p:extLst>
      <p:ext uri="{BB962C8B-B14F-4D97-AF65-F5344CB8AC3E}">
        <p14:creationId xmlns:p14="http://schemas.microsoft.com/office/powerpoint/2010/main" val="1871302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mailto:pbeckmann@dspconcepts.com" TargetMode="External"/><Relationship Id="rId2" Type="http://schemas.openxmlformats.org/officeDocument/2006/relationships/slide" Target="../slides/slide12.xml"/><Relationship Id="rId1" Type="http://schemas.openxmlformats.org/officeDocument/2006/relationships/notesMaster" Target="../notesMasters/notesMaster1.xml"/><Relationship Id="rId4" Type="http://schemas.openxmlformats.org/officeDocument/2006/relationships/hyperlink" Target="mailto:Reinhard.Keil@arm.com"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mailto:pbeckmann@dspconcepts.com" TargetMode="External"/><Relationship Id="rId2" Type="http://schemas.openxmlformats.org/officeDocument/2006/relationships/slide" Target="../slides/slide32.xml"/><Relationship Id="rId1" Type="http://schemas.openxmlformats.org/officeDocument/2006/relationships/notesMaster" Target="../notesMasters/notesMaster1.xml"/><Relationship Id="rId4" Type="http://schemas.openxmlformats.org/officeDocument/2006/relationships/hyperlink" Target="mailto:Reinhard.Keil@arm.com"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a:t>
            </a:fld>
            <a:endParaRPr lang="en-US" altLang="en-US"/>
          </a:p>
        </p:txBody>
      </p:sp>
    </p:spTree>
    <p:extLst>
      <p:ext uri="{BB962C8B-B14F-4D97-AF65-F5344CB8AC3E}">
        <p14:creationId xmlns:p14="http://schemas.microsoft.com/office/powerpoint/2010/main" val="1725640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a:t>
            </a:fld>
            <a:endParaRPr lang="en-US" altLang="en-US"/>
          </a:p>
        </p:txBody>
      </p:sp>
    </p:spTree>
    <p:extLst>
      <p:ext uri="{BB962C8B-B14F-4D97-AF65-F5344CB8AC3E}">
        <p14:creationId xmlns:p14="http://schemas.microsoft.com/office/powerpoint/2010/main" val="17256409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a:t>Potential key customer: DSP Concepts.  See email exchange:</a:t>
            </a:r>
          </a:p>
          <a:p>
            <a:endParaRPr lang="en-GB"/>
          </a:p>
          <a:p>
            <a:pPr marL="0" marR="0">
              <a:spcBef>
                <a:spcPts val="0"/>
              </a:spcBef>
              <a:spcAft>
                <a:spcPts val="0"/>
              </a:spcAft>
            </a:pPr>
            <a:r>
              <a:rPr lang="en-US" sz="1100" b="1">
                <a:effectLst/>
                <a:latin typeface="Calibri" panose="020F0502020204030204" pitchFamily="34" charset="0"/>
                <a:ea typeface="DengXian" panose="02010600030101010101" pitchFamily="2" charset="-122"/>
              </a:rPr>
              <a:t>From:</a:t>
            </a:r>
            <a:r>
              <a:rPr lang="en-US" sz="1100">
                <a:effectLst/>
                <a:latin typeface="Calibri" panose="020F0502020204030204" pitchFamily="34" charset="0"/>
                <a:ea typeface="DengXian" panose="02010600030101010101" pitchFamily="2" charset="-122"/>
              </a:rPr>
              <a:t> Paul Beckmann &lt;</a:t>
            </a:r>
            <a:r>
              <a:rPr lang="en-US" sz="1100" u="sng">
                <a:solidFill>
                  <a:srgbClr val="0000FF"/>
                </a:solidFill>
                <a:effectLst/>
                <a:latin typeface="Calibri" panose="020F0502020204030204" pitchFamily="34" charset="0"/>
                <a:ea typeface="DengXian" panose="02010600030101010101" pitchFamily="2" charset="-122"/>
                <a:hlinkClick r:id="rId3"/>
              </a:rPr>
              <a:t>pbeckmann@dspconcepts.com</a:t>
            </a:r>
            <a:r>
              <a:rPr lang="en-US" sz="1100">
                <a:effectLst/>
                <a:latin typeface="Calibri" panose="020F0502020204030204" pitchFamily="34" charset="0"/>
                <a:ea typeface="DengXian" panose="02010600030101010101" pitchFamily="2" charset="-122"/>
              </a:rPr>
              <a:t>&gt; </a:t>
            </a:r>
            <a:br>
              <a:rPr lang="en-US" sz="1100">
                <a:effectLst/>
                <a:latin typeface="Calibri" panose="020F0502020204030204" pitchFamily="34" charset="0"/>
                <a:ea typeface="DengXian" panose="02010600030101010101" pitchFamily="2" charset="-122"/>
              </a:rPr>
            </a:br>
            <a:r>
              <a:rPr lang="en-US" sz="1100" b="1">
                <a:effectLst/>
                <a:latin typeface="Calibri" panose="020F0502020204030204" pitchFamily="34" charset="0"/>
                <a:ea typeface="DengXian" panose="02010600030101010101" pitchFamily="2" charset="-122"/>
              </a:rPr>
              <a:t>Sent:</a:t>
            </a:r>
            <a:r>
              <a:rPr lang="en-US" sz="1100">
                <a:effectLst/>
                <a:latin typeface="Calibri" panose="020F0502020204030204" pitchFamily="34" charset="0"/>
                <a:ea typeface="DengXian" panose="02010600030101010101" pitchFamily="2" charset="-122"/>
              </a:rPr>
              <a:t> Wednesday, April 7, 2021 9:05 PM</a:t>
            </a:r>
            <a:br>
              <a:rPr lang="en-US" sz="1100">
                <a:effectLst/>
                <a:latin typeface="Calibri" panose="020F0502020204030204" pitchFamily="34" charset="0"/>
                <a:ea typeface="DengXian" panose="02010600030101010101" pitchFamily="2" charset="-122"/>
              </a:rPr>
            </a:br>
            <a:r>
              <a:rPr lang="en-US" sz="1100" b="1">
                <a:effectLst/>
                <a:latin typeface="Calibri" panose="020F0502020204030204" pitchFamily="34" charset="0"/>
                <a:ea typeface="DengXian" panose="02010600030101010101" pitchFamily="2" charset="-122"/>
              </a:rPr>
              <a:t>To:</a:t>
            </a:r>
            <a:r>
              <a:rPr lang="en-US" sz="1100">
                <a:effectLst/>
                <a:latin typeface="Calibri" panose="020F0502020204030204" pitchFamily="34" charset="0"/>
                <a:ea typeface="DengXian" panose="02010600030101010101" pitchFamily="2" charset="-122"/>
              </a:rPr>
              <a:t> Reinhard Keil &lt;</a:t>
            </a:r>
            <a:r>
              <a:rPr lang="en-US" sz="1100" u="sng">
                <a:solidFill>
                  <a:srgbClr val="0000FF"/>
                </a:solidFill>
                <a:effectLst/>
                <a:latin typeface="Calibri" panose="020F0502020204030204" pitchFamily="34" charset="0"/>
                <a:ea typeface="DengXian" panose="02010600030101010101" pitchFamily="2" charset="-122"/>
                <a:hlinkClick r:id="rId4"/>
              </a:rPr>
              <a:t>Reinhard.Keil@arm.com</a:t>
            </a:r>
            <a:r>
              <a:rPr lang="en-US" sz="1100">
                <a:effectLst/>
                <a:latin typeface="Calibri" panose="020F0502020204030204" pitchFamily="34" charset="0"/>
                <a:ea typeface="DengXian" panose="02010600030101010101" pitchFamily="2" charset="-122"/>
              </a:rPr>
              <a:t>&gt;</a:t>
            </a:r>
            <a:br>
              <a:rPr lang="en-US" sz="1100">
                <a:effectLst/>
                <a:latin typeface="Calibri" panose="020F0502020204030204" pitchFamily="34" charset="0"/>
                <a:ea typeface="DengXian" panose="02010600030101010101" pitchFamily="2" charset="-122"/>
              </a:rPr>
            </a:br>
            <a:r>
              <a:rPr lang="en-US" sz="1100" b="1">
                <a:effectLst/>
                <a:latin typeface="Calibri" panose="020F0502020204030204" pitchFamily="34" charset="0"/>
                <a:ea typeface="DengXian" panose="02010600030101010101" pitchFamily="2" charset="-122"/>
              </a:rPr>
              <a:t>Subject:</a:t>
            </a:r>
            <a:r>
              <a:rPr lang="en-US" sz="1100">
                <a:effectLst/>
                <a:latin typeface="Calibri" panose="020F0502020204030204" pitchFamily="34" charset="0"/>
                <a:ea typeface="DengXian" panose="02010600030101010101" pitchFamily="2" charset="-122"/>
              </a:rPr>
              <a:t> Re: Compiler comparison / Feedback on Audio API interface</a:t>
            </a:r>
            <a:endParaRPr lang="en-GB" sz="1100">
              <a:effectLst/>
              <a:latin typeface="Calibri" panose="020F0502020204030204" pitchFamily="34" charset="0"/>
              <a:ea typeface="DengXian" panose="02010600030101010101" pitchFamily="2" charset="-122"/>
            </a:endParaRPr>
          </a:p>
          <a:p>
            <a:pPr marL="0" marR="0">
              <a:spcBef>
                <a:spcPts val="0"/>
              </a:spcBef>
              <a:spcAft>
                <a:spcPts val="0"/>
              </a:spcAft>
            </a:pPr>
            <a:r>
              <a:rPr lang="en-GB" sz="1100">
                <a:effectLst/>
                <a:latin typeface="Calibri" panose="020F0502020204030204" pitchFamily="34" charset="0"/>
                <a:ea typeface="DengXian" panose="02010600030101010101" pitchFamily="2" charset="-122"/>
              </a:rPr>
              <a:t> </a:t>
            </a:r>
          </a:p>
          <a:p>
            <a:pPr marL="0" marR="0">
              <a:spcBef>
                <a:spcPts val="0"/>
              </a:spcBef>
              <a:spcAft>
                <a:spcPts val="0"/>
              </a:spcAft>
            </a:pPr>
            <a:r>
              <a:rPr lang="en-GB" sz="1100">
                <a:effectLst/>
                <a:latin typeface="Calibri" panose="020F0502020204030204" pitchFamily="34" charset="0"/>
                <a:ea typeface="DengXian" panose="02010600030101010101" pitchFamily="2" charset="-122"/>
              </a:rPr>
              <a:t>Hi Reinhard,</a:t>
            </a:r>
          </a:p>
          <a:p>
            <a:pPr marL="0" marR="0">
              <a:spcBef>
                <a:spcPts val="0"/>
              </a:spcBef>
              <a:spcAft>
                <a:spcPts val="0"/>
              </a:spcAft>
            </a:pPr>
            <a:r>
              <a:rPr lang="en-GB" sz="1100">
                <a:effectLst/>
                <a:latin typeface="Calibri" panose="020F0502020204030204" pitchFamily="34" charset="0"/>
                <a:ea typeface="DengXian" panose="02010600030101010101" pitchFamily="2" charset="-122"/>
              </a:rPr>
              <a:t>We are our testing with MDK V5.31.0.0.  Here is the detailed info:</a:t>
            </a:r>
          </a:p>
          <a:p>
            <a:pPr marL="0" marR="0">
              <a:spcBef>
                <a:spcPts val="0"/>
              </a:spcBef>
              <a:spcAft>
                <a:spcPts val="0"/>
              </a:spcAft>
            </a:pPr>
            <a:r>
              <a:rPr lang="en-GB" sz="1100">
                <a:effectLst/>
                <a:latin typeface="Calibri" panose="020F0502020204030204" pitchFamily="34" charset="0"/>
                <a:ea typeface="DengXian" panose="02010600030101010101" pitchFamily="2" charset="-122"/>
              </a:rPr>
              <a:t>  </a:t>
            </a:r>
          </a:p>
          <a:p>
            <a:pPr marL="0" marR="0">
              <a:spcBef>
                <a:spcPts val="0"/>
              </a:spcBef>
              <a:spcAft>
                <a:spcPts val="0"/>
              </a:spcAft>
            </a:pPr>
            <a:r>
              <a:rPr lang="en-GB" sz="1100">
                <a:effectLst/>
                <a:latin typeface="Calibri" panose="020F0502020204030204" pitchFamily="34" charset="0"/>
                <a:ea typeface="DengXian" panose="02010600030101010101" pitchFamily="2" charset="-122"/>
              </a:rPr>
              <a:t>For IAR, we used v8.50.1.  For GCC, it was the version included with the ST tools.  Not sure exactly which version this was.</a:t>
            </a:r>
          </a:p>
          <a:p>
            <a:pPr marL="0" marR="0">
              <a:spcBef>
                <a:spcPts val="0"/>
              </a:spcBef>
              <a:spcAft>
                <a:spcPts val="0"/>
              </a:spcAft>
            </a:pPr>
            <a:r>
              <a:rPr lang="en-GB" sz="1100">
                <a:effectLst/>
                <a:latin typeface="Calibri" panose="020F0502020204030204" pitchFamily="34" charset="0"/>
                <a:ea typeface="DengXian" panose="02010600030101010101" pitchFamily="2" charset="-122"/>
              </a:rPr>
              <a:t> </a:t>
            </a:r>
          </a:p>
          <a:p>
            <a:pPr marL="0" marR="0">
              <a:spcBef>
                <a:spcPts val="0"/>
              </a:spcBef>
              <a:spcAft>
                <a:spcPts val="0"/>
              </a:spcAft>
            </a:pPr>
            <a:r>
              <a:rPr lang="en-GB" sz="1100">
                <a:effectLst/>
                <a:latin typeface="Calibri" panose="020F0502020204030204" pitchFamily="34" charset="0"/>
                <a:ea typeface="DengXian" panose="02010600030101010101" pitchFamily="2" charset="-122"/>
              </a:rPr>
              <a:t>We have done further benchmarking across different signal processing operations.  I picked this one because it was a recent issue with a customer and highlights how GCC can be slow.  For other kernels, the cycle counts are comparable.</a:t>
            </a:r>
          </a:p>
          <a:p>
            <a:pPr marL="0" marR="0">
              <a:spcBef>
                <a:spcPts val="0"/>
              </a:spcBef>
              <a:spcAft>
                <a:spcPts val="0"/>
              </a:spcAft>
            </a:pPr>
            <a:r>
              <a:rPr lang="en-GB" sz="1100">
                <a:effectLst/>
                <a:latin typeface="Calibri" panose="020F0502020204030204" pitchFamily="34" charset="0"/>
                <a:ea typeface="DengXian" panose="02010600030101010101" pitchFamily="2" charset="-122"/>
              </a:rPr>
              <a:t> </a:t>
            </a:r>
          </a:p>
          <a:p>
            <a:pPr marL="0" marR="0">
              <a:spcBef>
                <a:spcPts val="0"/>
              </a:spcBef>
              <a:spcAft>
                <a:spcPts val="0"/>
              </a:spcAft>
            </a:pPr>
            <a:r>
              <a:rPr lang="en-GB" sz="1100">
                <a:effectLst/>
                <a:latin typeface="Calibri" panose="020F0502020204030204" pitchFamily="34" charset="0"/>
                <a:ea typeface="DengXian" panose="02010600030101010101" pitchFamily="2" charset="-122"/>
              </a:rPr>
              <a:t>Being able to run on the FVP would be very interesting for us.  I see several advantages:</a:t>
            </a:r>
          </a:p>
          <a:p>
            <a:pPr marL="342900" marR="0" lvl="0" indent="-342900">
              <a:spcBef>
                <a:spcPts val="0"/>
              </a:spcBef>
              <a:spcAft>
                <a:spcPts val="0"/>
              </a:spcAft>
              <a:buFont typeface="+mj-lt"/>
              <a:buAutoNum type="arabicPeriod"/>
              <a:tabLst>
                <a:tab pos="457200" algn="l"/>
              </a:tabLst>
            </a:pPr>
            <a:r>
              <a:rPr lang="en-GB" sz="1100">
                <a:effectLst/>
                <a:latin typeface="Calibri" panose="020F0502020204030204" pitchFamily="34" charset="0"/>
                <a:ea typeface="Times New Roman" panose="02020603050405020304" pitchFamily="18" charset="0"/>
              </a:rPr>
              <a:t>We can optimize and profile for cores before they are publicly available.  For example, we are getting requests for M55 performance numbers but there are no announced CPUs.</a:t>
            </a:r>
            <a:endParaRPr lang="en-GB" sz="1100">
              <a:effectLst/>
              <a:latin typeface="Calibri" panose="020F0502020204030204" pitchFamily="34" charset="0"/>
              <a:ea typeface="DengXian" panose="02010600030101010101" pitchFamily="2" charset="-122"/>
            </a:endParaRPr>
          </a:p>
          <a:p>
            <a:pPr marL="342900" marR="0" lvl="0" indent="-342900">
              <a:spcBef>
                <a:spcPts val="0"/>
              </a:spcBef>
              <a:spcAft>
                <a:spcPts val="0"/>
              </a:spcAft>
              <a:buFont typeface="+mj-lt"/>
              <a:buAutoNum type="arabicPeriod"/>
              <a:tabLst>
                <a:tab pos="457200" algn="l"/>
              </a:tabLst>
            </a:pPr>
            <a:r>
              <a:rPr lang="en-GB" sz="1100">
                <a:effectLst/>
                <a:latin typeface="Calibri" panose="020F0502020204030204" pitchFamily="34" charset="0"/>
                <a:ea typeface="Times New Roman" panose="02020603050405020304" pitchFamily="18" charset="0"/>
              </a:rPr>
              <a:t>Get accurate measurements of system level issues.  Caching and memory accesses have a huge impact.</a:t>
            </a:r>
            <a:endParaRPr lang="en-GB" sz="1100">
              <a:effectLst/>
              <a:latin typeface="Calibri" panose="020F0502020204030204" pitchFamily="34" charset="0"/>
              <a:ea typeface="DengXian" panose="02010600030101010101" pitchFamily="2" charset="-122"/>
            </a:endParaRPr>
          </a:p>
          <a:p>
            <a:pPr marL="342900" marR="0" lvl="0" indent="-342900">
              <a:spcBef>
                <a:spcPts val="0"/>
              </a:spcBef>
              <a:spcAft>
                <a:spcPts val="0"/>
              </a:spcAft>
              <a:buFont typeface="+mj-lt"/>
              <a:buAutoNum type="arabicPeriod"/>
              <a:tabLst>
                <a:tab pos="457200" algn="l"/>
              </a:tabLst>
            </a:pPr>
            <a:r>
              <a:rPr lang="en-GB" sz="1100">
                <a:effectLst/>
                <a:latin typeface="Calibri" panose="020F0502020204030204" pitchFamily="34" charset="0"/>
                <a:ea typeface="Times New Roman" panose="02020603050405020304" pitchFamily="18" charset="0"/>
              </a:rPr>
              <a:t>Could fit with our continuous integration plans so that we don't have to (always) test on external hardware.</a:t>
            </a:r>
            <a:endParaRPr lang="en-GB" sz="1100">
              <a:effectLst/>
              <a:latin typeface="Calibri" panose="020F0502020204030204" pitchFamily="34" charset="0"/>
              <a:ea typeface="DengXian" panose="02010600030101010101" pitchFamily="2" charset="-122"/>
            </a:endParaRPr>
          </a:p>
          <a:p>
            <a:pPr marL="0" marR="0">
              <a:spcBef>
                <a:spcPts val="0"/>
              </a:spcBef>
              <a:spcAft>
                <a:spcPts val="0"/>
              </a:spcAft>
            </a:pPr>
            <a:r>
              <a:rPr lang="en-GB" sz="1100">
                <a:effectLst/>
                <a:latin typeface="Calibri" panose="020F0502020204030204" pitchFamily="34" charset="0"/>
                <a:ea typeface="DengXian" panose="02010600030101010101" pitchFamily="2" charset="-122"/>
              </a:rPr>
              <a:t>We are speaking with Reed Hinkel about "cloud based profiling".  I would like our customers to create a design in Audio Weaver and then upload the design to our website for profiling.  They can select which processors to run on and then get detailed results showing where resources are consumed.  The VFP would be ideal for this.</a:t>
            </a:r>
          </a:p>
          <a:p>
            <a:pPr marL="0" marR="0">
              <a:spcBef>
                <a:spcPts val="0"/>
              </a:spcBef>
              <a:spcAft>
                <a:spcPts val="0"/>
              </a:spcAft>
            </a:pPr>
            <a:r>
              <a:rPr lang="en-GB" sz="1100">
                <a:effectLst/>
                <a:latin typeface="Calibri" panose="020F0502020204030204" pitchFamily="34" charset="0"/>
                <a:ea typeface="DengXian" panose="02010600030101010101" pitchFamily="2" charset="-122"/>
              </a:rPr>
              <a:t> </a:t>
            </a:r>
          </a:p>
          <a:p>
            <a:pPr marL="0" marR="0">
              <a:spcBef>
                <a:spcPts val="0"/>
              </a:spcBef>
              <a:spcAft>
                <a:spcPts val="0"/>
              </a:spcAft>
            </a:pPr>
            <a:r>
              <a:rPr lang="en-GB" sz="1100">
                <a:effectLst/>
                <a:latin typeface="Calibri" panose="020F0502020204030204" pitchFamily="34" charset="0"/>
                <a:ea typeface="DengXian" panose="02010600030101010101" pitchFamily="2" charset="-122"/>
              </a:rPr>
              <a:t>I also had one of my firmware engineers review the SAI interface.  I'll provide all of his comments and you can see what is relevant:</a:t>
            </a:r>
          </a:p>
          <a:p>
            <a:pPr marL="0" marR="0">
              <a:spcBef>
                <a:spcPts val="0"/>
              </a:spcBef>
              <a:spcAft>
                <a:spcPts val="0"/>
              </a:spcAft>
            </a:pPr>
            <a:r>
              <a:rPr lang="en-GB" sz="1100">
                <a:effectLst/>
                <a:latin typeface="Calibri" panose="020F0502020204030204" pitchFamily="34" charset="0"/>
                <a:ea typeface="DengXian" panose="02010600030101010101" pitchFamily="2" charset="-122"/>
              </a:rPr>
              <a:t> </a:t>
            </a:r>
          </a:p>
          <a:p>
            <a:pPr marL="0" marR="0">
              <a:spcBef>
                <a:spcPts val="0"/>
              </a:spcBef>
              <a:spcAft>
                <a:spcPts val="0"/>
              </a:spcAft>
            </a:pPr>
            <a:r>
              <a:rPr lang="en-GB" sz="1100">
                <a:effectLst/>
                <a:latin typeface="Calibri" panose="020F0502020204030204" pitchFamily="34" charset="0"/>
                <a:ea typeface="DengXian" panose="02010600030101010101" pitchFamily="2" charset="-122"/>
              </a:rPr>
              <a:t>It is well written and to make sure I understand it, low-level drivers must be written depending on the device.</a:t>
            </a:r>
          </a:p>
          <a:p>
            <a:pPr marL="742950" marR="0" lvl="1" indent="-285750">
              <a:spcBef>
                <a:spcPts val="0"/>
              </a:spcBef>
              <a:spcAft>
                <a:spcPts val="0"/>
              </a:spcAft>
              <a:buSzPts val="1000"/>
              <a:buFont typeface="Courier New" panose="02070309020205020404" pitchFamily="49" charset="0"/>
              <a:buChar char="o"/>
              <a:tabLst>
                <a:tab pos="914400" algn="l"/>
              </a:tabLst>
            </a:pPr>
            <a:r>
              <a:rPr lang="en-GB" sz="1100">
                <a:effectLst/>
                <a:latin typeface="Calibri" panose="020F0502020204030204" pitchFamily="34" charset="0"/>
                <a:ea typeface="DengXian" panose="02010600030101010101" pitchFamily="2" charset="-122"/>
                <a:cs typeface="Times New Roman" panose="02020603050405020304" pitchFamily="18" charset="0"/>
              </a:rPr>
              <a:t>You have to kickstart the driver with calls to </a:t>
            </a:r>
            <a:r>
              <a:rPr lang="en-GB" sz="1100" err="1">
                <a:effectLst/>
                <a:latin typeface="Calibri" panose="020F0502020204030204" pitchFamily="34" charset="0"/>
                <a:ea typeface="DengXian" panose="02010600030101010101" pitchFamily="2" charset="-122"/>
                <a:cs typeface="Times New Roman" panose="02020603050405020304" pitchFamily="18" charset="0"/>
              </a:rPr>
              <a:t>ARM_SAI_Receive</a:t>
            </a:r>
            <a:r>
              <a:rPr lang="en-GB" sz="1100">
                <a:effectLst/>
                <a:latin typeface="Calibri" panose="020F0502020204030204" pitchFamily="34" charset="0"/>
                <a:ea typeface="DengXian" panose="02010600030101010101" pitchFamily="2" charset="-122"/>
                <a:cs typeface="Times New Roman" panose="02020603050405020304" pitchFamily="18" charset="0"/>
              </a:rPr>
              <a:t>() or </a:t>
            </a:r>
            <a:r>
              <a:rPr lang="en-GB" sz="1100" err="1">
                <a:effectLst/>
                <a:latin typeface="Calibri" panose="020F0502020204030204" pitchFamily="34" charset="0"/>
                <a:ea typeface="DengXian" panose="02010600030101010101" pitchFamily="2" charset="-122"/>
                <a:cs typeface="Times New Roman" panose="02020603050405020304" pitchFamily="18" charset="0"/>
              </a:rPr>
              <a:t>ARM_SAI_Send</a:t>
            </a:r>
            <a:r>
              <a:rPr lang="en-GB" sz="1100">
                <a:effectLst/>
                <a:latin typeface="Calibri" panose="020F0502020204030204" pitchFamily="34" charset="0"/>
                <a:ea typeface="DengXian" panose="02010600030101010101" pitchFamily="2" charset="-122"/>
                <a:cs typeface="Times New Roman" panose="02020603050405020304" pitchFamily="18" charset="0"/>
              </a:rPr>
              <a:t>() which are non-blocking.</a:t>
            </a:r>
          </a:p>
          <a:p>
            <a:pPr marL="742950" marR="0" lvl="1" indent="-285750">
              <a:spcBef>
                <a:spcPts val="0"/>
              </a:spcBef>
              <a:spcAft>
                <a:spcPts val="0"/>
              </a:spcAft>
              <a:buSzPts val="1000"/>
              <a:buFont typeface="Courier New" panose="02070309020205020404" pitchFamily="49" charset="0"/>
              <a:buChar char="o"/>
              <a:tabLst>
                <a:tab pos="914400" algn="l"/>
              </a:tabLst>
            </a:pPr>
            <a:r>
              <a:rPr lang="en-GB" sz="1100">
                <a:effectLst/>
                <a:latin typeface="Calibri" panose="020F0502020204030204" pitchFamily="34" charset="0"/>
                <a:ea typeface="DengXian" panose="02010600030101010101" pitchFamily="2" charset="-122"/>
                <a:cs typeface="Times New Roman" panose="02020603050405020304" pitchFamily="18" charset="0"/>
              </a:rPr>
              <a:t>A </a:t>
            </a:r>
            <a:r>
              <a:rPr lang="en-GB" sz="1100" err="1">
                <a:effectLst/>
                <a:latin typeface="Calibri" panose="020F0502020204030204" pitchFamily="34" charset="0"/>
                <a:ea typeface="DengXian" panose="02010600030101010101" pitchFamily="2" charset="-122"/>
                <a:cs typeface="Times New Roman" panose="02020603050405020304" pitchFamily="18" charset="0"/>
              </a:rPr>
              <a:t>callback</a:t>
            </a:r>
            <a:r>
              <a:rPr lang="en-GB" sz="1100">
                <a:effectLst/>
                <a:latin typeface="Calibri" panose="020F0502020204030204" pitchFamily="34" charset="0"/>
                <a:ea typeface="DengXian" panose="02010600030101010101" pitchFamily="2" charset="-122"/>
                <a:cs typeface="Times New Roman" panose="02020603050405020304" pitchFamily="18" charset="0"/>
              </a:rPr>
              <a:t> function is registered during </a:t>
            </a:r>
            <a:r>
              <a:rPr lang="en-GB" sz="1100" err="1">
                <a:effectLst/>
                <a:latin typeface="Calibri" panose="020F0502020204030204" pitchFamily="34" charset="0"/>
                <a:ea typeface="DengXian" panose="02010600030101010101" pitchFamily="2" charset="-122"/>
                <a:cs typeface="Times New Roman" panose="02020603050405020304" pitchFamily="18" charset="0"/>
              </a:rPr>
              <a:t>init</a:t>
            </a:r>
            <a:r>
              <a:rPr lang="en-GB" sz="1100">
                <a:effectLst/>
                <a:latin typeface="Calibri" panose="020F0502020204030204" pitchFamily="34" charset="0"/>
                <a:ea typeface="DengXian" panose="02010600030101010101" pitchFamily="2" charset="-122"/>
                <a:cs typeface="Times New Roman" panose="02020603050405020304" pitchFamily="18" charset="0"/>
              </a:rPr>
              <a:t> called </a:t>
            </a:r>
            <a:r>
              <a:rPr lang="en-GB" sz="1100" err="1">
                <a:effectLst/>
                <a:latin typeface="Calibri" panose="020F0502020204030204" pitchFamily="34" charset="0"/>
                <a:ea typeface="DengXian" panose="02010600030101010101" pitchFamily="2" charset="-122"/>
                <a:cs typeface="Times New Roman" panose="02020603050405020304" pitchFamily="18" charset="0"/>
              </a:rPr>
              <a:t>ARM_SAI_SignalEvent</a:t>
            </a:r>
            <a:r>
              <a:rPr lang="en-GB" sz="1100">
                <a:effectLst/>
                <a:latin typeface="Calibri" panose="020F0502020204030204" pitchFamily="34" charset="0"/>
                <a:ea typeface="DengXian" panose="02010600030101010101" pitchFamily="2" charset="-122"/>
                <a:cs typeface="Times New Roman" panose="02020603050405020304" pitchFamily="18" charset="0"/>
              </a:rPr>
              <a:t>(event) which is called when the above completes with respective bits in the parameter "event" for each.</a:t>
            </a:r>
          </a:p>
          <a:p>
            <a:pPr marL="742950" marR="0" lvl="1" indent="-285750">
              <a:spcBef>
                <a:spcPts val="0"/>
              </a:spcBef>
              <a:spcAft>
                <a:spcPts val="0"/>
              </a:spcAft>
              <a:buSzPts val="1000"/>
              <a:buFont typeface="Courier New" panose="02070309020205020404" pitchFamily="49" charset="0"/>
              <a:buChar char="o"/>
              <a:tabLst>
                <a:tab pos="914400" algn="l"/>
              </a:tabLst>
            </a:pPr>
            <a:r>
              <a:rPr lang="en-GB" sz="1100" err="1">
                <a:effectLst/>
                <a:latin typeface="Calibri" panose="020F0502020204030204" pitchFamily="34" charset="0"/>
                <a:ea typeface="DengXian" panose="02010600030101010101" pitchFamily="2" charset="-122"/>
                <a:cs typeface="Times New Roman" panose="02020603050405020304" pitchFamily="18" charset="0"/>
              </a:rPr>
              <a:t>ARM_SAI_Receive</a:t>
            </a:r>
            <a:r>
              <a:rPr lang="en-GB" sz="1100">
                <a:effectLst/>
                <a:latin typeface="Calibri" panose="020F0502020204030204" pitchFamily="34" charset="0"/>
                <a:ea typeface="DengXian" panose="02010600030101010101" pitchFamily="2" charset="-122"/>
                <a:cs typeface="Times New Roman" panose="02020603050405020304" pitchFamily="18" charset="0"/>
              </a:rPr>
              <a:t>() or </a:t>
            </a:r>
            <a:r>
              <a:rPr lang="en-GB" sz="1100" err="1">
                <a:effectLst/>
                <a:latin typeface="Calibri" panose="020F0502020204030204" pitchFamily="34" charset="0"/>
                <a:ea typeface="DengXian" panose="02010600030101010101" pitchFamily="2" charset="-122"/>
                <a:cs typeface="Times New Roman" panose="02020603050405020304" pitchFamily="18" charset="0"/>
              </a:rPr>
              <a:t>ARM_SAI_Send</a:t>
            </a:r>
            <a:r>
              <a:rPr lang="en-GB" sz="1100">
                <a:effectLst/>
                <a:latin typeface="Calibri" panose="020F0502020204030204" pitchFamily="34" charset="0"/>
                <a:ea typeface="DengXian" panose="02010600030101010101" pitchFamily="2" charset="-122"/>
                <a:cs typeface="Times New Roman" panose="02020603050405020304" pitchFamily="18" charset="0"/>
              </a:rPr>
              <a:t>() mention that DMA is typical, but I am not sure if those two calls can be one time only and then the guts of the driver can provide calls to  </a:t>
            </a:r>
            <a:r>
              <a:rPr lang="en-GB" sz="1100" err="1">
                <a:effectLst/>
                <a:latin typeface="Calibri" panose="020F0502020204030204" pitchFamily="34" charset="0"/>
                <a:ea typeface="DengXian" panose="02010600030101010101" pitchFamily="2" charset="-122"/>
                <a:cs typeface="Times New Roman" panose="02020603050405020304" pitchFamily="18" charset="0"/>
              </a:rPr>
              <a:t>ARM_SAI_SignalEvent</a:t>
            </a:r>
            <a:r>
              <a:rPr lang="en-GB" sz="1100">
                <a:effectLst/>
                <a:latin typeface="Calibri" panose="020F0502020204030204" pitchFamily="34" charset="0"/>
                <a:ea typeface="DengXian" panose="02010600030101010101" pitchFamily="2" charset="-122"/>
                <a:cs typeface="Times New Roman" panose="02020603050405020304" pitchFamily="18" charset="0"/>
              </a:rPr>
              <a:t>(event) on each DMA interrupt afterward. If yes, then it can work with our BSP's.</a:t>
            </a:r>
          </a:p>
          <a:p>
            <a:pPr marL="742950" marR="0" lvl="1" indent="-285750">
              <a:spcBef>
                <a:spcPts val="0"/>
              </a:spcBef>
              <a:spcAft>
                <a:spcPts val="0"/>
              </a:spcAft>
              <a:buSzPts val="1000"/>
              <a:buFont typeface="Courier New" panose="02070309020205020404" pitchFamily="49" charset="0"/>
              <a:buChar char="o"/>
              <a:tabLst>
                <a:tab pos="914400" algn="l"/>
              </a:tabLst>
            </a:pPr>
            <a:r>
              <a:rPr lang="en-GB" sz="1100">
                <a:effectLst/>
                <a:latin typeface="Calibri" panose="020F0502020204030204" pitchFamily="34" charset="0"/>
                <a:ea typeface="DengXian" panose="02010600030101010101" pitchFamily="2" charset="-122"/>
                <a:cs typeface="Times New Roman" panose="02020603050405020304" pitchFamily="18" charset="0"/>
              </a:rPr>
              <a:t>The protocols cover about everything with User Defined Protocol allowing for generic TDM configuration. </a:t>
            </a:r>
          </a:p>
          <a:p>
            <a:pPr marL="1143000" marR="0" lvl="2" indent="-228600">
              <a:spcBef>
                <a:spcPts val="0"/>
              </a:spcBef>
              <a:spcAft>
                <a:spcPts val="0"/>
              </a:spcAft>
              <a:buSzPts val="1000"/>
              <a:buFont typeface="Wingdings" panose="05000000000000000000" pitchFamily="2" charset="2"/>
              <a:buChar char=""/>
              <a:tabLst>
                <a:tab pos="1371600" algn="l"/>
              </a:tabLst>
            </a:pPr>
            <a:r>
              <a:rPr lang="en-GB" sz="1100">
                <a:effectLst/>
                <a:latin typeface="Calibri" panose="020F0502020204030204" pitchFamily="34" charset="0"/>
                <a:ea typeface="DengXian" panose="02010600030101010101" pitchFamily="2" charset="-122"/>
              </a:rPr>
              <a:t>They are missing specification of left or right adjusted data and now to save captured data in memory. For instance if the data is 24-bits, is it saved right adjusted with sign extension or left adjusted? </a:t>
            </a:r>
          </a:p>
          <a:p>
            <a:pPr marL="1143000" marR="0" lvl="2" indent="-228600">
              <a:spcBef>
                <a:spcPts val="0"/>
              </a:spcBef>
              <a:spcAft>
                <a:spcPts val="0"/>
              </a:spcAft>
              <a:buSzPts val="1000"/>
              <a:buFont typeface="Wingdings" panose="05000000000000000000" pitchFamily="2" charset="2"/>
              <a:buChar char=""/>
              <a:tabLst>
                <a:tab pos="1371600" algn="l"/>
              </a:tabLst>
            </a:pPr>
            <a:r>
              <a:rPr lang="en-GB" sz="1100">
                <a:effectLst/>
                <a:latin typeface="Calibri" panose="020F0502020204030204" pitchFamily="34" charset="0"/>
                <a:ea typeface="DengXian" panose="02010600030101010101" pitchFamily="2" charset="-122"/>
              </a:rPr>
              <a:t>In general, you may capture even 16-bit data and want to save it in 32-bit memory left or right adjusted.</a:t>
            </a:r>
          </a:p>
          <a:p>
            <a:pPr marL="742950" marR="0" lvl="1" indent="-285750">
              <a:spcBef>
                <a:spcPts val="0"/>
              </a:spcBef>
              <a:spcAft>
                <a:spcPts val="0"/>
              </a:spcAft>
              <a:buSzPts val="1000"/>
              <a:buFont typeface="Courier New" panose="02070309020205020404" pitchFamily="49" charset="0"/>
              <a:buChar char="o"/>
              <a:tabLst>
                <a:tab pos="914400" algn="l"/>
              </a:tabLst>
            </a:pPr>
            <a:r>
              <a:rPr lang="en-GB" sz="1100">
                <a:effectLst/>
                <a:latin typeface="Calibri" panose="020F0502020204030204" pitchFamily="34" charset="0"/>
                <a:ea typeface="DengXian" panose="02010600030101010101" pitchFamily="2" charset="-122"/>
                <a:cs typeface="Times New Roman" panose="02020603050405020304" pitchFamily="18" charset="0"/>
              </a:rPr>
              <a:t>The same API and supported protocols should include PDM (DMIC) input. The RT685 and NXP PDM IP in general have a means to convert to I2S, but that may not be on all parts and should not be necessary.</a:t>
            </a:r>
          </a:p>
          <a:p>
            <a:pPr marL="1143000" marR="0" lvl="2" indent="-228600">
              <a:spcBef>
                <a:spcPts val="0"/>
              </a:spcBef>
              <a:spcAft>
                <a:spcPts val="0"/>
              </a:spcAft>
              <a:buSzPts val="1000"/>
              <a:buFont typeface="Wingdings" panose="05000000000000000000" pitchFamily="2" charset="2"/>
              <a:buChar char=""/>
              <a:tabLst>
                <a:tab pos="1371600" algn="l"/>
              </a:tabLst>
            </a:pPr>
            <a:r>
              <a:rPr lang="en-GB" sz="1100">
                <a:effectLst/>
                <a:latin typeface="Calibri" panose="020F0502020204030204" pitchFamily="34" charset="0"/>
                <a:ea typeface="DengXian" panose="02010600030101010101" pitchFamily="2" charset="-122"/>
              </a:rPr>
              <a:t>Most devices have multiple stereo PDM ports that can capture data and send to two different DMA channels (left and right). </a:t>
            </a:r>
          </a:p>
          <a:p>
            <a:pPr marL="1143000" marR="0" lvl="2" indent="-228600">
              <a:spcBef>
                <a:spcPts val="0"/>
              </a:spcBef>
              <a:spcAft>
                <a:spcPts val="0"/>
              </a:spcAft>
              <a:buSzPts val="1000"/>
              <a:buFont typeface="Wingdings" panose="05000000000000000000" pitchFamily="2" charset="2"/>
              <a:buChar char=""/>
              <a:tabLst>
                <a:tab pos="1371600" algn="l"/>
              </a:tabLst>
            </a:pPr>
            <a:r>
              <a:rPr lang="en-GB" sz="1100">
                <a:effectLst/>
                <a:latin typeface="Calibri" panose="020F0502020204030204" pitchFamily="34" charset="0"/>
                <a:ea typeface="DengXian" panose="02010600030101010101" pitchFamily="2" charset="-122"/>
              </a:rPr>
              <a:t>This API seems to support single stream, interleaved, not multi-stream from one device. Is that correct?</a:t>
            </a:r>
          </a:p>
          <a:p>
            <a:pPr marL="742950" marR="0" lvl="1" indent="-285750">
              <a:spcBef>
                <a:spcPts val="0"/>
              </a:spcBef>
              <a:spcAft>
                <a:spcPts val="0"/>
              </a:spcAft>
              <a:buSzPts val="1000"/>
              <a:buFont typeface="Courier New" panose="02070309020205020404" pitchFamily="49" charset="0"/>
              <a:buChar char="o"/>
              <a:tabLst>
                <a:tab pos="914400" algn="l"/>
              </a:tabLst>
            </a:pPr>
            <a:r>
              <a:rPr lang="en-GB" sz="1100">
                <a:effectLst/>
                <a:latin typeface="Calibri" panose="020F0502020204030204" pitchFamily="34" charset="0"/>
                <a:ea typeface="DengXian" panose="02010600030101010101" pitchFamily="2" charset="-122"/>
                <a:cs typeface="Times New Roman" panose="02020603050405020304" pitchFamily="18" charset="0"/>
              </a:rPr>
              <a:t>The documentation is not clear how you mask the TX event, bot allow the RX event and so on. Guessing it is in there.</a:t>
            </a:r>
          </a:p>
          <a:p>
            <a:endParaRPr lang="en-GB"/>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12</a:t>
            </a:fld>
            <a:endParaRPr lang="en-US" altLang="en-US"/>
          </a:p>
        </p:txBody>
      </p:sp>
    </p:spTree>
    <p:extLst>
      <p:ext uri="{BB962C8B-B14F-4D97-AF65-F5344CB8AC3E}">
        <p14:creationId xmlns:p14="http://schemas.microsoft.com/office/powerpoint/2010/main" val="25132202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14</a:t>
            </a:fld>
            <a:endParaRPr lang="en-US" altLang="en-US"/>
          </a:p>
        </p:txBody>
      </p:sp>
    </p:spTree>
    <p:extLst>
      <p:ext uri="{BB962C8B-B14F-4D97-AF65-F5344CB8AC3E}">
        <p14:creationId xmlns:p14="http://schemas.microsoft.com/office/powerpoint/2010/main" val="24754932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19</a:t>
            </a:fld>
            <a:endParaRPr lang="en-US" altLang="en-US"/>
          </a:p>
        </p:txBody>
      </p:sp>
    </p:spTree>
    <p:extLst>
      <p:ext uri="{BB962C8B-B14F-4D97-AF65-F5344CB8AC3E}">
        <p14:creationId xmlns:p14="http://schemas.microsoft.com/office/powerpoint/2010/main" val="37694415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20</a:t>
            </a:fld>
            <a:endParaRPr lang="en-US" altLang="en-US"/>
          </a:p>
        </p:txBody>
      </p:sp>
    </p:spTree>
    <p:extLst>
      <p:ext uri="{BB962C8B-B14F-4D97-AF65-F5344CB8AC3E}">
        <p14:creationId xmlns:p14="http://schemas.microsoft.com/office/powerpoint/2010/main" val="2301864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00389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29</a:t>
            </a:fld>
            <a:endParaRPr lang="en-US" altLang="en-US"/>
          </a:p>
        </p:txBody>
      </p:sp>
    </p:spTree>
    <p:extLst>
      <p:ext uri="{BB962C8B-B14F-4D97-AF65-F5344CB8AC3E}">
        <p14:creationId xmlns:p14="http://schemas.microsoft.com/office/powerpoint/2010/main" val="14951995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a:t>Potential key customer: DSP Concepts.  See email exchange:</a:t>
            </a:r>
          </a:p>
          <a:p>
            <a:endParaRPr lang="en-GB"/>
          </a:p>
          <a:p>
            <a:pPr marL="0" marR="0">
              <a:spcBef>
                <a:spcPts val="0"/>
              </a:spcBef>
              <a:spcAft>
                <a:spcPts val="0"/>
              </a:spcAft>
            </a:pPr>
            <a:r>
              <a:rPr lang="en-US" sz="1100" b="1">
                <a:effectLst/>
                <a:latin typeface="Calibri" panose="020F0502020204030204" pitchFamily="34" charset="0"/>
                <a:ea typeface="DengXian" panose="02010600030101010101" pitchFamily="2" charset="-122"/>
              </a:rPr>
              <a:t>From:</a:t>
            </a:r>
            <a:r>
              <a:rPr lang="en-US" sz="1100">
                <a:effectLst/>
                <a:latin typeface="Calibri" panose="020F0502020204030204" pitchFamily="34" charset="0"/>
                <a:ea typeface="DengXian" panose="02010600030101010101" pitchFamily="2" charset="-122"/>
              </a:rPr>
              <a:t> Paul Beckmann &lt;</a:t>
            </a:r>
            <a:r>
              <a:rPr lang="en-US" sz="1100" u="sng">
                <a:solidFill>
                  <a:srgbClr val="0000FF"/>
                </a:solidFill>
                <a:effectLst/>
                <a:latin typeface="Calibri" panose="020F0502020204030204" pitchFamily="34" charset="0"/>
                <a:ea typeface="DengXian" panose="02010600030101010101" pitchFamily="2" charset="-122"/>
                <a:hlinkClick r:id="rId3"/>
              </a:rPr>
              <a:t>pbeckmann@dspconcepts.com</a:t>
            </a:r>
            <a:r>
              <a:rPr lang="en-US" sz="1100">
                <a:effectLst/>
                <a:latin typeface="Calibri" panose="020F0502020204030204" pitchFamily="34" charset="0"/>
                <a:ea typeface="DengXian" panose="02010600030101010101" pitchFamily="2" charset="-122"/>
              </a:rPr>
              <a:t>&gt; </a:t>
            </a:r>
            <a:br>
              <a:rPr lang="en-US" sz="1100">
                <a:effectLst/>
                <a:latin typeface="Calibri" panose="020F0502020204030204" pitchFamily="34" charset="0"/>
                <a:ea typeface="DengXian" panose="02010600030101010101" pitchFamily="2" charset="-122"/>
              </a:rPr>
            </a:br>
            <a:r>
              <a:rPr lang="en-US" sz="1100" b="1">
                <a:effectLst/>
                <a:latin typeface="Calibri" panose="020F0502020204030204" pitchFamily="34" charset="0"/>
                <a:ea typeface="DengXian" panose="02010600030101010101" pitchFamily="2" charset="-122"/>
              </a:rPr>
              <a:t>Sent:</a:t>
            </a:r>
            <a:r>
              <a:rPr lang="en-US" sz="1100">
                <a:effectLst/>
                <a:latin typeface="Calibri" panose="020F0502020204030204" pitchFamily="34" charset="0"/>
                <a:ea typeface="DengXian" panose="02010600030101010101" pitchFamily="2" charset="-122"/>
              </a:rPr>
              <a:t> Wednesday, April 7, 2021 9:05 PM</a:t>
            </a:r>
            <a:br>
              <a:rPr lang="en-US" sz="1100">
                <a:effectLst/>
                <a:latin typeface="Calibri" panose="020F0502020204030204" pitchFamily="34" charset="0"/>
                <a:ea typeface="DengXian" panose="02010600030101010101" pitchFamily="2" charset="-122"/>
              </a:rPr>
            </a:br>
            <a:r>
              <a:rPr lang="en-US" sz="1100" b="1">
                <a:effectLst/>
                <a:latin typeface="Calibri" panose="020F0502020204030204" pitchFamily="34" charset="0"/>
                <a:ea typeface="DengXian" panose="02010600030101010101" pitchFamily="2" charset="-122"/>
              </a:rPr>
              <a:t>To:</a:t>
            </a:r>
            <a:r>
              <a:rPr lang="en-US" sz="1100">
                <a:effectLst/>
                <a:latin typeface="Calibri" panose="020F0502020204030204" pitchFamily="34" charset="0"/>
                <a:ea typeface="DengXian" panose="02010600030101010101" pitchFamily="2" charset="-122"/>
              </a:rPr>
              <a:t> Reinhard Keil &lt;</a:t>
            </a:r>
            <a:r>
              <a:rPr lang="en-US" sz="1100" u="sng">
                <a:solidFill>
                  <a:srgbClr val="0000FF"/>
                </a:solidFill>
                <a:effectLst/>
                <a:latin typeface="Calibri" panose="020F0502020204030204" pitchFamily="34" charset="0"/>
                <a:ea typeface="DengXian" panose="02010600030101010101" pitchFamily="2" charset="-122"/>
                <a:hlinkClick r:id="rId4"/>
              </a:rPr>
              <a:t>Reinhard.Keil@arm.com</a:t>
            </a:r>
            <a:r>
              <a:rPr lang="en-US" sz="1100">
                <a:effectLst/>
                <a:latin typeface="Calibri" panose="020F0502020204030204" pitchFamily="34" charset="0"/>
                <a:ea typeface="DengXian" panose="02010600030101010101" pitchFamily="2" charset="-122"/>
              </a:rPr>
              <a:t>&gt;</a:t>
            </a:r>
            <a:br>
              <a:rPr lang="en-US" sz="1100">
                <a:effectLst/>
                <a:latin typeface="Calibri" panose="020F0502020204030204" pitchFamily="34" charset="0"/>
                <a:ea typeface="DengXian" panose="02010600030101010101" pitchFamily="2" charset="-122"/>
              </a:rPr>
            </a:br>
            <a:r>
              <a:rPr lang="en-US" sz="1100" b="1">
                <a:effectLst/>
                <a:latin typeface="Calibri" panose="020F0502020204030204" pitchFamily="34" charset="0"/>
                <a:ea typeface="DengXian" panose="02010600030101010101" pitchFamily="2" charset="-122"/>
              </a:rPr>
              <a:t>Subject:</a:t>
            </a:r>
            <a:r>
              <a:rPr lang="en-US" sz="1100">
                <a:effectLst/>
                <a:latin typeface="Calibri" panose="020F0502020204030204" pitchFamily="34" charset="0"/>
                <a:ea typeface="DengXian" panose="02010600030101010101" pitchFamily="2" charset="-122"/>
              </a:rPr>
              <a:t> Re: Compiler comparison / Feedback on Audio API interface</a:t>
            </a:r>
            <a:endParaRPr lang="en-GB" sz="1100">
              <a:effectLst/>
              <a:latin typeface="Calibri" panose="020F0502020204030204" pitchFamily="34" charset="0"/>
              <a:ea typeface="DengXian" panose="02010600030101010101" pitchFamily="2" charset="-122"/>
            </a:endParaRPr>
          </a:p>
          <a:p>
            <a:pPr marL="0" marR="0">
              <a:spcBef>
                <a:spcPts val="0"/>
              </a:spcBef>
              <a:spcAft>
                <a:spcPts val="0"/>
              </a:spcAft>
            </a:pPr>
            <a:r>
              <a:rPr lang="en-GB" sz="1100">
                <a:effectLst/>
                <a:latin typeface="Calibri" panose="020F0502020204030204" pitchFamily="34" charset="0"/>
                <a:ea typeface="DengXian" panose="02010600030101010101" pitchFamily="2" charset="-122"/>
              </a:rPr>
              <a:t> </a:t>
            </a:r>
          </a:p>
          <a:p>
            <a:pPr marL="0" marR="0">
              <a:spcBef>
                <a:spcPts val="0"/>
              </a:spcBef>
              <a:spcAft>
                <a:spcPts val="0"/>
              </a:spcAft>
            </a:pPr>
            <a:r>
              <a:rPr lang="en-GB" sz="1100">
                <a:effectLst/>
                <a:latin typeface="Calibri" panose="020F0502020204030204" pitchFamily="34" charset="0"/>
                <a:ea typeface="DengXian" panose="02010600030101010101" pitchFamily="2" charset="-122"/>
              </a:rPr>
              <a:t>Hi Reinhard,</a:t>
            </a:r>
          </a:p>
          <a:p>
            <a:pPr marL="0" marR="0">
              <a:spcBef>
                <a:spcPts val="0"/>
              </a:spcBef>
              <a:spcAft>
                <a:spcPts val="0"/>
              </a:spcAft>
            </a:pPr>
            <a:r>
              <a:rPr lang="en-GB" sz="1100">
                <a:effectLst/>
                <a:latin typeface="Calibri" panose="020F0502020204030204" pitchFamily="34" charset="0"/>
                <a:ea typeface="DengXian" panose="02010600030101010101" pitchFamily="2" charset="-122"/>
              </a:rPr>
              <a:t>We are our testing with MDK V5.31.0.0.  Here is the detailed info:</a:t>
            </a:r>
          </a:p>
          <a:p>
            <a:pPr marL="0" marR="0">
              <a:spcBef>
                <a:spcPts val="0"/>
              </a:spcBef>
              <a:spcAft>
                <a:spcPts val="0"/>
              </a:spcAft>
            </a:pPr>
            <a:r>
              <a:rPr lang="en-GB" sz="1100">
                <a:effectLst/>
                <a:latin typeface="Calibri" panose="020F0502020204030204" pitchFamily="34" charset="0"/>
                <a:ea typeface="DengXian" panose="02010600030101010101" pitchFamily="2" charset="-122"/>
              </a:rPr>
              <a:t>  </a:t>
            </a:r>
          </a:p>
          <a:p>
            <a:pPr marL="0" marR="0">
              <a:spcBef>
                <a:spcPts val="0"/>
              </a:spcBef>
              <a:spcAft>
                <a:spcPts val="0"/>
              </a:spcAft>
            </a:pPr>
            <a:r>
              <a:rPr lang="en-GB" sz="1100">
                <a:effectLst/>
                <a:latin typeface="Calibri" panose="020F0502020204030204" pitchFamily="34" charset="0"/>
                <a:ea typeface="DengXian" panose="02010600030101010101" pitchFamily="2" charset="-122"/>
              </a:rPr>
              <a:t>For IAR, we used v8.50.1.  For GCC, it was the version included with the ST tools.  Not sure exactly which version this was.</a:t>
            </a:r>
          </a:p>
          <a:p>
            <a:pPr marL="0" marR="0">
              <a:spcBef>
                <a:spcPts val="0"/>
              </a:spcBef>
              <a:spcAft>
                <a:spcPts val="0"/>
              </a:spcAft>
            </a:pPr>
            <a:r>
              <a:rPr lang="en-GB" sz="1100">
                <a:effectLst/>
                <a:latin typeface="Calibri" panose="020F0502020204030204" pitchFamily="34" charset="0"/>
                <a:ea typeface="DengXian" panose="02010600030101010101" pitchFamily="2" charset="-122"/>
              </a:rPr>
              <a:t> </a:t>
            </a:r>
          </a:p>
          <a:p>
            <a:pPr marL="0" marR="0">
              <a:spcBef>
                <a:spcPts val="0"/>
              </a:spcBef>
              <a:spcAft>
                <a:spcPts val="0"/>
              </a:spcAft>
            </a:pPr>
            <a:r>
              <a:rPr lang="en-GB" sz="1100">
                <a:effectLst/>
                <a:latin typeface="Calibri" panose="020F0502020204030204" pitchFamily="34" charset="0"/>
                <a:ea typeface="DengXian" panose="02010600030101010101" pitchFamily="2" charset="-122"/>
              </a:rPr>
              <a:t>We have done further benchmarking across different signal processing operations.  I picked this one because it was a recent issue with a customer and highlights how GCC can be slow.  For other kernels, the cycle counts are comparable.</a:t>
            </a:r>
          </a:p>
          <a:p>
            <a:pPr marL="0" marR="0">
              <a:spcBef>
                <a:spcPts val="0"/>
              </a:spcBef>
              <a:spcAft>
                <a:spcPts val="0"/>
              </a:spcAft>
            </a:pPr>
            <a:r>
              <a:rPr lang="en-GB" sz="1100">
                <a:effectLst/>
                <a:latin typeface="Calibri" panose="020F0502020204030204" pitchFamily="34" charset="0"/>
                <a:ea typeface="DengXian" panose="02010600030101010101" pitchFamily="2" charset="-122"/>
              </a:rPr>
              <a:t> </a:t>
            </a:r>
          </a:p>
          <a:p>
            <a:pPr marL="0" marR="0">
              <a:spcBef>
                <a:spcPts val="0"/>
              </a:spcBef>
              <a:spcAft>
                <a:spcPts val="0"/>
              </a:spcAft>
            </a:pPr>
            <a:r>
              <a:rPr lang="en-GB" sz="1100">
                <a:effectLst/>
                <a:latin typeface="Calibri" panose="020F0502020204030204" pitchFamily="34" charset="0"/>
                <a:ea typeface="DengXian" panose="02010600030101010101" pitchFamily="2" charset="-122"/>
              </a:rPr>
              <a:t>Being able to run on the FVP would be very interesting for us.  I see several advantages:</a:t>
            </a:r>
          </a:p>
          <a:p>
            <a:pPr marL="342900" marR="0" lvl="0" indent="-342900">
              <a:spcBef>
                <a:spcPts val="0"/>
              </a:spcBef>
              <a:spcAft>
                <a:spcPts val="0"/>
              </a:spcAft>
              <a:buFont typeface="+mj-lt"/>
              <a:buAutoNum type="arabicPeriod"/>
              <a:tabLst>
                <a:tab pos="457200" algn="l"/>
              </a:tabLst>
            </a:pPr>
            <a:r>
              <a:rPr lang="en-GB" sz="1100">
                <a:effectLst/>
                <a:latin typeface="Calibri" panose="020F0502020204030204" pitchFamily="34" charset="0"/>
                <a:ea typeface="Times New Roman" panose="02020603050405020304" pitchFamily="18" charset="0"/>
              </a:rPr>
              <a:t>We can optimize and profile for cores before they are publicly available.  For example, we are getting requests for M55 performance numbers but there are no announced CPUs.</a:t>
            </a:r>
            <a:endParaRPr lang="en-GB" sz="1100">
              <a:effectLst/>
              <a:latin typeface="Calibri" panose="020F0502020204030204" pitchFamily="34" charset="0"/>
              <a:ea typeface="DengXian" panose="02010600030101010101" pitchFamily="2" charset="-122"/>
            </a:endParaRPr>
          </a:p>
          <a:p>
            <a:pPr marL="342900" marR="0" lvl="0" indent="-342900">
              <a:spcBef>
                <a:spcPts val="0"/>
              </a:spcBef>
              <a:spcAft>
                <a:spcPts val="0"/>
              </a:spcAft>
              <a:buFont typeface="+mj-lt"/>
              <a:buAutoNum type="arabicPeriod"/>
              <a:tabLst>
                <a:tab pos="457200" algn="l"/>
              </a:tabLst>
            </a:pPr>
            <a:r>
              <a:rPr lang="en-GB" sz="1100">
                <a:effectLst/>
                <a:latin typeface="Calibri" panose="020F0502020204030204" pitchFamily="34" charset="0"/>
                <a:ea typeface="Times New Roman" panose="02020603050405020304" pitchFamily="18" charset="0"/>
              </a:rPr>
              <a:t>Get accurate measurements of system level issues.  Caching and memory accesses have a huge impact.</a:t>
            </a:r>
            <a:endParaRPr lang="en-GB" sz="1100">
              <a:effectLst/>
              <a:latin typeface="Calibri" panose="020F0502020204030204" pitchFamily="34" charset="0"/>
              <a:ea typeface="DengXian" panose="02010600030101010101" pitchFamily="2" charset="-122"/>
            </a:endParaRPr>
          </a:p>
          <a:p>
            <a:pPr marL="342900" marR="0" lvl="0" indent="-342900">
              <a:spcBef>
                <a:spcPts val="0"/>
              </a:spcBef>
              <a:spcAft>
                <a:spcPts val="0"/>
              </a:spcAft>
              <a:buFont typeface="+mj-lt"/>
              <a:buAutoNum type="arabicPeriod"/>
              <a:tabLst>
                <a:tab pos="457200" algn="l"/>
              </a:tabLst>
            </a:pPr>
            <a:r>
              <a:rPr lang="en-GB" sz="1100">
                <a:effectLst/>
                <a:latin typeface="Calibri" panose="020F0502020204030204" pitchFamily="34" charset="0"/>
                <a:ea typeface="Times New Roman" panose="02020603050405020304" pitchFamily="18" charset="0"/>
              </a:rPr>
              <a:t>Could fit with our continuous integration plans so that we don't have to (always) test on external hardware.</a:t>
            </a:r>
            <a:endParaRPr lang="en-GB" sz="1100">
              <a:effectLst/>
              <a:latin typeface="Calibri" panose="020F0502020204030204" pitchFamily="34" charset="0"/>
              <a:ea typeface="DengXian" panose="02010600030101010101" pitchFamily="2" charset="-122"/>
            </a:endParaRPr>
          </a:p>
          <a:p>
            <a:pPr marL="0" marR="0">
              <a:spcBef>
                <a:spcPts val="0"/>
              </a:spcBef>
              <a:spcAft>
                <a:spcPts val="0"/>
              </a:spcAft>
            </a:pPr>
            <a:r>
              <a:rPr lang="en-GB" sz="1100">
                <a:effectLst/>
                <a:latin typeface="Calibri" panose="020F0502020204030204" pitchFamily="34" charset="0"/>
                <a:ea typeface="DengXian" panose="02010600030101010101" pitchFamily="2" charset="-122"/>
              </a:rPr>
              <a:t>We are speaking with Reed Hinkel about "cloud based profiling".  I would like our customers to create a design in Audio Weaver and then upload the design to our website for profiling.  They can select which processors to run on and then get detailed results showing where resources are consumed.  The VFP would be ideal for this.</a:t>
            </a:r>
          </a:p>
          <a:p>
            <a:pPr marL="0" marR="0">
              <a:spcBef>
                <a:spcPts val="0"/>
              </a:spcBef>
              <a:spcAft>
                <a:spcPts val="0"/>
              </a:spcAft>
            </a:pPr>
            <a:r>
              <a:rPr lang="en-GB" sz="1100">
                <a:effectLst/>
                <a:latin typeface="Calibri" panose="020F0502020204030204" pitchFamily="34" charset="0"/>
                <a:ea typeface="DengXian" panose="02010600030101010101" pitchFamily="2" charset="-122"/>
              </a:rPr>
              <a:t> </a:t>
            </a:r>
          </a:p>
          <a:p>
            <a:pPr marL="0" marR="0">
              <a:spcBef>
                <a:spcPts val="0"/>
              </a:spcBef>
              <a:spcAft>
                <a:spcPts val="0"/>
              </a:spcAft>
            </a:pPr>
            <a:r>
              <a:rPr lang="en-GB" sz="1100">
                <a:effectLst/>
                <a:latin typeface="Calibri" panose="020F0502020204030204" pitchFamily="34" charset="0"/>
                <a:ea typeface="DengXian" panose="02010600030101010101" pitchFamily="2" charset="-122"/>
              </a:rPr>
              <a:t>I also had one of my firmware engineers review the SAI interface.  I'll provide all of his comments and you can see what is relevant:</a:t>
            </a:r>
          </a:p>
          <a:p>
            <a:pPr marL="0" marR="0">
              <a:spcBef>
                <a:spcPts val="0"/>
              </a:spcBef>
              <a:spcAft>
                <a:spcPts val="0"/>
              </a:spcAft>
            </a:pPr>
            <a:r>
              <a:rPr lang="en-GB" sz="1100">
                <a:effectLst/>
                <a:latin typeface="Calibri" panose="020F0502020204030204" pitchFamily="34" charset="0"/>
                <a:ea typeface="DengXian" panose="02010600030101010101" pitchFamily="2" charset="-122"/>
              </a:rPr>
              <a:t> </a:t>
            </a:r>
          </a:p>
          <a:p>
            <a:pPr marL="0" marR="0">
              <a:spcBef>
                <a:spcPts val="0"/>
              </a:spcBef>
              <a:spcAft>
                <a:spcPts val="0"/>
              </a:spcAft>
            </a:pPr>
            <a:r>
              <a:rPr lang="en-GB" sz="1100">
                <a:effectLst/>
                <a:latin typeface="Calibri" panose="020F0502020204030204" pitchFamily="34" charset="0"/>
                <a:ea typeface="DengXian" panose="02010600030101010101" pitchFamily="2" charset="-122"/>
              </a:rPr>
              <a:t>It is well written and to make sure I understand it, low-level drivers must be written depending on the device.</a:t>
            </a:r>
          </a:p>
          <a:p>
            <a:pPr marL="742950" marR="0" lvl="1" indent="-285750">
              <a:spcBef>
                <a:spcPts val="0"/>
              </a:spcBef>
              <a:spcAft>
                <a:spcPts val="0"/>
              </a:spcAft>
              <a:buSzPts val="1000"/>
              <a:buFont typeface="Courier New" panose="02070309020205020404" pitchFamily="49" charset="0"/>
              <a:buChar char="o"/>
              <a:tabLst>
                <a:tab pos="914400" algn="l"/>
              </a:tabLst>
            </a:pPr>
            <a:r>
              <a:rPr lang="en-GB" sz="1100">
                <a:effectLst/>
                <a:latin typeface="Calibri" panose="020F0502020204030204" pitchFamily="34" charset="0"/>
                <a:ea typeface="DengXian" panose="02010600030101010101" pitchFamily="2" charset="-122"/>
                <a:cs typeface="Times New Roman" panose="02020603050405020304" pitchFamily="18" charset="0"/>
              </a:rPr>
              <a:t>You have to kickstart the driver with calls to </a:t>
            </a:r>
            <a:r>
              <a:rPr lang="en-GB" sz="1100" err="1">
                <a:effectLst/>
                <a:latin typeface="Calibri" panose="020F0502020204030204" pitchFamily="34" charset="0"/>
                <a:ea typeface="DengXian" panose="02010600030101010101" pitchFamily="2" charset="-122"/>
                <a:cs typeface="Times New Roman" panose="02020603050405020304" pitchFamily="18" charset="0"/>
              </a:rPr>
              <a:t>ARM_SAI_Receive</a:t>
            </a:r>
            <a:r>
              <a:rPr lang="en-GB" sz="1100">
                <a:effectLst/>
                <a:latin typeface="Calibri" panose="020F0502020204030204" pitchFamily="34" charset="0"/>
                <a:ea typeface="DengXian" panose="02010600030101010101" pitchFamily="2" charset="-122"/>
                <a:cs typeface="Times New Roman" panose="02020603050405020304" pitchFamily="18" charset="0"/>
              </a:rPr>
              <a:t>() or </a:t>
            </a:r>
            <a:r>
              <a:rPr lang="en-GB" sz="1100" err="1">
                <a:effectLst/>
                <a:latin typeface="Calibri" panose="020F0502020204030204" pitchFamily="34" charset="0"/>
                <a:ea typeface="DengXian" panose="02010600030101010101" pitchFamily="2" charset="-122"/>
                <a:cs typeface="Times New Roman" panose="02020603050405020304" pitchFamily="18" charset="0"/>
              </a:rPr>
              <a:t>ARM_SAI_Send</a:t>
            </a:r>
            <a:r>
              <a:rPr lang="en-GB" sz="1100">
                <a:effectLst/>
                <a:latin typeface="Calibri" panose="020F0502020204030204" pitchFamily="34" charset="0"/>
                <a:ea typeface="DengXian" panose="02010600030101010101" pitchFamily="2" charset="-122"/>
                <a:cs typeface="Times New Roman" panose="02020603050405020304" pitchFamily="18" charset="0"/>
              </a:rPr>
              <a:t>() which are non-blocking.</a:t>
            </a:r>
          </a:p>
          <a:p>
            <a:pPr marL="742950" marR="0" lvl="1" indent="-285750">
              <a:spcBef>
                <a:spcPts val="0"/>
              </a:spcBef>
              <a:spcAft>
                <a:spcPts val="0"/>
              </a:spcAft>
              <a:buSzPts val="1000"/>
              <a:buFont typeface="Courier New" panose="02070309020205020404" pitchFamily="49" charset="0"/>
              <a:buChar char="o"/>
              <a:tabLst>
                <a:tab pos="914400" algn="l"/>
              </a:tabLst>
            </a:pPr>
            <a:r>
              <a:rPr lang="en-GB" sz="1100">
                <a:effectLst/>
                <a:latin typeface="Calibri" panose="020F0502020204030204" pitchFamily="34" charset="0"/>
                <a:ea typeface="DengXian" panose="02010600030101010101" pitchFamily="2" charset="-122"/>
                <a:cs typeface="Times New Roman" panose="02020603050405020304" pitchFamily="18" charset="0"/>
              </a:rPr>
              <a:t>A </a:t>
            </a:r>
            <a:r>
              <a:rPr lang="en-GB" sz="1100" err="1">
                <a:effectLst/>
                <a:latin typeface="Calibri" panose="020F0502020204030204" pitchFamily="34" charset="0"/>
                <a:ea typeface="DengXian" panose="02010600030101010101" pitchFamily="2" charset="-122"/>
                <a:cs typeface="Times New Roman" panose="02020603050405020304" pitchFamily="18" charset="0"/>
              </a:rPr>
              <a:t>callback</a:t>
            </a:r>
            <a:r>
              <a:rPr lang="en-GB" sz="1100">
                <a:effectLst/>
                <a:latin typeface="Calibri" panose="020F0502020204030204" pitchFamily="34" charset="0"/>
                <a:ea typeface="DengXian" panose="02010600030101010101" pitchFamily="2" charset="-122"/>
                <a:cs typeface="Times New Roman" panose="02020603050405020304" pitchFamily="18" charset="0"/>
              </a:rPr>
              <a:t> function is registered during </a:t>
            </a:r>
            <a:r>
              <a:rPr lang="en-GB" sz="1100" err="1">
                <a:effectLst/>
                <a:latin typeface="Calibri" panose="020F0502020204030204" pitchFamily="34" charset="0"/>
                <a:ea typeface="DengXian" panose="02010600030101010101" pitchFamily="2" charset="-122"/>
                <a:cs typeface="Times New Roman" panose="02020603050405020304" pitchFamily="18" charset="0"/>
              </a:rPr>
              <a:t>init</a:t>
            </a:r>
            <a:r>
              <a:rPr lang="en-GB" sz="1100">
                <a:effectLst/>
                <a:latin typeface="Calibri" panose="020F0502020204030204" pitchFamily="34" charset="0"/>
                <a:ea typeface="DengXian" panose="02010600030101010101" pitchFamily="2" charset="-122"/>
                <a:cs typeface="Times New Roman" panose="02020603050405020304" pitchFamily="18" charset="0"/>
              </a:rPr>
              <a:t> called </a:t>
            </a:r>
            <a:r>
              <a:rPr lang="en-GB" sz="1100" err="1">
                <a:effectLst/>
                <a:latin typeface="Calibri" panose="020F0502020204030204" pitchFamily="34" charset="0"/>
                <a:ea typeface="DengXian" panose="02010600030101010101" pitchFamily="2" charset="-122"/>
                <a:cs typeface="Times New Roman" panose="02020603050405020304" pitchFamily="18" charset="0"/>
              </a:rPr>
              <a:t>ARM_SAI_SignalEvent</a:t>
            </a:r>
            <a:r>
              <a:rPr lang="en-GB" sz="1100">
                <a:effectLst/>
                <a:latin typeface="Calibri" panose="020F0502020204030204" pitchFamily="34" charset="0"/>
                <a:ea typeface="DengXian" panose="02010600030101010101" pitchFamily="2" charset="-122"/>
                <a:cs typeface="Times New Roman" panose="02020603050405020304" pitchFamily="18" charset="0"/>
              </a:rPr>
              <a:t>(event) which is called when the above completes with respective bits in the parameter "event" for each.</a:t>
            </a:r>
          </a:p>
          <a:p>
            <a:pPr marL="742950" marR="0" lvl="1" indent="-285750">
              <a:spcBef>
                <a:spcPts val="0"/>
              </a:spcBef>
              <a:spcAft>
                <a:spcPts val="0"/>
              </a:spcAft>
              <a:buSzPts val="1000"/>
              <a:buFont typeface="Courier New" panose="02070309020205020404" pitchFamily="49" charset="0"/>
              <a:buChar char="o"/>
              <a:tabLst>
                <a:tab pos="914400" algn="l"/>
              </a:tabLst>
            </a:pPr>
            <a:r>
              <a:rPr lang="en-GB" sz="1100" err="1">
                <a:effectLst/>
                <a:latin typeface="Calibri" panose="020F0502020204030204" pitchFamily="34" charset="0"/>
                <a:ea typeface="DengXian" panose="02010600030101010101" pitchFamily="2" charset="-122"/>
                <a:cs typeface="Times New Roman" panose="02020603050405020304" pitchFamily="18" charset="0"/>
              </a:rPr>
              <a:t>ARM_SAI_Receive</a:t>
            </a:r>
            <a:r>
              <a:rPr lang="en-GB" sz="1100">
                <a:effectLst/>
                <a:latin typeface="Calibri" panose="020F0502020204030204" pitchFamily="34" charset="0"/>
                <a:ea typeface="DengXian" panose="02010600030101010101" pitchFamily="2" charset="-122"/>
                <a:cs typeface="Times New Roman" panose="02020603050405020304" pitchFamily="18" charset="0"/>
              </a:rPr>
              <a:t>() or </a:t>
            </a:r>
            <a:r>
              <a:rPr lang="en-GB" sz="1100" err="1">
                <a:effectLst/>
                <a:latin typeface="Calibri" panose="020F0502020204030204" pitchFamily="34" charset="0"/>
                <a:ea typeface="DengXian" panose="02010600030101010101" pitchFamily="2" charset="-122"/>
                <a:cs typeface="Times New Roman" panose="02020603050405020304" pitchFamily="18" charset="0"/>
              </a:rPr>
              <a:t>ARM_SAI_Send</a:t>
            </a:r>
            <a:r>
              <a:rPr lang="en-GB" sz="1100">
                <a:effectLst/>
                <a:latin typeface="Calibri" panose="020F0502020204030204" pitchFamily="34" charset="0"/>
                <a:ea typeface="DengXian" panose="02010600030101010101" pitchFamily="2" charset="-122"/>
                <a:cs typeface="Times New Roman" panose="02020603050405020304" pitchFamily="18" charset="0"/>
              </a:rPr>
              <a:t>() mention that DMA is typical, but I am not sure if those two calls can be one time only and then the guts of the driver can provide calls to  </a:t>
            </a:r>
            <a:r>
              <a:rPr lang="en-GB" sz="1100" err="1">
                <a:effectLst/>
                <a:latin typeface="Calibri" panose="020F0502020204030204" pitchFamily="34" charset="0"/>
                <a:ea typeface="DengXian" panose="02010600030101010101" pitchFamily="2" charset="-122"/>
                <a:cs typeface="Times New Roman" panose="02020603050405020304" pitchFamily="18" charset="0"/>
              </a:rPr>
              <a:t>ARM_SAI_SignalEvent</a:t>
            </a:r>
            <a:r>
              <a:rPr lang="en-GB" sz="1100">
                <a:effectLst/>
                <a:latin typeface="Calibri" panose="020F0502020204030204" pitchFamily="34" charset="0"/>
                <a:ea typeface="DengXian" panose="02010600030101010101" pitchFamily="2" charset="-122"/>
                <a:cs typeface="Times New Roman" panose="02020603050405020304" pitchFamily="18" charset="0"/>
              </a:rPr>
              <a:t>(event) on each DMA interrupt afterward. If yes, then it can work with our BSP's.</a:t>
            </a:r>
          </a:p>
          <a:p>
            <a:pPr marL="742950" marR="0" lvl="1" indent="-285750">
              <a:spcBef>
                <a:spcPts val="0"/>
              </a:spcBef>
              <a:spcAft>
                <a:spcPts val="0"/>
              </a:spcAft>
              <a:buSzPts val="1000"/>
              <a:buFont typeface="Courier New" panose="02070309020205020404" pitchFamily="49" charset="0"/>
              <a:buChar char="o"/>
              <a:tabLst>
                <a:tab pos="914400" algn="l"/>
              </a:tabLst>
            </a:pPr>
            <a:r>
              <a:rPr lang="en-GB" sz="1100">
                <a:effectLst/>
                <a:latin typeface="Calibri" panose="020F0502020204030204" pitchFamily="34" charset="0"/>
                <a:ea typeface="DengXian" panose="02010600030101010101" pitchFamily="2" charset="-122"/>
                <a:cs typeface="Times New Roman" panose="02020603050405020304" pitchFamily="18" charset="0"/>
              </a:rPr>
              <a:t>The protocols cover about everything with User Defined Protocol allowing for generic TDM configuration. </a:t>
            </a:r>
          </a:p>
          <a:p>
            <a:pPr marL="1143000" marR="0" lvl="2" indent="-228600">
              <a:spcBef>
                <a:spcPts val="0"/>
              </a:spcBef>
              <a:spcAft>
                <a:spcPts val="0"/>
              </a:spcAft>
              <a:buSzPts val="1000"/>
              <a:buFont typeface="Wingdings" panose="05000000000000000000" pitchFamily="2" charset="2"/>
              <a:buChar char=""/>
              <a:tabLst>
                <a:tab pos="1371600" algn="l"/>
              </a:tabLst>
            </a:pPr>
            <a:r>
              <a:rPr lang="en-GB" sz="1100">
                <a:effectLst/>
                <a:latin typeface="Calibri" panose="020F0502020204030204" pitchFamily="34" charset="0"/>
                <a:ea typeface="DengXian" panose="02010600030101010101" pitchFamily="2" charset="-122"/>
              </a:rPr>
              <a:t>They are missing specification of left or right adjusted data and now to save captured data in memory. For instance if the data is 24-bits, is it saved right adjusted with sign extension or left adjusted? </a:t>
            </a:r>
          </a:p>
          <a:p>
            <a:pPr marL="1143000" marR="0" lvl="2" indent="-228600">
              <a:spcBef>
                <a:spcPts val="0"/>
              </a:spcBef>
              <a:spcAft>
                <a:spcPts val="0"/>
              </a:spcAft>
              <a:buSzPts val="1000"/>
              <a:buFont typeface="Wingdings" panose="05000000000000000000" pitchFamily="2" charset="2"/>
              <a:buChar char=""/>
              <a:tabLst>
                <a:tab pos="1371600" algn="l"/>
              </a:tabLst>
            </a:pPr>
            <a:r>
              <a:rPr lang="en-GB" sz="1100">
                <a:effectLst/>
                <a:latin typeface="Calibri" panose="020F0502020204030204" pitchFamily="34" charset="0"/>
                <a:ea typeface="DengXian" panose="02010600030101010101" pitchFamily="2" charset="-122"/>
              </a:rPr>
              <a:t>In general, you may capture even 16-bit data and want to save it in 32-bit memory left or right adjusted.</a:t>
            </a:r>
          </a:p>
          <a:p>
            <a:pPr marL="742950" marR="0" lvl="1" indent="-285750">
              <a:spcBef>
                <a:spcPts val="0"/>
              </a:spcBef>
              <a:spcAft>
                <a:spcPts val="0"/>
              </a:spcAft>
              <a:buSzPts val="1000"/>
              <a:buFont typeface="Courier New" panose="02070309020205020404" pitchFamily="49" charset="0"/>
              <a:buChar char="o"/>
              <a:tabLst>
                <a:tab pos="914400" algn="l"/>
              </a:tabLst>
            </a:pPr>
            <a:r>
              <a:rPr lang="en-GB" sz="1100">
                <a:effectLst/>
                <a:latin typeface="Calibri" panose="020F0502020204030204" pitchFamily="34" charset="0"/>
                <a:ea typeface="DengXian" panose="02010600030101010101" pitchFamily="2" charset="-122"/>
                <a:cs typeface="Times New Roman" panose="02020603050405020304" pitchFamily="18" charset="0"/>
              </a:rPr>
              <a:t>The same API and supported protocols should include PDM (DMIC) input. The RT685 and NXP PDM IP in general have a means to convert to I2S, but that may not be on all parts and should not be necessary.</a:t>
            </a:r>
          </a:p>
          <a:p>
            <a:pPr marL="1143000" marR="0" lvl="2" indent="-228600">
              <a:spcBef>
                <a:spcPts val="0"/>
              </a:spcBef>
              <a:spcAft>
                <a:spcPts val="0"/>
              </a:spcAft>
              <a:buSzPts val="1000"/>
              <a:buFont typeface="Wingdings" panose="05000000000000000000" pitchFamily="2" charset="2"/>
              <a:buChar char=""/>
              <a:tabLst>
                <a:tab pos="1371600" algn="l"/>
              </a:tabLst>
            </a:pPr>
            <a:r>
              <a:rPr lang="en-GB" sz="1100">
                <a:effectLst/>
                <a:latin typeface="Calibri" panose="020F0502020204030204" pitchFamily="34" charset="0"/>
                <a:ea typeface="DengXian" panose="02010600030101010101" pitchFamily="2" charset="-122"/>
              </a:rPr>
              <a:t>Most devices have multiple stereo PDM ports that can capture data and send to two different DMA channels (left and right). </a:t>
            </a:r>
          </a:p>
          <a:p>
            <a:pPr marL="1143000" marR="0" lvl="2" indent="-228600">
              <a:spcBef>
                <a:spcPts val="0"/>
              </a:spcBef>
              <a:spcAft>
                <a:spcPts val="0"/>
              </a:spcAft>
              <a:buSzPts val="1000"/>
              <a:buFont typeface="Wingdings" panose="05000000000000000000" pitchFamily="2" charset="2"/>
              <a:buChar char=""/>
              <a:tabLst>
                <a:tab pos="1371600" algn="l"/>
              </a:tabLst>
            </a:pPr>
            <a:r>
              <a:rPr lang="en-GB" sz="1100">
                <a:effectLst/>
                <a:latin typeface="Calibri" panose="020F0502020204030204" pitchFamily="34" charset="0"/>
                <a:ea typeface="DengXian" panose="02010600030101010101" pitchFamily="2" charset="-122"/>
              </a:rPr>
              <a:t>This API seems to support single stream, interleaved, not multi-stream from one device. Is that correct?</a:t>
            </a:r>
          </a:p>
          <a:p>
            <a:pPr marL="742950" marR="0" lvl="1" indent="-285750">
              <a:spcBef>
                <a:spcPts val="0"/>
              </a:spcBef>
              <a:spcAft>
                <a:spcPts val="0"/>
              </a:spcAft>
              <a:buSzPts val="1000"/>
              <a:buFont typeface="Courier New" panose="02070309020205020404" pitchFamily="49" charset="0"/>
              <a:buChar char="o"/>
              <a:tabLst>
                <a:tab pos="914400" algn="l"/>
              </a:tabLst>
            </a:pPr>
            <a:r>
              <a:rPr lang="en-GB" sz="1100">
                <a:effectLst/>
                <a:latin typeface="Calibri" panose="020F0502020204030204" pitchFamily="34" charset="0"/>
                <a:ea typeface="DengXian" panose="02010600030101010101" pitchFamily="2" charset="-122"/>
                <a:cs typeface="Times New Roman" panose="02020603050405020304" pitchFamily="18" charset="0"/>
              </a:rPr>
              <a:t>The documentation is not clear how you mask the TX event, bot allow the RX event and so on. Guessing it is in there.</a:t>
            </a:r>
          </a:p>
          <a:p>
            <a:endParaRPr lang="en-GB"/>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32</a:t>
            </a:fld>
            <a:endParaRPr lang="en-US" altLang="en-US"/>
          </a:p>
        </p:txBody>
      </p:sp>
    </p:spTree>
    <p:extLst>
      <p:ext uri="{BB962C8B-B14F-4D97-AF65-F5344CB8AC3E}">
        <p14:creationId xmlns:p14="http://schemas.microsoft.com/office/powerpoint/2010/main" val="25132202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Requires you to think about the API of the software component</a:t>
            </a:r>
          </a:p>
        </p:txBody>
      </p:sp>
      <p:sp>
        <p:nvSpPr>
          <p:cNvPr id="4" name="Slide Number Placeholder 3"/>
          <p:cNvSpPr>
            <a:spLocks noGrp="1"/>
          </p:cNvSpPr>
          <p:nvPr>
            <p:ph type="sldNum" sz="quarter" idx="10"/>
          </p:nvPr>
        </p:nvSpPr>
        <p:spPr/>
        <p:txBody>
          <a:bodyPr/>
          <a:lstStyle/>
          <a:p>
            <a:pPr>
              <a:defRPr/>
            </a:pPr>
            <a:fld id="{3B16354E-6974-4833-AB87-3220A0835E84}" type="slidenum">
              <a:rPr lang="en-US" altLang="en-US" smtClean="0"/>
              <a:pPr>
                <a:defRPr/>
              </a:pPr>
              <a:t>34</a:t>
            </a:fld>
            <a:endParaRPr lang="en-US" altLang="en-US"/>
          </a:p>
        </p:txBody>
      </p:sp>
    </p:spTree>
    <p:extLst>
      <p:ext uri="{BB962C8B-B14F-4D97-AF65-F5344CB8AC3E}">
        <p14:creationId xmlns:p14="http://schemas.microsoft.com/office/powerpoint/2010/main" val="520661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Requires you to think about the API of the software component</a:t>
            </a:r>
          </a:p>
        </p:txBody>
      </p:sp>
      <p:sp>
        <p:nvSpPr>
          <p:cNvPr id="4" name="Slide Number Placeholder 3"/>
          <p:cNvSpPr>
            <a:spLocks noGrp="1"/>
          </p:cNvSpPr>
          <p:nvPr>
            <p:ph type="sldNum" sz="quarter" idx="10"/>
          </p:nvPr>
        </p:nvSpPr>
        <p:spPr/>
        <p:txBody>
          <a:bodyPr/>
          <a:lstStyle/>
          <a:p>
            <a:pPr>
              <a:defRPr/>
            </a:pPr>
            <a:fld id="{3B16354E-6974-4833-AB87-3220A0835E84}" type="slidenum">
              <a:rPr lang="en-US" altLang="en-US" smtClean="0"/>
              <a:pPr>
                <a:defRPr/>
              </a:pPr>
              <a:t>35</a:t>
            </a:fld>
            <a:endParaRPr lang="en-US" altLang="en-US"/>
          </a:p>
        </p:txBody>
      </p:sp>
    </p:spTree>
    <p:extLst>
      <p:ext uri="{BB962C8B-B14F-4D97-AF65-F5344CB8AC3E}">
        <p14:creationId xmlns:p14="http://schemas.microsoft.com/office/powerpoint/2010/main" val="6281857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B16354E-6974-4833-AB87-3220A0835E84}" type="slidenum">
              <a:rPr lang="en-US" altLang="en-US" smtClean="0"/>
              <a:pPr>
                <a:defRPr/>
              </a:pPr>
              <a:t>36</a:t>
            </a:fld>
            <a:endParaRPr lang="en-US" altLang="en-US"/>
          </a:p>
        </p:txBody>
      </p:sp>
    </p:spTree>
    <p:extLst>
      <p:ext uri="{BB962C8B-B14F-4D97-AF65-F5344CB8AC3E}">
        <p14:creationId xmlns:p14="http://schemas.microsoft.com/office/powerpoint/2010/main" val="23022400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Requires you to think about the API of the software component</a:t>
            </a:r>
          </a:p>
        </p:txBody>
      </p:sp>
      <p:sp>
        <p:nvSpPr>
          <p:cNvPr id="4" name="Slide Number Placeholder 3"/>
          <p:cNvSpPr>
            <a:spLocks noGrp="1"/>
          </p:cNvSpPr>
          <p:nvPr>
            <p:ph type="sldNum" sz="quarter" idx="10"/>
          </p:nvPr>
        </p:nvSpPr>
        <p:spPr/>
        <p:txBody>
          <a:bodyPr/>
          <a:lstStyle/>
          <a:p>
            <a:pPr>
              <a:defRPr/>
            </a:pPr>
            <a:fld id="{3B16354E-6974-4833-AB87-3220A0835E84}" type="slidenum">
              <a:rPr lang="en-US" altLang="en-US" smtClean="0"/>
              <a:pPr>
                <a:defRPr/>
              </a:pPr>
              <a:t>38</a:t>
            </a:fld>
            <a:endParaRPr lang="en-US" altLang="en-US"/>
          </a:p>
        </p:txBody>
      </p:sp>
    </p:spTree>
    <p:extLst>
      <p:ext uri="{BB962C8B-B14F-4D97-AF65-F5344CB8AC3E}">
        <p14:creationId xmlns:p14="http://schemas.microsoft.com/office/powerpoint/2010/main" val="29530993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Requires you to think about the API of the software component</a:t>
            </a:r>
          </a:p>
        </p:txBody>
      </p:sp>
      <p:sp>
        <p:nvSpPr>
          <p:cNvPr id="4" name="Slide Number Placeholder 3"/>
          <p:cNvSpPr>
            <a:spLocks noGrp="1"/>
          </p:cNvSpPr>
          <p:nvPr>
            <p:ph type="sldNum" sz="quarter" idx="10"/>
          </p:nvPr>
        </p:nvSpPr>
        <p:spPr/>
        <p:txBody>
          <a:bodyPr/>
          <a:lstStyle/>
          <a:p>
            <a:pPr>
              <a:defRPr/>
            </a:pPr>
            <a:fld id="{3B16354E-6974-4833-AB87-3220A0835E84}" type="slidenum">
              <a:rPr lang="en-US" altLang="en-US" smtClean="0"/>
              <a:pPr>
                <a:defRPr/>
              </a:pPr>
              <a:t>39</a:t>
            </a:fld>
            <a:endParaRPr lang="en-US" altLang="en-US"/>
          </a:p>
        </p:txBody>
      </p:sp>
    </p:spTree>
    <p:extLst>
      <p:ext uri="{BB962C8B-B14F-4D97-AF65-F5344CB8AC3E}">
        <p14:creationId xmlns:p14="http://schemas.microsoft.com/office/powerpoint/2010/main" val="3245664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B16354E-6974-4833-AB87-3220A0835E84}" type="slidenum">
              <a:rPr lang="en-US" altLang="en-US" smtClean="0"/>
              <a:pPr>
                <a:defRPr/>
              </a:pPr>
              <a:t>41</a:t>
            </a:fld>
            <a:endParaRPr lang="en-US" altLang="en-US"/>
          </a:p>
        </p:txBody>
      </p:sp>
    </p:spTree>
    <p:extLst>
      <p:ext uri="{BB962C8B-B14F-4D97-AF65-F5344CB8AC3E}">
        <p14:creationId xmlns:p14="http://schemas.microsoft.com/office/powerpoint/2010/main" val="1487125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Requires you to think about the API of the software component</a:t>
            </a:r>
          </a:p>
        </p:txBody>
      </p:sp>
      <p:sp>
        <p:nvSpPr>
          <p:cNvPr id="4" name="Slide Number Placeholder 3"/>
          <p:cNvSpPr>
            <a:spLocks noGrp="1"/>
          </p:cNvSpPr>
          <p:nvPr>
            <p:ph type="sldNum" sz="quarter" idx="10"/>
          </p:nvPr>
        </p:nvSpPr>
        <p:spPr/>
        <p:txBody>
          <a:bodyPr/>
          <a:lstStyle/>
          <a:p>
            <a:pPr>
              <a:defRPr/>
            </a:pPr>
            <a:fld id="{3B16354E-6974-4833-AB87-3220A0835E84}" type="slidenum">
              <a:rPr lang="en-US" altLang="en-US" smtClean="0"/>
              <a:pPr>
                <a:defRPr/>
              </a:pPr>
              <a:t>42</a:t>
            </a:fld>
            <a:endParaRPr lang="en-US" altLang="en-US"/>
          </a:p>
        </p:txBody>
      </p:sp>
    </p:spTree>
    <p:extLst>
      <p:ext uri="{BB962C8B-B14F-4D97-AF65-F5344CB8AC3E}">
        <p14:creationId xmlns:p14="http://schemas.microsoft.com/office/powerpoint/2010/main" val="38455636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B16354E-6974-4833-AB87-3220A0835E84}" type="slidenum">
              <a:rPr lang="en-US" altLang="en-US" smtClean="0"/>
              <a:pPr>
                <a:defRPr/>
              </a:pPr>
              <a:t>44</a:t>
            </a:fld>
            <a:endParaRPr lang="en-US" altLang="en-US"/>
          </a:p>
        </p:txBody>
      </p:sp>
    </p:spTree>
    <p:extLst>
      <p:ext uri="{BB962C8B-B14F-4D97-AF65-F5344CB8AC3E}">
        <p14:creationId xmlns:p14="http://schemas.microsoft.com/office/powerpoint/2010/main" val="18841893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B16354E-6974-4833-AB87-3220A0835E84}" type="slidenum">
              <a:rPr lang="en-US" altLang="en-US" smtClean="0"/>
              <a:pPr>
                <a:defRPr/>
              </a:pPr>
              <a:t>45</a:t>
            </a:fld>
            <a:endParaRPr lang="en-US" altLang="en-US"/>
          </a:p>
        </p:txBody>
      </p:sp>
    </p:spTree>
    <p:extLst>
      <p:ext uri="{BB962C8B-B14F-4D97-AF65-F5344CB8AC3E}">
        <p14:creationId xmlns:p14="http://schemas.microsoft.com/office/powerpoint/2010/main" val="14196076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00389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02198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89262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267386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800" dirty="0"/>
          </a:p>
          <a:p>
            <a:r>
              <a:rPr lang="en-US" sz="1800" dirty="0"/>
              <a:t>Today, developers rely on example projects to kick start their application development. In the Open-CMSIS-Pack system, we pay a lot of attention on meaningful examples that are easy to access.</a:t>
            </a:r>
          </a:p>
          <a:p>
            <a:endParaRPr lang="en-US" sz="1800" dirty="0"/>
          </a:p>
          <a:p>
            <a:pPr marL="285750" indent="-285750">
              <a:buFontTx/>
              <a:buChar char="-"/>
            </a:pPr>
            <a:r>
              <a:rPr lang="en-US" sz="1800" dirty="0"/>
              <a:t>All of this is based on CMSIS-Packs. There are different flavors that can provide various types of examples.</a:t>
            </a:r>
          </a:p>
          <a:p>
            <a:pPr marL="285750" indent="-285750">
              <a:buFontTx/>
              <a:buChar char="-"/>
            </a:pPr>
            <a:r>
              <a:rPr lang="en-US" sz="1800" dirty="0"/>
              <a:t>Device family pack can provide device specific template projects.</a:t>
            </a:r>
          </a:p>
          <a:p>
            <a:pPr marL="285750" indent="-285750">
              <a:buFontTx/>
              <a:buChar char="-"/>
            </a:pPr>
            <a:r>
              <a:rPr lang="en-US" sz="1800" dirty="0"/>
              <a:t>Board support packs obviously contain examples that run on on a specific board. But also board specific template projects that are preconfigured for different application types. BSPs can also have board layers with driver interfaces for certain use cases.</a:t>
            </a:r>
          </a:p>
          <a:p>
            <a:pPr marL="285750" indent="-285750">
              <a:buFontTx/>
              <a:buChar char="-"/>
            </a:pPr>
            <a:r>
              <a:rPr lang="en-US" sz="1800" dirty="0"/>
              <a:t>Middleware packs contain preconfigured examples that run out of the box on a give board for software such as an RTOS, or a graphics pack that we show today. IN the next we episode of this series, we will be looking at the </a:t>
            </a:r>
            <a:r>
              <a:rPr lang="en-US" sz="1800" dirty="0" err="1"/>
              <a:t>CANopen</a:t>
            </a:r>
            <a:r>
              <a:rPr lang="en-US" sz="1800" dirty="0"/>
              <a:t> stack from </a:t>
            </a:r>
            <a:r>
              <a:rPr lang="en-US" sz="1800" dirty="0" err="1"/>
              <a:t>EmSA</a:t>
            </a:r>
            <a:r>
              <a:rPr lang="en-US" sz="1800" dirty="0"/>
              <a:t>.</a:t>
            </a:r>
            <a:br>
              <a:rPr lang="en-US" sz="1800" dirty="0"/>
            </a:br>
            <a:r>
              <a:rPr lang="en-US" sz="1800" dirty="0"/>
              <a:t>Reference applications are hardware agnostic and require driver interfaces that are provided via board layers. Packs can also contain user code templates which give you a starting point for using a software component. </a:t>
            </a:r>
          </a:p>
          <a:p>
            <a:pPr marL="285750" indent="-285750">
              <a:buFontTx/>
              <a:buChar char="-"/>
            </a:pPr>
            <a:endParaRPr lang="en-US" sz="1800" dirty="0"/>
          </a:p>
          <a:p>
            <a:pPr marL="0" indent="0">
              <a:buFontTx/>
              <a:buNone/>
            </a:pPr>
            <a:r>
              <a:rPr lang="en-US" sz="1800" dirty="0"/>
              <a:t>To make it easy, we have several ways. On the website you can see all the different packs. And the boards that they support along with examples.</a:t>
            </a:r>
          </a:p>
          <a:p>
            <a:endParaRPr lang="en-US" sz="1800" dirty="0"/>
          </a:p>
          <a:p>
            <a:r>
              <a:rPr lang="en-US" sz="1800" dirty="0"/>
              <a:t>In VS Code, us the Create-new-solution flow. Once you select a board, it shows the examples available.</a:t>
            </a:r>
          </a:p>
          <a:p>
            <a:endParaRPr lang="en-US" sz="1800" dirty="0"/>
          </a:p>
          <a:p>
            <a:r>
              <a:rPr lang="en-US" sz="1800" dirty="0"/>
              <a:t>You have also access to templates or reference applications. You can also have several </a:t>
            </a:r>
            <a:r>
              <a:rPr lang="en-US" sz="1800" dirty="0" err="1"/>
              <a:t>csolution</a:t>
            </a:r>
            <a:r>
              <a:rPr lang="en-US" sz="1800" dirty="0"/>
              <a:t> examples that run directly on this board. It’s really easy to get started.</a:t>
            </a:r>
          </a:p>
          <a:p>
            <a:endParaRPr lang="en-US" sz="1800" dirty="0"/>
          </a:p>
          <a:p>
            <a:r>
              <a:rPr lang="en-US" sz="1800" dirty="0"/>
              <a:t>For the user code templates, we have a similar way. You add a new file and choose the option “code template”. </a:t>
            </a:r>
          </a:p>
          <a:p>
            <a:endParaRPr lang="en-US" sz="1800" dirty="0"/>
          </a:p>
          <a:p>
            <a:r>
              <a:rPr lang="en-US" sz="1800" dirty="0"/>
              <a:t>BTW, all of this works in VS Code and µVision similarly and Embedded Wizard will now show how example examples show the rich feature set of their graphics middleware and how they help customers with a starting point for their own projects.</a:t>
            </a:r>
          </a:p>
          <a:p>
            <a:endParaRPr lang="en-US" sz="1800" dirty="0"/>
          </a:p>
          <a:p>
            <a:r>
              <a:rPr lang="en-US" sz="1800" dirty="0"/>
              <a:t>Manuel, Tim, the stage is yours. </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54</a:t>
            </a:fld>
            <a:endParaRPr lang="en-US" altLang="en-US"/>
          </a:p>
        </p:txBody>
      </p:sp>
    </p:spTree>
    <p:extLst>
      <p:ext uri="{BB962C8B-B14F-4D97-AF65-F5344CB8AC3E}">
        <p14:creationId xmlns:p14="http://schemas.microsoft.com/office/powerpoint/2010/main" val="17256409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55</a:t>
            </a:fld>
            <a:endParaRPr lang="en-US" altLang="en-US"/>
          </a:p>
        </p:txBody>
      </p:sp>
    </p:spTree>
    <p:extLst>
      <p:ext uri="{BB962C8B-B14F-4D97-AF65-F5344CB8AC3E}">
        <p14:creationId xmlns:p14="http://schemas.microsoft.com/office/powerpoint/2010/main" val="6324930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5828-D0AB-AEB4-4A5E-8D3A89EC7C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C365DC-1E56-06C3-3F59-3106FBBDDD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403F11-3369-D7D1-0FC2-E5ABBD1D4A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AAA27D-8A46-697C-4E33-CFA5205E3EAE}"/>
              </a:ext>
            </a:extLst>
          </p:cNvPr>
          <p:cNvSpPr>
            <a:spLocks noGrp="1"/>
          </p:cNvSpPr>
          <p:nvPr>
            <p:ph type="sldNum" sz="quarter" idx="5"/>
          </p:nvPr>
        </p:nvSpPr>
        <p:spPr/>
        <p:txBody>
          <a:bodyPr/>
          <a:lstStyle/>
          <a:p>
            <a:pPr>
              <a:defRPr/>
            </a:pPr>
            <a:fld id="{3B16354E-6974-4833-AB87-3220A0835E84}" type="slidenum">
              <a:rPr lang="en-US" altLang="en-US" smtClean="0"/>
              <a:pPr>
                <a:defRPr/>
              </a:pPr>
              <a:t>56</a:t>
            </a:fld>
            <a:endParaRPr lang="en-US" altLang="en-US"/>
          </a:p>
        </p:txBody>
      </p:sp>
    </p:spTree>
    <p:extLst>
      <p:ext uri="{BB962C8B-B14F-4D97-AF65-F5344CB8AC3E}">
        <p14:creationId xmlns:p14="http://schemas.microsoft.com/office/powerpoint/2010/main" val="21419755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57</a:t>
            </a:fld>
            <a:endParaRPr lang="en-US" altLang="en-US"/>
          </a:p>
        </p:txBody>
      </p:sp>
    </p:spTree>
    <p:extLst>
      <p:ext uri="{BB962C8B-B14F-4D97-AF65-F5344CB8AC3E}">
        <p14:creationId xmlns:p14="http://schemas.microsoft.com/office/powerpoint/2010/main" val="6324930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Thank you Hans for this interesting demo.   Let me recap what he did.</a:t>
            </a:r>
            <a:br>
              <a:rPr lang="en-US"/>
            </a:br>
            <a:br>
              <a:rPr lang="en-US"/>
            </a:br>
            <a:r>
              <a:rPr lang="en-US"/>
              <a:t>This is the Manual section of the CMSIS Toolbox that talks about the MDK Middleware Reference Applications.</a:t>
            </a:r>
            <a:br>
              <a:rPr lang="en-US"/>
            </a:br>
            <a:r>
              <a:rPr lang="en-US"/>
              <a:t>As has did explain several Board Support packs contain such layers.   The CMSIS Toolbox uses connections to identify compatible layers. </a:t>
            </a:r>
          </a:p>
          <a:p>
            <a:endParaRPr lang="en-US"/>
          </a:p>
          <a:p>
            <a:r>
              <a:rPr lang="en-US"/>
              <a:t>You can see here, the connections of the Reference example and the board layer match.  This makes it possible to use this board layer to run the example application.</a:t>
            </a:r>
            <a:br>
              <a:rPr lang="en-US"/>
            </a:br>
            <a:r>
              <a:rPr lang="en-US"/>
              <a:t>The board layer can however have more connections, which allows you to use this layer for many other different applications. This is how we scale in future our example projects to different evaluation boards.  </a:t>
            </a:r>
          </a:p>
          <a:p>
            <a:r>
              <a:rPr lang="en-US"/>
              <a:t>All you need as a board vendor is to ship a board layer with the right scope of connections in a board support pack.</a:t>
            </a:r>
          </a:p>
          <a:p>
            <a:endParaRPr lang="en-US"/>
          </a:p>
          <a:p>
            <a:r>
              <a:rPr lang="en-US"/>
              <a:t>Now, Hans used the STM32F746G Disco board, and the tool gave him the right layer for his example.  He could have then development the application software by still using the evaluation kit. </a:t>
            </a:r>
          </a:p>
          <a:p>
            <a:r>
              <a:rPr lang="en-US"/>
              <a:t>This speeds up development as you need not to wait for the production hardware.  But once this custom hardware arrives, you may just add another board layer to your application.  </a:t>
            </a:r>
          </a:p>
          <a:p>
            <a:r>
              <a:rPr lang="en-US"/>
              <a:t>Now you can continue using both the evaluation kit and the custom hardware for software development. </a:t>
            </a:r>
          </a:p>
          <a:p>
            <a:endParaRPr lang="en-US"/>
          </a:p>
          <a:p>
            <a:r>
              <a:rPr lang="en-US"/>
              <a:t>But with this layer concept you can do a lot more.</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59</a:t>
            </a:fld>
            <a:endParaRPr lang="en-US" altLang="en-US"/>
          </a:p>
        </p:txBody>
      </p:sp>
    </p:spTree>
    <p:extLst>
      <p:ext uri="{BB962C8B-B14F-4D97-AF65-F5344CB8AC3E}">
        <p14:creationId xmlns:p14="http://schemas.microsoft.com/office/powerpoint/2010/main" val="2836788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Layers provide flexibility for many different use cases. </a:t>
            </a:r>
          </a:p>
          <a:p>
            <a:endParaRPr lang="en-US"/>
          </a:p>
          <a:p>
            <a:r>
              <a:rPr lang="en-US"/>
              <a:t>This diagram shows the structure of a test case project that uses layers to run on hardware or simulation models. Both layers provide effectively the same API interface. The difference is that the layer for the simulation model provides virtual interfaces that allow you for example to connect to I/O streams. Using the Virtual Streaming Interface gives you for example access to sensor data, audio or video files.</a:t>
            </a:r>
          </a:p>
          <a:p>
            <a:r>
              <a:rPr lang="en-US"/>
              <a:t>We provide several examples as developer resources for our Arm Virtual Hardware that you can find on GitHub.  Here is a list of examples that includes a simple Hello World, a CI template to create own unit test projects, or VSI examples. We are using CI tests for many CMSIS components and also these repositories are public.</a:t>
            </a:r>
          </a:p>
          <a:p>
            <a:endParaRPr lang="en-US"/>
          </a:p>
          <a:p>
            <a:r>
              <a:rPr lang="en-US"/>
              <a:t>Potentially show AVH </a:t>
            </a:r>
            <a:r>
              <a:rPr lang="en-US" err="1"/>
              <a:t>github</a:t>
            </a:r>
            <a:r>
              <a:rPr lang="en-US"/>
              <a:t> + MQTT </a:t>
            </a:r>
            <a:r>
              <a:rPr lang="en-US" err="1"/>
              <a:t>github</a:t>
            </a:r>
            <a:endParaRPr lang="en-US"/>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60</a:t>
            </a:fld>
            <a:endParaRPr lang="en-US" altLang="en-US"/>
          </a:p>
        </p:txBody>
      </p:sp>
    </p:spTree>
    <p:extLst>
      <p:ext uri="{BB962C8B-B14F-4D97-AF65-F5344CB8AC3E}">
        <p14:creationId xmlns:p14="http://schemas.microsoft.com/office/powerpoint/2010/main" val="21587877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Layers can also simplify evaluation of hardware.  Here we show an NXP Sensor Arduino shield. Obviously, the hardware connects easily to microcontroller boards that offer Arduino connectors. </a:t>
            </a:r>
            <a:br>
              <a:rPr lang="en-US"/>
            </a:br>
            <a:br>
              <a:rPr lang="en-US"/>
            </a:br>
            <a:r>
              <a:rPr lang="en-US"/>
              <a:t>But how can we offer evaluation software for many different boards?</a:t>
            </a:r>
          </a:p>
          <a:p>
            <a:endParaRPr lang="en-US"/>
          </a:p>
          <a:p>
            <a:r>
              <a:rPr lang="en-US"/>
              <a:t>The VS Code CMSIS solution helps here.  It can combine the software part of a Sensor SDK that contains a reference application for the sensor with a Board layer of an evaluation kit that supports Arduino interfaces.</a:t>
            </a:r>
            <a:br>
              <a:rPr lang="en-US"/>
            </a:br>
            <a:r>
              <a:rPr lang="en-US"/>
              <a:t>The tool picks for you the right layers and even provides information about jumper settings that you should apply to make it work.</a:t>
            </a:r>
          </a:p>
          <a:p>
            <a:br>
              <a:rPr lang="en-US"/>
            </a:br>
            <a:r>
              <a:rPr lang="en-US"/>
              <a:t>The software itself is retargeted using the Shield layer that provides effectively a header file with the pin mapping of the Arduino shield.  If you want to use the same software components on production hardware without Arduino connector – all you need is a different pin mapping header file in your layer. </a:t>
            </a:r>
          </a:p>
          <a:p>
            <a:br>
              <a:rPr lang="en-US"/>
            </a:br>
            <a:r>
              <a:rPr lang="en-US"/>
              <a:t>Again, we provide this example on GitHub.</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61</a:t>
            </a:fld>
            <a:endParaRPr lang="en-US" altLang="en-US"/>
          </a:p>
        </p:txBody>
      </p:sp>
    </p:spTree>
    <p:extLst>
      <p:ext uri="{BB962C8B-B14F-4D97-AF65-F5344CB8AC3E}">
        <p14:creationId xmlns:p14="http://schemas.microsoft.com/office/powerpoint/2010/main" val="38941588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EB8FE-A36B-EBB0-0B01-04ACD88258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3B1D5A-9CD2-44C1-B2FD-B6A5B89B07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05E142-EFAB-C24B-C102-E005866441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F21427-4344-EA96-2BA2-0E55CFEA1004}"/>
              </a:ext>
            </a:extLst>
          </p:cNvPr>
          <p:cNvSpPr>
            <a:spLocks noGrp="1"/>
          </p:cNvSpPr>
          <p:nvPr>
            <p:ph type="sldNum" sz="quarter" idx="5"/>
          </p:nvPr>
        </p:nvSpPr>
        <p:spPr/>
        <p:txBody>
          <a:bodyPr/>
          <a:lstStyle/>
          <a:p>
            <a:pPr>
              <a:defRPr/>
            </a:pPr>
            <a:fld id="{3B16354E-6974-4833-AB87-3220A0835E84}" type="slidenum">
              <a:rPr lang="en-US" altLang="en-US" smtClean="0"/>
              <a:pPr>
                <a:defRPr/>
              </a:pPr>
              <a:t>62</a:t>
            </a:fld>
            <a:endParaRPr lang="en-US" altLang="en-US"/>
          </a:p>
        </p:txBody>
      </p:sp>
    </p:spTree>
    <p:extLst>
      <p:ext uri="{BB962C8B-B14F-4D97-AF65-F5344CB8AC3E}">
        <p14:creationId xmlns:p14="http://schemas.microsoft.com/office/powerpoint/2010/main" val="28788227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63</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42457884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64</a:t>
            </a:fld>
            <a:endParaRPr lang="en-US" altLang="en-US"/>
          </a:p>
        </p:txBody>
      </p:sp>
    </p:spTree>
    <p:extLst>
      <p:ext uri="{BB962C8B-B14F-4D97-AF65-F5344CB8AC3E}">
        <p14:creationId xmlns:p14="http://schemas.microsoft.com/office/powerpoint/2010/main" val="11856533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80987-C908-4DDD-535B-B61CBBC79D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4C394F-E802-778D-3F71-6EFE2CECC6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310A84-D00D-5D92-9AD1-40D4F0267F1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CB23080-97F8-2AEE-203F-9DCA05EB5B33}"/>
              </a:ext>
            </a:extLst>
          </p:cNvPr>
          <p:cNvSpPr>
            <a:spLocks noGrp="1"/>
          </p:cNvSpPr>
          <p:nvPr>
            <p:ph type="sldNum" sz="quarter" idx="5"/>
          </p:nvPr>
        </p:nvSpPr>
        <p:spPr/>
        <p:txBody>
          <a:bodyPr/>
          <a:lstStyle/>
          <a:p>
            <a:pPr>
              <a:defRPr/>
            </a:pPr>
            <a:fld id="{3B16354E-6974-4833-AB87-3220A0835E84}" type="slidenum">
              <a:rPr lang="en-US" altLang="en-US" smtClean="0"/>
              <a:pPr>
                <a:defRPr/>
              </a:pPr>
              <a:t>66</a:t>
            </a:fld>
            <a:endParaRPr lang="en-US" altLang="en-US"/>
          </a:p>
        </p:txBody>
      </p:sp>
    </p:spTree>
    <p:extLst>
      <p:ext uri="{BB962C8B-B14F-4D97-AF65-F5344CB8AC3E}">
        <p14:creationId xmlns:p14="http://schemas.microsoft.com/office/powerpoint/2010/main" val="33693836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explains how we develop features like trace for interactive usage in IDE, but also for CLI usage in DevOps systems and the era of Agentic AI. </a:t>
            </a:r>
            <a:br>
              <a:rPr lang="en-US"/>
            </a:br>
            <a:br>
              <a:rPr lang="en-US"/>
            </a:br>
            <a:r>
              <a:rPr lang="en-US"/>
              <a:t>Agentic AI splits tasks into small steps; called skills.  These skills are likewise relevant for IDE usage. </a:t>
            </a:r>
            <a:br>
              <a:rPr lang="en-US"/>
            </a:br>
            <a:br>
              <a:rPr lang="en-US"/>
            </a:br>
            <a:r>
              <a:rPr lang="en-US"/>
              <a:t>This slide shows four skills required for trace.  All the information is clearly stored in machine readable data files. (YML files are used for configuration which is easy to read by machines and humans).</a:t>
            </a:r>
          </a:p>
          <a:p>
            <a:br>
              <a:rPr lang="en-US"/>
            </a:br>
            <a:r>
              <a:rPr lang="en-US"/>
              <a:t>And these “skills” are integrated into the IDE for interactive usage, but also available as command-line tools for DevOps and Agentic AI</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67</a:t>
            </a:fld>
            <a:endParaRPr lang="en-US" altLang="en-US"/>
          </a:p>
        </p:txBody>
      </p:sp>
    </p:spTree>
    <p:extLst>
      <p:ext uri="{BB962C8B-B14F-4D97-AF65-F5344CB8AC3E}">
        <p14:creationId xmlns:p14="http://schemas.microsoft.com/office/powerpoint/2010/main" val="18304266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6250"/>
            <a:ext cx="11233150" cy="654760"/>
          </a:xfrm>
        </p:spPr>
        <p:txBody>
          <a:bodyPr anchor="t"/>
          <a:lstStyle>
            <a:lvl1pPr>
              <a:defRPr b="0"/>
            </a:lvl1pPr>
          </a:lstStyle>
          <a:p>
            <a:r>
              <a:rPr lang="en-US" dirty="0"/>
              <a:t>Click to Edit Master Title Style</a:t>
            </a:r>
          </a:p>
        </p:txBody>
      </p:sp>
      <p:sp>
        <p:nvSpPr>
          <p:cNvPr id="4" name="Text Placeholder 2"/>
          <p:cNvSpPr>
            <a:spLocks noGrp="1"/>
          </p:cNvSpPr>
          <p:nvPr>
            <p:ph idx="1" hasCustomPrompt="1"/>
          </p:nvPr>
        </p:nvSpPr>
        <p:spPr>
          <a:xfrm>
            <a:off x="479425" y="1171111"/>
            <a:ext cx="11233150" cy="4948335"/>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chemeClr val="tx2"/>
                </a:solidFill>
              </a:defRPr>
            </a:lvl1pPr>
            <a:lvl2pPr marL="672783">
              <a:lnSpc>
                <a:spcPct val="100000"/>
              </a:lnSpc>
              <a:spcAft>
                <a:spcPts val="0"/>
              </a:spcAft>
              <a:defRPr sz="2000">
                <a:solidFill>
                  <a:schemeClr val="tx2"/>
                </a:solidFill>
              </a:defRPr>
            </a:lvl2pPr>
            <a:lvl3pPr marL="947103">
              <a:lnSpc>
                <a:spcPct val="100000"/>
              </a:lnSpc>
              <a:spcAft>
                <a:spcPts val="0"/>
              </a:spcAft>
              <a:defRPr sz="1800">
                <a:solidFill>
                  <a:schemeClr val="tx2"/>
                </a:solidFill>
              </a:defRPr>
            </a:lvl3pPr>
            <a:lvl4pPr marL="1293178">
              <a:lnSpc>
                <a:spcPct val="100000"/>
              </a:lnSpc>
              <a:spcAft>
                <a:spcPts val="0"/>
              </a:spcAft>
              <a:defRPr sz="1800">
                <a:solidFill>
                  <a:schemeClr val="tx2"/>
                </a:solidFill>
              </a:defRPr>
            </a:lvl4pPr>
            <a:lvl5pPr marL="1518603">
              <a:lnSpc>
                <a:spcPct val="100000"/>
              </a:lnSpc>
              <a:spcAft>
                <a:spcPts val="0"/>
              </a:spcAft>
              <a:defRPr sz="1800">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Master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623465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8302"/>
            <a:ext cx="11233150" cy="512830"/>
          </a:xfrm>
        </p:spPr>
        <p:txBody>
          <a:bodyPr anchor="t"/>
          <a:lstStyle/>
          <a:p>
            <a:r>
              <a:rPr lang="en-US" dirty="0"/>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7" name="Text Placeholder 2"/>
          <p:cNvSpPr>
            <a:spLocks noGrp="1"/>
          </p:cNvSpPr>
          <p:nvPr>
            <p:ph idx="1"/>
          </p:nvPr>
        </p:nvSpPr>
        <p:spPr>
          <a:xfrm>
            <a:off x="479425" y="1554489"/>
            <a:ext cx="11233150" cy="4553233"/>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chemeClr val="tx2"/>
                </a:solidFill>
              </a:defRPr>
            </a:lvl1pPr>
            <a:lvl2pPr>
              <a:lnSpc>
                <a:spcPct val="100000"/>
              </a:lnSpc>
              <a:spcAft>
                <a:spcPts val="0"/>
              </a:spcAft>
              <a:buClr>
                <a:schemeClr val="accent1"/>
              </a:buClr>
              <a:defRPr sz="2000">
                <a:solidFill>
                  <a:schemeClr val="tx2"/>
                </a:solidFill>
              </a:defRPr>
            </a:lvl2pPr>
            <a:lvl3pPr>
              <a:lnSpc>
                <a:spcPct val="100000"/>
              </a:lnSpc>
              <a:spcAft>
                <a:spcPts val="0"/>
              </a:spcAft>
              <a:buClr>
                <a:schemeClr val="accent1"/>
              </a:buClr>
              <a:defRPr>
                <a:solidFill>
                  <a:schemeClr val="tx2"/>
                </a:solidFill>
              </a:defRPr>
            </a:lvl3pPr>
            <a:lvl4pPr>
              <a:lnSpc>
                <a:spcPct val="100000"/>
              </a:lnSpc>
              <a:spcAft>
                <a:spcPts val="0"/>
              </a:spcAft>
              <a:buClr>
                <a:schemeClr val="accent1"/>
              </a:buClr>
              <a:defRPr>
                <a:solidFill>
                  <a:schemeClr val="tx2"/>
                </a:solidFill>
              </a:defRPr>
            </a:lvl4pPr>
            <a:lvl5pPr>
              <a:lnSpc>
                <a:spcPct val="100000"/>
              </a:lnSpc>
              <a:spcAft>
                <a:spcPts val="0"/>
              </a:spcAft>
              <a:buClr>
                <a:schemeClr val="accent1"/>
              </a:buCl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75404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83E00537-4172-4053-A616-87E429C679AC}"/>
              </a:ext>
            </a:extLst>
          </p:cNvPr>
          <p:cNvCxnSpPr>
            <a:cxnSpLocks/>
          </p:cNvCxnSpPr>
          <p:nvPr userDrawn="1"/>
        </p:nvCxnSpPr>
        <p:spPr>
          <a:xfrm>
            <a:off x="6096000" y="1620481"/>
            <a:ext cx="0" cy="451520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479425" y="478302"/>
            <a:ext cx="11233150" cy="512830"/>
          </a:xfrm>
        </p:spPr>
        <p:txBody>
          <a:bodyPr/>
          <a:lstStyle/>
          <a:p>
            <a:r>
              <a:rPr lang="en-US" dirty="0"/>
              <a:t>Click to Edit Master Title Style</a:t>
            </a:r>
          </a:p>
        </p:txBody>
      </p:sp>
      <p:sp>
        <p:nvSpPr>
          <p:cNvPr id="44" name="Text Placeholder 43"/>
          <p:cNvSpPr>
            <a:spLocks noGrp="1"/>
          </p:cNvSpPr>
          <p:nvPr>
            <p:ph type="body" sz="quarter" idx="13" hasCustomPrompt="1"/>
          </p:nvPr>
        </p:nvSpPr>
        <p:spPr>
          <a:xfrm>
            <a:off x="479425" y="991131"/>
            <a:ext cx="11233150" cy="359204"/>
          </a:xfrm>
        </p:spPr>
        <p:txBody>
          <a:bodyPr anchor="t"/>
          <a:lstStyle>
            <a:lvl1pPr marL="0" indent="0">
              <a:spcAft>
                <a:spcPts val="0"/>
              </a:spcAft>
              <a:buNone/>
              <a:defRPr sz="2400">
                <a:solidFill>
                  <a:schemeClr val="accent6"/>
                </a:solidFill>
              </a:defRPr>
            </a:lvl1pPr>
          </a:lstStyle>
          <a:p>
            <a:pPr lvl="0"/>
            <a:r>
              <a:rPr lang="en-US" dirty="0"/>
              <a:t>Click to edit Master text styles</a:t>
            </a:r>
          </a:p>
        </p:txBody>
      </p:sp>
      <p:sp>
        <p:nvSpPr>
          <p:cNvPr id="9" name="Text Placeholder 131"/>
          <p:cNvSpPr>
            <a:spLocks noGrp="1"/>
          </p:cNvSpPr>
          <p:nvPr>
            <p:ph type="body" sz="quarter" idx="16" hasCustomPrompt="1"/>
          </p:nvPr>
        </p:nvSpPr>
        <p:spPr>
          <a:xfrm>
            <a:off x="479425" y="1620481"/>
            <a:ext cx="5345642"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4" name="Content Placeholder 3"/>
          <p:cNvSpPr>
            <a:spLocks noGrp="1"/>
          </p:cNvSpPr>
          <p:nvPr>
            <p:ph sz="quarter" idx="19"/>
          </p:nvPr>
        </p:nvSpPr>
        <p:spPr>
          <a:xfrm>
            <a:off x="477587" y="2202443"/>
            <a:ext cx="5347480" cy="3933245"/>
          </a:xfrm>
        </p:spPr>
        <p:txBody>
          <a:bodyPr/>
          <a:lstStyle>
            <a:lvl1pPr marL="342900" indent="-342900" algn="just">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marL="947103">
              <a:lnSpc>
                <a:spcPct val="100000"/>
              </a:lnSpc>
              <a:spcAft>
                <a:spcPts val="0"/>
              </a:spcAft>
              <a:buClr>
                <a:schemeClr val="accent1"/>
              </a:buClr>
              <a:defRPr>
                <a:solidFill>
                  <a:srgbClr val="333E48"/>
                </a:solidFill>
              </a:defRPr>
            </a:lvl3pPr>
            <a:lvl4pPr marL="1293178" indent="-173038">
              <a:lnSpc>
                <a:spcPct val="100000"/>
              </a:lnSpc>
              <a:spcAft>
                <a:spcPts val="0"/>
              </a:spcAft>
              <a:buClr>
                <a:schemeClr val="accent1"/>
              </a:buClr>
              <a:buFont typeface="Arial" charset="0"/>
              <a:buChar char="•"/>
              <a:defRPr>
                <a:solidFill>
                  <a:srgbClr val="333E48"/>
                </a:solidFill>
              </a:defRPr>
            </a:lvl4pPr>
            <a:lvl5pPr marL="1518603">
              <a:lnSpc>
                <a:spcPct val="100000"/>
              </a:lnSpc>
              <a:spcAft>
                <a:spcPts val="0"/>
              </a:spcAft>
              <a:buClr>
                <a:schemeClr val="accent1"/>
              </a:buClr>
              <a:defRPr>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31"/>
          <p:cNvSpPr>
            <a:spLocks noGrp="1"/>
          </p:cNvSpPr>
          <p:nvPr>
            <p:ph type="body" sz="quarter" idx="18" hasCustomPrompt="1"/>
          </p:nvPr>
        </p:nvSpPr>
        <p:spPr>
          <a:xfrm>
            <a:off x="6341534" y="1620481"/>
            <a:ext cx="5371042"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12" name="Content Placeholder 3"/>
          <p:cNvSpPr>
            <a:spLocks noGrp="1"/>
          </p:cNvSpPr>
          <p:nvPr>
            <p:ph sz="quarter" idx="21" hasCustomPrompt="1"/>
          </p:nvPr>
        </p:nvSpPr>
        <p:spPr>
          <a:xfrm>
            <a:off x="6339947" y="2202442"/>
            <a:ext cx="5372628" cy="3933246"/>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marL="947103">
              <a:lnSpc>
                <a:spcPct val="100000"/>
              </a:lnSpc>
              <a:spcAft>
                <a:spcPts val="0"/>
              </a:spcAft>
              <a:buClr>
                <a:schemeClr val="accent1"/>
              </a:buClr>
              <a:defRPr>
                <a:solidFill>
                  <a:srgbClr val="333E48"/>
                </a:solidFill>
              </a:defRPr>
            </a:lvl3pPr>
            <a:lvl4pPr marL="1293178" indent="-173038">
              <a:lnSpc>
                <a:spcPct val="100000"/>
              </a:lnSpc>
              <a:spcAft>
                <a:spcPts val="0"/>
              </a:spcAft>
              <a:buClr>
                <a:schemeClr val="accent1"/>
              </a:buClr>
              <a:buFont typeface="Arial" charset="0"/>
              <a:buChar char="•"/>
              <a:defRPr>
                <a:solidFill>
                  <a:srgbClr val="333E48"/>
                </a:solidFill>
              </a:defRPr>
            </a:lvl4pPr>
            <a:lvl5pPr marL="1518603">
              <a:lnSpc>
                <a:spcPct val="100000"/>
              </a:lnSpc>
              <a:spcAft>
                <a:spcPts val="0"/>
              </a:spcAft>
              <a:buClr>
                <a:schemeClr val="accent1"/>
              </a:buClr>
              <a:defRPr>
                <a:solidFill>
                  <a:srgbClr val="333E4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13645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E9795D2F-D322-4144-8DA8-55D6A2942740}"/>
              </a:ext>
            </a:extLst>
          </p:cNvPr>
          <p:cNvCxnSpPr>
            <a:cxnSpLocks/>
          </p:cNvCxnSpPr>
          <p:nvPr userDrawn="1"/>
        </p:nvCxnSpPr>
        <p:spPr bwMode="auto">
          <a:xfrm>
            <a:off x="4148138" y="1611050"/>
            <a:ext cx="0" cy="444843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B4D2EAD-40A5-4C0B-900F-916EB19FF748}"/>
              </a:ext>
            </a:extLst>
          </p:cNvPr>
          <p:cNvCxnSpPr>
            <a:cxnSpLocks/>
          </p:cNvCxnSpPr>
          <p:nvPr userDrawn="1"/>
        </p:nvCxnSpPr>
        <p:spPr bwMode="auto">
          <a:xfrm>
            <a:off x="8051800" y="1611050"/>
            <a:ext cx="0" cy="444843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userDrawn="1">
            <p:ph type="title" hasCustomPrompt="1"/>
          </p:nvPr>
        </p:nvSpPr>
        <p:spPr>
          <a:xfrm>
            <a:off x="479425" y="478302"/>
            <a:ext cx="11233150" cy="512830"/>
          </a:xfrm>
        </p:spPr>
        <p:txBody>
          <a:bodyPr/>
          <a:lstStyle/>
          <a:p>
            <a:r>
              <a:rPr lang="en-US" dirty="0"/>
              <a:t>Click to Edit Master Title Style</a:t>
            </a:r>
          </a:p>
        </p:txBody>
      </p:sp>
      <p:sp>
        <p:nvSpPr>
          <p:cNvPr id="44" name="Text Placeholder 43"/>
          <p:cNvSpPr>
            <a:spLocks noGrp="1"/>
          </p:cNvSpPr>
          <p:nvPr userDrawn="1">
            <p:ph type="body" sz="quarter" idx="13"/>
          </p:nvPr>
        </p:nvSpPr>
        <p:spPr>
          <a:xfrm>
            <a:off x="479425" y="991131"/>
            <a:ext cx="11233150" cy="344488"/>
          </a:xfrm>
        </p:spPr>
        <p:txBody>
          <a:bodyPr/>
          <a:lstStyle>
            <a:lvl1pPr marL="0" indent="0">
              <a:buNone/>
              <a:defRPr lang="en-US" sz="2400" dirty="0">
                <a:solidFill>
                  <a:schemeClr val="accent6"/>
                </a:solidFill>
              </a:defRPr>
            </a:lvl1pPr>
          </a:lstStyle>
          <a:p>
            <a:pPr lvl="0"/>
            <a:r>
              <a:rPr lang="en-US"/>
              <a:t>Click to edit Master text styles</a:t>
            </a:r>
          </a:p>
        </p:txBody>
      </p:sp>
      <p:sp>
        <p:nvSpPr>
          <p:cNvPr id="7" name="Text Placeholder 2"/>
          <p:cNvSpPr>
            <a:spLocks noGrp="1"/>
          </p:cNvSpPr>
          <p:nvPr userDrawn="1">
            <p:ph idx="1"/>
          </p:nvPr>
        </p:nvSpPr>
        <p:spPr>
          <a:xfrm>
            <a:off x="479426" y="2373786"/>
            <a:ext cx="3372644" cy="3685702"/>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Click to edit Master text styles</a:t>
            </a:r>
          </a:p>
          <a:p>
            <a:pPr lvl="1"/>
            <a:r>
              <a:rPr lang="en-US"/>
              <a:t>Second level</a:t>
            </a:r>
          </a:p>
        </p:txBody>
      </p:sp>
      <p:sp>
        <p:nvSpPr>
          <p:cNvPr id="100" name="Text Placeholder 131"/>
          <p:cNvSpPr>
            <a:spLocks noGrp="1"/>
          </p:cNvSpPr>
          <p:nvPr userDrawn="1">
            <p:ph type="body" sz="quarter" idx="16" hasCustomPrompt="1"/>
          </p:nvPr>
        </p:nvSpPr>
        <p:spPr>
          <a:xfrm>
            <a:off x="479425" y="1611050"/>
            <a:ext cx="3372645"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13" name="Text Placeholder 2"/>
          <p:cNvSpPr>
            <a:spLocks noGrp="1"/>
          </p:cNvSpPr>
          <p:nvPr userDrawn="1">
            <p:ph idx="17"/>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stStyle>
          <a:p>
            <a:pPr lvl="0"/>
            <a:r>
              <a:rPr lang="en-US"/>
              <a:t>Click to edit Master text styles</a:t>
            </a:r>
          </a:p>
          <a:p>
            <a:pPr lvl="1"/>
            <a:r>
              <a:rPr lang="en-US"/>
              <a:t>Second level</a:t>
            </a:r>
          </a:p>
        </p:txBody>
      </p:sp>
      <p:sp>
        <p:nvSpPr>
          <p:cNvPr id="14" name="Text Placeholder 2"/>
          <p:cNvSpPr>
            <a:spLocks noGrp="1"/>
          </p:cNvSpPr>
          <p:nvPr userDrawn="1">
            <p:ph idx="18"/>
          </p:nvPr>
        </p:nvSpPr>
        <p:spPr>
          <a:xfrm>
            <a:off x="8300113" y="2373786"/>
            <a:ext cx="3412462" cy="3685702"/>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stStyle>
          <a:p>
            <a:pPr lvl="0"/>
            <a:r>
              <a:rPr lang="en-US"/>
              <a:t>Click to edit Master text styles</a:t>
            </a:r>
          </a:p>
          <a:p>
            <a:pPr lvl="1"/>
            <a:r>
              <a:rPr lang="en-US"/>
              <a:t>Second level</a:t>
            </a:r>
          </a:p>
        </p:txBody>
      </p:sp>
      <p:sp>
        <p:nvSpPr>
          <p:cNvPr id="15" name="Text Placeholder 131"/>
          <p:cNvSpPr>
            <a:spLocks noGrp="1"/>
          </p:cNvSpPr>
          <p:nvPr userDrawn="1">
            <p:ph type="body" sz="quarter" idx="19" hasCustomPrompt="1"/>
          </p:nvPr>
        </p:nvSpPr>
        <p:spPr>
          <a:xfrm>
            <a:off x="4419997" y="1611050"/>
            <a:ext cx="3359945"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16" name="Text Placeholder 131"/>
          <p:cNvSpPr>
            <a:spLocks noGrp="1"/>
          </p:cNvSpPr>
          <p:nvPr userDrawn="1">
            <p:ph type="body" sz="quarter" idx="20" hasCustomPrompt="1"/>
          </p:nvPr>
        </p:nvSpPr>
        <p:spPr>
          <a:xfrm>
            <a:off x="8299449" y="1611050"/>
            <a:ext cx="3413126"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Tree>
    <p:extLst>
      <p:ext uri="{BB962C8B-B14F-4D97-AF65-F5344CB8AC3E}">
        <p14:creationId xmlns:p14="http://schemas.microsoft.com/office/powerpoint/2010/main" val="4206028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 column slide with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8302"/>
            <a:ext cx="11233150" cy="512830"/>
          </a:xfrm>
        </p:spPr>
        <p:txBody>
          <a:bodyPr/>
          <a:lstStyle/>
          <a:p>
            <a:r>
              <a:rPr lang="en-US" dirty="0"/>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9" name="Content Placeholder 8"/>
          <p:cNvSpPr>
            <a:spLocks noGrp="1"/>
          </p:cNvSpPr>
          <p:nvPr>
            <p:ph sz="quarter" idx="21"/>
          </p:nvPr>
        </p:nvSpPr>
        <p:spPr>
          <a:xfrm>
            <a:off x="8299119" y="2372564"/>
            <a:ext cx="3413455" cy="3686924"/>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a:lnSpc>
                <a:spcPct val="100000"/>
              </a:lnSpc>
              <a:spcAft>
                <a:spcPts val="0"/>
              </a:spcAft>
              <a:buClr>
                <a:schemeClr val="accent1"/>
              </a:buClr>
              <a:defRPr>
                <a:solidFill>
                  <a:srgbClr val="333E48"/>
                </a:solidFill>
              </a:defRPr>
            </a:lvl3pPr>
          </a:lstStyle>
          <a:p>
            <a:pPr lvl="0"/>
            <a:r>
              <a:rPr lang="en-US"/>
              <a:t>Click to edit Master text styles</a:t>
            </a:r>
          </a:p>
          <a:p>
            <a:pPr lvl="1"/>
            <a:r>
              <a:rPr lang="en-US"/>
              <a:t>Second level</a:t>
            </a:r>
          </a:p>
          <a:p>
            <a:pPr lvl="2"/>
            <a:r>
              <a:rPr lang="en-US"/>
              <a:t>Third level</a:t>
            </a:r>
          </a:p>
        </p:txBody>
      </p:sp>
      <p:grpSp>
        <p:nvGrpSpPr>
          <p:cNvPr id="36" name="Group 6">
            <a:extLst>
              <a:ext uri="{FF2B5EF4-FFF2-40B4-BE49-F238E27FC236}">
                <a16:creationId xmlns:a16="http://schemas.microsoft.com/office/drawing/2014/main" id="{CCE81F77-7204-0241-970A-63C43B1D7B80}"/>
              </a:ext>
            </a:extLst>
          </p:cNvPr>
          <p:cNvGrpSpPr>
            <a:grpSpLocks/>
          </p:cNvGrpSpPr>
          <p:nvPr userDrawn="1"/>
        </p:nvGrpSpPr>
        <p:grpSpPr bwMode="auto">
          <a:xfrm>
            <a:off x="4148138" y="1611050"/>
            <a:ext cx="3903662" cy="4448438"/>
            <a:chOff x="3706307" y="1883391"/>
            <a:chExt cx="3803176" cy="4472959"/>
          </a:xfrm>
        </p:grpSpPr>
        <p:cxnSp>
          <p:nvCxnSpPr>
            <p:cNvPr id="37" name="Straight Connector 36">
              <a:extLst>
                <a:ext uri="{FF2B5EF4-FFF2-40B4-BE49-F238E27FC236}">
                  <a16:creationId xmlns:a16="http://schemas.microsoft.com/office/drawing/2014/main" id="{7266E339-1F3B-8E41-B64F-AA6A42EDF799}"/>
                </a:ext>
              </a:extLst>
            </p:cNvPr>
            <p:cNvCxnSpPr>
              <a:cxnSpLocks/>
            </p:cNvCxnSpPr>
            <p:nvPr userDrawn="1"/>
          </p:nvCxnSpPr>
          <p:spPr>
            <a:xfrm>
              <a:off x="3706307"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22B3030-62BD-3440-A850-5C6E7CCDD54A}"/>
                </a:ext>
              </a:extLst>
            </p:cNvPr>
            <p:cNvCxnSpPr>
              <a:cxnSpLocks/>
            </p:cNvCxnSpPr>
            <p:nvPr userDrawn="1"/>
          </p:nvCxnSpPr>
          <p:spPr>
            <a:xfrm>
              <a:off x="7509483"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40" name="Text Placeholder 131">
            <a:extLst>
              <a:ext uri="{FF2B5EF4-FFF2-40B4-BE49-F238E27FC236}">
                <a16:creationId xmlns:a16="http://schemas.microsoft.com/office/drawing/2014/main" id="{B54BFFD1-D378-D841-B5DD-88788B48D029}"/>
              </a:ext>
            </a:extLst>
          </p:cNvPr>
          <p:cNvSpPr>
            <a:spLocks noGrp="1"/>
          </p:cNvSpPr>
          <p:nvPr>
            <p:ph type="body" sz="quarter" idx="16" hasCustomPrompt="1"/>
          </p:nvPr>
        </p:nvSpPr>
        <p:spPr>
          <a:xfrm>
            <a:off x="479425" y="1611050"/>
            <a:ext cx="3372645"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43" name="Text Placeholder 131">
            <a:extLst>
              <a:ext uri="{FF2B5EF4-FFF2-40B4-BE49-F238E27FC236}">
                <a16:creationId xmlns:a16="http://schemas.microsoft.com/office/drawing/2014/main" id="{E3125198-F65A-8049-9D3E-A6AF258DAEBF}"/>
              </a:ext>
            </a:extLst>
          </p:cNvPr>
          <p:cNvSpPr>
            <a:spLocks noGrp="1"/>
          </p:cNvSpPr>
          <p:nvPr>
            <p:ph type="body" sz="quarter" idx="19" hasCustomPrompt="1"/>
          </p:nvPr>
        </p:nvSpPr>
        <p:spPr>
          <a:xfrm>
            <a:off x="4416192" y="1611050"/>
            <a:ext cx="3359945"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45" name="Text Placeholder 131">
            <a:extLst>
              <a:ext uri="{FF2B5EF4-FFF2-40B4-BE49-F238E27FC236}">
                <a16:creationId xmlns:a16="http://schemas.microsoft.com/office/drawing/2014/main" id="{7C8008EA-19DB-814F-9284-A055A2AB89CD}"/>
              </a:ext>
            </a:extLst>
          </p:cNvPr>
          <p:cNvSpPr>
            <a:spLocks noGrp="1"/>
          </p:cNvSpPr>
          <p:nvPr>
            <p:ph type="body" sz="quarter" idx="20" hasCustomPrompt="1"/>
          </p:nvPr>
        </p:nvSpPr>
        <p:spPr>
          <a:xfrm>
            <a:off x="8299449" y="1611050"/>
            <a:ext cx="3413126"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46" name="Content Placeholder 8">
            <a:extLst>
              <a:ext uri="{FF2B5EF4-FFF2-40B4-BE49-F238E27FC236}">
                <a16:creationId xmlns:a16="http://schemas.microsoft.com/office/drawing/2014/main" id="{DD4BA2E6-FACA-5C45-B75F-9327959A672A}"/>
              </a:ext>
            </a:extLst>
          </p:cNvPr>
          <p:cNvSpPr>
            <a:spLocks noGrp="1"/>
          </p:cNvSpPr>
          <p:nvPr>
            <p:ph sz="quarter" idx="22"/>
          </p:nvPr>
        </p:nvSpPr>
        <p:spPr>
          <a:xfrm>
            <a:off x="4415863" y="2372564"/>
            <a:ext cx="3360274" cy="3686924"/>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a:lnSpc>
                <a:spcPct val="100000"/>
              </a:lnSpc>
              <a:spcAft>
                <a:spcPts val="0"/>
              </a:spcAft>
              <a:buClr>
                <a:schemeClr val="accent1"/>
              </a:buClr>
              <a:defRPr>
                <a:solidFill>
                  <a:srgbClr val="333E48"/>
                </a:solidFill>
              </a:defRPr>
            </a:lvl3pPr>
          </a:lstStyle>
          <a:p>
            <a:pPr lvl="0"/>
            <a:r>
              <a:rPr lang="en-US"/>
              <a:t>Click to edit Master text styles</a:t>
            </a:r>
          </a:p>
          <a:p>
            <a:pPr lvl="1"/>
            <a:r>
              <a:rPr lang="en-US"/>
              <a:t>Second level</a:t>
            </a:r>
          </a:p>
          <a:p>
            <a:pPr lvl="2"/>
            <a:r>
              <a:rPr lang="en-US"/>
              <a:t>Third level</a:t>
            </a:r>
          </a:p>
        </p:txBody>
      </p:sp>
      <p:sp>
        <p:nvSpPr>
          <p:cNvPr id="47" name="Content Placeholder 8">
            <a:extLst>
              <a:ext uri="{FF2B5EF4-FFF2-40B4-BE49-F238E27FC236}">
                <a16:creationId xmlns:a16="http://schemas.microsoft.com/office/drawing/2014/main" id="{5AB0A5A2-CEF5-6E44-BACF-2C0296FE306B}"/>
              </a:ext>
            </a:extLst>
          </p:cNvPr>
          <p:cNvSpPr>
            <a:spLocks noGrp="1"/>
          </p:cNvSpPr>
          <p:nvPr>
            <p:ph sz="quarter" idx="23"/>
          </p:nvPr>
        </p:nvSpPr>
        <p:spPr>
          <a:xfrm>
            <a:off x="479425" y="2372564"/>
            <a:ext cx="3360274" cy="3686924"/>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a:lnSpc>
                <a:spcPct val="100000"/>
              </a:lnSpc>
              <a:spcAft>
                <a:spcPts val="0"/>
              </a:spcAft>
              <a:buClr>
                <a:schemeClr val="accent1"/>
              </a:buClr>
              <a:defRPr>
                <a:solidFill>
                  <a:srgbClr val="333E48"/>
                </a:solidFil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71250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55004" y="1631950"/>
            <a:ext cx="0" cy="4440604"/>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479425" y="478301"/>
            <a:ext cx="11233150" cy="512830"/>
          </a:xfrm>
        </p:spPr>
        <p:txBody>
          <a:bodyPr/>
          <a:lstStyle/>
          <a:p>
            <a:r>
              <a:rPr lang="en-US" dirty="0"/>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dirty="0">
                <a:solidFill>
                  <a:schemeClr val="accent6"/>
                </a:solidFill>
              </a:defRPr>
            </a:lvl1pPr>
          </a:lstStyle>
          <a:p>
            <a:pPr lvl="0"/>
            <a:r>
              <a:rPr lang="en-US"/>
              <a:t>Click to edit Master text styles</a:t>
            </a:r>
          </a:p>
        </p:txBody>
      </p:sp>
      <p:sp>
        <p:nvSpPr>
          <p:cNvPr id="18" name="Text Placeholder 2"/>
          <p:cNvSpPr>
            <a:spLocks noGrp="1"/>
          </p:cNvSpPr>
          <p:nvPr>
            <p:ph idx="1"/>
          </p:nvPr>
        </p:nvSpPr>
        <p:spPr>
          <a:xfrm>
            <a:off x="479425" y="1631111"/>
            <a:ext cx="2619375" cy="4440603"/>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rgbClr val="333E48"/>
                </a:solidFill>
              </a:defRPr>
            </a:lvl1pPr>
            <a:lvl2pPr marL="581343">
              <a:lnSpc>
                <a:spcPct val="100000"/>
              </a:lnSpc>
              <a:spcAft>
                <a:spcPts val="0"/>
              </a:spcAft>
              <a:buClr>
                <a:schemeClr val="accent1"/>
              </a:buClr>
              <a:defRPr sz="2000">
                <a:solidFill>
                  <a:srgbClr val="333E48"/>
                </a:solidFill>
              </a:defRPr>
            </a:lvl2pPr>
          </a:lstStyle>
          <a:p>
            <a:pPr lvl="0"/>
            <a:r>
              <a:rPr lang="en-US"/>
              <a:t>Click to edit Master text styles</a:t>
            </a:r>
          </a:p>
          <a:p>
            <a:pPr lvl="1"/>
            <a:r>
              <a:rPr lang="en-US"/>
              <a:t>Second level</a:t>
            </a:r>
          </a:p>
        </p:txBody>
      </p:sp>
      <p:sp>
        <p:nvSpPr>
          <p:cNvPr id="7" name="Content Placeholder 3"/>
          <p:cNvSpPr>
            <a:spLocks noGrp="1"/>
          </p:cNvSpPr>
          <p:nvPr>
            <p:ph sz="quarter" idx="21"/>
          </p:nvPr>
        </p:nvSpPr>
        <p:spPr>
          <a:xfrm>
            <a:off x="3416035" y="1631111"/>
            <a:ext cx="8296540" cy="4440603"/>
          </a:xfrm>
        </p:spPr>
        <p:txBody>
          <a:bodyPr/>
          <a:lstStyle>
            <a:lvl1pPr marL="342900" indent="-342900">
              <a:lnSpc>
                <a:spcPct val="100000"/>
              </a:lnSpc>
              <a:spcBef>
                <a:spcPts val="600"/>
              </a:spcBef>
              <a:spcAft>
                <a:spcPts val="0"/>
              </a:spcAft>
              <a:buClr>
                <a:schemeClr val="accent1"/>
              </a:buClr>
              <a:buFont typeface="Arial" charset="0"/>
              <a:buChar char="•"/>
              <a:defRPr sz="2400">
                <a:solidFill>
                  <a:srgbClr val="333E48"/>
                </a:solidFill>
              </a:defRPr>
            </a:lvl1pPr>
            <a:lvl2pPr marL="581343">
              <a:lnSpc>
                <a:spcPct val="100000"/>
              </a:lnSpc>
              <a:spcAft>
                <a:spcPts val="0"/>
              </a:spcAft>
              <a:buClr>
                <a:schemeClr val="accent1"/>
              </a:buClr>
              <a:defRPr sz="2000">
                <a:solidFill>
                  <a:srgbClr val="333E48"/>
                </a:solidFill>
              </a:defRPr>
            </a:lvl2pPr>
            <a:lvl3pPr marL="947103">
              <a:lnSpc>
                <a:spcPct val="100000"/>
              </a:lnSpc>
              <a:spcAft>
                <a:spcPts val="0"/>
              </a:spcAft>
              <a:buClr>
                <a:schemeClr val="accent1"/>
              </a:buClr>
              <a:defRPr sz="1800">
                <a:solidFill>
                  <a:srgbClr val="333E48"/>
                </a:solidFill>
              </a:defRPr>
            </a:lvl3pPr>
            <a:lvl4pPr marL="1293178" indent="-173038">
              <a:lnSpc>
                <a:spcPct val="100000"/>
              </a:lnSpc>
              <a:spcAft>
                <a:spcPts val="0"/>
              </a:spcAft>
              <a:buClr>
                <a:schemeClr val="accent1"/>
              </a:buClr>
              <a:buFont typeface="Arial" charset="0"/>
              <a:buChar char="•"/>
              <a:defRPr sz="1800">
                <a:solidFill>
                  <a:srgbClr val="333E48"/>
                </a:solidFill>
              </a:defRPr>
            </a:lvl4pPr>
            <a:lvl5pPr marL="1518603">
              <a:lnSpc>
                <a:spcPct val="100000"/>
              </a:lnSpc>
              <a:spcAft>
                <a:spcPts val="0"/>
              </a:spcAft>
              <a:buClr>
                <a:schemeClr val="accent1"/>
              </a:buClr>
              <a:defRPr sz="1800">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41324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0C41881F-8B1A-4F78-926D-54E8F515C458}"/>
              </a:ext>
            </a:extLst>
          </p:cNvPr>
          <p:cNvCxnSpPr>
            <a:cxnSpLocks/>
          </p:cNvCxnSpPr>
          <p:nvPr userDrawn="1"/>
        </p:nvCxnSpPr>
        <p:spPr>
          <a:xfrm>
            <a:off x="8932863" y="1629287"/>
            <a:ext cx="0" cy="444326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479425" y="478301"/>
            <a:ext cx="11233150" cy="512830"/>
          </a:xfrm>
        </p:spPr>
        <p:txBody>
          <a:bodyPr/>
          <a:lstStyle/>
          <a:p>
            <a:r>
              <a:rPr lang="en-US" dirty="0"/>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6" name="Content Placeholder 5"/>
          <p:cNvSpPr>
            <a:spLocks noGrp="1"/>
          </p:cNvSpPr>
          <p:nvPr>
            <p:ph sz="quarter" idx="15"/>
          </p:nvPr>
        </p:nvSpPr>
        <p:spPr>
          <a:xfrm>
            <a:off x="9037637" y="1629597"/>
            <a:ext cx="2674937" cy="4443488"/>
          </a:xfrm>
        </p:spPr>
        <p:txBody>
          <a:bodyPr/>
          <a:lstStyle>
            <a:lvl1pPr marL="342900" indent="-342900">
              <a:lnSpc>
                <a:spcPct val="100000"/>
              </a:lnSpc>
              <a:spcBef>
                <a:spcPts val="600"/>
              </a:spcBef>
              <a:spcAft>
                <a:spcPts val="0"/>
              </a:spcAft>
              <a:buClr>
                <a:schemeClr val="accent1"/>
              </a:buClr>
              <a:buFont typeface="Arial" charset="0"/>
              <a:buChar char="•"/>
              <a:defRPr sz="2400">
                <a:solidFill>
                  <a:srgbClr val="333E48"/>
                </a:solidFill>
              </a:defRPr>
            </a:lvl1pPr>
            <a:lvl2pPr marL="581343">
              <a:lnSpc>
                <a:spcPct val="100000"/>
              </a:lnSpc>
              <a:spcAft>
                <a:spcPts val="0"/>
              </a:spcAft>
              <a:buClr>
                <a:schemeClr val="accent1"/>
              </a:buClr>
              <a:defRPr sz="2000">
                <a:solidFill>
                  <a:srgbClr val="333E48"/>
                </a:solidFill>
              </a:defRPr>
            </a:lvl2pPr>
          </a:lstStyle>
          <a:p>
            <a:pPr lvl="0"/>
            <a:r>
              <a:rPr lang="en-US"/>
              <a:t>Click to edit Master text styles</a:t>
            </a:r>
          </a:p>
          <a:p>
            <a:pPr lvl="1"/>
            <a:r>
              <a:rPr lang="en-US"/>
              <a:t>Second level</a:t>
            </a:r>
          </a:p>
        </p:txBody>
      </p:sp>
      <p:sp>
        <p:nvSpPr>
          <p:cNvPr id="8" name="Content Placeholder 3"/>
          <p:cNvSpPr>
            <a:spLocks noGrp="1"/>
          </p:cNvSpPr>
          <p:nvPr>
            <p:ph sz="quarter" idx="21"/>
          </p:nvPr>
        </p:nvSpPr>
        <p:spPr>
          <a:xfrm>
            <a:off x="479425" y="1629287"/>
            <a:ext cx="8348664" cy="4443267"/>
          </a:xfrm>
        </p:spPr>
        <p:txBody>
          <a:bodyPr/>
          <a:lstStyle>
            <a:lvl1pPr marL="342900" indent="-342900">
              <a:lnSpc>
                <a:spcPct val="100000"/>
              </a:lnSpc>
              <a:spcBef>
                <a:spcPts val="600"/>
              </a:spcBef>
              <a:spcAft>
                <a:spcPts val="0"/>
              </a:spcAft>
              <a:buClr>
                <a:schemeClr val="accent1"/>
              </a:buClr>
              <a:buFont typeface="Arial" charset="0"/>
              <a:buChar char="•"/>
              <a:defRPr sz="2400">
                <a:solidFill>
                  <a:srgbClr val="333E48"/>
                </a:solidFill>
              </a:defRPr>
            </a:lvl1pPr>
            <a:lvl2pPr marL="581343">
              <a:lnSpc>
                <a:spcPct val="100000"/>
              </a:lnSpc>
              <a:spcAft>
                <a:spcPts val="0"/>
              </a:spcAft>
              <a:buClr>
                <a:schemeClr val="accent1"/>
              </a:buClr>
              <a:defRPr sz="2000">
                <a:solidFill>
                  <a:srgbClr val="333E48"/>
                </a:solidFill>
              </a:defRPr>
            </a:lvl2pPr>
            <a:lvl3pPr marL="947103">
              <a:lnSpc>
                <a:spcPct val="100000"/>
              </a:lnSpc>
              <a:spcAft>
                <a:spcPts val="0"/>
              </a:spcAft>
              <a:buClr>
                <a:schemeClr val="accent1"/>
              </a:buClr>
              <a:defRPr sz="1800">
                <a:solidFill>
                  <a:srgbClr val="333E48"/>
                </a:solidFill>
              </a:defRPr>
            </a:lvl3pPr>
            <a:lvl4pPr marL="1293178" indent="-173038">
              <a:lnSpc>
                <a:spcPct val="100000"/>
              </a:lnSpc>
              <a:spcAft>
                <a:spcPts val="0"/>
              </a:spcAft>
              <a:buClr>
                <a:schemeClr val="accent1"/>
              </a:buClr>
              <a:buFont typeface="Arial" charset="0"/>
              <a:buChar char="•"/>
              <a:defRPr sz="1800">
                <a:solidFill>
                  <a:srgbClr val="333E48"/>
                </a:solidFill>
              </a:defRPr>
            </a:lvl4pPr>
            <a:lvl5pPr marL="1518603">
              <a:lnSpc>
                <a:spcPct val="100000"/>
              </a:lnSpc>
              <a:spcAft>
                <a:spcPts val="0"/>
              </a:spcAft>
              <a:buClr>
                <a:schemeClr val="accent1"/>
              </a:buClr>
              <a:defRPr sz="1800">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90535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column text with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8302"/>
            <a:ext cx="11233150" cy="512830"/>
          </a:xfrm>
        </p:spPr>
        <p:txBody>
          <a:bodyPr/>
          <a:lstStyle/>
          <a:p>
            <a:r>
              <a:rPr lang="en-US" dirty="0"/>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6" name="Picture Placeholder 5"/>
          <p:cNvSpPr>
            <a:spLocks noGrp="1"/>
          </p:cNvSpPr>
          <p:nvPr>
            <p:ph type="pic" sz="quarter" idx="17"/>
          </p:nvPr>
        </p:nvSpPr>
        <p:spPr>
          <a:xfrm>
            <a:off x="3354388" y="1618445"/>
            <a:ext cx="2606675" cy="1953683"/>
          </a:xfrm>
        </p:spPr>
        <p:txBody>
          <a:bodyPr/>
          <a:lstStyle>
            <a:lvl1pPr marL="0" indent="0">
              <a:buClr>
                <a:schemeClr val="accent1"/>
              </a:buClr>
              <a:buNone/>
              <a:defRPr sz="2200">
                <a:solidFill>
                  <a:srgbClr val="333E48"/>
                </a:solidFill>
              </a:defRPr>
            </a:lvl1pPr>
          </a:lstStyle>
          <a:p>
            <a:pPr lvl="0"/>
            <a:r>
              <a:rPr lang="en-US" noProof="0"/>
              <a:t>Click icon to add picture</a:t>
            </a:r>
            <a:endParaRPr lang="en-US" noProof="0" dirty="0"/>
          </a:p>
        </p:txBody>
      </p:sp>
      <p:sp>
        <p:nvSpPr>
          <p:cNvPr id="104" name="Picture Placeholder 5"/>
          <p:cNvSpPr>
            <a:spLocks noGrp="1"/>
          </p:cNvSpPr>
          <p:nvPr>
            <p:ph type="pic" sz="quarter" idx="18"/>
          </p:nvPr>
        </p:nvSpPr>
        <p:spPr>
          <a:xfrm>
            <a:off x="3354388" y="3755872"/>
            <a:ext cx="2606675" cy="1953683"/>
          </a:xfrm>
        </p:spPr>
        <p:txBody>
          <a:bodyPr/>
          <a:lstStyle>
            <a:lvl1pPr marL="0" indent="0">
              <a:buClr>
                <a:schemeClr val="accent1"/>
              </a:buClr>
              <a:buNone/>
              <a:defRPr sz="2200">
                <a:solidFill>
                  <a:srgbClr val="333E48"/>
                </a:solidFill>
              </a:defRPr>
            </a:lvl1pPr>
          </a:lstStyle>
          <a:p>
            <a:pPr lvl="0"/>
            <a:r>
              <a:rPr lang="en-US" noProof="0"/>
              <a:t>Click icon to add picture</a:t>
            </a:r>
            <a:endParaRPr lang="en-US" noProof="0" dirty="0"/>
          </a:p>
        </p:txBody>
      </p:sp>
      <p:sp>
        <p:nvSpPr>
          <p:cNvPr id="105" name="Picture Placeholder 5"/>
          <p:cNvSpPr>
            <a:spLocks noGrp="1"/>
          </p:cNvSpPr>
          <p:nvPr>
            <p:ph type="pic" sz="quarter" idx="19"/>
          </p:nvPr>
        </p:nvSpPr>
        <p:spPr>
          <a:xfrm>
            <a:off x="9066213" y="1618445"/>
            <a:ext cx="2646362" cy="1953683"/>
          </a:xfrm>
        </p:spPr>
        <p:txBody>
          <a:bodyPr/>
          <a:lstStyle>
            <a:lvl1pPr marL="0" indent="0">
              <a:buClr>
                <a:schemeClr val="accent1"/>
              </a:buClr>
              <a:buNone/>
              <a:defRPr sz="2200">
                <a:solidFill>
                  <a:srgbClr val="333E48"/>
                </a:solidFill>
              </a:defRPr>
            </a:lvl1pPr>
          </a:lstStyle>
          <a:p>
            <a:pPr lvl="0"/>
            <a:r>
              <a:rPr lang="en-US" noProof="0"/>
              <a:t>Click icon to add picture</a:t>
            </a:r>
            <a:endParaRPr lang="en-US" noProof="0" dirty="0"/>
          </a:p>
        </p:txBody>
      </p:sp>
      <p:sp>
        <p:nvSpPr>
          <p:cNvPr id="106" name="Picture Placeholder 5"/>
          <p:cNvSpPr>
            <a:spLocks noGrp="1"/>
          </p:cNvSpPr>
          <p:nvPr>
            <p:ph type="pic" sz="quarter" idx="20"/>
          </p:nvPr>
        </p:nvSpPr>
        <p:spPr>
          <a:xfrm>
            <a:off x="9066213" y="3755872"/>
            <a:ext cx="2646362" cy="1953683"/>
          </a:xfrm>
        </p:spPr>
        <p:txBody>
          <a:bodyPr/>
          <a:lstStyle>
            <a:lvl1pPr marL="0" indent="0">
              <a:buClr>
                <a:schemeClr val="accent1"/>
              </a:buClr>
              <a:buNone/>
              <a:defRPr sz="2200">
                <a:solidFill>
                  <a:srgbClr val="333E48"/>
                </a:solidFill>
              </a:defRPr>
            </a:lvl1pPr>
          </a:lstStyle>
          <a:p>
            <a:pPr lvl="0"/>
            <a:r>
              <a:rPr lang="en-US" noProof="0"/>
              <a:t>Click icon to add picture</a:t>
            </a:r>
            <a:endParaRPr lang="en-US" noProof="0" dirty="0"/>
          </a:p>
        </p:txBody>
      </p:sp>
      <p:sp>
        <p:nvSpPr>
          <p:cNvPr id="14" name="Text Placeholder 7"/>
          <p:cNvSpPr>
            <a:spLocks noGrp="1"/>
          </p:cNvSpPr>
          <p:nvPr>
            <p:ph type="body" sz="quarter" idx="21"/>
          </p:nvPr>
        </p:nvSpPr>
        <p:spPr>
          <a:xfrm>
            <a:off x="479425" y="1618445"/>
            <a:ext cx="2619375" cy="4086225"/>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a:lnSpc>
                <a:spcPct val="100000"/>
              </a:lnSpc>
              <a:spcBef>
                <a:spcPts val="0"/>
              </a:spcBef>
              <a:spcAft>
                <a:spcPts val="0"/>
              </a:spcAft>
              <a:buClr>
                <a:schemeClr val="accent1"/>
              </a:buClr>
              <a:defRPr>
                <a:solidFill>
                  <a:srgbClr val="333E48"/>
                </a:solidFill>
              </a:defRPr>
            </a:lvl2pPr>
            <a:lvl3pPr>
              <a:lnSpc>
                <a:spcPct val="100000"/>
              </a:lnSpc>
              <a:spcBef>
                <a:spcPts val="0"/>
              </a:spcBef>
              <a:spcAft>
                <a:spcPts val="0"/>
              </a:spcAft>
              <a:buClr>
                <a:schemeClr val="accent1"/>
              </a:buClr>
              <a:defRPr>
                <a:solidFill>
                  <a:srgbClr val="333E48"/>
                </a:solidFill>
              </a:defRPr>
            </a:lvl3pPr>
            <a:lvl4pPr marL="1201738" indent="-173038">
              <a:lnSpc>
                <a:spcPct val="100000"/>
              </a:lnSpc>
              <a:spcBef>
                <a:spcPts val="0"/>
              </a:spcBef>
              <a:spcAft>
                <a:spcPts val="0"/>
              </a:spcAft>
              <a:buClr>
                <a:schemeClr val="accent1"/>
              </a:buClr>
              <a:buFont typeface="Arial" charset="0"/>
              <a:buChar char="•"/>
              <a:defRPr>
                <a:solidFill>
                  <a:srgbClr val="333E48"/>
                </a:solidFill>
              </a:defRPr>
            </a:lvl4pPr>
            <a:lvl5pPr>
              <a:lnSpc>
                <a:spcPct val="100000"/>
              </a:lnSpc>
              <a:spcBef>
                <a:spcPts val="0"/>
              </a:spcBef>
              <a:spcAft>
                <a:spcPts val="0"/>
              </a:spcAft>
              <a:buClr>
                <a:schemeClr val="accent1"/>
              </a:buClr>
              <a:defRPr>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7"/>
          <p:cNvSpPr>
            <a:spLocks noGrp="1"/>
          </p:cNvSpPr>
          <p:nvPr>
            <p:ph type="body" sz="quarter" idx="22"/>
          </p:nvPr>
        </p:nvSpPr>
        <p:spPr>
          <a:xfrm>
            <a:off x="6220216" y="1618445"/>
            <a:ext cx="2606675" cy="4086225"/>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a:lnSpc>
                <a:spcPct val="100000"/>
              </a:lnSpc>
              <a:spcBef>
                <a:spcPts val="0"/>
              </a:spcBef>
              <a:spcAft>
                <a:spcPts val="0"/>
              </a:spcAft>
              <a:buClr>
                <a:schemeClr val="accent1"/>
              </a:buClr>
              <a:defRPr>
                <a:solidFill>
                  <a:srgbClr val="333E48"/>
                </a:solidFill>
              </a:defRPr>
            </a:lvl2pPr>
            <a:lvl3pPr>
              <a:lnSpc>
                <a:spcPct val="100000"/>
              </a:lnSpc>
              <a:spcBef>
                <a:spcPts val="0"/>
              </a:spcBef>
              <a:spcAft>
                <a:spcPts val="0"/>
              </a:spcAft>
              <a:buClr>
                <a:schemeClr val="accent1"/>
              </a:buClr>
              <a:defRPr>
                <a:solidFill>
                  <a:srgbClr val="333E48"/>
                </a:solidFill>
              </a:defRPr>
            </a:lvl3pPr>
            <a:lvl4pPr marL="1201738" indent="-173038">
              <a:lnSpc>
                <a:spcPct val="100000"/>
              </a:lnSpc>
              <a:spcBef>
                <a:spcPts val="0"/>
              </a:spcBef>
              <a:spcAft>
                <a:spcPts val="0"/>
              </a:spcAft>
              <a:buClr>
                <a:schemeClr val="accent1"/>
              </a:buClr>
              <a:buFont typeface="Arial" charset="0"/>
              <a:buChar char="•"/>
              <a:defRPr>
                <a:solidFill>
                  <a:srgbClr val="333E48"/>
                </a:solidFill>
              </a:defRPr>
            </a:lvl4pPr>
            <a:lvl5pPr>
              <a:lnSpc>
                <a:spcPct val="100000"/>
              </a:lnSpc>
              <a:spcBef>
                <a:spcPts val="0"/>
              </a:spcBef>
              <a:spcAft>
                <a:spcPts val="0"/>
              </a:spcAft>
              <a:buClr>
                <a:schemeClr val="accent1"/>
              </a:buClr>
              <a:defRPr>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06615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8302"/>
            <a:ext cx="11233150" cy="512829"/>
          </a:xfrm>
        </p:spPr>
        <p:txBody>
          <a:bodyPr/>
          <a:lstStyle/>
          <a:p>
            <a:r>
              <a:rPr lang="en-US" dirty="0"/>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7" name="Text Placeholder 2"/>
          <p:cNvSpPr>
            <a:spLocks noGrp="1"/>
          </p:cNvSpPr>
          <p:nvPr>
            <p:ph idx="1"/>
          </p:nvPr>
        </p:nvSpPr>
        <p:spPr>
          <a:xfrm>
            <a:off x="479425" y="1629079"/>
            <a:ext cx="5481108" cy="4455197"/>
          </a:xfrm>
          <a:prstGeom prst="rect">
            <a:avLst/>
          </a:prstGeom>
        </p:spPr>
        <p:txBody>
          <a:bodyPr/>
          <a:lstStyle>
            <a:lvl1pPr marL="342900" indent="-342900">
              <a:lnSpc>
                <a:spcPct val="100000"/>
              </a:lnSpc>
              <a:spcAft>
                <a:spcPts val="0"/>
              </a:spcAft>
              <a:buClr>
                <a:schemeClr val="accent1"/>
              </a:buClr>
              <a:buFont typeface="Arial" charset="0"/>
              <a:buChar char="•"/>
              <a:defRPr sz="2400">
                <a:solidFill>
                  <a:srgbClr val="333E48"/>
                </a:solidFill>
              </a:defRPr>
            </a:lvl1pPr>
            <a:lvl2pPr>
              <a:lnSpc>
                <a:spcPct val="100000"/>
              </a:lnSpc>
              <a:spcBef>
                <a:spcPts val="0"/>
              </a:spcBef>
              <a:spcAft>
                <a:spcPts val="0"/>
              </a:spcAft>
              <a:buClr>
                <a:schemeClr val="accent1"/>
              </a:buClr>
              <a:defRPr sz="2000">
                <a:solidFill>
                  <a:srgbClr val="333E48"/>
                </a:solidFill>
              </a:defRPr>
            </a:lvl2pPr>
            <a:lvl3pPr>
              <a:lnSpc>
                <a:spcPct val="100000"/>
              </a:lnSpc>
              <a:spcBef>
                <a:spcPts val="0"/>
              </a:spcBef>
              <a:spcAft>
                <a:spcPts val="0"/>
              </a:spcAft>
              <a:buClr>
                <a:schemeClr val="accent1"/>
              </a:buClr>
              <a:defRPr sz="1800">
                <a:solidFill>
                  <a:srgbClr val="333E48"/>
                </a:solidFill>
              </a:defRPr>
            </a:lvl3pPr>
          </a:lstStyle>
          <a:p>
            <a:pPr lvl="0"/>
            <a:r>
              <a:rPr lang="en-US"/>
              <a:t>Click to edit Master text styles</a:t>
            </a:r>
          </a:p>
          <a:p>
            <a:pPr lvl="1"/>
            <a:r>
              <a:rPr lang="en-US"/>
              <a:t>Second level</a:t>
            </a:r>
          </a:p>
          <a:p>
            <a:pPr lvl="2"/>
            <a:r>
              <a:rPr lang="en-US"/>
              <a:t>Third level</a:t>
            </a:r>
          </a:p>
        </p:txBody>
      </p:sp>
      <p:sp>
        <p:nvSpPr>
          <p:cNvPr id="50" name="Picture Placeholder 5"/>
          <p:cNvSpPr>
            <a:spLocks noGrp="1"/>
          </p:cNvSpPr>
          <p:nvPr>
            <p:ph type="pic" sz="quarter" idx="17"/>
          </p:nvPr>
        </p:nvSpPr>
        <p:spPr>
          <a:xfrm>
            <a:off x="6250924" y="1629080"/>
            <a:ext cx="5461651" cy="4455198"/>
          </a:xfrm>
        </p:spPr>
        <p:txBody>
          <a:bodyPr/>
          <a:lstStyle>
            <a:lvl1pPr marL="0" indent="0">
              <a:buClr>
                <a:schemeClr val="accent1"/>
              </a:buClr>
              <a:buNone/>
              <a:defRPr sz="2200">
                <a:solidFill>
                  <a:srgbClr val="333E48"/>
                </a:solidFill>
              </a:defRPr>
            </a:lvl1pPr>
          </a:lstStyle>
          <a:p>
            <a:pPr lvl="0"/>
            <a:r>
              <a:rPr lang="en-US" noProof="0"/>
              <a:t>Click icon to add picture</a:t>
            </a:r>
            <a:endParaRPr lang="en-US" noProof="0" dirty="0"/>
          </a:p>
        </p:txBody>
      </p:sp>
    </p:spTree>
    <p:extLst>
      <p:ext uri="{BB962C8B-B14F-4D97-AF65-F5344CB8AC3E}">
        <p14:creationId xmlns:p14="http://schemas.microsoft.com/office/powerpoint/2010/main" val="404830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Sldi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atin typeface="+mn-lt"/>
              </a:defRPr>
            </a:lvl1pPr>
          </a:lstStyle>
          <a:p>
            <a:r>
              <a:rPr lang="en-US" dirty="0"/>
              <a:t>Click to Edit Master Title Style</a:t>
            </a:r>
          </a:p>
        </p:txBody>
      </p:sp>
      <p:sp>
        <p:nvSpPr>
          <p:cNvPr id="10" name="Table Placeholder 3"/>
          <p:cNvSpPr>
            <a:spLocks noGrp="1"/>
          </p:cNvSpPr>
          <p:nvPr>
            <p:ph type="tbl" sz="quarter" idx="13"/>
          </p:nvPr>
        </p:nvSpPr>
        <p:spPr>
          <a:xfrm>
            <a:off x="479425" y="1259574"/>
            <a:ext cx="11233150" cy="4836426"/>
          </a:xfrm>
        </p:spPr>
        <p:txBody>
          <a:bodyPr/>
          <a:lstStyle>
            <a:lvl1pPr marL="0" indent="0">
              <a:buNone/>
              <a:defRPr/>
            </a:lvl1pPr>
          </a:lstStyle>
          <a:p>
            <a:pPr lvl="0"/>
            <a:r>
              <a:rPr lang="en-US" noProof="0"/>
              <a:t>Click icon to add table</a:t>
            </a:r>
            <a:endParaRPr lang="en-US" noProof="0" dirty="0"/>
          </a:p>
        </p:txBody>
      </p:sp>
    </p:spTree>
    <p:extLst>
      <p:ext uri="{BB962C8B-B14F-4D97-AF65-F5344CB8AC3E}">
        <p14:creationId xmlns:p14="http://schemas.microsoft.com/office/powerpoint/2010/main" val="3609291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Tree>
    <p:extLst>
      <p:ext uri="{BB962C8B-B14F-4D97-AF65-F5344CB8AC3E}">
        <p14:creationId xmlns:p14="http://schemas.microsoft.com/office/powerpoint/2010/main" val="41351642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 Column Slide with TOP level Bulle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2"/>
          <p:cNvSpPr>
            <a:spLocks noGrp="1"/>
          </p:cNvSpPr>
          <p:nvPr>
            <p:ph idx="1" hasCustomPrompt="1"/>
          </p:nvPr>
        </p:nvSpPr>
        <p:spPr>
          <a:xfrm>
            <a:off x="492125" y="1479468"/>
            <a:ext cx="11180762" cy="4086225"/>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a:lvl1pPr>
            <a:lvl2pPr marL="672783">
              <a:lnSpc>
                <a:spcPct val="100000"/>
              </a:lnSpc>
              <a:spcAft>
                <a:spcPts val="0"/>
              </a:spcAft>
              <a:defRPr>
                <a:solidFill>
                  <a:schemeClr val="tx2"/>
                </a:solidFill>
              </a:defRPr>
            </a:lvl2pPr>
            <a:lvl3pPr marL="947103">
              <a:lnSpc>
                <a:spcPct val="100000"/>
              </a:lnSpc>
              <a:spcAft>
                <a:spcPts val="0"/>
              </a:spcAft>
              <a:defRPr>
                <a:solidFill>
                  <a:schemeClr val="tx2"/>
                </a:solidFill>
              </a:defRPr>
            </a:lvl3pPr>
            <a:lvl4pPr marL="1293178">
              <a:lnSpc>
                <a:spcPct val="100000"/>
              </a:lnSpc>
              <a:spcAft>
                <a:spcPts val="0"/>
              </a:spcAft>
              <a:defRPr>
                <a:solidFill>
                  <a:schemeClr val="tx2"/>
                </a:solidFill>
              </a:defRPr>
            </a:lvl4pPr>
            <a:lvl5pPr marL="1518603">
              <a:lnSpc>
                <a:spcPct val="100000"/>
              </a:lnSpc>
              <a:spcAft>
                <a:spcPts val="0"/>
              </a:spcAft>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Master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8902014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2 column text with image">
    <p:spTree>
      <p:nvGrpSpPr>
        <p:cNvPr id="1" name=""/>
        <p:cNvGrpSpPr/>
        <p:nvPr/>
      </p:nvGrpSpPr>
      <p:grpSpPr>
        <a:xfrm>
          <a:off x="0" y="0"/>
          <a:ext cx="0" cy="0"/>
          <a:chOff x="0" y="0"/>
          <a:chExt cx="0" cy="0"/>
        </a:xfrm>
      </p:grpSpPr>
      <p:sp>
        <p:nvSpPr>
          <p:cNvPr id="104" name="Picture Placeholder 5"/>
          <p:cNvSpPr>
            <a:spLocks noGrp="1"/>
          </p:cNvSpPr>
          <p:nvPr>
            <p:ph type="pic" sz="quarter" idx="18"/>
          </p:nvPr>
        </p:nvSpPr>
        <p:spPr>
          <a:xfrm>
            <a:off x="341949" y="1629287"/>
            <a:ext cx="2722288" cy="1643303"/>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a:p>
        </p:txBody>
      </p:sp>
      <p:sp>
        <p:nvSpPr>
          <p:cNvPr id="14" name="Text Placeholder 7"/>
          <p:cNvSpPr>
            <a:spLocks noGrp="1"/>
          </p:cNvSpPr>
          <p:nvPr>
            <p:ph type="body" sz="quarter" idx="21" hasCustomPrompt="1"/>
          </p:nvPr>
        </p:nvSpPr>
        <p:spPr>
          <a:xfrm>
            <a:off x="341949" y="3429000"/>
            <a:ext cx="2722094" cy="30159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3" name="Title 1">
            <a:extLst>
              <a:ext uri="{FF2B5EF4-FFF2-40B4-BE49-F238E27FC236}">
                <a16:creationId xmlns:a16="http://schemas.microsoft.com/office/drawing/2014/main" id="{3B284D0A-F33E-8740-6794-8EDAC74705FA}"/>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a:t>Click to Edit Title Style</a:t>
            </a:r>
          </a:p>
        </p:txBody>
      </p:sp>
      <p:sp>
        <p:nvSpPr>
          <p:cNvPr id="4" name="Text Placeholder 43">
            <a:extLst>
              <a:ext uri="{FF2B5EF4-FFF2-40B4-BE49-F238E27FC236}">
                <a16:creationId xmlns:a16="http://schemas.microsoft.com/office/drawing/2014/main" id="{E119B61E-1D62-5564-D421-180CAE601CA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a:t>Click to edit text styles</a:t>
            </a:r>
          </a:p>
        </p:txBody>
      </p:sp>
      <p:sp>
        <p:nvSpPr>
          <p:cNvPr id="11" name="Picture Placeholder 5">
            <a:extLst>
              <a:ext uri="{FF2B5EF4-FFF2-40B4-BE49-F238E27FC236}">
                <a16:creationId xmlns:a16="http://schemas.microsoft.com/office/drawing/2014/main" id="{C5460D7C-0B2B-F4D4-9405-85214B86F68B}"/>
              </a:ext>
            </a:extLst>
          </p:cNvPr>
          <p:cNvSpPr>
            <a:spLocks noGrp="1"/>
          </p:cNvSpPr>
          <p:nvPr>
            <p:ph type="pic" sz="quarter" idx="22"/>
          </p:nvPr>
        </p:nvSpPr>
        <p:spPr>
          <a:xfrm>
            <a:off x="3225094" y="1629287"/>
            <a:ext cx="2708896" cy="1643303"/>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a:p>
        </p:txBody>
      </p:sp>
      <p:sp>
        <p:nvSpPr>
          <p:cNvPr id="12" name="Text Placeholder 7">
            <a:extLst>
              <a:ext uri="{FF2B5EF4-FFF2-40B4-BE49-F238E27FC236}">
                <a16:creationId xmlns:a16="http://schemas.microsoft.com/office/drawing/2014/main" id="{C4248E73-9053-2E4B-5BDB-CCCB9D796EEC}"/>
              </a:ext>
            </a:extLst>
          </p:cNvPr>
          <p:cNvSpPr>
            <a:spLocks noGrp="1"/>
          </p:cNvSpPr>
          <p:nvPr>
            <p:ph type="body" sz="quarter" idx="23" hasCustomPrompt="1"/>
          </p:nvPr>
        </p:nvSpPr>
        <p:spPr>
          <a:xfrm>
            <a:off x="3211702" y="3429000"/>
            <a:ext cx="2722094" cy="30159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5">
            <a:extLst>
              <a:ext uri="{FF2B5EF4-FFF2-40B4-BE49-F238E27FC236}">
                <a16:creationId xmlns:a16="http://schemas.microsoft.com/office/drawing/2014/main" id="{A6E0E23D-AAC8-8137-B3E1-1284296BC7FF}"/>
              </a:ext>
            </a:extLst>
          </p:cNvPr>
          <p:cNvSpPr>
            <a:spLocks noGrp="1"/>
          </p:cNvSpPr>
          <p:nvPr>
            <p:ph type="pic" sz="quarter" idx="24"/>
          </p:nvPr>
        </p:nvSpPr>
        <p:spPr>
          <a:xfrm>
            <a:off x="6112227" y="1629287"/>
            <a:ext cx="2708896" cy="1643303"/>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a:p>
        </p:txBody>
      </p:sp>
      <p:sp>
        <p:nvSpPr>
          <p:cNvPr id="15" name="Text Placeholder 7">
            <a:extLst>
              <a:ext uri="{FF2B5EF4-FFF2-40B4-BE49-F238E27FC236}">
                <a16:creationId xmlns:a16="http://schemas.microsoft.com/office/drawing/2014/main" id="{9B4C1642-F864-86EE-26E4-1FD3505375D0}"/>
              </a:ext>
            </a:extLst>
          </p:cNvPr>
          <p:cNvSpPr>
            <a:spLocks noGrp="1"/>
          </p:cNvSpPr>
          <p:nvPr>
            <p:ph type="body" sz="quarter" idx="25" hasCustomPrompt="1"/>
          </p:nvPr>
        </p:nvSpPr>
        <p:spPr>
          <a:xfrm>
            <a:off x="6098835" y="3429000"/>
            <a:ext cx="2722094" cy="30159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7" name="Picture Placeholder 5">
            <a:extLst>
              <a:ext uri="{FF2B5EF4-FFF2-40B4-BE49-F238E27FC236}">
                <a16:creationId xmlns:a16="http://schemas.microsoft.com/office/drawing/2014/main" id="{34360A4A-5339-7555-17BE-92B2B833115B}"/>
              </a:ext>
            </a:extLst>
          </p:cNvPr>
          <p:cNvSpPr>
            <a:spLocks noGrp="1"/>
          </p:cNvSpPr>
          <p:nvPr>
            <p:ph type="pic" sz="quarter" idx="26"/>
          </p:nvPr>
        </p:nvSpPr>
        <p:spPr>
          <a:xfrm>
            <a:off x="8982427" y="1629287"/>
            <a:ext cx="2708896" cy="1643303"/>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a:p>
        </p:txBody>
      </p:sp>
      <p:sp>
        <p:nvSpPr>
          <p:cNvPr id="18" name="Text Placeholder 7">
            <a:extLst>
              <a:ext uri="{FF2B5EF4-FFF2-40B4-BE49-F238E27FC236}">
                <a16:creationId xmlns:a16="http://schemas.microsoft.com/office/drawing/2014/main" id="{5B7C804B-11A4-DD1E-3F57-C3EBBD8E2143}"/>
              </a:ext>
            </a:extLst>
          </p:cNvPr>
          <p:cNvSpPr>
            <a:spLocks noGrp="1"/>
          </p:cNvSpPr>
          <p:nvPr>
            <p:ph type="body" sz="quarter" idx="27" hasCustomPrompt="1"/>
          </p:nvPr>
        </p:nvSpPr>
        <p:spPr>
          <a:xfrm>
            <a:off x="8969035" y="3429000"/>
            <a:ext cx="2722094" cy="30159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8250F92-0A52-2C2C-CA52-106847C17367}"/>
              </a:ext>
            </a:extLst>
          </p:cNvPr>
          <p:cNvCxnSpPr>
            <a:cxnSpLocks/>
          </p:cNvCxnSpPr>
          <p:nvPr userDrawn="1"/>
        </p:nvCxnSpPr>
        <p:spPr>
          <a:xfrm>
            <a:off x="355341" y="1458024"/>
            <a:ext cx="11501697" cy="0"/>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6205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9425" y="478301"/>
            <a:ext cx="11233150" cy="654760"/>
          </a:xfrm>
          <a:prstGeom prst="rect">
            <a:avLst/>
          </a:prstGeom>
        </p:spPr>
        <p:txBody>
          <a:bodyPr vert="horz" lIns="0" tIns="0" rIns="0" bIns="0" rtlCol="0" anchor="t">
            <a:noAutofit/>
          </a:bodyPr>
          <a:lstStyle/>
          <a:p>
            <a:r>
              <a:rPr lang="en-US"/>
              <a:t>Click to edit Master title style</a:t>
            </a:r>
            <a:endParaRPr lang="en-US" dirty="0"/>
          </a:p>
        </p:txBody>
      </p:sp>
      <p:sp>
        <p:nvSpPr>
          <p:cNvPr id="1029" name="TextBox 26"/>
          <p:cNvSpPr txBox="1">
            <a:spLocks noChangeArrowheads="1"/>
          </p:cNvSpPr>
          <p:nvPr userDrawn="1"/>
        </p:nvSpPr>
        <p:spPr bwMode="auto">
          <a:xfrm>
            <a:off x="492125" y="6410643"/>
            <a:ext cx="312738"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2682C2D1-8EA8-E748-B66F-74D4D53CF8F8}" type="slidenum">
              <a:rPr lang="en-US" altLang="en-US" sz="1000" smtClean="0">
                <a:solidFill>
                  <a:srgbClr val="7F7F7F"/>
                </a:solidFill>
              </a:rPr>
              <a:pPr eaLnBrk="1" hangingPunct="1">
                <a:lnSpc>
                  <a:spcPct val="90000"/>
                </a:lnSpc>
                <a:spcAft>
                  <a:spcPts val="600"/>
                </a:spcAft>
                <a:buFont typeface="Arial" charset="0"/>
                <a:buNone/>
                <a:defRPr/>
              </a:pPr>
              <a:t>‹#›</a:t>
            </a:fld>
            <a:endParaRPr lang="en-US" altLang="en-US" sz="1000" dirty="0">
              <a:solidFill>
                <a:srgbClr val="7F7F7F"/>
              </a:solidFill>
            </a:endParaRP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479425" y="1133061"/>
            <a:ext cx="11243088" cy="497466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Box 20">
            <a:extLst>
              <a:ext uri="{FF2B5EF4-FFF2-40B4-BE49-F238E27FC236}">
                <a16:creationId xmlns:a16="http://schemas.microsoft.com/office/drawing/2014/main" id="{27B344F3-4498-5A4F-9DA2-CB9437A25367}"/>
              </a:ext>
            </a:extLst>
          </p:cNvPr>
          <p:cNvSpPr txBox="1">
            <a:spLocks noChangeArrowheads="1"/>
          </p:cNvSpPr>
          <p:nvPr userDrawn="1"/>
        </p:nvSpPr>
        <p:spPr bwMode="auto">
          <a:xfrm>
            <a:off x="982662" y="6413179"/>
            <a:ext cx="4636741" cy="138499"/>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l" eaLnBrk="1" hangingPunct="1">
              <a:lnSpc>
                <a:spcPct val="90000"/>
              </a:lnSpc>
              <a:spcAft>
                <a:spcPts val="600"/>
              </a:spcAft>
              <a:buFont typeface="Arial" charset="0"/>
              <a:buNone/>
              <a:defRPr/>
            </a:pPr>
            <a:r>
              <a:rPr lang="en-GB" altLang="en-US" sz="1000" dirty="0">
                <a:solidFill>
                  <a:srgbClr val="7F7F7F"/>
                </a:solidFill>
              </a:rPr>
              <a:t>© 2021 Arm</a:t>
            </a:r>
            <a:endParaRPr lang="en-US" altLang="en-US" sz="1000" dirty="0">
              <a:solidFill>
                <a:srgbClr val="7F7F7F"/>
              </a:solidFill>
            </a:endParaRPr>
          </a:p>
        </p:txBody>
      </p:sp>
    </p:spTree>
    <p:extLst>
      <p:ext uri="{BB962C8B-B14F-4D97-AF65-F5344CB8AC3E}">
        <p14:creationId xmlns:p14="http://schemas.microsoft.com/office/powerpoint/2010/main" val="212291756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hf hdr="0" ftr="0" dt="0"/>
  <p:txStyles>
    <p:titleStyle>
      <a:lvl1pPr algn="l" rtl="0" eaLnBrk="1" fontAlgn="base" hangingPunct="1">
        <a:lnSpc>
          <a:spcPct val="85000"/>
        </a:lnSpc>
        <a:spcBef>
          <a:spcPct val="0"/>
        </a:spcBef>
        <a:spcAft>
          <a:spcPct val="0"/>
        </a:spcAft>
        <a:defRPr sz="3600" b="0" kern="1200" spc="-50">
          <a:solidFill>
            <a:schemeClr val="accent1"/>
          </a:solidFill>
          <a:latin typeface="+mn-lt"/>
          <a:ea typeface="ＭＳ Ｐゴシック" charset="0"/>
          <a:cs typeface="ＭＳ Ｐゴシック"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1"/>
        </a:buClr>
        <a:buFont typeface="Arial" charset="0"/>
        <a:buChar char="•"/>
        <a:defRPr sz="2400" kern="1200">
          <a:solidFill>
            <a:srgbClr val="333E48"/>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rgbClr val="333E48"/>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 typeface="Calibri" charset="0"/>
        <a:buChar char="–"/>
        <a:defRPr kern="1200">
          <a:solidFill>
            <a:srgbClr val="333E48"/>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rgbClr val="333E48"/>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 typeface="Calibri" charset="0"/>
        <a:buChar char="–"/>
        <a:defRPr kern="1200">
          <a:solidFill>
            <a:srgbClr val="333E48"/>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619">
          <p15:clr>
            <a:srgbClr val="F26B43"/>
          </p15:clr>
        </p15:guide>
        <p15:guide id="4" orient="horz" pos="300">
          <p15:clr>
            <a:srgbClr val="F26B43"/>
          </p15:clr>
        </p15:guide>
        <p15:guide id="5" orient="horz" pos="4020">
          <p15:clr>
            <a:srgbClr val="F26B43"/>
          </p15:clr>
        </p15:guide>
        <p15:guide id="6" pos="7378">
          <p15:clr>
            <a:srgbClr val="F26B43"/>
          </p15:clr>
        </p15:guide>
        <p15:guide id="7" pos="302">
          <p15:clr>
            <a:srgbClr val="F26B43"/>
          </p15:clr>
        </p15:guide>
        <p15:guide id="8" pos="706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MDK-Packs/CB_Lab4Layer/tree/master/layer"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github.com/MDK-Packs/CB_Lab4Layer/blob/master/layer/Board/MIMXRT1064-EVK/main.c"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Open-CMSIS-Pack/devtools/blob/main/tools/README.md"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hyperlink" Target="https://open-cmsis-pack.github.io/Open-CMSIS-Pack-Spec/main/html/pdsc_clayers_pg.html" TargetMode="External"/><Relationship Id="rId3" Type="http://schemas.openxmlformats.org/officeDocument/2006/relationships/hyperlink" Target="https://github.com/RobertRostohar/NXP_Sensor_SDK" TargetMode="External"/><Relationship Id="rId7" Type="http://schemas.openxmlformats.org/officeDocument/2006/relationships/hyperlink" Target="https://open-cmsis-pack.github.io/Open-CMSIS-Pack-Spec/main/html/pdsc_examples_pg.html"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github.com/RobertRostohar/NXP_Sensor_SDK/tree/main/shields" TargetMode="External"/><Relationship Id="rId5" Type="http://schemas.openxmlformats.org/officeDocument/2006/relationships/hyperlink" Target="https://github.com/RobertRostohar/NXP_Sensor_SDK/tree/main/examples/issdk/sensors" TargetMode="External"/><Relationship Id="rId4" Type="http://schemas.openxmlformats.org/officeDocument/2006/relationships/hyperlink" Target="https://github.com/RobertRostohar/NXP_Sensor_SDK/tree/main/middleware"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github.com/Open-CMSIS-Pack/devtools/issues/143" TargetMode="External"/><Relationship Id="rId2" Type="http://schemas.openxmlformats.org/officeDocument/2006/relationships/hyperlink" Target="https://github.com/Open-CMSIS-Pack/devtools/issues/142"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hyperlink" Target="http://arm-software.github.io/CMSIS_5/Pack/html/pdsc_apis_pg.html" TargetMode="External"/><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hyperlink" Target="https://github.com/ARM-software/CMSIS-Driver" TargetMode="External"/><Relationship Id="rId4" Type="http://schemas.openxmlformats.org/officeDocument/2006/relationships/hyperlink" Target="http://arm-software.github.io/CMSIS_5/Pack/html/cp_SWComponents.html#cp_API"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hyperlink" Target="https://open-cmsis-pack.github.io/Open-CMSIS-Pack-Spec/main/html/pdsc_examples_pg.html" TargetMode="External"/><Relationship Id="rId3" Type="http://schemas.openxmlformats.org/officeDocument/2006/relationships/image" Target="../media/image7.png"/><Relationship Id="rId7" Type="http://schemas.openxmlformats.org/officeDocument/2006/relationships/hyperlink" Target="https://github.com/RobertRostohar/NXP_Sensor_SDK/tree/main/shields"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hyperlink" Target="https://github.com/RobertRostohar/NXP_Sensor_SDK/tree/main/examples/issdk/sensors" TargetMode="External"/><Relationship Id="rId5" Type="http://schemas.openxmlformats.org/officeDocument/2006/relationships/hyperlink" Target="https://github.com/RobertRostohar/NXP_Sensor_SDK/tree/main/middleware" TargetMode="External"/><Relationship Id="rId4" Type="http://schemas.openxmlformats.org/officeDocument/2006/relationships/hyperlink" Target="https://github.com/RobertRostohar/NXP_Sensor_SDK" TargetMode="External"/><Relationship Id="rId9" Type="http://schemas.openxmlformats.org/officeDocument/2006/relationships/hyperlink" Target="https://open-cmsis-pack.github.io/Open-CMSIS-Pack-Spec/main/html/pdsc_clayers_pg.html" TargetMode="Externa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notesSlide" Target="../notesSlides/notesSlide23.xml"/><Relationship Id="rId7" Type="http://schemas.openxmlformats.org/officeDocument/2006/relationships/image" Target="../media/image11.sv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13.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14.png"/><Relationship Id="rId4" Type="http://schemas.openxmlformats.org/officeDocument/2006/relationships/image" Target="../media/image13.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tags" Target="../tags/tag5.xml"/><Relationship Id="rId5" Type="http://schemas.openxmlformats.org/officeDocument/2006/relationships/hyperlink" Target="https://open-cmsis-pack.github.io/cmsis-toolbox/YML-CBuild-Format/#run-and-debug-management" TargetMode="External"/><Relationship Id="rId4" Type="http://schemas.openxmlformats.org/officeDocument/2006/relationships/image" Target="../media/image1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hyperlink" Target="https://github.com/Arm-software/AVH" TargetMode="External"/></Relationships>
</file>

<file path=ppt/slides/_rels/slide61.xml.rels><?xml version="1.0" encoding="UTF-8" standalone="yes"?>
<Relationships xmlns="http://schemas.openxmlformats.org/package/2006/relationships"><Relationship Id="rId3" Type="http://schemas.openxmlformats.org/officeDocument/2006/relationships/image" Target="../media/image18.jpeg"/><Relationship Id="rId7"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hyperlink" Target="https://github.com/Open-CMSIS-Pack/Sensor-SDK-Example" TargetMode="External"/><Relationship Id="rId5" Type="http://schemas.openxmlformats.org/officeDocument/2006/relationships/image" Target="../media/image20.png"/><Relationship Id="rId4" Type="http://schemas.openxmlformats.org/officeDocument/2006/relationships/image" Target="../media/image19.jpe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2.png"/></Relationships>
</file>

<file path=ppt/slides/_rels/slide6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svg"/><Relationship Id="rId7"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26.svg"/><Relationship Id="rId5" Type="http://schemas.openxmlformats.org/officeDocument/2006/relationships/image" Target="../media/image25.svg"/><Relationship Id="rId4" Type="http://schemas.openxmlformats.org/officeDocument/2006/relationships/image" Target="../media/image24.sv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tags" Target="../tags/tag7.xml"/><Relationship Id="rId4" Type="http://schemas.openxmlformats.org/officeDocument/2006/relationships/image" Target="../media/image29.png"/></Relationships>
</file>

<file path=ppt/slides/_rels/slide6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D385E74-DAED-029F-ECBF-13A172D6AADF}"/>
              </a:ext>
            </a:extLst>
          </p:cNvPr>
          <p:cNvSpPr/>
          <p:nvPr/>
        </p:nvSpPr>
        <p:spPr>
          <a:xfrm>
            <a:off x="5805427" y="3516689"/>
            <a:ext cx="572487" cy="5924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B49C65-9D93-0940-A2D2-FDC728ABEBFC}"/>
              </a:ext>
            </a:extLst>
          </p:cNvPr>
          <p:cNvSpPr>
            <a:spLocks noGrp="1"/>
          </p:cNvSpPr>
          <p:nvPr>
            <p:ph type="title"/>
          </p:nvPr>
        </p:nvSpPr>
        <p:spPr/>
        <p:txBody>
          <a:bodyPr/>
          <a:lstStyle/>
          <a:p>
            <a:r>
              <a:rPr lang="en-US"/>
              <a:t>CMSIS-Toolbox: Basis for next generation software tooling</a:t>
            </a:r>
          </a:p>
        </p:txBody>
      </p:sp>
      <p:sp>
        <p:nvSpPr>
          <p:cNvPr id="9" name="Text Placeholder 8">
            <a:extLst>
              <a:ext uri="{FF2B5EF4-FFF2-40B4-BE49-F238E27FC236}">
                <a16:creationId xmlns:a16="http://schemas.microsoft.com/office/drawing/2014/main" id="{B8F12BFC-05EA-7162-6657-F5919590F500}"/>
              </a:ext>
            </a:extLst>
          </p:cNvPr>
          <p:cNvSpPr>
            <a:spLocks noGrp="1"/>
          </p:cNvSpPr>
          <p:nvPr>
            <p:ph type="body" sz="quarter" idx="16"/>
          </p:nvPr>
        </p:nvSpPr>
        <p:spPr>
          <a:xfrm>
            <a:off x="479425" y="1086740"/>
            <a:ext cx="5345642" cy="560696"/>
          </a:xfrm>
        </p:spPr>
        <p:txBody>
          <a:bodyPr/>
          <a:lstStyle/>
          <a:p>
            <a:r>
              <a:rPr lang="en-GB" spc="-50">
                <a:solidFill>
                  <a:schemeClr val="accent1"/>
                </a:solidFill>
              </a:rPr>
              <a:t>Keil MDK – Version 6</a:t>
            </a:r>
          </a:p>
        </p:txBody>
      </p:sp>
      <p:sp>
        <p:nvSpPr>
          <p:cNvPr id="11" name="Content Placeholder 10">
            <a:extLst>
              <a:ext uri="{FF2B5EF4-FFF2-40B4-BE49-F238E27FC236}">
                <a16:creationId xmlns:a16="http://schemas.microsoft.com/office/drawing/2014/main" id="{8928667E-77F5-641E-BF49-8FB3A416151C}"/>
              </a:ext>
            </a:extLst>
          </p:cNvPr>
          <p:cNvSpPr>
            <a:spLocks noGrp="1"/>
          </p:cNvSpPr>
          <p:nvPr>
            <p:ph sz="quarter" idx="19"/>
          </p:nvPr>
        </p:nvSpPr>
        <p:spPr>
          <a:xfrm>
            <a:off x="479425" y="1601973"/>
            <a:ext cx="5616575" cy="2048164"/>
          </a:xfrm>
        </p:spPr>
        <p:txBody>
          <a:bodyPr/>
          <a:lstStyle/>
          <a:p>
            <a:pPr marL="285750" indent="-285750" algn="l"/>
            <a:r>
              <a:rPr lang="en-GB" sz="1600" dirty="0">
                <a:solidFill>
                  <a:schemeClr val="tx1">
                    <a:lumMod val="65000"/>
                    <a:lumOff val="35000"/>
                  </a:schemeClr>
                </a:solidFill>
              </a:rPr>
              <a:t>Best-in-class embedded development system </a:t>
            </a:r>
            <a:br>
              <a:rPr lang="en-GB" sz="1600" dirty="0">
                <a:solidFill>
                  <a:schemeClr val="tx1">
                    <a:lumMod val="65000"/>
                    <a:lumOff val="35000"/>
                  </a:schemeClr>
                </a:solidFill>
              </a:rPr>
            </a:br>
            <a:r>
              <a:rPr lang="en-GB" sz="1600" dirty="0">
                <a:solidFill>
                  <a:schemeClr val="tx1">
                    <a:lumMod val="65000"/>
                    <a:lumOff val="35000"/>
                  </a:schemeClr>
                </a:solidFill>
              </a:rPr>
              <a:t>for Cortex-M microcontrollers</a:t>
            </a:r>
          </a:p>
          <a:p>
            <a:pPr marL="285750" indent="-285750" algn="l"/>
            <a:r>
              <a:rPr lang="en-GB" sz="1600" dirty="0">
                <a:solidFill>
                  <a:schemeClr val="tx1">
                    <a:lumMod val="65000"/>
                    <a:lumOff val="35000"/>
                  </a:schemeClr>
                </a:solidFill>
              </a:rPr>
              <a:t>Command-Line and IDE workflows based </a:t>
            </a:r>
            <a:br>
              <a:rPr lang="en-GB" sz="1600" dirty="0">
                <a:solidFill>
                  <a:schemeClr val="tx1">
                    <a:lumMod val="65000"/>
                    <a:lumOff val="35000"/>
                  </a:schemeClr>
                </a:solidFill>
              </a:rPr>
            </a:br>
            <a:r>
              <a:rPr lang="en-GB" sz="1600" dirty="0">
                <a:solidFill>
                  <a:schemeClr val="tx1">
                    <a:lumMod val="65000"/>
                    <a:lumOff val="35000"/>
                  </a:schemeClr>
                </a:solidFill>
              </a:rPr>
              <a:t>on CMSIS-Toolbox</a:t>
            </a:r>
          </a:p>
          <a:p>
            <a:pPr marL="285750" indent="-285750" algn="l"/>
            <a:r>
              <a:rPr lang="en-GB" sz="1600" dirty="0">
                <a:solidFill>
                  <a:schemeClr val="tx1">
                    <a:lumMod val="65000"/>
                    <a:lumOff val="35000"/>
                  </a:schemeClr>
                </a:solidFill>
              </a:rPr>
              <a:t>Arm C/C++ Compiler with </a:t>
            </a:r>
            <a:r>
              <a:rPr lang="en-GB" sz="1600" dirty="0" err="1">
                <a:solidFill>
                  <a:schemeClr val="tx1">
                    <a:lumMod val="65000"/>
                    <a:lumOff val="35000"/>
                  </a:schemeClr>
                </a:solidFill>
              </a:rPr>
              <a:t>FuSa</a:t>
            </a:r>
            <a:r>
              <a:rPr lang="en-GB" sz="1600" dirty="0">
                <a:solidFill>
                  <a:schemeClr val="tx1">
                    <a:lumMod val="65000"/>
                    <a:lumOff val="35000"/>
                  </a:schemeClr>
                </a:solidFill>
              </a:rPr>
              <a:t> certification</a:t>
            </a:r>
          </a:p>
          <a:p>
            <a:pPr marL="285750" indent="-285750" algn="l"/>
            <a:r>
              <a:rPr lang="en-GB" sz="1600" dirty="0">
                <a:solidFill>
                  <a:schemeClr val="tx1">
                    <a:lumMod val="65000"/>
                    <a:lumOff val="35000"/>
                  </a:schemeClr>
                </a:solidFill>
              </a:rPr>
              <a:t>Based on CMSIS software standards</a:t>
            </a:r>
          </a:p>
          <a:p>
            <a:pPr marL="285750" indent="-285750" algn="l"/>
            <a:r>
              <a:rPr lang="en-GB" sz="1600" dirty="0">
                <a:solidFill>
                  <a:schemeClr val="tx1">
                    <a:lumMod val="65000"/>
                    <a:lumOff val="35000"/>
                  </a:schemeClr>
                </a:solidFill>
              </a:rPr>
              <a:t>Host Support: Windows, Linux, </a:t>
            </a:r>
            <a:br>
              <a:rPr lang="en-GB" sz="1600" dirty="0">
                <a:solidFill>
                  <a:schemeClr val="tx1">
                    <a:lumMod val="65000"/>
                    <a:lumOff val="35000"/>
                  </a:schemeClr>
                </a:solidFill>
              </a:rPr>
            </a:br>
            <a:r>
              <a:rPr lang="en-GB" sz="1600" dirty="0">
                <a:solidFill>
                  <a:schemeClr val="tx1">
                    <a:lumMod val="65000"/>
                    <a:lumOff val="35000"/>
                  </a:schemeClr>
                </a:solidFill>
              </a:rPr>
              <a:t>Mac OS – and Cloud</a:t>
            </a:r>
          </a:p>
          <a:p>
            <a:pPr marL="0" indent="0" algn="l">
              <a:buNone/>
            </a:pPr>
            <a:endParaRPr lang="en-US" sz="1600" dirty="0"/>
          </a:p>
        </p:txBody>
      </p:sp>
      <p:sp>
        <p:nvSpPr>
          <p:cNvPr id="10" name="Text Placeholder 9">
            <a:extLst>
              <a:ext uri="{FF2B5EF4-FFF2-40B4-BE49-F238E27FC236}">
                <a16:creationId xmlns:a16="http://schemas.microsoft.com/office/drawing/2014/main" id="{92FEB286-4A35-7B7B-3D51-E98514BCF7AA}"/>
              </a:ext>
            </a:extLst>
          </p:cNvPr>
          <p:cNvSpPr>
            <a:spLocks noGrp="1"/>
          </p:cNvSpPr>
          <p:nvPr>
            <p:ph type="body" sz="quarter" idx="18"/>
          </p:nvPr>
        </p:nvSpPr>
        <p:spPr>
          <a:xfrm>
            <a:off x="488703" y="4042616"/>
            <a:ext cx="5371042" cy="560696"/>
          </a:xfrm>
        </p:spPr>
        <p:txBody>
          <a:bodyPr/>
          <a:lstStyle/>
          <a:p>
            <a:r>
              <a:rPr lang="en-US"/>
              <a:t>Arm Virtual Hardware – FVPs</a:t>
            </a:r>
          </a:p>
        </p:txBody>
      </p:sp>
      <p:sp>
        <p:nvSpPr>
          <p:cNvPr id="12" name="Content Placeholder 11">
            <a:extLst>
              <a:ext uri="{FF2B5EF4-FFF2-40B4-BE49-F238E27FC236}">
                <a16:creationId xmlns:a16="http://schemas.microsoft.com/office/drawing/2014/main" id="{EAC29C46-96F7-B464-F2B6-8B2D5872B68D}"/>
              </a:ext>
            </a:extLst>
          </p:cNvPr>
          <p:cNvSpPr>
            <a:spLocks noGrp="1"/>
          </p:cNvSpPr>
          <p:nvPr>
            <p:ph sz="quarter" idx="21"/>
          </p:nvPr>
        </p:nvSpPr>
        <p:spPr>
          <a:xfrm>
            <a:off x="479426" y="4457129"/>
            <a:ext cx="5187728" cy="2216517"/>
          </a:xfrm>
        </p:spPr>
        <p:txBody>
          <a:bodyPr/>
          <a:lstStyle/>
          <a:p>
            <a:pPr marL="285750" indent="-285750"/>
            <a:r>
              <a:rPr lang="en-GB" sz="1600">
                <a:solidFill>
                  <a:schemeClr val="tx1">
                    <a:lumMod val="65000"/>
                    <a:lumOff val="35000"/>
                  </a:schemeClr>
                </a:solidFill>
              </a:rPr>
              <a:t>Precise </a:t>
            </a:r>
            <a:r>
              <a:rPr lang="en-GB" sz="1600" b="1">
                <a:solidFill>
                  <a:schemeClr val="tx1">
                    <a:lumMod val="65000"/>
                    <a:lumOff val="35000"/>
                  </a:schemeClr>
                </a:solidFill>
              </a:rPr>
              <a:t>simulation models</a:t>
            </a:r>
            <a:r>
              <a:rPr lang="en-GB" sz="1600">
                <a:solidFill>
                  <a:schemeClr val="tx1">
                    <a:lumMod val="65000"/>
                    <a:lumOff val="35000"/>
                  </a:schemeClr>
                </a:solidFill>
              </a:rPr>
              <a:t> of Cortex-M device sub-systems</a:t>
            </a:r>
          </a:p>
          <a:p>
            <a:pPr marL="285750" indent="-285750"/>
            <a:r>
              <a:rPr lang="en-GB" sz="1600">
                <a:solidFill>
                  <a:schemeClr val="tx1">
                    <a:lumMod val="65000"/>
                    <a:lumOff val="35000"/>
                  </a:schemeClr>
                </a:solidFill>
              </a:rPr>
              <a:t>Designed for complex software verification and testing</a:t>
            </a:r>
          </a:p>
          <a:p>
            <a:pPr marL="285750" indent="-285750"/>
            <a:r>
              <a:rPr lang="en-GB" sz="1600">
                <a:solidFill>
                  <a:schemeClr val="tx1">
                    <a:lumMod val="65000"/>
                    <a:lumOff val="35000"/>
                  </a:schemeClr>
                </a:solidFill>
              </a:rPr>
              <a:t>Enables test automation of diverse software workloads</a:t>
            </a:r>
            <a:endParaRPr lang="en-GB" sz="1600" b="0" i="0">
              <a:solidFill>
                <a:schemeClr val="tx1">
                  <a:lumMod val="65000"/>
                  <a:lumOff val="35000"/>
                </a:schemeClr>
              </a:solidFill>
              <a:effectLst/>
            </a:endParaRPr>
          </a:p>
          <a:p>
            <a:pPr marL="285750" indent="-285750"/>
            <a:r>
              <a:rPr lang="en-GB" sz="1600" b="0" i="0">
                <a:solidFill>
                  <a:schemeClr val="tx1">
                    <a:lumMod val="65000"/>
                    <a:lumOff val="35000"/>
                  </a:schemeClr>
                </a:solidFill>
                <a:effectLst/>
              </a:rPr>
              <a:t>Part of </a:t>
            </a:r>
            <a:r>
              <a:rPr lang="en-GB" sz="1600" b="1" i="0">
                <a:solidFill>
                  <a:schemeClr val="tx1">
                    <a:lumMod val="65000"/>
                    <a:lumOff val="35000"/>
                  </a:schemeClr>
                </a:solidFill>
                <a:effectLst/>
              </a:rPr>
              <a:t>CI/</a:t>
            </a:r>
            <a:r>
              <a:rPr lang="en-GB" sz="1600" b="1">
                <a:solidFill>
                  <a:schemeClr val="tx1">
                    <a:lumMod val="65000"/>
                    <a:lumOff val="35000"/>
                  </a:schemeClr>
                </a:solidFill>
              </a:rPr>
              <a:t>CD</a:t>
            </a:r>
            <a:r>
              <a:rPr lang="en-GB" sz="1600">
                <a:solidFill>
                  <a:schemeClr val="tx1">
                    <a:lumMod val="65000"/>
                    <a:lumOff val="35000"/>
                  </a:schemeClr>
                </a:solidFill>
              </a:rPr>
              <a:t> and </a:t>
            </a:r>
            <a:r>
              <a:rPr lang="en-GB" sz="1600" b="1" err="1">
                <a:solidFill>
                  <a:schemeClr val="tx1">
                    <a:lumMod val="65000"/>
                    <a:lumOff val="35000"/>
                  </a:schemeClr>
                </a:solidFill>
              </a:rPr>
              <a:t>MLOps</a:t>
            </a:r>
            <a:r>
              <a:rPr lang="en-GB" sz="1600">
                <a:solidFill>
                  <a:schemeClr val="tx1">
                    <a:lumMod val="65000"/>
                    <a:lumOff val="35000"/>
                  </a:schemeClr>
                </a:solidFill>
              </a:rPr>
              <a:t> </a:t>
            </a:r>
            <a:r>
              <a:rPr lang="en-GB" sz="1600" b="0" i="0">
                <a:solidFill>
                  <a:schemeClr val="tx1">
                    <a:lumMod val="65000"/>
                    <a:lumOff val="35000"/>
                  </a:schemeClr>
                </a:solidFill>
                <a:effectLst/>
              </a:rPr>
              <a:t>development flows</a:t>
            </a:r>
          </a:p>
          <a:p>
            <a:pPr marL="285750" indent="-285750"/>
            <a:r>
              <a:rPr lang="en-GB" sz="1600">
                <a:solidFill>
                  <a:schemeClr val="tx1">
                    <a:lumMod val="65000"/>
                    <a:lumOff val="35000"/>
                  </a:schemeClr>
                </a:solidFill>
              </a:rPr>
              <a:t>Supports A/B performance comparisons using </a:t>
            </a:r>
            <a:br>
              <a:rPr lang="en-GB" sz="1600">
                <a:solidFill>
                  <a:schemeClr val="tx1">
                    <a:lumMod val="65000"/>
                    <a:lumOff val="35000"/>
                  </a:schemeClr>
                </a:solidFill>
              </a:rPr>
            </a:br>
            <a:r>
              <a:rPr lang="en-GB" sz="1600">
                <a:solidFill>
                  <a:schemeClr val="tx1">
                    <a:lumMod val="65000"/>
                    <a:lumOff val="35000"/>
                  </a:schemeClr>
                </a:solidFill>
              </a:rPr>
              <a:t>CMSIS-View Event Recorder timing statistics</a:t>
            </a:r>
            <a:endParaRPr lang="en-GB" sz="1600" b="0" i="0">
              <a:solidFill>
                <a:schemeClr val="tx1">
                  <a:lumMod val="65000"/>
                  <a:lumOff val="35000"/>
                </a:schemeClr>
              </a:solidFill>
              <a:effectLst/>
            </a:endParaRPr>
          </a:p>
        </p:txBody>
      </p:sp>
      <p:sp>
        <p:nvSpPr>
          <p:cNvPr id="13" name="Rectangle 12">
            <a:extLst>
              <a:ext uri="{FF2B5EF4-FFF2-40B4-BE49-F238E27FC236}">
                <a16:creationId xmlns:a16="http://schemas.microsoft.com/office/drawing/2014/main" id="{593F40A8-10DB-C5C9-DE7C-D1076D88FBD1}"/>
              </a:ext>
            </a:extLst>
          </p:cNvPr>
          <p:cNvSpPr/>
          <p:nvPr/>
        </p:nvSpPr>
        <p:spPr>
          <a:xfrm>
            <a:off x="5692114" y="1309250"/>
            <a:ext cx="3495488" cy="234275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4B5876B-51B0-2BDE-7A06-F5D84C84EFFB}"/>
              </a:ext>
            </a:extLst>
          </p:cNvPr>
          <p:cNvSpPr/>
          <p:nvPr/>
        </p:nvSpPr>
        <p:spPr>
          <a:xfrm>
            <a:off x="5822747" y="1461986"/>
            <a:ext cx="1551974" cy="2054703"/>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lang="en-US" sz="1200" dirty="0" err="1">
                <a:solidFill>
                  <a:schemeClr val="tx2"/>
                </a:solidFill>
                <a:latin typeface="Calibri"/>
                <a:ea typeface="ＭＳ Ｐゴシック" panose="020B0600070205080204" pitchFamily="34" charset="-128"/>
              </a:rPr>
              <a:t>csolution</a:t>
            </a:r>
            <a:r>
              <a:rPr lang="en-US" sz="1200" dirty="0">
                <a:solidFill>
                  <a:schemeClr val="tx2"/>
                </a:solidFill>
                <a:latin typeface="Calibri"/>
                <a:ea typeface="ＭＳ Ｐゴシック" panose="020B0600070205080204" pitchFamily="34" charset="-128"/>
              </a:rPr>
              <a:t> project</a:t>
            </a:r>
            <a:endParaRPr kumimoji="0" lang="en-US" sz="1200" i="0" u="none" strike="noStrike" kern="1200" cap="none" spc="0" normalizeH="0" baseline="0" noProof="0" dirty="0">
              <a:ln>
                <a:noFill/>
              </a:ln>
              <a:solidFill>
                <a:schemeClr val="tx2"/>
              </a:solidFill>
              <a:effectLst/>
              <a:uLnTx/>
              <a:uFillTx/>
              <a:latin typeface="Calibri"/>
              <a:ea typeface="ＭＳ Ｐゴシック" panose="020B0600070205080204" pitchFamily="34" charset="-128"/>
              <a:cs typeface="+mn-cs"/>
            </a:endParaRPr>
          </a:p>
        </p:txBody>
      </p:sp>
      <p:sp>
        <p:nvSpPr>
          <p:cNvPr id="18" name="Rectangle 17">
            <a:extLst>
              <a:ext uri="{FF2B5EF4-FFF2-40B4-BE49-F238E27FC236}">
                <a16:creationId xmlns:a16="http://schemas.microsoft.com/office/drawing/2014/main" id="{899BAC2B-AFD4-6E3A-0720-D050DB27D7BF}"/>
              </a:ext>
            </a:extLst>
          </p:cNvPr>
          <p:cNvSpPr/>
          <p:nvPr/>
        </p:nvSpPr>
        <p:spPr>
          <a:xfrm>
            <a:off x="7541653" y="1461985"/>
            <a:ext cx="1543453" cy="12923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2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t>Software Packs</a:t>
            </a:r>
          </a:p>
        </p:txBody>
      </p:sp>
      <p:sp>
        <p:nvSpPr>
          <p:cNvPr id="21" name="Rectangle 20">
            <a:extLst>
              <a:ext uri="{FF2B5EF4-FFF2-40B4-BE49-F238E27FC236}">
                <a16:creationId xmlns:a16="http://schemas.microsoft.com/office/drawing/2014/main" id="{8A9F90E5-92D0-5CB6-FB1E-0FDF39903545}"/>
              </a:ext>
            </a:extLst>
          </p:cNvPr>
          <p:cNvSpPr/>
          <p:nvPr/>
        </p:nvSpPr>
        <p:spPr>
          <a:xfrm>
            <a:off x="7541653" y="2907803"/>
            <a:ext cx="1551974" cy="60888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chemeClr val="tx2"/>
                </a:solidFill>
                <a:effectLst/>
                <a:uLnTx/>
                <a:uFillTx/>
                <a:latin typeface="Calibri"/>
                <a:ea typeface="+mn-ea"/>
                <a:cs typeface="+mn-cs"/>
              </a:rPr>
              <a:t>CMSIS-Toolbox</a:t>
            </a:r>
          </a:p>
          <a:p>
            <a:pPr marL="0" marR="0" lvl="0" indent="0" algn="ctr" defTabSz="914400" rtl="0" eaLnBrk="0" fontAlgn="base" latinLnBrk="0" hangingPunct="0">
              <a:lnSpc>
                <a:spcPct val="100000"/>
              </a:lnSpc>
              <a:spcBef>
                <a:spcPct val="0"/>
              </a:spcBef>
              <a:spcAft>
                <a:spcPct val="0"/>
              </a:spcAft>
              <a:buClrTx/>
              <a:buSzTx/>
              <a:buFontTx/>
              <a:buNone/>
              <a:tabLst/>
              <a:defRPr/>
            </a:pPr>
            <a:r>
              <a:rPr lang="en-US" sz="1000" dirty="0" err="1">
                <a:solidFill>
                  <a:schemeClr val="tx2"/>
                </a:solidFill>
                <a:latin typeface="Calibri"/>
              </a:rPr>
              <a:t>cbuild</a:t>
            </a:r>
            <a:r>
              <a:rPr lang="en-US" sz="1000" dirty="0">
                <a:solidFill>
                  <a:schemeClr val="tx2"/>
                </a:solidFill>
                <a:latin typeface="Calibri"/>
              </a:rPr>
              <a:t>: Build Invocation</a:t>
            </a:r>
            <a:endParaRPr kumimoji="0" lang="en-GB" sz="1000" b="0" i="0" u="none" strike="noStrike" kern="1200" cap="none" spc="0" normalizeH="0" baseline="0" noProof="0" dirty="0">
              <a:ln>
                <a:noFill/>
              </a:ln>
              <a:solidFill>
                <a:schemeClr val="tx2"/>
              </a:solidFill>
              <a:effectLst/>
              <a:uLnTx/>
              <a:uFillTx/>
              <a:latin typeface="Calibri"/>
              <a:ea typeface="+mn-ea"/>
              <a:cs typeface="+mn-cs"/>
            </a:endParaRPr>
          </a:p>
        </p:txBody>
      </p:sp>
      <p:cxnSp>
        <p:nvCxnSpPr>
          <p:cNvPr id="32" name="Straight Arrow Connector 31">
            <a:extLst>
              <a:ext uri="{FF2B5EF4-FFF2-40B4-BE49-F238E27FC236}">
                <a16:creationId xmlns:a16="http://schemas.microsoft.com/office/drawing/2014/main" id="{A4E03051-9D48-5FDC-094D-FB58C9271ABF}"/>
              </a:ext>
            </a:extLst>
          </p:cNvPr>
          <p:cNvCxnSpPr>
            <a:cxnSpLocks/>
            <a:endCxn id="21" idx="0"/>
          </p:cNvCxnSpPr>
          <p:nvPr/>
        </p:nvCxnSpPr>
        <p:spPr>
          <a:xfrm>
            <a:off x="8317640" y="2754360"/>
            <a:ext cx="0" cy="153443"/>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1F103DAD-F88D-C689-0560-1048D6540892}"/>
              </a:ext>
            </a:extLst>
          </p:cNvPr>
          <p:cNvCxnSpPr>
            <a:cxnSpLocks/>
          </p:cNvCxnSpPr>
          <p:nvPr/>
        </p:nvCxnSpPr>
        <p:spPr>
          <a:xfrm>
            <a:off x="7374721" y="3212246"/>
            <a:ext cx="166932" cy="0"/>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pic>
        <p:nvPicPr>
          <p:cNvPr id="38" name="Picture 37">
            <a:extLst>
              <a:ext uri="{FF2B5EF4-FFF2-40B4-BE49-F238E27FC236}">
                <a16:creationId xmlns:a16="http://schemas.microsoft.com/office/drawing/2014/main" id="{25007BA2-CC06-443B-4754-6AF462511875}"/>
              </a:ext>
            </a:extLst>
          </p:cNvPr>
          <p:cNvPicPr>
            <a:picLocks noChangeAspect="1"/>
          </p:cNvPicPr>
          <p:nvPr/>
        </p:nvPicPr>
        <p:blipFill rotWithShape="1">
          <a:blip r:embed="rId3"/>
          <a:srcRect l="4593" t="3013" r="6533" b="2930"/>
          <a:stretch/>
        </p:blipFill>
        <p:spPr>
          <a:xfrm>
            <a:off x="9261650" y="1329017"/>
            <a:ext cx="2739152" cy="2322990"/>
          </a:xfrm>
          <a:prstGeom prst="rect">
            <a:avLst/>
          </a:prstGeom>
          <a:ln>
            <a:noFill/>
          </a:ln>
          <a:effectLst/>
        </p:spPr>
      </p:pic>
      <p:sp>
        <p:nvSpPr>
          <p:cNvPr id="40" name="TextBox 39">
            <a:extLst>
              <a:ext uri="{FF2B5EF4-FFF2-40B4-BE49-F238E27FC236}">
                <a16:creationId xmlns:a16="http://schemas.microsoft.com/office/drawing/2014/main" id="{D29CCD2A-4CC6-EEA5-9A6A-955233B927D9}"/>
              </a:ext>
            </a:extLst>
          </p:cNvPr>
          <p:cNvSpPr txBox="1"/>
          <p:nvPr/>
        </p:nvSpPr>
        <p:spPr>
          <a:xfrm>
            <a:off x="5692114" y="1106683"/>
            <a:ext cx="3495488" cy="1661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200" kern="1200" dirty="0">
                <a:solidFill>
                  <a:schemeClr val="tx2"/>
                </a:solidFill>
                <a:latin typeface="+mn-lt"/>
                <a:ea typeface="+mn-ea"/>
                <a:cs typeface="+mn-cs"/>
              </a:rPr>
              <a:t>Command-line workflow</a:t>
            </a:r>
          </a:p>
        </p:txBody>
      </p:sp>
      <p:sp>
        <p:nvSpPr>
          <p:cNvPr id="41" name="TextBox 40">
            <a:extLst>
              <a:ext uri="{FF2B5EF4-FFF2-40B4-BE49-F238E27FC236}">
                <a16:creationId xmlns:a16="http://schemas.microsoft.com/office/drawing/2014/main" id="{1C9B552F-3785-CAA9-39C7-A3898D83FEC4}"/>
              </a:ext>
            </a:extLst>
          </p:cNvPr>
          <p:cNvSpPr txBox="1"/>
          <p:nvPr/>
        </p:nvSpPr>
        <p:spPr>
          <a:xfrm>
            <a:off x="9261650" y="1129268"/>
            <a:ext cx="2739152" cy="1661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200" kern="1200" dirty="0">
                <a:solidFill>
                  <a:schemeClr val="tx2"/>
                </a:solidFill>
                <a:latin typeface="+mn-lt"/>
                <a:ea typeface="+mn-ea"/>
                <a:cs typeface="+mn-cs"/>
              </a:rPr>
              <a:t>Visual Studio Code IDE</a:t>
            </a:r>
          </a:p>
        </p:txBody>
      </p:sp>
      <p:sp>
        <p:nvSpPr>
          <p:cNvPr id="43" name="Rectangle 42">
            <a:extLst>
              <a:ext uri="{FF2B5EF4-FFF2-40B4-BE49-F238E27FC236}">
                <a16:creationId xmlns:a16="http://schemas.microsoft.com/office/drawing/2014/main" id="{09B0557C-D707-4E44-95E3-5058511F96A1}"/>
              </a:ext>
            </a:extLst>
          </p:cNvPr>
          <p:cNvSpPr/>
          <p:nvPr/>
        </p:nvSpPr>
        <p:spPr>
          <a:xfrm>
            <a:off x="5692114" y="3866880"/>
            <a:ext cx="3842402" cy="240383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a:solidFill>
                  <a:schemeClr val="tx2"/>
                </a:solidFill>
              </a:rPr>
              <a:t>Arm Virtual Hardware</a:t>
            </a:r>
          </a:p>
        </p:txBody>
      </p:sp>
      <p:sp>
        <p:nvSpPr>
          <p:cNvPr id="65" name="Rectangle 64">
            <a:extLst>
              <a:ext uri="{FF2B5EF4-FFF2-40B4-BE49-F238E27FC236}">
                <a16:creationId xmlns:a16="http://schemas.microsoft.com/office/drawing/2014/main" id="{81896547-BB5E-CA8D-4D4A-9EFCF2592120}"/>
              </a:ext>
            </a:extLst>
          </p:cNvPr>
          <p:cNvSpPr/>
          <p:nvPr/>
        </p:nvSpPr>
        <p:spPr>
          <a:xfrm>
            <a:off x="5867927" y="4325875"/>
            <a:ext cx="1706002" cy="5214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3340"/>
            <a:r>
              <a:rPr lang="en-US" sz="1400">
                <a:solidFill>
                  <a:schemeClr val="bg1"/>
                </a:solidFill>
              </a:rPr>
              <a:t>Cortex-M0..M85</a:t>
            </a:r>
          </a:p>
          <a:p>
            <a:pPr marL="231775" indent="-115888" defTabSz="453340">
              <a:buFont typeface="Arial" panose="020B0604020202020204" pitchFamily="34" charset="0"/>
              <a:buChar char="•"/>
            </a:pPr>
            <a:r>
              <a:rPr lang="en-US" sz="1200">
                <a:solidFill>
                  <a:schemeClr val="bg1"/>
                </a:solidFill>
              </a:rPr>
              <a:t>SIMD, Helium </a:t>
            </a:r>
          </a:p>
        </p:txBody>
      </p:sp>
      <p:sp>
        <p:nvSpPr>
          <p:cNvPr id="67" name="Rectangle 66">
            <a:extLst>
              <a:ext uri="{FF2B5EF4-FFF2-40B4-BE49-F238E27FC236}">
                <a16:creationId xmlns:a16="http://schemas.microsoft.com/office/drawing/2014/main" id="{E2E3DF28-A1A6-6305-97DB-F799631D0610}"/>
              </a:ext>
            </a:extLst>
          </p:cNvPr>
          <p:cNvSpPr/>
          <p:nvPr/>
        </p:nvSpPr>
        <p:spPr>
          <a:xfrm>
            <a:off x="5867927" y="4958921"/>
            <a:ext cx="1706002" cy="52148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3340"/>
            <a:r>
              <a:rPr lang="en-US" sz="1400">
                <a:solidFill>
                  <a:schemeClr val="tx2"/>
                </a:solidFill>
              </a:rPr>
              <a:t>Memory</a:t>
            </a:r>
          </a:p>
          <a:p>
            <a:pPr marL="231775" indent="-115888" defTabSz="453340">
              <a:buFont typeface="Arial" panose="020B0604020202020204" pitchFamily="34" charset="0"/>
              <a:buChar char="•"/>
            </a:pPr>
            <a:r>
              <a:rPr lang="en-US" sz="1200">
                <a:solidFill>
                  <a:schemeClr val="tx2"/>
                </a:solidFill>
              </a:rPr>
              <a:t>DMA</a:t>
            </a:r>
          </a:p>
        </p:txBody>
      </p:sp>
      <p:sp>
        <p:nvSpPr>
          <p:cNvPr id="69" name="Rectangle 68">
            <a:extLst>
              <a:ext uri="{FF2B5EF4-FFF2-40B4-BE49-F238E27FC236}">
                <a16:creationId xmlns:a16="http://schemas.microsoft.com/office/drawing/2014/main" id="{7DF27632-3C7A-D653-1B6E-7440E5BF2BE6}"/>
              </a:ext>
            </a:extLst>
          </p:cNvPr>
          <p:cNvSpPr/>
          <p:nvPr/>
        </p:nvSpPr>
        <p:spPr>
          <a:xfrm>
            <a:off x="5867927" y="5591967"/>
            <a:ext cx="1706002" cy="52148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3340"/>
            <a:r>
              <a:rPr lang="en-US" sz="1400">
                <a:solidFill>
                  <a:schemeClr val="tx2"/>
                </a:solidFill>
              </a:rPr>
              <a:t>Virtual I/O</a:t>
            </a:r>
          </a:p>
          <a:p>
            <a:pPr marL="231775" indent="-115888" defTabSz="453340">
              <a:buFont typeface="Arial" panose="020B0604020202020204" pitchFamily="34" charset="0"/>
              <a:buChar char="•"/>
            </a:pPr>
            <a:r>
              <a:rPr lang="en-US" sz="1200">
                <a:solidFill>
                  <a:schemeClr val="tx2"/>
                </a:solidFill>
              </a:rPr>
              <a:t>Data Streaming</a:t>
            </a:r>
          </a:p>
        </p:txBody>
      </p:sp>
      <p:sp>
        <p:nvSpPr>
          <p:cNvPr id="70" name="Rectangle 69">
            <a:extLst>
              <a:ext uri="{FF2B5EF4-FFF2-40B4-BE49-F238E27FC236}">
                <a16:creationId xmlns:a16="http://schemas.microsoft.com/office/drawing/2014/main" id="{C511E38A-C283-2CBA-6466-0F152FC77A86}"/>
              </a:ext>
            </a:extLst>
          </p:cNvPr>
          <p:cNvSpPr/>
          <p:nvPr/>
        </p:nvSpPr>
        <p:spPr>
          <a:xfrm>
            <a:off x="7677199" y="4325875"/>
            <a:ext cx="1706002" cy="5214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3340"/>
            <a:r>
              <a:rPr lang="en-US" sz="1400">
                <a:solidFill>
                  <a:schemeClr val="bg1"/>
                </a:solidFill>
              </a:rPr>
              <a:t>Ethos-U55/U65</a:t>
            </a:r>
          </a:p>
          <a:p>
            <a:pPr marL="231775" indent="-115888" defTabSz="453340">
              <a:buFont typeface="Arial" panose="020B0604020202020204" pitchFamily="34" charset="0"/>
              <a:buChar char="•"/>
            </a:pPr>
            <a:r>
              <a:rPr lang="en-US" sz="1200" err="1">
                <a:solidFill>
                  <a:schemeClr val="bg1"/>
                </a:solidFill>
              </a:rPr>
              <a:t>microNPU</a:t>
            </a:r>
            <a:endParaRPr lang="en-US" sz="1200">
              <a:solidFill>
                <a:schemeClr val="bg1"/>
              </a:solidFill>
            </a:endParaRPr>
          </a:p>
        </p:txBody>
      </p:sp>
      <p:sp>
        <p:nvSpPr>
          <p:cNvPr id="71" name="Rectangle 70">
            <a:extLst>
              <a:ext uri="{FF2B5EF4-FFF2-40B4-BE49-F238E27FC236}">
                <a16:creationId xmlns:a16="http://schemas.microsoft.com/office/drawing/2014/main" id="{6FC4872D-3D09-5083-BD4B-F38FF460F030}"/>
              </a:ext>
            </a:extLst>
          </p:cNvPr>
          <p:cNvSpPr/>
          <p:nvPr/>
        </p:nvSpPr>
        <p:spPr>
          <a:xfrm>
            <a:off x="7677199" y="4958921"/>
            <a:ext cx="1706002" cy="52148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3340"/>
            <a:r>
              <a:rPr lang="en-US" sz="1400">
                <a:solidFill>
                  <a:schemeClr val="tx2"/>
                </a:solidFill>
              </a:rPr>
              <a:t>Peripherals</a:t>
            </a:r>
          </a:p>
          <a:p>
            <a:pPr marL="231775" indent="-115888" defTabSz="453340">
              <a:buFont typeface="Arial" panose="020B0604020202020204" pitchFamily="34" charset="0"/>
              <a:buChar char="•"/>
            </a:pPr>
            <a:r>
              <a:rPr lang="en-US" sz="1200">
                <a:solidFill>
                  <a:schemeClr val="tx2"/>
                </a:solidFill>
              </a:rPr>
              <a:t>Ethernet, UART,…</a:t>
            </a:r>
          </a:p>
        </p:txBody>
      </p:sp>
      <p:sp>
        <p:nvSpPr>
          <p:cNvPr id="72" name="Rectangle 71">
            <a:extLst>
              <a:ext uri="{FF2B5EF4-FFF2-40B4-BE49-F238E27FC236}">
                <a16:creationId xmlns:a16="http://schemas.microsoft.com/office/drawing/2014/main" id="{C7BC18F8-188C-3F99-6F13-A267C4CE57DE}"/>
              </a:ext>
            </a:extLst>
          </p:cNvPr>
          <p:cNvSpPr/>
          <p:nvPr/>
        </p:nvSpPr>
        <p:spPr>
          <a:xfrm>
            <a:off x="7677199" y="5591967"/>
            <a:ext cx="1706002" cy="52148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3340"/>
            <a:r>
              <a:rPr lang="en-US" sz="1400">
                <a:solidFill>
                  <a:schemeClr val="tx2"/>
                </a:solidFill>
              </a:rPr>
              <a:t>Debug Interface</a:t>
            </a:r>
          </a:p>
          <a:p>
            <a:pPr marL="231775" indent="-115888" defTabSz="453340">
              <a:buFont typeface="Arial" panose="020B0604020202020204" pitchFamily="34" charset="0"/>
              <a:buChar char="•"/>
            </a:pPr>
            <a:r>
              <a:rPr lang="en-US" sz="1200">
                <a:solidFill>
                  <a:schemeClr val="tx2"/>
                </a:solidFill>
              </a:rPr>
              <a:t>Event Recorder</a:t>
            </a:r>
          </a:p>
        </p:txBody>
      </p:sp>
      <p:sp>
        <p:nvSpPr>
          <p:cNvPr id="77" name="Rectangle 76">
            <a:extLst>
              <a:ext uri="{FF2B5EF4-FFF2-40B4-BE49-F238E27FC236}">
                <a16:creationId xmlns:a16="http://schemas.microsoft.com/office/drawing/2014/main" id="{BF9C1E6A-991B-CCF8-E003-7F9173181D68}"/>
              </a:ext>
            </a:extLst>
          </p:cNvPr>
          <p:cNvSpPr/>
          <p:nvPr/>
        </p:nvSpPr>
        <p:spPr>
          <a:xfrm>
            <a:off x="9692640" y="3866880"/>
            <a:ext cx="2019935" cy="240383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solidFill>
                <a:schemeClr val="tx2"/>
              </a:solidFill>
            </a:endParaRPr>
          </a:p>
        </p:txBody>
      </p:sp>
      <p:sp>
        <p:nvSpPr>
          <p:cNvPr id="78" name="Rectangle 77">
            <a:extLst>
              <a:ext uri="{FF2B5EF4-FFF2-40B4-BE49-F238E27FC236}">
                <a16:creationId xmlns:a16="http://schemas.microsoft.com/office/drawing/2014/main" id="{E11E78D1-520F-DB7B-3A0E-E9F68C5DEB56}"/>
              </a:ext>
            </a:extLst>
          </p:cNvPr>
          <p:cNvSpPr/>
          <p:nvPr/>
        </p:nvSpPr>
        <p:spPr>
          <a:xfrm>
            <a:off x="9846650" y="4026779"/>
            <a:ext cx="1711914" cy="97873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216000" bIns="46800" rtlCol="0" anchor="ctr"/>
          <a:lstStyle/>
          <a:p>
            <a:pPr defTabSz="453340"/>
            <a:r>
              <a:rPr lang="en-US" sz="1600">
                <a:solidFill>
                  <a:schemeClr val="bg1"/>
                </a:solidFill>
              </a:rPr>
              <a:t>Resources</a:t>
            </a:r>
            <a:endParaRPr lang="en-US" sz="1400">
              <a:solidFill>
                <a:schemeClr val="bg1"/>
              </a:solidFill>
            </a:endParaRPr>
          </a:p>
          <a:p>
            <a:pPr marL="231775" indent="-115888" defTabSz="453340">
              <a:buFont typeface="Arial" panose="020B0604020202020204" pitchFamily="34" charset="0"/>
              <a:buChar char="•"/>
            </a:pPr>
            <a:r>
              <a:rPr lang="en-US" sz="1200" err="1">
                <a:solidFill>
                  <a:schemeClr val="bg1"/>
                </a:solidFill>
              </a:rPr>
              <a:t>microNPU</a:t>
            </a:r>
            <a:endParaRPr lang="en-US" sz="1200">
              <a:solidFill>
                <a:schemeClr val="bg1"/>
              </a:solidFill>
            </a:endParaRPr>
          </a:p>
          <a:p>
            <a:pPr marL="231775" indent="-115888" defTabSz="453340">
              <a:buFont typeface="Arial" panose="020B0604020202020204" pitchFamily="34" charset="0"/>
              <a:buChar char="•"/>
            </a:pPr>
            <a:r>
              <a:rPr lang="en-US" sz="1200">
                <a:solidFill>
                  <a:schemeClr val="bg1"/>
                </a:solidFill>
              </a:rPr>
              <a:t>Test scripts</a:t>
            </a:r>
          </a:p>
          <a:p>
            <a:pPr marL="231775" indent="-115888" defTabSz="453340">
              <a:buFont typeface="Arial" panose="020B0604020202020204" pitchFamily="34" charset="0"/>
              <a:buChar char="•"/>
            </a:pPr>
            <a:r>
              <a:rPr lang="en-US" sz="1200">
                <a:solidFill>
                  <a:schemeClr val="bg1"/>
                </a:solidFill>
              </a:rPr>
              <a:t>CI/CD integration</a:t>
            </a:r>
          </a:p>
          <a:p>
            <a:pPr defTabSz="453340"/>
            <a:endParaRPr lang="en-US" sz="1200">
              <a:solidFill>
                <a:schemeClr val="tx2"/>
              </a:solidFill>
            </a:endParaRPr>
          </a:p>
        </p:txBody>
      </p:sp>
      <p:sp>
        <p:nvSpPr>
          <p:cNvPr id="82" name="Rectangle 81">
            <a:extLst>
              <a:ext uri="{FF2B5EF4-FFF2-40B4-BE49-F238E27FC236}">
                <a16:creationId xmlns:a16="http://schemas.microsoft.com/office/drawing/2014/main" id="{481DAEC7-27F4-9C94-1553-7F00779446C3}"/>
              </a:ext>
            </a:extLst>
          </p:cNvPr>
          <p:cNvSpPr/>
          <p:nvPr/>
        </p:nvSpPr>
        <p:spPr>
          <a:xfrm>
            <a:off x="9846650" y="5134719"/>
            <a:ext cx="1711914" cy="97873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216000" bIns="46800" rtlCol="0" anchor="ctr"/>
          <a:lstStyle/>
          <a:p>
            <a:pPr defTabSz="453340">
              <a:lnSpc>
                <a:spcPct val="150000"/>
              </a:lnSpc>
            </a:pPr>
            <a:r>
              <a:rPr lang="en-US" sz="1600">
                <a:solidFill>
                  <a:schemeClr val="bg1"/>
                </a:solidFill>
              </a:rPr>
              <a:t>Integrations</a:t>
            </a:r>
            <a:endParaRPr lang="en-US" sz="1400">
              <a:solidFill>
                <a:schemeClr val="bg1"/>
              </a:solidFill>
            </a:endParaRPr>
          </a:p>
          <a:p>
            <a:pPr marL="231775" indent="-115888" defTabSz="453340">
              <a:buFont typeface="Arial" panose="020B0604020202020204" pitchFamily="34" charset="0"/>
              <a:buChar char="•"/>
            </a:pPr>
            <a:r>
              <a:rPr lang="en-US" sz="1200">
                <a:solidFill>
                  <a:schemeClr val="bg1"/>
                </a:solidFill>
              </a:rPr>
              <a:t>Cloud Service</a:t>
            </a:r>
          </a:p>
          <a:p>
            <a:pPr marL="231775" indent="-115888" defTabSz="453340">
              <a:buFont typeface="Arial" panose="020B0604020202020204" pitchFamily="34" charset="0"/>
              <a:buChar char="•"/>
            </a:pPr>
            <a:r>
              <a:rPr lang="en-US" sz="1200">
                <a:solidFill>
                  <a:schemeClr val="bg1"/>
                </a:solidFill>
              </a:rPr>
              <a:t>GitHub</a:t>
            </a:r>
          </a:p>
          <a:p>
            <a:pPr marL="231775" indent="-115888" defTabSz="453340">
              <a:buFont typeface="Arial" panose="020B0604020202020204" pitchFamily="34" charset="0"/>
              <a:buChar char="•"/>
            </a:pPr>
            <a:r>
              <a:rPr lang="en-US" sz="1200">
                <a:solidFill>
                  <a:schemeClr val="bg1"/>
                </a:solidFill>
              </a:rPr>
              <a:t>Desktop tools</a:t>
            </a:r>
          </a:p>
          <a:p>
            <a:pPr defTabSz="453340"/>
            <a:endParaRPr lang="en-US" sz="1200">
              <a:solidFill>
                <a:schemeClr val="tx2"/>
              </a:solidFill>
            </a:endParaRPr>
          </a:p>
        </p:txBody>
      </p:sp>
      <p:sp>
        <p:nvSpPr>
          <p:cNvPr id="5" name="Flowchart: Multidocument 4">
            <a:extLst>
              <a:ext uri="{FF2B5EF4-FFF2-40B4-BE49-F238E27FC236}">
                <a16:creationId xmlns:a16="http://schemas.microsoft.com/office/drawing/2014/main" id="{844DE146-1BA2-638D-92E9-04D7153AA5BE}"/>
              </a:ext>
            </a:extLst>
          </p:cNvPr>
          <p:cNvSpPr/>
          <p:nvPr/>
        </p:nvSpPr>
        <p:spPr>
          <a:xfrm>
            <a:off x="5958399" y="2551259"/>
            <a:ext cx="1294600" cy="886602"/>
          </a:xfrm>
          <a:prstGeom prst="flowChartMultidocument">
            <a:avLst/>
          </a:prstGeom>
          <a:solidFill>
            <a:schemeClr val="bg1"/>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E5ECEB">
                    <a:lumMod val="25000"/>
                  </a:srgbClr>
                </a:solidFill>
                <a:effectLst/>
                <a:uLnTx/>
                <a:uFillTx/>
                <a:latin typeface="Calibri"/>
                <a:ea typeface="+mn-ea"/>
                <a:cs typeface="+mn-cs"/>
              </a:rPr>
              <a:t>*.</a:t>
            </a:r>
            <a:r>
              <a:rPr kumimoji="0" lang="en-US" sz="1200" b="0" i="0" u="none" strike="noStrike" kern="1200" cap="none" spc="0" normalizeH="0" baseline="0" noProof="0" dirty="0" err="1">
                <a:ln>
                  <a:noFill/>
                </a:ln>
                <a:solidFill>
                  <a:srgbClr val="E5ECEB">
                    <a:lumMod val="25000"/>
                  </a:srgbClr>
                </a:solidFill>
                <a:effectLst/>
                <a:uLnTx/>
                <a:uFillTx/>
                <a:latin typeface="Calibri"/>
                <a:ea typeface="+mn-ea"/>
                <a:cs typeface="+mn-cs"/>
              </a:rPr>
              <a:t>cproject.yml</a:t>
            </a:r>
            <a:br>
              <a:rPr kumimoji="0" lang="en-US" sz="18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000" b="0" i="0" u="none" strike="noStrike" kern="1200" cap="none" spc="0" normalizeH="0" baseline="0" noProof="0" dirty="0">
                <a:ln>
                  <a:noFill/>
                </a:ln>
                <a:solidFill>
                  <a:srgbClr val="E5ECEB">
                    <a:lumMod val="25000"/>
                  </a:srgbClr>
                </a:solidFill>
                <a:effectLst/>
                <a:uLnTx/>
                <a:uFillTx/>
                <a:latin typeface="Calibri"/>
                <a:ea typeface="+mn-ea"/>
                <a:cs typeface="+mn-cs"/>
              </a:rPr>
              <a:t>source files and </a:t>
            </a:r>
            <a:br>
              <a:rPr kumimoji="0" lang="en-US" sz="10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000" b="0" i="0" u="none" strike="noStrike" kern="1200" cap="none" spc="0" normalizeH="0" baseline="0" noProof="0" dirty="0">
                <a:ln>
                  <a:noFill/>
                </a:ln>
                <a:solidFill>
                  <a:srgbClr val="E5ECEB">
                    <a:lumMod val="25000"/>
                  </a:srgbClr>
                </a:solidFill>
                <a:effectLst/>
                <a:uLnTx/>
                <a:uFillTx/>
                <a:latin typeface="Calibri"/>
                <a:ea typeface="+mn-ea"/>
                <a:cs typeface="+mn-cs"/>
              </a:rPr>
              <a:t>SW components</a:t>
            </a:r>
            <a:endParaRPr kumimoji="0" lang="en-GB" sz="1000" b="0" i="0" u="none" strike="noStrike" kern="1200" cap="none" spc="0" normalizeH="0" baseline="0" noProof="0" dirty="0">
              <a:ln>
                <a:noFill/>
              </a:ln>
              <a:solidFill>
                <a:srgbClr val="E5ECEB">
                  <a:lumMod val="25000"/>
                </a:srgbClr>
              </a:solidFill>
              <a:effectLst/>
              <a:uLnTx/>
              <a:uFillTx/>
              <a:latin typeface="Calibri"/>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7" name="Flowchart: Multidocument 6">
            <a:extLst>
              <a:ext uri="{FF2B5EF4-FFF2-40B4-BE49-F238E27FC236}">
                <a16:creationId xmlns:a16="http://schemas.microsoft.com/office/drawing/2014/main" id="{87679857-361C-EAF2-9C0D-ACC337EEA45E}"/>
              </a:ext>
            </a:extLst>
          </p:cNvPr>
          <p:cNvSpPr/>
          <p:nvPr/>
        </p:nvSpPr>
        <p:spPr>
          <a:xfrm>
            <a:off x="7677199" y="1785554"/>
            <a:ext cx="1324125" cy="817934"/>
          </a:xfrm>
          <a:prstGeom prst="flowChartMultidocument">
            <a:avLst/>
          </a:prstGeom>
          <a:solidFill>
            <a:schemeClr val="bg1"/>
          </a:solidFill>
          <a:ln w="952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chemeClr val="bg2">
                    <a:lumMod val="25000"/>
                  </a:schemeClr>
                </a:solidFill>
                <a:effectLst/>
                <a:uLnTx/>
                <a:uFillTx/>
                <a:latin typeface="Calibri"/>
                <a:ea typeface="+mn-ea"/>
                <a:cs typeface="+mn-cs"/>
              </a:rPr>
              <a:t>Device/</a:t>
            </a:r>
            <a:r>
              <a:rPr lang="en-US" sz="1100" dirty="0">
                <a:solidFill>
                  <a:schemeClr val="bg2">
                    <a:lumMod val="25000"/>
                  </a:schemeClr>
                </a:solidFill>
                <a:latin typeface="Calibri"/>
              </a:rPr>
              <a:t>Board</a:t>
            </a:r>
            <a:br>
              <a:rPr lang="en-US" sz="1100" dirty="0">
                <a:solidFill>
                  <a:schemeClr val="bg2">
                    <a:lumMod val="25000"/>
                  </a:schemeClr>
                </a:solidFill>
                <a:latin typeface="Calibri"/>
              </a:rPr>
            </a:br>
            <a:r>
              <a:rPr lang="en-US" sz="1100" dirty="0">
                <a:solidFill>
                  <a:schemeClr val="bg2">
                    <a:lumMod val="25000"/>
                  </a:schemeClr>
                </a:solidFill>
                <a:latin typeface="Calibri"/>
              </a:rPr>
              <a:t>Generic </a:t>
            </a:r>
            <a:r>
              <a:rPr kumimoji="0" lang="en-US" sz="1100" b="0" i="0" u="none" strike="noStrike" kern="1200" cap="none" spc="0" normalizeH="0" baseline="0" noProof="0" dirty="0">
                <a:ln>
                  <a:noFill/>
                </a:ln>
                <a:solidFill>
                  <a:schemeClr val="bg2">
                    <a:lumMod val="25000"/>
                  </a:schemeClr>
                </a:solidFill>
                <a:effectLst/>
                <a:uLnTx/>
                <a:uFillTx/>
                <a:latin typeface="Calibri"/>
                <a:ea typeface="+mn-ea"/>
                <a:cs typeface="+mn-cs"/>
              </a:rPr>
              <a:t>Software</a:t>
            </a:r>
            <a:br>
              <a:rPr kumimoji="0" lang="en-US" sz="1100" b="0" i="0" u="none" strike="noStrike" kern="1200" cap="none" spc="0" normalizeH="0" baseline="0" noProof="0" dirty="0">
                <a:ln>
                  <a:noFill/>
                </a:ln>
                <a:solidFill>
                  <a:schemeClr val="bg2">
                    <a:lumMod val="25000"/>
                  </a:schemeClr>
                </a:solidFill>
                <a:effectLst/>
                <a:uLnTx/>
                <a:uFillTx/>
                <a:latin typeface="Calibri"/>
                <a:ea typeface="+mn-ea"/>
                <a:cs typeface="+mn-cs"/>
              </a:rPr>
            </a:br>
            <a:endParaRPr kumimoji="0" lang="en-US" sz="5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4" name="Flowchart: Document 13">
            <a:extLst>
              <a:ext uri="{FF2B5EF4-FFF2-40B4-BE49-F238E27FC236}">
                <a16:creationId xmlns:a16="http://schemas.microsoft.com/office/drawing/2014/main" id="{38BE52EA-280B-2318-A777-D46E816B79CA}"/>
              </a:ext>
            </a:extLst>
          </p:cNvPr>
          <p:cNvSpPr/>
          <p:nvPr/>
        </p:nvSpPr>
        <p:spPr>
          <a:xfrm>
            <a:off x="5939059" y="1731898"/>
            <a:ext cx="1294600" cy="707803"/>
          </a:xfrm>
          <a:prstGeom prst="flowChartDocument">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E5ECEB">
                    <a:lumMod val="25000"/>
                  </a:srgbClr>
                </a:solidFill>
                <a:effectLst/>
                <a:uLnTx/>
                <a:uFillTx/>
                <a:latin typeface="Calibri"/>
                <a:ea typeface="+mn-ea"/>
                <a:cs typeface="+mn-cs"/>
              </a:rPr>
              <a:t>*.</a:t>
            </a:r>
            <a:r>
              <a:rPr kumimoji="0" lang="en-US" sz="1200" b="0" i="0" u="none" strike="noStrike" kern="1200" cap="none" spc="0" normalizeH="0" baseline="0" noProof="0" dirty="0" err="1">
                <a:ln>
                  <a:noFill/>
                </a:ln>
                <a:solidFill>
                  <a:srgbClr val="E5ECEB">
                    <a:lumMod val="25000"/>
                  </a:srgbClr>
                </a:solidFill>
                <a:effectLst/>
                <a:uLnTx/>
                <a:uFillTx/>
                <a:latin typeface="Calibri"/>
                <a:ea typeface="+mn-ea"/>
                <a:cs typeface="+mn-cs"/>
              </a:rPr>
              <a:t>csolution.yml</a:t>
            </a:r>
            <a:br>
              <a:rPr kumimoji="0" lang="en-US" sz="28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000" b="0" i="0" u="none" strike="noStrike" kern="1200" cap="none" spc="0" normalizeH="0" baseline="0" noProof="0" dirty="0">
                <a:ln>
                  <a:noFill/>
                </a:ln>
                <a:solidFill>
                  <a:srgbClr val="E5ECEB">
                    <a:lumMod val="25000"/>
                  </a:srgbClr>
                </a:solidFill>
                <a:effectLst/>
                <a:uLnTx/>
                <a:uFillTx/>
                <a:latin typeface="Calibri"/>
                <a:ea typeface="+mn-ea"/>
                <a:cs typeface="+mn-cs"/>
              </a:rPr>
              <a:t>Target and Build</a:t>
            </a:r>
            <a:br>
              <a:rPr kumimoji="0" lang="en-US" sz="10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000" b="0" i="0" u="none" strike="noStrike" kern="1200" cap="none" spc="0" normalizeH="0" baseline="0" noProof="0" dirty="0">
                <a:ln>
                  <a:noFill/>
                </a:ln>
                <a:solidFill>
                  <a:srgbClr val="E5ECEB">
                    <a:lumMod val="25000"/>
                  </a:srgbClr>
                </a:solidFill>
                <a:effectLst/>
                <a:uLnTx/>
                <a:uFillTx/>
                <a:latin typeface="Calibri"/>
                <a:ea typeface="+mn-ea"/>
                <a:cs typeface="+mn-cs"/>
              </a:rPr>
              <a:t>Parameters</a:t>
            </a:r>
            <a:endParaRPr kumimoji="0" lang="en-GB" sz="1000" b="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spTree>
    <p:extLst>
      <p:ext uri="{BB962C8B-B14F-4D97-AF65-F5344CB8AC3E}">
        <p14:creationId xmlns:p14="http://schemas.microsoft.com/office/powerpoint/2010/main" val="27695989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Multidocument 4">
            <a:extLst>
              <a:ext uri="{FF2B5EF4-FFF2-40B4-BE49-F238E27FC236}">
                <a16:creationId xmlns:a16="http://schemas.microsoft.com/office/drawing/2014/main" id="{844DE146-1BA2-638D-92E9-04D7153AA5BE}"/>
              </a:ext>
            </a:extLst>
          </p:cNvPr>
          <p:cNvSpPr/>
          <p:nvPr/>
        </p:nvSpPr>
        <p:spPr>
          <a:xfrm>
            <a:off x="1057354" y="3557651"/>
            <a:ext cx="1616706" cy="1160511"/>
          </a:xfrm>
          <a:prstGeom prst="flowChartMultidocument">
            <a:avLst/>
          </a:prstGeom>
          <a:solidFill>
            <a:schemeClr val="accent3">
              <a:lumMod val="60000"/>
              <a:lumOff val="40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t>*.cproject.yml</a:t>
            </a:r>
            <a:br>
              <a:rPr kumimoji="0" lang="en-US" sz="24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source files and </a:t>
            </a:r>
            <a:b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SW components</a:t>
            </a:r>
            <a:endParaRPr kumimoji="0" lang="en-GB" sz="1100" b="0" i="0" u="none" strike="noStrike" kern="1200" cap="none" spc="0" normalizeH="0" baseline="0" noProof="0" dirty="0">
              <a:ln>
                <a:noFill/>
              </a:ln>
              <a:solidFill>
                <a:srgbClr val="E5ECEB">
                  <a:lumMod val="25000"/>
                </a:srgbClr>
              </a:solidFill>
              <a:effectLst/>
              <a:uLnTx/>
              <a:uFillTx/>
              <a:latin typeface="Calibri"/>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899BAC2B-AFD4-6E3A-0720-D050DB27D7BF}"/>
              </a:ext>
            </a:extLst>
          </p:cNvPr>
          <p:cNvSpPr/>
          <p:nvPr/>
        </p:nvSpPr>
        <p:spPr>
          <a:xfrm>
            <a:off x="3070914" y="2100053"/>
            <a:ext cx="1927475" cy="16807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t>Software Packs</a:t>
            </a:r>
          </a:p>
        </p:txBody>
      </p:sp>
      <p:sp>
        <p:nvSpPr>
          <p:cNvPr id="7" name="Flowchart: Multidocument 6">
            <a:extLst>
              <a:ext uri="{FF2B5EF4-FFF2-40B4-BE49-F238E27FC236}">
                <a16:creationId xmlns:a16="http://schemas.microsoft.com/office/drawing/2014/main" id="{87679857-361C-EAF2-9C0D-ACC337EEA45E}"/>
              </a:ext>
            </a:extLst>
          </p:cNvPr>
          <p:cNvSpPr/>
          <p:nvPr/>
        </p:nvSpPr>
        <p:spPr>
          <a:xfrm>
            <a:off x="3216960" y="2443067"/>
            <a:ext cx="1653577" cy="1181703"/>
          </a:xfrm>
          <a:prstGeom prst="flowChartMultidocument">
            <a:avLst/>
          </a:prstGeom>
          <a:solidFill>
            <a:schemeClr val="bg1"/>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chemeClr val="bg2">
                    <a:lumMod val="25000"/>
                  </a:schemeClr>
                </a:solidFill>
                <a:effectLst/>
                <a:uLnTx/>
                <a:uFillTx/>
                <a:latin typeface="Calibri"/>
                <a:ea typeface="+mn-ea"/>
                <a:cs typeface="+mn-cs"/>
              </a:rPr>
              <a:t>Device/</a:t>
            </a:r>
            <a:r>
              <a:rPr lang="en-US" sz="1400" dirty="0">
                <a:solidFill>
                  <a:schemeClr val="bg2">
                    <a:lumMod val="25000"/>
                  </a:schemeClr>
                </a:solidFill>
                <a:latin typeface="Calibri"/>
              </a:rPr>
              <a:t>Board</a:t>
            </a:r>
            <a:br>
              <a:rPr lang="en-US" sz="1400" dirty="0">
                <a:solidFill>
                  <a:schemeClr val="bg2">
                    <a:lumMod val="25000"/>
                  </a:schemeClr>
                </a:solidFill>
                <a:latin typeface="Calibri"/>
              </a:rPr>
            </a:br>
            <a:r>
              <a:rPr lang="en-US" sz="1400" dirty="0">
                <a:solidFill>
                  <a:schemeClr val="bg2">
                    <a:lumMod val="25000"/>
                  </a:schemeClr>
                </a:solidFill>
                <a:latin typeface="Calibri"/>
              </a:rPr>
              <a:t>Generic </a:t>
            </a:r>
            <a:r>
              <a:rPr kumimoji="0" lang="en-US" sz="1400" b="0" i="0" u="none" strike="noStrike" kern="1200" cap="none" spc="0" normalizeH="0" baseline="0" noProof="0" dirty="0">
                <a:ln>
                  <a:noFill/>
                </a:ln>
                <a:solidFill>
                  <a:schemeClr val="bg2">
                    <a:lumMod val="25000"/>
                  </a:schemeClr>
                </a:solidFill>
                <a:effectLst/>
                <a:uLnTx/>
                <a:uFillTx/>
                <a:latin typeface="Calibri"/>
                <a:ea typeface="+mn-ea"/>
                <a:cs typeface="+mn-cs"/>
              </a:rPr>
              <a:t>Software</a:t>
            </a:r>
            <a:br>
              <a:rPr kumimoji="0" lang="en-US" sz="1100" b="0" i="0" u="none" strike="noStrike" kern="1200" cap="none" spc="0" normalizeH="0" baseline="0" noProof="0" dirty="0">
                <a:ln>
                  <a:noFill/>
                </a:ln>
                <a:solidFill>
                  <a:schemeClr val="bg2">
                    <a:lumMod val="25000"/>
                  </a:schemeClr>
                </a:solidFill>
                <a:effectLst/>
                <a:uLnTx/>
                <a:uFillTx/>
                <a:latin typeface="Calibri"/>
                <a:ea typeface="+mn-ea"/>
                <a:cs typeface="+mn-cs"/>
              </a:rPr>
            </a:br>
            <a:endParaRPr kumimoji="0" lang="en-US" sz="5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21" name="Rectangle 20">
            <a:extLst>
              <a:ext uri="{FF2B5EF4-FFF2-40B4-BE49-F238E27FC236}">
                <a16:creationId xmlns:a16="http://schemas.microsoft.com/office/drawing/2014/main" id="{8A9F90E5-92D0-5CB6-FB1E-0FDF39903545}"/>
              </a:ext>
            </a:extLst>
          </p:cNvPr>
          <p:cNvSpPr/>
          <p:nvPr/>
        </p:nvSpPr>
        <p:spPr>
          <a:xfrm>
            <a:off x="3070914" y="4057564"/>
            <a:ext cx="1938116" cy="8796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b="1" i="0" u="none" strike="noStrike" kern="1200" cap="none" spc="0" normalizeH="0" baseline="0" noProof="0" dirty="0">
                <a:ln>
                  <a:noFill/>
                </a:ln>
                <a:solidFill>
                  <a:schemeClr val="tx2"/>
                </a:solidFill>
                <a:effectLst/>
                <a:uLnTx/>
                <a:uFillTx/>
                <a:latin typeface="Calibri"/>
                <a:ea typeface="+mn-ea"/>
                <a:cs typeface="+mn-cs"/>
              </a:rPr>
              <a:t>CMSIS-Toolbox</a:t>
            </a:r>
          </a:p>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err="1">
                <a:solidFill>
                  <a:schemeClr val="tx2"/>
                </a:solidFill>
                <a:latin typeface="Calibri"/>
              </a:rPr>
              <a:t>cbuild</a:t>
            </a:r>
            <a:r>
              <a:rPr lang="en-US" sz="1200" dirty="0">
                <a:solidFill>
                  <a:schemeClr val="tx2"/>
                </a:solidFill>
                <a:latin typeface="Calibri"/>
              </a:rPr>
              <a:t>: Build Invocation</a:t>
            </a:r>
            <a:endParaRPr kumimoji="0" lang="en-GB" sz="1200" b="0" i="0" u="none" strike="noStrike" kern="1200" cap="none" spc="0" normalizeH="0" baseline="0" noProof="0" dirty="0">
              <a:ln>
                <a:noFill/>
              </a:ln>
              <a:solidFill>
                <a:schemeClr val="tx2"/>
              </a:solidFill>
              <a:effectLst/>
              <a:uLnTx/>
              <a:uFillTx/>
              <a:latin typeface="Calibri"/>
              <a:ea typeface="+mn-ea"/>
              <a:cs typeface="+mn-cs"/>
            </a:endParaRPr>
          </a:p>
        </p:txBody>
      </p:sp>
      <p:sp>
        <p:nvSpPr>
          <p:cNvPr id="2" name="Title 1">
            <a:extLst>
              <a:ext uri="{FF2B5EF4-FFF2-40B4-BE49-F238E27FC236}">
                <a16:creationId xmlns:a16="http://schemas.microsoft.com/office/drawing/2014/main" id="{66B49C65-9D93-0940-A2D2-FDC728ABEBFC}"/>
              </a:ext>
            </a:extLst>
          </p:cNvPr>
          <p:cNvSpPr>
            <a:spLocks noGrp="1"/>
          </p:cNvSpPr>
          <p:nvPr>
            <p:ph type="title"/>
          </p:nvPr>
        </p:nvSpPr>
        <p:spPr/>
        <p:txBody>
          <a:bodyPr/>
          <a:lstStyle/>
          <a:p>
            <a:r>
              <a:rPr lang="en-US" dirty="0">
                <a:ea typeface="ＭＳ Ｐゴシック"/>
              </a:rPr>
              <a:t>Developer require flexibility</a:t>
            </a:r>
            <a:endParaRPr lang="en-US" dirty="0"/>
          </a:p>
        </p:txBody>
      </p:sp>
      <p:sp>
        <p:nvSpPr>
          <p:cNvPr id="4" name="Text Placeholder 3">
            <a:extLst>
              <a:ext uri="{FF2B5EF4-FFF2-40B4-BE49-F238E27FC236}">
                <a16:creationId xmlns:a16="http://schemas.microsoft.com/office/drawing/2014/main" id="{1D95ED6B-E70E-4E8A-B831-B20E053FA899}"/>
              </a:ext>
            </a:extLst>
          </p:cNvPr>
          <p:cNvSpPr>
            <a:spLocks noGrp="1"/>
          </p:cNvSpPr>
          <p:nvPr>
            <p:ph type="body" sz="quarter" idx="13"/>
          </p:nvPr>
        </p:nvSpPr>
        <p:spPr>
          <a:xfrm>
            <a:off x="479425" y="999790"/>
            <a:ext cx="11233150" cy="344488"/>
          </a:xfrm>
        </p:spPr>
        <p:txBody>
          <a:bodyPr vert="horz" lIns="0" tIns="0" rIns="0" bIns="0" rtlCol="0" anchor="t">
            <a:noAutofit/>
          </a:bodyPr>
          <a:lstStyle/>
          <a:p>
            <a:r>
              <a:rPr lang="en-US" dirty="0">
                <a:ea typeface="ＭＳ Ｐゴシック"/>
              </a:rPr>
              <a:t>Command-Line and IDE Workflow  +  DevOps, MLOps, Config Tools, Git, …</a:t>
            </a:r>
            <a:endParaRPr lang="en-US" dirty="0"/>
          </a:p>
        </p:txBody>
      </p:sp>
      <p:sp>
        <p:nvSpPr>
          <p:cNvPr id="11" name="Content Placeholder 10">
            <a:extLst>
              <a:ext uri="{FF2B5EF4-FFF2-40B4-BE49-F238E27FC236}">
                <a16:creationId xmlns:a16="http://schemas.microsoft.com/office/drawing/2014/main" id="{8928667E-77F5-641E-BF49-8FB3A416151C}"/>
              </a:ext>
            </a:extLst>
          </p:cNvPr>
          <p:cNvSpPr>
            <a:spLocks noGrp="1"/>
          </p:cNvSpPr>
          <p:nvPr>
            <p:ph idx="1"/>
          </p:nvPr>
        </p:nvSpPr>
        <p:spPr>
          <a:xfrm>
            <a:off x="623267" y="5167142"/>
            <a:ext cx="4688320" cy="562993"/>
          </a:xfrm>
        </p:spPr>
        <p:txBody>
          <a:bodyPr/>
          <a:lstStyle/>
          <a:p>
            <a:pPr marL="285750" indent="-285750" algn="l"/>
            <a:r>
              <a:rPr lang="en-GB" sz="1600" dirty="0">
                <a:solidFill>
                  <a:schemeClr val="tx1">
                    <a:lumMod val="65000"/>
                    <a:lumOff val="35000"/>
                  </a:schemeClr>
                </a:solidFill>
              </a:rPr>
              <a:t>Host Support: Windows, Linux, Mac OS – and Cloud</a:t>
            </a:r>
          </a:p>
          <a:p>
            <a:pPr marL="285750" indent="-285750" algn="l"/>
            <a:r>
              <a:rPr lang="en-GB" sz="1600" dirty="0">
                <a:solidFill>
                  <a:schemeClr val="tx1">
                    <a:lumMod val="65000"/>
                    <a:lumOff val="35000"/>
                  </a:schemeClr>
                </a:solidFill>
              </a:rPr>
              <a:t>Compiler of choice: Arm Compiler 6, IAR, GCC, LLVM</a:t>
            </a:r>
            <a:endParaRPr lang="en-US" sz="1600" dirty="0"/>
          </a:p>
        </p:txBody>
      </p:sp>
      <p:sp>
        <p:nvSpPr>
          <p:cNvPr id="17" name="Rectangle 16">
            <a:extLst>
              <a:ext uri="{FF2B5EF4-FFF2-40B4-BE49-F238E27FC236}">
                <a16:creationId xmlns:a16="http://schemas.microsoft.com/office/drawing/2014/main" id="{54B5876B-51B0-2BDE-7A06-F5D84C84EFFB}"/>
              </a:ext>
            </a:extLst>
          </p:cNvPr>
          <p:cNvSpPr/>
          <p:nvPr/>
        </p:nvSpPr>
        <p:spPr>
          <a:xfrm>
            <a:off x="921702" y="2085139"/>
            <a:ext cx="1938116" cy="2843212"/>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lang="en-US" sz="1400" dirty="0">
                <a:solidFill>
                  <a:schemeClr val="tx2"/>
                </a:solidFill>
                <a:latin typeface="Calibri"/>
                <a:ea typeface="ＭＳ Ｐゴシック" panose="020B0600070205080204" pitchFamily="34" charset="-128"/>
              </a:rPr>
              <a:t>csolution project</a:t>
            </a:r>
            <a:endParaRPr kumimoji="0" lang="en-US" sz="1400" i="0" u="none" strike="noStrike" kern="1200" cap="none" spc="0" normalizeH="0" baseline="0" noProof="0" dirty="0">
              <a:ln>
                <a:noFill/>
              </a:ln>
              <a:solidFill>
                <a:schemeClr val="tx2"/>
              </a:solidFill>
              <a:effectLst/>
              <a:uLnTx/>
              <a:uFillTx/>
              <a:latin typeface="Calibri"/>
              <a:ea typeface="ＭＳ Ｐゴシック" panose="020B0600070205080204" pitchFamily="34" charset="-128"/>
              <a:cs typeface="+mn-cs"/>
            </a:endParaRPr>
          </a:p>
        </p:txBody>
      </p:sp>
      <p:cxnSp>
        <p:nvCxnSpPr>
          <p:cNvPr id="32" name="Straight Arrow Connector 31">
            <a:extLst>
              <a:ext uri="{FF2B5EF4-FFF2-40B4-BE49-F238E27FC236}">
                <a16:creationId xmlns:a16="http://schemas.microsoft.com/office/drawing/2014/main" id="{A4E03051-9D48-5FDC-094D-FB58C9271ABF}"/>
              </a:ext>
            </a:extLst>
          </p:cNvPr>
          <p:cNvCxnSpPr>
            <a:cxnSpLocks/>
            <a:stCxn id="18" idx="2"/>
            <a:endCxn id="21" idx="0"/>
          </p:cNvCxnSpPr>
          <p:nvPr/>
        </p:nvCxnSpPr>
        <p:spPr>
          <a:xfrm>
            <a:off x="4034652" y="3780797"/>
            <a:ext cx="5320" cy="276767"/>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1F103DAD-F88D-C689-0560-1048D6540892}"/>
              </a:ext>
            </a:extLst>
          </p:cNvPr>
          <p:cNvCxnSpPr>
            <a:cxnSpLocks/>
          </p:cNvCxnSpPr>
          <p:nvPr/>
        </p:nvCxnSpPr>
        <p:spPr>
          <a:xfrm>
            <a:off x="2862448" y="4494303"/>
            <a:ext cx="208466" cy="0"/>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D29CCD2A-4CC6-EEA5-9A6A-955233B927D9}"/>
              </a:ext>
            </a:extLst>
          </p:cNvPr>
          <p:cNvSpPr txBox="1"/>
          <p:nvPr/>
        </p:nvSpPr>
        <p:spPr>
          <a:xfrm>
            <a:off x="791069" y="1729835"/>
            <a:ext cx="4365190" cy="2215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600" kern="1200" dirty="0">
                <a:solidFill>
                  <a:schemeClr val="tx2"/>
                </a:solidFill>
                <a:latin typeface="+mn-lt"/>
                <a:ea typeface="+mn-ea"/>
                <a:cs typeface="+mn-cs"/>
              </a:rPr>
              <a:t>Command-line workflow</a:t>
            </a:r>
          </a:p>
        </p:txBody>
      </p:sp>
      <p:sp>
        <p:nvSpPr>
          <p:cNvPr id="41" name="TextBox 40">
            <a:extLst>
              <a:ext uri="{FF2B5EF4-FFF2-40B4-BE49-F238E27FC236}">
                <a16:creationId xmlns:a16="http://schemas.microsoft.com/office/drawing/2014/main" id="{1C9B552F-3785-CAA9-39C7-A3898D83FEC4}"/>
              </a:ext>
            </a:extLst>
          </p:cNvPr>
          <p:cNvSpPr txBox="1"/>
          <p:nvPr/>
        </p:nvSpPr>
        <p:spPr>
          <a:xfrm>
            <a:off x="6415257" y="1729834"/>
            <a:ext cx="3208060" cy="2215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600" kern="1200" dirty="0">
                <a:solidFill>
                  <a:schemeClr val="tx2"/>
                </a:solidFill>
                <a:latin typeface="+mn-lt"/>
                <a:ea typeface="+mn-ea"/>
                <a:cs typeface="+mn-cs"/>
              </a:rPr>
              <a:t>VS Code – CMSIS Solution Extension</a:t>
            </a:r>
          </a:p>
        </p:txBody>
      </p:sp>
      <p:sp>
        <p:nvSpPr>
          <p:cNvPr id="14" name="Flowchart: Document 13">
            <a:extLst>
              <a:ext uri="{FF2B5EF4-FFF2-40B4-BE49-F238E27FC236}">
                <a16:creationId xmlns:a16="http://schemas.microsoft.com/office/drawing/2014/main" id="{38BE52EA-280B-2318-A777-D46E816B79CA}"/>
              </a:ext>
            </a:extLst>
          </p:cNvPr>
          <p:cNvSpPr/>
          <p:nvPr/>
        </p:nvSpPr>
        <p:spPr>
          <a:xfrm>
            <a:off x="1038014" y="2462633"/>
            <a:ext cx="1616706" cy="926474"/>
          </a:xfrm>
          <a:prstGeom prst="flowChartDocument">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t>*.csolution.yml</a:t>
            </a:r>
            <a:br>
              <a:rPr kumimoji="0" lang="en-US" sz="36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Target and Build</a:t>
            </a:r>
            <a:b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Parameters</a:t>
            </a:r>
            <a:endParaRPr kumimoji="0" lang="en-GB" sz="1100" b="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pic>
        <p:nvPicPr>
          <p:cNvPr id="1026" name="Picture 2" descr="CMSIS view">
            <a:extLst>
              <a:ext uri="{FF2B5EF4-FFF2-40B4-BE49-F238E27FC236}">
                <a16:creationId xmlns:a16="http://schemas.microsoft.com/office/drawing/2014/main" id="{83AF42DD-EE20-16FF-DDF6-9764C7C77F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5351" y="2085139"/>
            <a:ext cx="4157390" cy="2898462"/>
          </a:xfrm>
          <a:prstGeom prst="rect">
            <a:avLst/>
          </a:prstGeom>
          <a:noFill/>
          <a:effectLst/>
          <a:extLst>
            <a:ext uri="{909E8E84-426E-40DD-AFC4-6F175D3DCCD1}">
              <a14:hiddenFill xmlns:a14="http://schemas.microsoft.com/office/drawing/2010/main">
                <a:solidFill>
                  <a:srgbClr val="FFFFFF"/>
                </a:solidFill>
              </a14:hiddenFill>
            </a:ext>
          </a:extLst>
        </p:spPr>
      </p:pic>
      <p:sp>
        <p:nvSpPr>
          <p:cNvPr id="12" name="Content Placeholder 10">
            <a:extLst>
              <a:ext uri="{FF2B5EF4-FFF2-40B4-BE49-F238E27FC236}">
                <a16:creationId xmlns:a16="http://schemas.microsoft.com/office/drawing/2014/main" id="{2397F70E-CB93-EBE2-B418-1E266707AC97}"/>
              </a:ext>
            </a:extLst>
          </p:cNvPr>
          <p:cNvSpPr txBox="1">
            <a:spLocks/>
          </p:cNvSpPr>
          <p:nvPr/>
        </p:nvSpPr>
        <p:spPr>
          <a:xfrm>
            <a:off x="5748855" y="5516774"/>
            <a:ext cx="5607185" cy="5629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5"/>
                    </a:ext>
                  </a:extLst>
                </a:blip>
              </a:buBlip>
              <a:defRPr sz="24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6"/>
                    </a:ext>
                  </a:extLst>
                </a:blip>
              </a:buBlip>
              <a:defRPr kern="1200">
                <a:solidFill>
                  <a:schemeClr val="tx2"/>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chemeClr val="tx2"/>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6"/>
                    </a:ext>
                  </a:extLst>
                </a:blip>
              </a:buBlip>
              <a:defRPr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a:lstStyle>
          <a:p>
            <a:pPr marL="285750" indent="-285750"/>
            <a:r>
              <a:rPr lang="en-GB" sz="1600" dirty="0">
                <a:solidFill>
                  <a:schemeClr val="tx1">
                    <a:lumMod val="65000"/>
                    <a:lumOff val="35000"/>
                  </a:schemeClr>
                </a:solidFill>
              </a:rPr>
              <a:t>Multiple IDEs: Keil </a:t>
            </a:r>
            <a:r>
              <a:rPr lang="en-GB" sz="1600" dirty="0" err="1">
                <a:solidFill>
                  <a:schemeClr val="tx1">
                    <a:lumMod val="65000"/>
                    <a:lumOff val="35000"/>
                  </a:schemeClr>
                </a:solidFill>
              </a:rPr>
              <a:t>uVision</a:t>
            </a:r>
            <a:r>
              <a:rPr lang="en-GB" sz="1600" dirty="0">
                <a:solidFill>
                  <a:schemeClr val="tx1">
                    <a:lumMod val="65000"/>
                    <a:lumOff val="35000"/>
                  </a:schemeClr>
                </a:solidFill>
              </a:rPr>
              <a:t>, IAR EW-Arm, NXP </a:t>
            </a:r>
            <a:r>
              <a:rPr lang="en-GB" sz="1600" dirty="0" err="1">
                <a:solidFill>
                  <a:schemeClr val="tx1">
                    <a:lumMod val="65000"/>
                    <a:lumOff val="35000"/>
                  </a:schemeClr>
                </a:solidFill>
              </a:rPr>
              <a:t>MCUXpresso</a:t>
            </a:r>
            <a:r>
              <a:rPr lang="en-GB" sz="1600" dirty="0">
                <a:solidFill>
                  <a:schemeClr val="tx1">
                    <a:lumMod val="65000"/>
                    <a:lumOff val="35000"/>
                  </a:schemeClr>
                </a:solidFill>
              </a:rPr>
              <a:t>, …</a:t>
            </a:r>
            <a:endParaRPr lang="en-US" sz="1600" dirty="0"/>
          </a:p>
        </p:txBody>
      </p:sp>
    </p:spTree>
    <p:custDataLst>
      <p:tags r:id="rId1"/>
    </p:custDataLst>
    <p:extLst>
      <p:ext uri="{BB962C8B-B14F-4D97-AF65-F5344CB8AC3E}">
        <p14:creationId xmlns:p14="http://schemas.microsoft.com/office/powerpoint/2010/main" val="236023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C3CC268-843C-42DC-9FAB-259824F90297}"/>
              </a:ext>
            </a:extLst>
          </p:cNvPr>
          <p:cNvSpPr/>
          <p:nvPr/>
        </p:nvSpPr>
        <p:spPr>
          <a:xfrm>
            <a:off x="9271448" y="1216862"/>
            <a:ext cx="1786690" cy="3902337"/>
          </a:xfrm>
          <a:prstGeom prst="rect">
            <a:avLst/>
          </a:prstGeom>
          <a:solidFill>
            <a:schemeClr val="accent5">
              <a:lumMod val="40000"/>
              <a:lumOff val="6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8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Output Files</a:t>
            </a:r>
          </a:p>
        </p:txBody>
      </p:sp>
      <p:sp>
        <p:nvSpPr>
          <p:cNvPr id="26" name="Arrow: Right 25">
            <a:extLst>
              <a:ext uri="{FF2B5EF4-FFF2-40B4-BE49-F238E27FC236}">
                <a16:creationId xmlns:a16="http://schemas.microsoft.com/office/drawing/2014/main" id="{553DF65A-F969-41EF-89B5-09CAFF0CC328}"/>
              </a:ext>
            </a:extLst>
          </p:cNvPr>
          <p:cNvSpPr/>
          <p:nvPr/>
        </p:nvSpPr>
        <p:spPr>
          <a:xfrm>
            <a:off x="4078708" y="3350792"/>
            <a:ext cx="3146258"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22" name="Rectangle 21">
            <a:extLst>
              <a:ext uri="{FF2B5EF4-FFF2-40B4-BE49-F238E27FC236}">
                <a16:creationId xmlns:a16="http://schemas.microsoft.com/office/drawing/2014/main" id="{5487FEAB-7D2D-4E65-8BF8-9C55DAECCD8A}"/>
              </a:ext>
            </a:extLst>
          </p:cNvPr>
          <p:cNvSpPr/>
          <p:nvPr/>
        </p:nvSpPr>
        <p:spPr>
          <a:xfrm>
            <a:off x="4838702" y="1216863"/>
            <a:ext cx="1786690" cy="3856452"/>
          </a:xfrm>
          <a:prstGeom prst="rect">
            <a:avLst/>
          </a:prstGeom>
          <a:solidFill>
            <a:schemeClr val="accent3">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8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Input Files</a:t>
            </a:r>
          </a:p>
        </p:txBody>
      </p:sp>
      <p:sp>
        <p:nvSpPr>
          <p:cNvPr id="21" name="Rectangle 20">
            <a:extLst>
              <a:ext uri="{FF2B5EF4-FFF2-40B4-BE49-F238E27FC236}">
                <a16:creationId xmlns:a16="http://schemas.microsoft.com/office/drawing/2014/main" id="{0F8F6D10-7E91-4D68-8F46-4EF0F023AF1B}"/>
              </a:ext>
            </a:extLst>
          </p:cNvPr>
          <p:cNvSpPr/>
          <p:nvPr/>
        </p:nvSpPr>
        <p:spPr>
          <a:xfrm>
            <a:off x="2292018" y="274719"/>
            <a:ext cx="1786690" cy="479859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8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Software Packs</a:t>
            </a:r>
          </a:p>
        </p:txBody>
      </p:sp>
      <p:sp>
        <p:nvSpPr>
          <p:cNvPr id="5" name="Flowchart: Document 4">
            <a:extLst>
              <a:ext uri="{FF2B5EF4-FFF2-40B4-BE49-F238E27FC236}">
                <a16:creationId xmlns:a16="http://schemas.microsoft.com/office/drawing/2014/main" id="{2D3770D1-02A3-4E7A-8574-CDC5E2D313BA}"/>
              </a:ext>
            </a:extLst>
          </p:cNvPr>
          <p:cNvSpPr/>
          <p:nvPr/>
        </p:nvSpPr>
        <p:spPr>
          <a:xfrm>
            <a:off x="2510676" y="3842441"/>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a:t>
            </a:r>
            <a:r>
              <a:rPr kumimoji="0" lang="en-US" sz="1200" b="0" i="0" u="none" strike="noStrike" kern="1200" cap="none" spc="0" normalizeH="0" baseline="0" noProof="0" dirty="0" err="1">
                <a:ln>
                  <a:noFill/>
                </a:ln>
                <a:solidFill>
                  <a:srgbClr val="FFFFFF"/>
                </a:solidFill>
                <a:effectLst/>
                <a:uLnTx/>
                <a:uFillTx/>
                <a:latin typeface="Calibri"/>
                <a:ea typeface="+mn-ea"/>
                <a:cs typeface="+mn-cs"/>
              </a:rPr>
              <a:t>rzone</a:t>
            </a:r>
            <a:r>
              <a:rPr kumimoji="0" lang="en-US" sz="1200" b="0" i="0" u="none" strike="noStrike" kern="1200" cap="none" spc="0" normalizeH="0" baseline="0" noProof="0" dirty="0">
                <a:ln>
                  <a:noFill/>
                </a:ln>
                <a:solidFill>
                  <a:srgbClr val="FFFFFF"/>
                </a:solidFill>
                <a:effectLst/>
                <a:uLnTx/>
                <a:uFillTx/>
                <a:latin typeface="Calibri"/>
                <a:ea typeface="+mn-ea"/>
                <a:cs typeface="+mn-cs"/>
              </a:rPr>
              <a:t> (optional)</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lang="en-US" sz="1050" dirty="0">
                <a:solidFill>
                  <a:srgbClr val="FFFFFF"/>
                </a:solidFill>
                <a:latin typeface="Calibri"/>
              </a:rPr>
              <a:t>D</a:t>
            </a:r>
            <a:r>
              <a:rPr kumimoji="0" lang="en-US" sz="1000" b="0" i="0" u="none" strike="noStrike" kern="1200" cap="none" spc="0" normalizeH="0" baseline="0" noProof="0" dirty="0" err="1">
                <a:ln>
                  <a:noFill/>
                </a:ln>
                <a:solidFill>
                  <a:srgbClr val="FFFFFF"/>
                </a:solidFill>
                <a:effectLst/>
                <a:uLnTx/>
                <a:uFillTx/>
                <a:latin typeface="Calibri"/>
                <a:ea typeface="+mn-ea"/>
                <a:cs typeface="+mn-cs"/>
              </a:rPr>
              <a:t>efines</a:t>
            </a:r>
            <a:r>
              <a:rPr kumimoji="0" lang="en-US" sz="1000" b="0" i="0" u="none" strike="noStrike" kern="1200" cap="none" spc="0" normalizeH="0" baseline="0" noProof="0" dirty="0">
                <a:ln>
                  <a:noFill/>
                </a:ln>
                <a:solidFill>
                  <a:srgbClr val="FFFFFF"/>
                </a:solidFill>
                <a:effectLst/>
                <a:uLnTx/>
                <a:uFillTx/>
                <a:latin typeface="Calibri"/>
                <a:ea typeface="+mn-ea"/>
                <a:cs typeface="+mn-cs"/>
              </a:rPr>
              <a:t> system resources</a:t>
            </a:r>
            <a:endParaRPr kumimoji="0" lang="en-GB" sz="1100" b="0" i="0" u="none" strike="noStrike" kern="1200" cap="none" spc="0" normalizeH="0" baseline="0" noProof="0" dirty="0">
              <a:ln>
                <a:noFill/>
              </a:ln>
              <a:solidFill>
                <a:srgbClr val="FFFFFF"/>
              </a:solidFill>
              <a:effectLst/>
              <a:uLnTx/>
              <a:uFillTx/>
              <a:latin typeface="Calibri"/>
              <a:ea typeface="+mn-ea"/>
              <a:cs typeface="+mn-cs"/>
            </a:endParaRPr>
          </a:p>
        </p:txBody>
      </p:sp>
      <p:sp>
        <p:nvSpPr>
          <p:cNvPr id="6" name="Flowchart: Document 5">
            <a:extLst>
              <a:ext uri="{FF2B5EF4-FFF2-40B4-BE49-F238E27FC236}">
                <a16:creationId xmlns:a16="http://schemas.microsoft.com/office/drawing/2014/main" id="{05CB531E-7400-4A1A-9853-81AF2D7E5608}"/>
              </a:ext>
            </a:extLst>
          </p:cNvPr>
          <p:cNvSpPr/>
          <p:nvPr/>
        </p:nvSpPr>
        <p:spPr>
          <a:xfrm>
            <a:off x="5045330" y="1638298"/>
            <a:ext cx="1333416" cy="884321"/>
          </a:xfrm>
          <a:prstGeom prst="flowChartDocumen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csolution.yml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Target (Device, Board) Build (Debug, Release) </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7" name="Flowchart: Multidocument 6">
            <a:extLst>
              <a:ext uri="{FF2B5EF4-FFF2-40B4-BE49-F238E27FC236}">
                <a16:creationId xmlns:a16="http://schemas.microsoft.com/office/drawing/2014/main" id="{0FCC1B91-99A1-4E45-AE23-2D8F8B8DFEBE}"/>
              </a:ext>
            </a:extLst>
          </p:cNvPr>
          <p:cNvSpPr/>
          <p:nvPr/>
        </p:nvSpPr>
        <p:spPr>
          <a:xfrm>
            <a:off x="5002732" y="2755225"/>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cproject.yml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Manages </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independent</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projects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0" name="Flowchart: Multidocument 9">
            <a:extLst>
              <a:ext uri="{FF2B5EF4-FFF2-40B4-BE49-F238E27FC236}">
                <a16:creationId xmlns:a16="http://schemas.microsoft.com/office/drawing/2014/main" id="{063DD4F5-6984-4CA0-9BAE-639DAB72225F}"/>
              </a:ext>
            </a:extLst>
          </p:cNvPr>
          <p:cNvSpPr/>
          <p:nvPr/>
        </p:nvSpPr>
        <p:spPr>
          <a:xfrm>
            <a:off x="9476068" y="2837317"/>
            <a:ext cx="1449805" cy="1010653"/>
          </a:xfrm>
          <a:prstGeom prst="flowChartMultidocument">
            <a:avLst/>
          </a:prstGeom>
          <a:solidFill>
            <a:schemeClr val="accent6">
              <a:lumMod val="20000"/>
              <a:lumOff val="80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a:solidFill>
                  <a:schemeClr val="bg2">
                    <a:lumMod val="25000"/>
                  </a:schemeClr>
                </a:solidFill>
                <a:latin typeface="Calibri"/>
              </a:rPr>
              <a:t>Run-Time Environment (RTE)</a:t>
            </a:r>
            <a:br>
              <a:rPr lang="en-US" sz="1000" dirty="0">
                <a:solidFill>
                  <a:schemeClr val="bg2">
                    <a:lumMod val="25000"/>
                  </a:schemeClr>
                </a:solidFill>
                <a:latin typeface="Calibri"/>
              </a:rPr>
            </a:br>
            <a:r>
              <a:rPr lang="en-US" sz="1000" dirty="0">
                <a:solidFill>
                  <a:schemeClr val="bg2">
                    <a:lumMod val="25000"/>
                  </a:schemeClr>
                </a:solidFill>
                <a:latin typeface="Calibri"/>
              </a:rPr>
              <a:t>(*.c / *.h files with config information)</a:t>
            </a:r>
            <a:br>
              <a:rPr lang="en-US" sz="1200" dirty="0">
                <a:solidFill>
                  <a:schemeClr val="bg2">
                    <a:lumMod val="25000"/>
                  </a:schemeClr>
                </a:solidFill>
                <a:latin typeface="Calibri"/>
              </a:rPr>
            </a:br>
            <a:endParaRPr kumimoji="0" lang="en-GB" sz="12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14" name="Straight Arrow Connector 13">
            <a:extLst>
              <a:ext uri="{FF2B5EF4-FFF2-40B4-BE49-F238E27FC236}">
                <a16:creationId xmlns:a16="http://schemas.microsoft.com/office/drawing/2014/main" id="{0CA20441-F3C2-440A-892E-1359E8990DC5}"/>
              </a:ext>
            </a:extLst>
          </p:cNvPr>
          <p:cNvCxnSpPr>
            <a:cxnSpLocks/>
          </p:cNvCxnSpPr>
          <p:nvPr/>
        </p:nvCxnSpPr>
        <p:spPr>
          <a:xfrm>
            <a:off x="5693030" y="2478504"/>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700C784-4ABC-4B94-A393-C72FD280887C}"/>
              </a:ext>
            </a:extLst>
          </p:cNvPr>
          <p:cNvCxnSpPr>
            <a:cxnSpLocks/>
          </p:cNvCxnSpPr>
          <p:nvPr/>
        </p:nvCxnSpPr>
        <p:spPr>
          <a:xfrm>
            <a:off x="5713083" y="3695699"/>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 name="Flowchart: Multidocument 17">
            <a:extLst>
              <a:ext uri="{FF2B5EF4-FFF2-40B4-BE49-F238E27FC236}">
                <a16:creationId xmlns:a16="http://schemas.microsoft.com/office/drawing/2014/main" id="{F193B99D-00C8-43D5-A8CC-0E46D2AFFC10}"/>
              </a:ext>
            </a:extLst>
          </p:cNvPr>
          <p:cNvSpPr/>
          <p:nvPr/>
        </p:nvSpPr>
        <p:spPr>
          <a:xfrm>
            <a:off x="5052863" y="3966404"/>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clayer.yml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Defines re-usable project parts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9" name="Flowchart: Document 18">
            <a:extLst>
              <a:ext uri="{FF2B5EF4-FFF2-40B4-BE49-F238E27FC236}">
                <a16:creationId xmlns:a16="http://schemas.microsoft.com/office/drawing/2014/main" id="{D63E43D9-EAD2-43AD-B647-C5A8C4326FDF}"/>
              </a:ext>
            </a:extLst>
          </p:cNvPr>
          <p:cNvSpPr/>
          <p:nvPr/>
        </p:nvSpPr>
        <p:spPr>
          <a:xfrm>
            <a:off x="2510676" y="2805361"/>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Device Family Pack (DFP)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a:ea typeface="+mn-ea"/>
                <a:cs typeface="+mn-cs"/>
              </a:rPr>
              <a:t>Defines device</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properties</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0" name="Flowchart: Document 19">
            <a:extLst>
              <a:ext uri="{FF2B5EF4-FFF2-40B4-BE49-F238E27FC236}">
                <a16:creationId xmlns:a16="http://schemas.microsoft.com/office/drawing/2014/main" id="{E8D155CF-279C-4302-9DE1-8F6B8DB4D1F4}"/>
              </a:ext>
            </a:extLst>
          </p:cNvPr>
          <p:cNvSpPr/>
          <p:nvPr/>
        </p:nvSpPr>
        <p:spPr>
          <a:xfrm>
            <a:off x="2518233" y="1760222"/>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Board Support Pack (BSP)</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Defines board</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properties</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3" name="Rectangle 22">
            <a:extLst>
              <a:ext uri="{FF2B5EF4-FFF2-40B4-BE49-F238E27FC236}">
                <a16:creationId xmlns:a16="http://schemas.microsoft.com/office/drawing/2014/main" id="{8119DA75-D395-4806-9923-A60C1658B62A}"/>
              </a:ext>
            </a:extLst>
          </p:cNvPr>
          <p:cNvSpPr/>
          <p:nvPr/>
        </p:nvSpPr>
        <p:spPr>
          <a:xfrm>
            <a:off x="7230982" y="2695071"/>
            <a:ext cx="1540042" cy="1022685"/>
          </a:xfrm>
          <a:prstGeom prst="rect">
            <a:avLst/>
          </a:prstGeom>
          <a:solidFill>
            <a:srgbClr val="92D050"/>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alibri"/>
                <a:ea typeface="+mn-ea"/>
                <a:cs typeface="+mn-cs"/>
              </a:rPr>
              <a:t>CMSIS Project Manager</a:t>
            </a: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4" name="Flowchart: Multidocument 23">
            <a:extLst>
              <a:ext uri="{FF2B5EF4-FFF2-40B4-BE49-F238E27FC236}">
                <a16:creationId xmlns:a16="http://schemas.microsoft.com/office/drawing/2014/main" id="{AC417908-17B4-4FD1-8070-B598BF19F8CD}"/>
              </a:ext>
            </a:extLst>
          </p:cNvPr>
          <p:cNvSpPr/>
          <p:nvPr/>
        </p:nvSpPr>
        <p:spPr>
          <a:xfrm>
            <a:off x="9466042" y="1689169"/>
            <a:ext cx="1449805" cy="1010653"/>
          </a:xfrm>
          <a:prstGeom prst="flowChartMultidocument">
            <a:avLst/>
          </a:prstGeom>
          <a:solidFill>
            <a:schemeClr val="accent6">
              <a:lumMod val="20000"/>
              <a:lumOff val="80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Project Build Files *.</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cprj</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for CMSIS-Build</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32" name="Arrow: Right 31">
            <a:extLst>
              <a:ext uri="{FF2B5EF4-FFF2-40B4-BE49-F238E27FC236}">
                <a16:creationId xmlns:a16="http://schemas.microsoft.com/office/drawing/2014/main" id="{8DCE06D2-5B11-472B-8D45-3B327EA1669E}"/>
              </a:ext>
            </a:extLst>
          </p:cNvPr>
          <p:cNvSpPr/>
          <p:nvPr/>
        </p:nvSpPr>
        <p:spPr>
          <a:xfrm>
            <a:off x="6625392" y="2805360"/>
            <a:ext cx="605587"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cxnSp>
        <p:nvCxnSpPr>
          <p:cNvPr id="41" name="Straight Arrow Connector 40">
            <a:extLst>
              <a:ext uri="{FF2B5EF4-FFF2-40B4-BE49-F238E27FC236}">
                <a16:creationId xmlns:a16="http://schemas.microsoft.com/office/drawing/2014/main" id="{096E6527-5486-468E-A7EE-221C5DA1818D}"/>
              </a:ext>
            </a:extLst>
          </p:cNvPr>
          <p:cNvCxnSpPr>
            <a:cxnSpLocks/>
          </p:cNvCxnSpPr>
          <p:nvPr/>
        </p:nvCxnSpPr>
        <p:spPr>
          <a:xfrm>
            <a:off x="5722046" y="953351"/>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0" name="Flowchart: Document 39">
            <a:extLst>
              <a:ext uri="{FF2B5EF4-FFF2-40B4-BE49-F238E27FC236}">
                <a16:creationId xmlns:a16="http://schemas.microsoft.com/office/drawing/2014/main" id="{45A8C818-51F2-492B-AD63-90062B0A3BE8}"/>
              </a:ext>
            </a:extLst>
          </p:cNvPr>
          <p:cNvSpPr/>
          <p:nvPr/>
        </p:nvSpPr>
        <p:spPr>
          <a:xfrm>
            <a:off x="2519492" y="733727"/>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Generic </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200" b="0" i="0" u="none" strike="noStrike" kern="1200" cap="none" spc="0" normalizeH="0" baseline="0" noProof="0" dirty="0">
                <a:ln>
                  <a:noFill/>
                </a:ln>
                <a:solidFill>
                  <a:srgbClr val="FFFFFF"/>
                </a:solidFill>
                <a:effectLst/>
                <a:uLnTx/>
                <a:uFillTx/>
                <a:latin typeface="Calibri"/>
                <a:ea typeface="+mn-ea"/>
                <a:cs typeface="+mn-cs"/>
              </a:rPr>
              <a:t>Software Packs</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with drivers,</a:t>
            </a:r>
            <a:r>
              <a:rPr kumimoji="0" lang="en-US" sz="1200" b="0" i="0" u="none" strike="noStrike" kern="1200" cap="none" spc="0" normalizeH="0" baseline="0" noProof="0" dirty="0">
                <a:ln>
                  <a:noFill/>
                </a:ln>
                <a:solidFill>
                  <a:srgbClr val="FFFFFF"/>
                </a:solidFill>
                <a:effectLst/>
                <a:uLnTx/>
                <a:uFillTx/>
                <a:latin typeface="Calibri"/>
                <a:ea typeface="+mn-ea"/>
                <a:cs typeface="+mn-cs"/>
              </a:rPr>
              <a:t> m</a:t>
            </a:r>
            <a:r>
              <a:rPr lang="en-US" sz="1100" dirty="0" err="1">
                <a:solidFill>
                  <a:srgbClr val="FFFFFF"/>
                </a:solidFill>
                <a:latin typeface="Calibri"/>
              </a:rPr>
              <a:t>iddleware</a:t>
            </a:r>
            <a:r>
              <a:rPr lang="en-US" sz="1100" dirty="0">
                <a:solidFill>
                  <a:srgbClr val="FFFFFF"/>
                </a:solidFill>
                <a:latin typeface="Calibri"/>
              </a:rPr>
              <a:t>, etc.</a:t>
            </a:r>
          </a:p>
        </p:txBody>
      </p:sp>
      <p:sp>
        <p:nvSpPr>
          <p:cNvPr id="28" name="Flowchart: Multidocument 27">
            <a:extLst>
              <a:ext uri="{FF2B5EF4-FFF2-40B4-BE49-F238E27FC236}">
                <a16:creationId xmlns:a16="http://schemas.microsoft.com/office/drawing/2014/main" id="{F0174EA1-F6A6-4697-8C2A-616FAACBE88C}"/>
              </a:ext>
            </a:extLst>
          </p:cNvPr>
          <p:cNvSpPr/>
          <p:nvPr/>
        </p:nvSpPr>
        <p:spPr>
          <a:xfrm>
            <a:off x="9496042" y="3979969"/>
            <a:ext cx="1449805" cy="1010653"/>
          </a:xfrm>
          <a:prstGeom prst="flowChartMultidocument">
            <a:avLst/>
          </a:prstGeom>
          <a:solidFill>
            <a:schemeClr val="accent6">
              <a:lumMod val="20000"/>
              <a:lumOff val="80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Project Resource Files *.</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fzone</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for template engines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31" name="Arrow: Right 30">
            <a:extLst>
              <a:ext uri="{FF2B5EF4-FFF2-40B4-BE49-F238E27FC236}">
                <a16:creationId xmlns:a16="http://schemas.microsoft.com/office/drawing/2014/main" id="{1F9E4950-7682-4A97-95D2-18A9AEA2F368}"/>
              </a:ext>
            </a:extLst>
          </p:cNvPr>
          <p:cNvSpPr/>
          <p:nvPr/>
        </p:nvSpPr>
        <p:spPr>
          <a:xfrm>
            <a:off x="8764993" y="3116160"/>
            <a:ext cx="508607"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2" name="Oval 1">
            <a:extLst>
              <a:ext uri="{FF2B5EF4-FFF2-40B4-BE49-F238E27FC236}">
                <a16:creationId xmlns:a16="http://schemas.microsoft.com/office/drawing/2014/main" id="{5E657FDB-C487-44EF-8E7D-F8175C5B588B}"/>
              </a:ext>
            </a:extLst>
          </p:cNvPr>
          <p:cNvSpPr/>
          <p:nvPr/>
        </p:nvSpPr>
        <p:spPr>
          <a:xfrm>
            <a:off x="4658702" y="94719"/>
            <a:ext cx="360000" cy="36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1</a:t>
            </a:r>
            <a:endParaRPr lang="en-GB" dirty="0">
              <a:latin typeface="Calibri" panose="020F0502020204030204" pitchFamily="34" charset="0"/>
              <a:cs typeface="Calibri" panose="020F0502020204030204" pitchFamily="34" charset="0"/>
            </a:endParaRPr>
          </a:p>
        </p:txBody>
      </p:sp>
      <p:sp>
        <p:nvSpPr>
          <p:cNvPr id="27" name="Oval 26">
            <a:extLst>
              <a:ext uri="{FF2B5EF4-FFF2-40B4-BE49-F238E27FC236}">
                <a16:creationId xmlns:a16="http://schemas.microsoft.com/office/drawing/2014/main" id="{81407B11-6AFE-4D8A-B305-BE0AABD77969}"/>
              </a:ext>
            </a:extLst>
          </p:cNvPr>
          <p:cNvSpPr/>
          <p:nvPr/>
        </p:nvSpPr>
        <p:spPr>
          <a:xfrm>
            <a:off x="4658702" y="1458298"/>
            <a:ext cx="360000" cy="36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2</a:t>
            </a:r>
            <a:endParaRPr lang="en-GB" dirty="0">
              <a:latin typeface="Calibri" panose="020F0502020204030204" pitchFamily="34" charset="0"/>
              <a:cs typeface="Calibri" panose="020F0502020204030204" pitchFamily="34" charset="0"/>
            </a:endParaRPr>
          </a:p>
        </p:txBody>
      </p:sp>
      <p:sp>
        <p:nvSpPr>
          <p:cNvPr id="33" name="Oval 32">
            <a:extLst>
              <a:ext uri="{FF2B5EF4-FFF2-40B4-BE49-F238E27FC236}">
                <a16:creationId xmlns:a16="http://schemas.microsoft.com/office/drawing/2014/main" id="{589149B6-4311-43B0-8FA0-27944C657D0D}"/>
              </a:ext>
            </a:extLst>
          </p:cNvPr>
          <p:cNvSpPr/>
          <p:nvPr/>
        </p:nvSpPr>
        <p:spPr>
          <a:xfrm>
            <a:off x="4655694" y="2754123"/>
            <a:ext cx="360000" cy="36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3</a:t>
            </a:r>
            <a:endParaRPr lang="en-GB" dirty="0">
              <a:latin typeface="Calibri" panose="020F0502020204030204" pitchFamily="34" charset="0"/>
              <a:cs typeface="Calibri" panose="020F0502020204030204" pitchFamily="34" charset="0"/>
            </a:endParaRPr>
          </a:p>
        </p:txBody>
      </p:sp>
      <p:sp>
        <p:nvSpPr>
          <p:cNvPr id="35" name="Oval 34">
            <a:extLst>
              <a:ext uri="{FF2B5EF4-FFF2-40B4-BE49-F238E27FC236}">
                <a16:creationId xmlns:a16="http://schemas.microsoft.com/office/drawing/2014/main" id="{46A578CD-9EE0-408B-A678-0EFB17AD42CF}"/>
              </a:ext>
            </a:extLst>
          </p:cNvPr>
          <p:cNvSpPr/>
          <p:nvPr/>
        </p:nvSpPr>
        <p:spPr>
          <a:xfrm>
            <a:off x="4655694" y="3963001"/>
            <a:ext cx="360000" cy="36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4</a:t>
            </a:r>
            <a:endParaRPr lang="en-GB" dirty="0">
              <a:latin typeface="Calibri" panose="020F0502020204030204" pitchFamily="34" charset="0"/>
              <a:cs typeface="Calibri" panose="020F0502020204030204" pitchFamily="34" charset="0"/>
            </a:endParaRPr>
          </a:p>
        </p:txBody>
      </p:sp>
      <p:sp>
        <p:nvSpPr>
          <p:cNvPr id="38" name="Flowchart: Document 37">
            <a:extLst>
              <a:ext uri="{FF2B5EF4-FFF2-40B4-BE49-F238E27FC236}">
                <a16:creationId xmlns:a16="http://schemas.microsoft.com/office/drawing/2014/main" id="{973775FC-78A5-4325-B535-441862918E54}"/>
              </a:ext>
            </a:extLst>
          </p:cNvPr>
          <p:cNvSpPr/>
          <p:nvPr/>
        </p:nvSpPr>
        <p:spPr>
          <a:xfrm>
            <a:off x="5050566" y="274719"/>
            <a:ext cx="1350233" cy="768017"/>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a:t>
            </a:r>
            <a:r>
              <a:rPr kumimoji="0" lang="en-US" sz="1200" b="0" i="0" u="none" strike="noStrike" kern="1200" cap="none" spc="0" normalizeH="0" baseline="0" noProof="0" dirty="0" err="1">
                <a:ln>
                  <a:noFill/>
                </a:ln>
                <a:solidFill>
                  <a:srgbClr val="FFFFFF"/>
                </a:solidFill>
                <a:effectLst/>
                <a:uLnTx/>
                <a:uFillTx/>
                <a:latin typeface="Calibri"/>
                <a:ea typeface="+mn-ea"/>
                <a:cs typeface="+mn-cs"/>
              </a:rPr>
              <a:t>cdefault.yml</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Global Settings</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(Toolchain)</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361011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C3CC268-843C-42DC-9FAB-259824F90297}"/>
              </a:ext>
            </a:extLst>
          </p:cNvPr>
          <p:cNvSpPr/>
          <p:nvPr/>
        </p:nvSpPr>
        <p:spPr>
          <a:xfrm>
            <a:off x="9273600" y="743902"/>
            <a:ext cx="1786690" cy="5714048"/>
          </a:xfrm>
          <a:prstGeom prst="rect">
            <a:avLst/>
          </a:prstGeom>
          <a:solidFill>
            <a:schemeClr val="accent5">
              <a:lumMod val="40000"/>
              <a:lumOff val="6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8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Output Files</a:t>
            </a:r>
          </a:p>
        </p:txBody>
      </p:sp>
      <p:sp>
        <p:nvSpPr>
          <p:cNvPr id="26" name="Arrow: Right 25">
            <a:extLst>
              <a:ext uri="{FF2B5EF4-FFF2-40B4-BE49-F238E27FC236}">
                <a16:creationId xmlns:a16="http://schemas.microsoft.com/office/drawing/2014/main" id="{553DF65A-F969-41EF-89B5-09CAFF0CC328}"/>
              </a:ext>
            </a:extLst>
          </p:cNvPr>
          <p:cNvSpPr/>
          <p:nvPr/>
        </p:nvSpPr>
        <p:spPr>
          <a:xfrm>
            <a:off x="4078708" y="3350792"/>
            <a:ext cx="3146258"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22" name="Rectangle 21">
            <a:extLst>
              <a:ext uri="{FF2B5EF4-FFF2-40B4-BE49-F238E27FC236}">
                <a16:creationId xmlns:a16="http://schemas.microsoft.com/office/drawing/2014/main" id="{5487FEAB-7D2D-4E65-8BF8-9C55DAECCD8A}"/>
              </a:ext>
            </a:extLst>
          </p:cNvPr>
          <p:cNvSpPr/>
          <p:nvPr/>
        </p:nvSpPr>
        <p:spPr>
          <a:xfrm>
            <a:off x="4838702" y="1216862"/>
            <a:ext cx="1786690" cy="5126787"/>
          </a:xfrm>
          <a:prstGeom prst="rect">
            <a:avLst/>
          </a:prstGeom>
          <a:solidFill>
            <a:schemeClr val="accent3">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8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Input Files</a:t>
            </a:r>
          </a:p>
        </p:txBody>
      </p:sp>
      <p:sp>
        <p:nvSpPr>
          <p:cNvPr id="21" name="Rectangle 20">
            <a:extLst>
              <a:ext uri="{FF2B5EF4-FFF2-40B4-BE49-F238E27FC236}">
                <a16:creationId xmlns:a16="http://schemas.microsoft.com/office/drawing/2014/main" id="{0F8F6D10-7E91-4D68-8F46-4EF0F023AF1B}"/>
              </a:ext>
            </a:extLst>
          </p:cNvPr>
          <p:cNvSpPr/>
          <p:nvPr/>
        </p:nvSpPr>
        <p:spPr>
          <a:xfrm>
            <a:off x="2292018" y="274719"/>
            <a:ext cx="1786690" cy="490286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8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Software Packs</a:t>
            </a:r>
          </a:p>
        </p:txBody>
      </p:sp>
      <p:sp>
        <p:nvSpPr>
          <p:cNvPr id="5" name="Flowchart: Document 4">
            <a:extLst>
              <a:ext uri="{FF2B5EF4-FFF2-40B4-BE49-F238E27FC236}">
                <a16:creationId xmlns:a16="http://schemas.microsoft.com/office/drawing/2014/main" id="{2D3770D1-02A3-4E7A-8574-CDC5E2D313BA}"/>
              </a:ext>
            </a:extLst>
          </p:cNvPr>
          <p:cNvSpPr/>
          <p:nvPr/>
        </p:nvSpPr>
        <p:spPr>
          <a:xfrm>
            <a:off x="2510676" y="3918641"/>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a:t>
            </a:r>
            <a:r>
              <a:rPr kumimoji="0" lang="en-US" sz="1200" b="0" i="0" u="none" strike="noStrike" kern="1200" cap="none" spc="0" normalizeH="0" baseline="0" noProof="0" dirty="0" err="1">
                <a:ln>
                  <a:noFill/>
                </a:ln>
                <a:solidFill>
                  <a:srgbClr val="FFFFFF"/>
                </a:solidFill>
                <a:effectLst/>
                <a:uLnTx/>
                <a:uFillTx/>
                <a:latin typeface="Calibri"/>
                <a:ea typeface="+mn-ea"/>
                <a:cs typeface="+mn-cs"/>
              </a:rPr>
              <a:t>rzone</a:t>
            </a:r>
            <a:r>
              <a:rPr kumimoji="0" lang="en-US" sz="1200" b="0" i="0" u="none" strike="noStrike" kern="1200" cap="none" spc="0" normalizeH="0" baseline="0" noProof="0" dirty="0">
                <a:ln>
                  <a:noFill/>
                </a:ln>
                <a:solidFill>
                  <a:srgbClr val="FFFFFF"/>
                </a:solidFill>
                <a:effectLst/>
                <a:uLnTx/>
                <a:uFillTx/>
                <a:latin typeface="Calibri"/>
                <a:ea typeface="+mn-ea"/>
                <a:cs typeface="+mn-cs"/>
              </a:rPr>
              <a:t> (optional)</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lang="en-US" sz="1050" dirty="0">
                <a:solidFill>
                  <a:srgbClr val="FFFFFF"/>
                </a:solidFill>
                <a:latin typeface="Calibri"/>
              </a:rPr>
              <a:t>D</a:t>
            </a:r>
            <a:r>
              <a:rPr kumimoji="0" lang="en-US" sz="1000" b="0" i="0" u="none" strike="noStrike" kern="1200" cap="none" spc="0" normalizeH="0" baseline="0" noProof="0" dirty="0" err="1">
                <a:ln>
                  <a:noFill/>
                </a:ln>
                <a:solidFill>
                  <a:srgbClr val="FFFFFF"/>
                </a:solidFill>
                <a:effectLst/>
                <a:uLnTx/>
                <a:uFillTx/>
                <a:latin typeface="Calibri"/>
                <a:ea typeface="+mn-ea"/>
                <a:cs typeface="+mn-cs"/>
              </a:rPr>
              <a:t>efines</a:t>
            </a:r>
            <a:r>
              <a:rPr kumimoji="0" lang="en-US" sz="1000" b="0" i="0" u="none" strike="noStrike" kern="1200" cap="none" spc="0" normalizeH="0" baseline="0" noProof="0" dirty="0">
                <a:ln>
                  <a:noFill/>
                </a:ln>
                <a:solidFill>
                  <a:srgbClr val="FFFFFF"/>
                </a:solidFill>
                <a:effectLst/>
                <a:uLnTx/>
                <a:uFillTx/>
                <a:latin typeface="Calibri"/>
                <a:ea typeface="+mn-ea"/>
                <a:cs typeface="+mn-cs"/>
              </a:rPr>
              <a:t> system resources</a:t>
            </a:r>
            <a:endParaRPr kumimoji="0" lang="en-GB" sz="1100" b="0" i="0" u="none" strike="noStrike" kern="1200" cap="none" spc="0" normalizeH="0" baseline="0" noProof="0" dirty="0">
              <a:ln>
                <a:noFill/>
              </a:ln>
              <a:solidFill>
                <a:srgbClr val="FFFFFF"/>
              </a:solidFill>
              <a:effectLst/>
              <a:uLnTx/>
              <a:uFillTx/>
              <a:latin typeface="Calibri"/>
              <a:ea typeface="+mn-ea"/>
              <a:cs typeface="+mn-cs"/>
            </a:endParaRPr>
          </a:p>
        </p:txBody>
      </p:sp>
      <p:sp>
        <p:nvSpPr>
          <p:cNvPr id="6" name="Flowchart: Document 5">
            <a:extLst>
              <a:ext uri="{FF2B5EF4-FFF2-40B4-BE49-F238E27FC236}">
                <a16:creationId xmlns:a16="http://schemas.microsoft.com/office/drawing/2014/main" id="{05CB531E-7400-4A1A-9853-81AF2D7E5608}"/>
              </a:ext>
            </a:extLst>
          </p:cNvPr>
          <p:cNvSpPr/>
          <p:nvPr/>
        </p:nvSpPr>
        <p:spPr>
          <a:xfrm>
            <a:off x="5045330" y="1638298"/>
            <a:ext cx="1333416" cy="884321"/>
          </a:xfrm>
          <a:prstGeom prst="flowChartDocumen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csolution.yml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Target (Device, Board) Build (Debug, Release) </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7" name="Flowchart: Multidocument 6">
            <a:extLst>
              <a:ext uri="{FF2B5EF4-FFF2-40B4-BE49-F238E27FC236}">
                <a16:creationId xmlns:a16="http://schemas.microsoft.com/office/drawing/2014/main" id="{0FCC1B91-99A1-4E45-AE23-2D8F8B8DFEBE}"/>
              </a:ext>
            </a:extLst>
          </p:cNvPr>
          <p:cNvSpPr/>
          <p:nvPr/>
        </p:nvSpPr>
        <p:spPr>
          <a:xfrm>
            <a:off x="5002732" y="2755225"/>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cproject.yml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Manages </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independent</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projects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0" name="Flowchart: Multidocument 9">
            <a:extLst>
              <a:ext uri="{FF2B5EF4-FFF2-40B4-BE49-F238E27FC236}">
                <a16:creationId xmlns:a16="http://schemas.microsoft.com/office/drawing/2014/main" id="{063DD4F5-6984-4CA0-9BAE-639DAB72225F}"/>
              </a:ext>
            </a:extLst>
          </p:cNvPr>
          <p:cNvSpPr/>
          <p:nvPr/>
        </p:nvSpPr>
        <p:spPr>
          <a:xfrm>
            <a:off x="9467610" y="5300327"/>
            <a:ext cx="1449805" cy="1010653"/>
          </a:xfrm>
          <a:prstGeom prst="flowChartMulti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a:solidFill>
                  <a:schemeClr val="bg2">
                    <a:lumMod val="25000"/>
                  </a:schemeClr>
                </a:solidFill>
                <a:latin typeface="Calibri"/>
              </a:rPr>
              <a:t>Run-Time Environment (RTE)</a:t>
            </a:r>
            <a:br>
              <a:rPr lang="en-US" sz="1000" dirty="0">
                <a:solidFill>
                  <a:schemeClr val="bg2">
                    <a:lumMod val="25000"/>
                  </a:schemeClr>
                </a:solidFill>
                <a:latin typeface="Calibri"/>
              </a:rPr>
            </a:br>
            <a:r>
              <a:rPr lang="en-US" sz="1000" dirty="0">
                <a:solidFill>
                  <a:schemeClr val="bg2">
                    <a:lumMod val="25000"/>
                  </a:schemeClr>
                </a:solidFill>
                <a:latin typeface="Calibri"/>
              </a:rPr>
              <a:t>(*.c / *.h files with config information)</a:t>
            </a:r>
            <a:br>
              <a:rPr lang="en-US" sz="1200" dirty="0">
                <a:solidFill>
                  <a:schemeClr val="bg2">
                    <a:lumMod val="25000"/>
                  </a:schemeClr>
                </a:solidFill>
                <a:latin typeface="Calibri"/>
              </a:rPr>
            </a:br>
            <a:endParaRPr kumimoji="0" lang="en-GB" sz="12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14" name="Straight Arrow Connector 13">
            <a:extLst>
              <a:ext uri="{FF2B5EF4-FFF2-40B4-BE49-F238E27FC236}">
                <a16:creationId xmlns:a16="http://schemas.microsoft.com/office/drawing/2014/main" id="{0CA20441-F3C2-440A-892E-1359E8990DC5}"/>
              </a:ext>
            </a:extLst>
          </p:cNvPr>
          <p:cNvCxnSpPr>
            <a:cxnSpLocks/>
          </p:cNvCxnSpPr>
          <p:nvPr/>
        </p:nvCxnSpPr>
        <p:spPr>
          <a:xfrm>
            <a:off x="5693030" y="2478504"/>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700C784-4ABC-4B94-A393-C72FD280887C}"/>
              </a:ext>
            </a:extLst>
          </p:cNvPr>
          <p:cNvCxnSpPr>
            <a:cxnSpLocks/>
          </p:cNvCxnSpPr>
          <p:nvPr/>
        </p:nvCxnSpPr>
        <p:spPr>
          <a:xfrm>
            <a:off x="5713083" y="3695699"/>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 name="Flowchart: Multidocument 17">
            <a:extLst>
              <a:ext uri="{FF2B5EF4-FFF2-40B4-BE49-F238E27FC236}">
                <a16:creationId xmlns:a16="http://schemas.microsoft.com/office/drawing/2014/main" id="{F193B99D-00C8-43D5-A8CC-0E46D2AFFC10}"/>
              </a:ext>
            </a:extLst>
          </p:cNvPr>
          <p:cNvSpPr/>
          <p:nvPr/>
        </p:nvSpPr>
        <p:spPr>
          <a:xfrm>
            <a:off x="5052863" y="3966404"/>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clayer.yml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Defines re-usable project parts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9" name="Flowchart: Document 18">
            <a:extLst>
              <a:ext uri="{FF2B5EF4-FFF2-40B4-BE49-F238E27FC236}">
                <a16:creationId xmlns:a16="http://schemas.microsoft.com/office/drawing/2014/main" id="{D63E43D9-EAD2-43AD-B647-C5A8C4326FDF}"/>
              </a:ext>
            </a:extLst>
          </p:cNvPr>
          <p:cNvSpPr/>
          <p:nvPr/>
        </p:nvSpPr>
        <p:spPr>
          <a:xfrm>
            <a:off x="2510676" y="2805361"/>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Device Family Pack (DFP)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a:ea typeface="+mn-ea"/>
                <a:cs typeface="+mn-cs"/>
              </a:rPr>
              <a:t>Defines device</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properties</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0" name="Flowchart: Document 19">
            <a:extLst>
              <a:ext uri="{FF2B5EF4-FFF2-40B4-BE49-F238E27FC236}">
                <a16:creationId xmlns:a16="http://schemas.microsoft.com/office/drawing/2014/main" id="{E8D155CF-279C-4302-9DE1-8F6B8DB4D1F4}"/>
              </a:ext>
            </a:extLst>
          </p:cNvPr>
          <p:cNvSpPr/>
          <p:nvPr/>
        </p:nvSpPr>
        <p:spPr>
          <a:xfrm>
            <a:off x="2518233" y="1760222"/>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Board Support Pack (BSP)</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Defines board</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properties</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3" name="Rectangle 22">
            <a:extLst>
              <a:ext uri="{FF2B5EF4-FFF2-40B4-BE49-F238E27FC236}">
                <a16:creationId xmlns:a16="http://schemas.microsoft.com/office/drawing/2014/main" id="{8119DA75-D395-4806-9923-A60C1658B62A}"/>
              </a:ext>
            </a:extLst>
          </p:cNvPr>
          <p:cNvSpPr/>
          <p:nvPr/>
        </p:nvSpPr>
        <p:spPr>
          <a:xfrm>
            <a:off x="7230982" y="2695071"/>
            <a:ext cx="1540042" cy="1022685"/>
          </a:xfrm>
          <a:prstGeom prst="rect">
            <a:avLst/>
          </a:prstGeom>
          <a:solidFill>
            <a:srgbClr val="92D050"/>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dirty="0">
                <a:solidFill>
                  <a:srgbClr val="FFFFFF"/>
                </a:solidFill>
                <a:latin typeface="Calibri"/>
              </a:rPr>
              <a:t>c</a:t>
            </a:r>
            <a:r>
              <a:rPr kumimoji="0" lang="en-US" sz="1800" b="0" i="0" u="none" strike="noStrike" kern="1200" cap="none" spc="0" normalizeH="0" baseline="0" noProof="0" dirty="0">
                <a:ln>
                  <a:noFill/>
                </a:ln>
                <a:solidFill>
                  <a:srgbClr val="FFFFFF"/>
                </a:solidFill>
                <a:effectLst/>
                <a:uLnTx/>
                <a:uFillTx/>
                <a:latin typeface="Calibri"/>
                <a:ea typeface="+mn-ea"/>
                <a:cs typeface="+mn-cs"/>
              </a:rPr>
              <a:t>solution</a:t>
            </a:r>
            <a:br>
              <a:rPr kumimoji="0" lang="en-US" sz="1800" b="0" i="0" u="none" strike="noStrike" kern="1200" cap="none" spc="0" normalizeH="0" baseline="0" noProof="0" dirty="0">
                <a:ln>
                  <a:noFill/>
                </a:ln>
                <a:solidFill>
                  <a:srgbClr val="FFFFFF"/>
                </a:solidFill>
                <a:effectLst/>
                <a:uLnTx/>
                <a:uFillTx/>
                <a:latin typeface="Calibri"/>
                <a:ea typeface="+mn-ea"/>
                <a:cs typeface="+mn-cs"/>
              </a:rPr>
            </a:br>
            <a:r>
              <a:rPr kumimoji="0" lang="en-US" sz="1800" b="0" i="0" u="none" strike="noStrike" kern="1200" cap="none" spc="0" normalizeH="0" baseline="0" noProof="0" dirty="0">
                <a:ln>
                  <a:noFill/>
                </a:ln>
                <a:solidFill>
                  <a:srgbClr val="FFFFFF"/>
                </a:solidFill>
                <a:effectLst/>
                <a:uLnTx/>
                <a:uFillTx/>
                <a:latin typeface="Calibri"/>
                <a:ea typeface="+mn-ea"/>
                <a:cs typeface="+mn-cs"/>
              </a:rPr>
              <a:t>CLI tool</a:t>
            </a: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4" name="Flowchart: Multidocument 23">
            <a:extLst>
              <a:ext uri="{FF2B5EF4-FFF2-40B4-BE49-F238E27FC236}">
                <a16:creationId xmlns:a16="http://schemas.microsoft.com/office/drawing/2014/main" id="{AC417908-17B4-4FD1-8070-B598BF19F8CD}"/>
              </a:ext>
            </a:extLst>
          </p:cNvPr>
          <p:cNvSpPr/>
          <p:nvPr/>
        </p:nvSpPr>
        <p:spPr>
          <a:xfrm>
            <a:off x="9468194" y="1216209"/>
            <a:ext cx="1449805" cy="1010653"/>
          </a:xfrm>
          <a:prstGeom prst="flowChartMulti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Project Build Files *.</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cprj</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for CMSIS-Build</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32" name="Arrow: Right 31">
            <a:extLst>
              <a:ext uri="{FF2B5EF4-FFF2-40B4-BE49-F238E27FC236}">
                <a16:creationId xmlns:a16="http://schemas.microsoft.com/office/drawing/2014/main" id="{8DCE06D2-5B11-472B-8D45-3B327EA1669E}"/>
              </a:ext>
            </a:extLst>
          </p:cNvPr>
          <p:cNvSpPr/>
          <p:nvPr/>
        </p:nvSpPr>
        <p:spPr>
          <a:xfrm>
            <a:off x="6625392" y="2805360"/>
            <a:ext cx="605587"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cxnSp>
        <p:nvCxnSpPr>
          <p:cNvPr id="41" name="Straight Arrow Connector 40">
            <a:extLst>
              <a:ext uri="{FF2B5EF4-FFF2-40B4-BE49-F238E27FC236}">
                <a16:creationId xmlns:a16="http://schemas.microsoft.com/office/drawing/2014/main" id="{096E6527-5486-468E-A7EE-221C5DA1818D}"/>
              </a:ext>
            </a:extLst>
          </p:cNvPr>
          <p:cNvCxnSpPr>
            <a:cxnSpLocks/>
          </p:cNvCxnSpPr>
          <p:nvPr/>
        </p:nvCxnSpPr>
        <p:spPr>
          <a:xfrm>
            <a:off x="5722046" y="953351"/>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0" name="Flowchart: Document 39">
            <a:extLst>
              <a:ext uri="{FF2B5EF4-FFF2-40B4-BE49-F238E27FC236}">
                <a16:creationId xmlns:a16="http://schemas.microsoft.com/office/drawing/2014/main" id="{45A8C818-51F2-492B-AD63-90062B0A3BE8}"/>
              </a:ext>
            </a:extLst>
          </p:cNvPr>
          <p:cNvSpPr/>
          <p:nvPr/>
        </p:nvSpPr>
        <p:spPr>
          <a:xfrm>
            <a:off x="2519492" y="733727"/>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Generic </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200" b="0" i="0" u="none" strike="noStrike" kern="1200" cap="none" spc="0" normalizeH="0" baseline="0" noProof="0" dirty="0">
                <a:ln>
                  <a:noFill/>
                </a:ln>
                <a:solidFill>
                  <a:srgbClr val="FFFFFF"/>
                </a:solidFill>
                <a:effectLst/>
                <a:uLnTx/>
                <a:uFillTx/>
                <a:latin typeface="Calibri"/>
                <a:ea typeface="+mn-ea"/>
                <a:cs typeface="+mn-cs"/>
              </a:rPr>
              <a:t>Software Packs</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with drivers,</a:t>
            </a:r>
            <a:r>
              <a:rPr kumimoji="0" lang="en-US" sz="1200" b="0" i="0" u="none" strike="noStrike" kern="1200" cap="none" spc="0" normalizeH="0" baseline="0" noProof="0" dirty="0">
                <a:ln>
                  <a:noFill/>
                </a:ln>
                <a:solidFill>
                  <a:srgbClr val="FFFFFF"/>
                </a:solidFill>
                <a:effectLst/>
                <a:uLnTx/>
                <a:uFillTx/>
                <a:latin typeface="Calibri"/>
                <a:ea typeface="+mn-ea"/>
                <a:cs typeface="+mn-cs"/>
              </a:rPr>
              <a:t> m</a:t>
            </a:r>
            <a:r>
              <a:rPr lang="en-US" sz="1100" dirty="0" err="1">
                <a:solidFill>
                  <a:srgbClr val="FFFFFF"/>
                </a:solidFill>
                <a:latin typeface="Calibri"/>
              </a:rPr>
              <a:t>iddleware</a:t>
            </a:r>
            <a:r>
              <a:rPr lang="en-US" sz="1100" dirty="0">
                <a:solidFill>
                  <a:srgbClr val="FFFFFF"/>
                </a:solidFill>
                <a:latin typeface="Calibri"/>
              </a:rPr>
              <a:t>, etc.</a:t>
            </a:r>
          </a:p>
        </p:txBody>
      </p:sp>
      <p:sp>
        <p:nvSpPr>
          <p:cNvPr id="28" name="Flowchart: Multidocument 27">
            <a:extLst>
              <a:ext uri="{FF2B5EF4-FFF2-40B4-BE49-F238E27FC236}">
                <a16:creationId xmlns:a16="http://schemas.microsoft.com/office/drawing/2014/main" id="{F0174EA1-F6A6-4697-8C2A-616FAACBE88C}"/>
              </a:ext>
            </a:extLst>
          </p:cNvPr>
          <p:cNvSpPr/>
          <p:nvPr/>
        </p:nvSpPr>
        <p:spPr>
          <a:xfrm>
            <a:off x="9507279" y="2608796"/>
            <a:ext cx="1449805" cy="1010653"/>
          </a:xfrm>
          <a:prstGeom prst="flowChartMulti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Project Resource Files *.</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fzone</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for template engines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31" name="Arrow: Right 30">
            <a:extLst>
              <a:ext uri="{FF2B5EF4-FFF2-40B4-BE49-F238E27FC236}">
                <a16:creationId xmlns:a16="http://schemas.microsoft.com/office/drawing/2014/main" id="{1F9E4950-7682-4A97-95D2-18A9AEA2F368}"/>
              </a:ext>
            </a:extLst>
          </p:cNvPr>
          <p:cNvSpPr/>
          <p:nvPr/>
        </p:nvSpPr>
        <p:spPr>
          <a:xfrm>
            <a:off x="8764993" y="3116160"/>
            <a:ext cx="508607"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2" name="Oval 1">
            <a:extLst>
              <a:ext uri="{FF2B5EF4-FFF2-40B4-BE49-F238E27FC236}">
                <a16:creationId xmlns:a16="http://schemas.microsoft.com/office/drawing/2014/main" id="{5E657FDB-C487-44EF-8E7D-F8175C5B588B}"/>
              </a:ext>
            </a:extLst>
          </p:cNvPr>
          <p:cNvSpPr/>
          <p:nvPr/>
        </p:nvSpPr>
        <p:spPr>
          <a:xfrm>
            <a:off x="4658702" y="94719"/>
            <a:ext cx="360000" cy="36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1</a:t>
            </a:r>
            <a:endParaRPr lang="en-GB" dirty="0">
              <a:latin typeface="Calibri" panose="020F0502020204030204" pitchFamily="34" charset="0"/>
              <a:cs typeface="Calibri" panose="020F0502020204030204" pitchFamily="34" charset="0"/>
            </a:endParaRPr>
          </a:p>
        </p:txBody>
      </p:sp>
      <p:sp>
        <p:nvSpPr>
          <p:cNvPr id="27" name="Oval 26">
            <a:extLst>
              <a:ext uri="{FF2B5EF4-FFF2-40B4-BE49-F238E27FC236}">
                <a16:creationId xmlns:a16="http://schemas.microsoft.com/office/drawing/2014/main" id="{81407B11-6AFE-4D8A-B305-BE0AABD77969}"/>
              </a:ext>
            </a:extLst>
          </p:cNvPr>
          <p:cNvSpPr/>
          <p:nvPr/>
        </p:nvSpPr>
        <p:spPr>
          <a:xfrm>
            <a:off x="4658702" y="1458298"/>
            <a:ext cx="360000" cy="36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2</a:t>
            </a:r>
            <a:endParaRPr lang="en-GB" dirty="0">
              <a:latin typeface="Calibri" panose="020F0502020204030204" pitchFamily="34" charset="0"/>
              <a:cs typeface="Calibri" panose="020F0502020204030204" pitchFamily="34" charset="0"/>
            </a:endParaRPr>
          </a:p>
        </p:txBody>
      </p:sp>
      <p:sp>
        <p:nvSpPr>
          <p:cNvPr id="33" name="Oval 32">
            <a:extLst>
              <a:ext uri="{FF2B5EF4-FFF2-40B4-BE49-F238E27FC236}">
                <a16:creationId xmlns:a16="http://schemas.microsoft.com/office/drawing/2014/main" id="{589149B6-4311-43B0-8FA0-27944C657D0D}"/>
              </a:ext>
            </a:extLst>
          </p:cNvPr>
          <p:cNvSpPr/>
          <p:nvPr/>
        </p:nvSpPr>
        <p:spPr>
          <a:xfrm>
            <a:off x="4655694" y="2754123"/>
            <a:ext cx="360000" cy="36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3</a:t>
            </a:r>
            <a:endParaRPr lang="en-GB" dirty="0">
              <a:latin typeface="Calibri" panose="020F0502020204030204" pitchFamily="34" charset="0"/>
              <a:cs typeface="Calibri" panose="020F0502020204030204" pitchFamily="34" charset="0"/>
            </a:endParaRPr>
          </a:p>
        </p:txBody>
      </p:sp>
      <p:sp>
        <p:nvSpPr>
          <p:cNvPr id="35" name="Oval 34">
            <a:extLst>
              <a:ext uri="{FF2B5EF4-FFF2-40B4-BE49-F238E27FC236}">
                <a16:creationId xmlns:a16="http://schemas.microsoft.com/office/drawing/2014/main" id="{46A578CD-9EE0-408B-A678-0EFB17AD42CF}"/>
              </a:ext>
            </a:extLst>
          </p:cNvPr>
          <p:cNvSpPr/>
          <p:nvPr/>
        </p:nvSpPr>
        <p:spPr>
          <a:xfrm>
            <a:off x="4655694" y="3963001"/>
            <a:ext cx="360000" cy="36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4</a:t>
            </a:r>
            <a:endParaRPr lang="en-GB" dirty="0">
              <a:latin typeface="Calibri" panose="020F0502020204030204" pitchFamily="34" charset="0"/>
              <a:cs typeface="Calibri" panose="020F0502020204030204" pitchFamily="34" charset="0"/>
            </a:endParaRPr>
          </a:p>
        </p:txBody>
      </p:sp>
      <p:sp>
        <p:nvSpPr>
          <p:cNvPr id="38" name="Flowchart: Document 37">
            <a:extLst>
              <a:ext uri="{FF2B5EF4-FFF2-40B4-BE49-F238E27FC236}">
                <a16:creationId xmlns:a16="http://schemas.microsoft.com/office/drawing/2014/main" id="{973775FC-78A5-4325-B535-441862918E54}"/>
              </a:ext>
            </a:extLst>
          </p:cNvPr>
          <p:cNvSpPr/>
          <p:nvPr/>
        </p:nvSpPr>
        <p:spPr>
          <a:xfrm>
            <a:off x="5050566" y="274719"/>
            <a:ext cx="1350233" cy="768017"/>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a:t>
            </a:r>
            <a:r>
              <a:rPr kumimoji="0" lang="en-US" sz="1200" b="0" i="0" u="none" strike="noStrike" kern="1200" cap="none" spc="0" normalizeH="0" baseline="0" noProof="0" dirty="0" err="1">
                <a:ln>
                  <a:noFill/>
                </a:ln>
                <a:solidFill>
                  <a:srgbClr val="FFFFFF"/>
                </a:solidFill>
                <a:effectLst/>
                <a:uLnTx/>
                <a:uFillTx/>
                <a:latin typeface="Calibri"/>
                <a:ea typeface="+mn-ea"/>
                <a:cs typeface="+mn-cs"/>
              </a:rPr>
              <a:t>cdefault.yml</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Global Settings</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(Toolchain)</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370F4CCE-2B1C-035A-5D4A-81B8A6DC1905}"/>
              </a:ext>
            </a:extLst>
          </p:cNvPr>
          <p:cNvSpPr/>
          <p:nvPr/>
        </p:nvSpPr>
        <p:spPr>
          <a:xfrm>
            <a:off x="9282684" y="2591828"/>
            <a:ext cx="1786691" cy="1377234"/>
          </a:xfrm>
          <a:prstGeom prst="rect">
            <a:avLst/>
          </a:prstGeom>
          <a:solidFill>
            <a:schemeClr val="bg1">
              <a:lumMod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1"/>
          <a:lstStyle/>
          <a:p>
            <a:pPr algn="ctr"/>
            <a:r>
              <a:rPr lang="en-US" dirty="0"/>
              <a:t>future extension</a:t>
            </a:r>
          </a:p>
        </p:txBody>
      </p:sp>
      <p:sp>
        <p:nvSpPr>
          <p:cNvPr id="4" name="Rectangle 3">
            <a:extLst>
              <a:ext uri="{FF2B5EF4-FFF2-40B4-BE49-F238E27FC236}">
                <a16:creationId xmlns:a16="http://schemas.microsoft.com/office/drawing/2014/main" id="{C5772D99-DFDE-63C8-ED0F-8913B54FFD71}"/>
              </a:ext>
            </a:extLst>
          </p:cNvPr>
          <p:cNvSpPr/>
          <p:nvPr/>
        </p:nvSpPr>
        <p:spPr>
          <a:xfrm>
            <a:off x="7230982" y="4990622"/>
            <a:ext cx="1540042" cy="1022685"/>
          </a:xfrm>
          <a:prstGeom prst="rect">
            <a:avLst/>
          </a:prstGeom>
          <a:solidFill>
            <a:schemeClr val="accent2">
              <a:lumMod val="50000"/>
              <a:lumOff val="5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dirty="0">
                <a:solidFill>
                  <a:srgbClr val="FFFFFF"/>
                </a:solidFill>
                <a:latin typeface="Calibri"/>
              </a:rPr>
              <a:t>Generator</a:t>
            </a: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8" name="Rectangle 7">
            <a:extLst>
              <a:ext uri="{FF2B5EF4-FFF2-40B4-BE49-F238E27FC236}">
                <a16:creationId xmlns:a16="http://schemas.microsoft.com/office/drawing/2014/main" id="{132D24B4-9144-7276-CA05-5F9E950F9163}"/>
              </a:ext>
            </a:extLst>
          </p:cNvPr>
          <p:cNvSpPr/>
          <p:nvPr/>
        </p:nvSpPr>
        <p:spPr>
          <a:xfrm>
            <a:off x="9283599" y="1175887"/>
            <a:ext cx="1786691" cy="1377234"/>
          </a:xfrm>
          <a:prstGeom prst="rect">
            <a:avLst/>
          </a:prstGeom>
          <a:solidFill>
            <a:schemeClr val="bg1">
              <a:lumMod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1"/>
          <a:lstStyle/>
          <a:p>
            <a:pPr algn="ctr"/>
            <a:r>
              <a:rPr lang="en-US" dirty="0"/>
              <a:t>legacy</a:t>
            </a:r>
          </a:p>
        </p:txBody>
      </p:sp>
      <p:sp>
        <p:nvSpPr>
          <p:cNvPr id="12" name="Flowchart: Multidocument 11">
            <a:extLst>
              <a:ext uri="{FF2B5EF4-FFF2-40B4-BE49-F238E27FC236}">
                <a16:creationId xmlns:a16="http://schemas.microsoft.com/office/drawing/2014/main" id="{C1D42684-F2E8-5ED1-A6D2-22AD5040CDD3}"/>
              </a:ext>
            </a:extLst>
          </p:cNvPr>
          <p:cNvSpPr/>
          <p:nvPr/>
        </p:nvSpPr>
        <p:spPr>
          <a:xfrm>
            <a:off x="5045059" y="5177583"/>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a:ln>
                  <a:noFill/>
                </a:ln>
                <a:solidFill>
                  <a:schemeClr val="bg2">
                    <a:lumMod val="25000"/>
                  </a:schemeClr>
                </a:solidFill>
                <a:effectLst/>
                <a:uLnTx/>
                <a:uFillTx/>
                <a:latin typeface="Calibri"/>
                <a:ea typeface="+mn-ea"/>
                <a:cs typeface="+mn-cs"/>
              </a:rPr>
              <a:t>genlayer.</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Defines generated</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project parts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3" name="Arrow: Right 12">
            <a:extLst>
              <a:ext uri="{FF2B5EF4-FFF2-40B4-BE49-F238E27FC236}">
                <a16:creationId xmlns:a16="http://schemas.microsoft.com/office/drawing/2014/main" id="{3C413814-5338-0CBB-0ADF-3392B8D26B35}"/>
              </a:ext>
            </a:extLst>
          </p:cNvPr>
          <p:cNvSpPr/>
          <p:nvPr/>
        </p:nvSpPr>
        <p:spPr>
          <a:xfrm rot="10800000">
            <a:off x="6488832" y="5414630"/>
            <a:ext cx="742146" cy="204536"/>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15" name="Arrow: Right 14">
            <a:extLst>
              <a:ext uri="{FF2B5EF4-FFF2-40B4-BE49-F238E27FC236}">
                <a16:creationId xmlns:a16="http://schemas.microsoft.com/office/drawing/2014/main" id="{405B82CE-AB85-0E73-D247-5FE9D420D9EF}"/>
              </a:ext>
            </a:extLst>
          </p:cNvPr>
          <p:cNvSpPr/>
          <p:nvPr/>
        </p:nvSpPr>
        <p:spPr>
          <a:xfrm rot="9005722">
            <a:off x="8747485" y="4640233"/>
            <a:ext cx="937026" cy="237456"/>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11" name="Flowchart: Document 10">
            <a:extLst>
              <a:ext uri="{FF2B5EF4-FFF2-40B4-BE49-F238E27FC236}">
                <a16:creationId xmlns:a16="http://schemas.microsoft.com/office/drawing/2014/main" id="{057A4819-CEB0-A8FD-8A56-C9A078D7B8A2}"/>
              </a:ext>
            </a:extLst>
          </p:cNvPr>
          <p:cNvSpPr/>
          <p:nvPr/>
        </p:nvSpPr>
        <p:spPr>
          <a:xfrm>
            <a:off x="9533850" y="4192534"/>
            <a:ext cx="1333416" cy="884321"/>
          </a:xfrm>
          <a:prstGeom prst="flowChart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cbuild.yml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Build information</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25" name="Straight Arrow Connector 24">
            <a:extLst>
              <a:ext uri="{FF2B5EF4-FFF2-40B4-BE49-F238E27FC236}">
                <a16:creationId xmlns:a16="http://schemas.microsoft.com/office/drawing/2014/main" id="{AE60EF65-4A79-4DC7-4A62-B477FD9D9B32}"/>
              </a:ext>
            </a:extLst>
          </p:cNvPr>
          <p:cNvCxnSpPr>
            <a:endCxn id="10" idx="1"/>
          </p:cNvCxnSpPr>
          <p:nvPr/>
        </p:nvCxnSpPr>
        <p:spPr>
          <a:xfrm>
            <a:off x="8764993" y="5682909"/>
            <a:ext cx="702617" cy="122745"/>
          </a:xfrm>
          <a:prstGeom prst="straightConnector1">
            <a:avLst/>
          </a:prstGeom>
          <a:ln w="38100">
            <a:prstDash val="sysDot"/>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DE55AD16-61F6-ECB7-E485-9CF75C1E3D3E}"/>
              </a:ext>
            </a:extLst>
          </p:cNvPr>
          <p:cNvSpPr/>
          <p:nvPr/>
        </p:nvSpPr>
        <p:spPr>
          <a:xfrm>
            <a:off x="2296169" y="3772280"/>
            <a:ext cx="1782539" cy="1377234"/>
          </a:xfrm>
          <a:prstGeom prst="rect">
            <a:avLst/>
          </a:prstGeom>
          <a:solidFill>
            <a:schemeClr val="bg1">
              <a:lumMod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1"/>
          <a:lstStyle/>
          <a:p>
            <a:pPr algn="ctr"/>
            <a:r>
              <a:rPr lang="en-US" dirty="0"/>
              <a:t>future extension</a:t>
            </a:r>
          </a:p>
        </p:txBody>
      </p:sp>
    </p:spTree>
    <p:extLst>
      <p:ext uri="{BB962C8B-B14F-4D97-AF65-F5344CB8AC3E}">
        <p14:creationId xmlns:p14="http://schemas.microsoft.com/office/powerpoint/2010/main" val="930777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2D999F79-03CB-B2A2-3091-A6068754E255}"/>
              </a:ext>
            </a:extLst>
          </p:cNvPr>
          <p:cNvSpPr/>
          <p:nvPr/>
        </p:nvSpPr>
        <p:spPr>
          <a:xfrm>
            <a:off x="6832020" y="1212527"/>
            <a:ext cx="2293229" cy="127635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nchorCtr="0"/>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000" kern="1200" dirty="0">
                <a:solidFill>
                  <a:schemeClr val="tx2"/>
                </a:solidFill>
                <a:latin typeface="+mn-lt"/>
                <a:ea typeface="+mn-ea"/>
                <a:cs typeface="+mn-cs"/>
              </a:rPr>
              <a:t>Default options for AC6, GCC, IAR, LLVM</a:t>
            </a:r>
          </a:p>
        </p:txBody>
      </p:sp>
      <p:sp>
        <p:nvSpPr>
          <p:cNvPr id="29" name="Rectangle 28">
            <a:extLst>
              <a:ext uri="{FF2B5EF4-FFF2-40B4-BE49-F238E27FC236}">
                <a16:creationId xmlns:a16="http://schemas.microsoft.com/office/drawing/2014/main" id="{EC3CC268-843C-42DC-9FAB-259824F90297}"/>
              </a:ext>
            </a:extLst>
          </p:cNvPr>
          <p:cNvSpPr/>
          <p:nvPr/>
        </p:nvSpPr>
        <p:spPr>
          <a:xfrm>
            <a:off x="9273600" y="1212528"/>
            <a:ext cx="1786690" cy="3956387"/>
          </a:xfrm>
          <a:prstGeom prst="rect">
            <a:avLst/>
          </a:prstGeom>
          <a:solidFill>
            <a:schemeClr val="accent5">
              <a:lumMod val="40000"/>
              <a:lumOff val="6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8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Output Files</a:t>
            </a:r>
          </a:p>
        </p:txBody>
      </p:sp>
      <p:sp>
        <p:nvSpPr>
          <p:cNvPr id="26" name="Arrow: Right 25">
            <a:extLst>
              <a:ext uri="{FF2B5EF4-FFF2-40B4-BE49-F238E27FC236}">
                <a16:creationId xmlns:a16="http://schemas.microsoft.com/office/drawing/2014/main" id="{553DF65A-F969-41EF-89B5-09CAFF0CC328}"/>
              </a:ext>
            </a:extLst>
          </p:cNvPr>
          <p:cNvSpPr/>
          <p:nvPr/>
        </p:nvSpPr>
        <p:spPr>
          <a:xfrm>
            <a:off x="4078708" y="3308705"/>
            <a:ext cx="3146258"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22" name="Rectangle 21">
            <a:extLst>
              <a:ext uri="{FF2B5EF4-FFF2-40B4-BE49-F238E27FC236}">
                <a16:creationId xmlns:a16="http://schemas.microsoft.com/office/drawing/2014/main" id="{5487FEAB-7D2D-4E65-8BF8-9C55DAECCD8A}"/>
              </a:ext>
            </a:extLst>
          </p:cNvPr>
          <p:cNvSpPr/>
          <p:nvPr/>
        </p:nvSpPr>
        <p:spPr>
          <a:xfrm>
            <a:off x="4838702" y="1216862"/>
            <a:ext cx="1786690" cy="3956387"/>
          </a:xfrm>
          <a:prstGeom prst="rect">
            <a:avLst/>
          </a:prstGeom>
          <a:solidFill>
            <a:schemeClr val="accent3">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lang="en-US" b="1" dirty="0">
                <a:solidFill>
                  <a:srgbClr val="333E48"/>
                </a:solidFill>
                <a:latin typeface="Calibri"/>
                <a:ea typeface="ＭＳ Ｐゴシック" panose="020B0600070205080204" pitchFamily="34" charset="-128"/>
              </a:rPr>
              <a:t>c</a:t>
            </a:r>
            <a:r>
              <a:rPr kumimoji="0" lang="en-US" sz="1800" b="1" i="0" u="none" strike="noStrike" kern="1200" cap="none" spc="0" normalizeH="0" baseline="0" noProof="0">
                <a:ln>
                  <a:noFill/>
                </a:ln>
                <a:solidFill>
                  <a:srgbClr val="333E48"/>
                </a:solidFill>
                <a:effectLst/>
                <a:uLnTx/>
                <a:uFillTx/>
                <a:latin typeface="Calibri"/>
                <a:ea typeface="ＭＳ Ｐゴシック" panose="020B0600070205080204" pitchFamily="34" charset="-128"/>
                <a:cs typeface="+mn-cs"/>
              </a:rPr>
              <a:t>solution </a:t>
            </a:r>
            <a:r>
              <a:rPr kumimoji="0" lang="en-US" sz="18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project</a:t>
            </a:r>
          </a:p>
        </p:txBody>
      </p:sp>
      <p:sp>
        <p:nvSpPr>
          <p:cNvPr id="21" name="Rectangle 20">
            <a:extLst>
              <a:ext uri="{FF2B5EF4-FFF2-40B4-BE49-F238E27FC236}">
                <a16:creationId xmlns:a16="http://schemas.microsoft.com/office/drawing/2014/main" id="{0F8F6D10-7E91-4D68-8F46-4EF0F023AF1B}"/>
              </a:ext>
            </a:extLst>
          </p:cNvPr>
          <p:cNvSpPr/>
          <p:nvPr/>
        </p:nvSpPr>
        <p:spPr>
          <a:xfrm>
            <a:off x="2832217" y="1230077"/>
            <a:ext cx="1786690" cy="393883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8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Software Packs</a:t>
            </a:r>
          </a:p>
        </p:txBody>
      </p:sp>
      <p:sp>
        <p:nvSpPr>
          <p:cNvPr id="6" name="Flowchart: Document 5">
            <a:extLst>
              <a:ext uri="{FF2B5EF4-FFF2-40B4-BE49-F238E27FC236}">
                <a16:creationId xmlns:a16="http://schemas.microsoft.com/office/drawing/2014/main" id="{05CB531E-7400-4A1A-9853-81AF2D7E5608}"/>
              </a:ext>
            </a:extLst>
          </p:cNvPr>
          <p:cNvSpPr/>
          <p:nvPr/>
        </p:nvSpPr>
        <p:spPr>
          <a:xfrm>
            <a:off x="5045330" y="1638298"/>
            <a:ext cx="1333416" cy="884321"/>
          </a:xfrm>
          <a:prstGeom prst="flowChartDocumen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csolution.yml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Target (Device, Board) Build (Debug, Release) </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7" name="Flowchart: Multidocument 6">
            <a:extLst>
              <a:ext uri="{FF2B5EF4-FFF2-40B4-BE49-F238E27FC236}">
                <a16:creationId xmlns:a16="http://schemas.microsoft.com/office/drawing/2014/main" id="{0FCC1B91-99A1-4E45-AE23-2D8F8B8DFEBE}"/>
              </a:ext>
            </a:extLst>
          </p:cNvPr>
          <p:cNvSpPr/>
          <p:nvPr/>
        </p:nvSpPr>
        <p:spPr>
          <a:xfrm>
            <a:off x="5002732" y="2755225"/>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cproject.yml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Manages </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independent</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projects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0" name="Flowchart: Multidocument 9">
            <a:extLst>
              <a:ext uri="{FF2B5EF4-FFF2-40B4-BE49-F238E27FC236}">
                <a16:creationId xmlns:a16="http://schemas.microsoft.com/office/drawing/2014/main" id="{063DD4F5-6984-4CA0-9BAE-639DAB72225F}"/>
              </a:ext>
            </a:extLst>
          </p:cNvPr>
          <p:cNvSpPr/>
          <p:nvPr/>
        </p:nvSpPr>
        <p:spPr>
          <a:xfrm>
            <a:off x="9468194" y="3966403"/>
            <a:ext cx="1449805" cy="1010653"/>
          </a:xfrm>
          <a:prstGeom prst="flowChartMulti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a:solidFill>
                  <a:schemeClr val="bg2">
                    <a:lumMod val="25000"/>
                  </a:schemeClr>
                </a:solidFill>
                <a:latin typeface="Calibri"/>
              </a:rPr>
              <a:t>Run-Time Environment (RTE)</a:t>
            </a:r>
            <a:br>
              <a:rPr lang="en-US" sz="1000" dirty="0">
                <a:solidFill>
                  <a:schemeClr val="bg2">
                    <a:lumMod val="25000"/>
                  </a:schemeClr>
                </a:solidFill>
                <a:latin typeface="Calibri"/>
              </a:rPr>
            </a:br>
            <a:r>
              <a:rPr lang="en-US" sz="1000" dirty="0">
                <a:solidFill>
                  <a:schemeClr val="bg2">
                    <a:lumMod val="25000"/>
                  </a:schemeClr>
                </a:solidFill>
                <a:latin typeface="Calibri"/>
              </a:rPr>
              <a:t>(config files*.c / *.h)</a:t>
            </a:r>
            <a:br>
              <a:rPr lang="en-US" sz="1200" dirty="0">
                <a:solidFill>
                  <a:schemeClr val="bg2">
                    <a:lumMod val="25000"/>
                  </a:schemeClr>
                </a:solidFill>
                <a:latin typeface="Calibri"/>
              </a:rPr>
            </a:br>
            <a:endParaRPr kumimoji="0" lang="en-GB" sz="12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14" name="Straight Arrow Connector 13">
            <a:extLst>
              <a:ext uri="{FF2B5EF4-FFF2-40B4-BE49-F238E27FC236}">
                <a16:creationId xmlns:a16="http://schemas.microsoft.com/office/drawing/2014/main" id="{0CA20441-F3C2-440A-892E-1359E8990DC5}"/>
              </a:ext>
            </a:extLst>
          </p:cNvPr>
          <p:cNvCxnSpPr>
            <a:cxnSpLocks/>
          </p:cNvCxnSpPr>
          <p:nvPr/>
        </p:nvCxnSpPr>
        <p:spPr>
          <a:xfrm>
            <a:off x="5693030" y="2478504"/>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700C784-4ABC-4B94-A393-C72FD280887C}"/>
              </a:ext>
            </a:extLst>
          </p:cNvPr>
          <p:cNvCxnSpPr>
            <a:cxnSpLocks/>
          </p:cNvCxnSpPr>
          <p:nvPr/>
        </p:nvCxnSpPr>
        <p:spPr>
          <a:xfrm>
            <a:off x="5713083" y="3695699"/>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 name="Flowchart: Multidocument 17">
            <a:extLst>
              <a:ext uri="{FF2B5EF4-FFF2-40B4-BE49-F238E27FC236}">
                <a16:creationId xmlns:a16="http://schemas.microsoft.com/office/drawing/2014/main" id="{F193B99D-00C8-43D5-A8CC-0E46D2AFFC10}"/>
              </a:ext>
            </a:extLst>
          </p:cNvPr>
          <p:cNvSpPr/>
          <p:nvPr/>
        </p:nvSpPr>
        <p:spPr>
          <a:xfrm>
            <a:off x="5052863" y="3966404"/>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clayer.yml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Defines re-usable project parts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9" name="Flowchart: Document 18">
            <a:extLst>
              <a:ext uri="{FF2B5EF4-FFF2-40B4-BE49-F238E27FC236}">
                <a16:creationId xmlns:a16="http://schemas.microsoft.com/office/drawing/2014/main" id="{D63E43D9-EAD2-43AD-B647-C5A8C4326FDF}"/>
              </a:ext>
            </a:extLst>
          </p:cNvPr>
          <p:cNvSpPr/>
          <p:nvPr/>
        </p:nvSpPr>
        <p:spPr>
          <a:xfrm>
            <a:off x="3073245" y="3966404"/>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Device Family Pack (DFP)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a:ea typeface="+mn-ea"/>
                <a:cs typeface="+mn-cs"/>
              </a:rPr>
              <a:t>Defines device</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properties</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0" name="Flowchart: Document 19">
            <a:extLst>
              <a:ext uri="{FF2B5EF4-FFF2-40B4-BE49-F238E27FC236}">
                <a16:creationId xmlns:a16="http://schemas.microsoft.com/office/drawing/2014/main" id="{E8D155CF-279C-4302-9DE1-8F6B8DB4D1F4}"/>
              </a:ext>
            </a:extLst>
          </p:cNvPr>
          <p:cNvSpPr/>
          <p:nvPr/>
        </p:nvSpPr>
        <p:spPr>
          <a:xfrm>
            <a:off x="3054439" y="2752894"/>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Board Support Pack (BSP)</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Defines board</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properties</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3" name="Rectangle 22">
            <a:extLst>
              <a:ext uri="{FF2B5EF4-FFF2-40B4-BE49-F238E27FC236}">
                <a16:creationId xmlns:a16="http://schemas.microsoft.com/office/drawing/2014/main" id="{8119DA75-D395-4806-9923-A60C1658B62A}"/>
              </a:ext>
            </a:extLst>
          </p:cNvPr>
          <p:cNvSpPr/>
          <p:nvPr/>
        </p:nvSpPr>
        <p:spPr>
          <a:xfrm>
            <a:off x="7230982" y="2652984"/>
            <a:ext cx="1540042" cy="1022685"/>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a:solidFill>
                  <a:srgbClr val="FFFFFF"/>
                </a:solidFill>
                <a:latin typeface="Calibri"/>
              </a:rPr>
              <a:t>c</a:t>
            </a:r>
            <a:r>
              <a:rPr kumimoji="0" lang="en-US" sz="1800" b="1" i="0" u="none" strike="noStrike" kern="1200" cap="none" spc="0" normalizeH="0" baseline="0" noProof="0" dirty="0">
                <a:ln>
                  <a:noFill/>
                </a:ln>
                <a:solidFill>
                  <a:srgbClr val="FFFFFF"/>
                </a:solidFill>
                <a:effectLst/>
                <a:uLnTx/>
                <a:uFillTx/>
                <a:latin typeface="Calibri"/>
                <a:ea typeface="+mn-ea"/>
                <a:cs typeface="+mn-cs"/>
              </a:rPr>
              <a:t>solution</a:t>
            </a:r>
            <a:br>
              <a:rPr kumimoji="0" lang="en-US" sz="1800" b="1"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CMSIS Project Manager</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4" name="Flowchart: Multidocument 23">
            <a:extLst>
              <a:ext uri="{FF2B5EF4-FFF2-40B4-BE49-F238E27FC236}">
                <a16:creationId xmlns:a16="http://schemas.microsoft.com/office/drawing/2014/main" id="{AC417908-17B4-4FD1-8070-B598BF19F8CD}"/>
              </a:ext>
            </a:extLst>
          </p:cNvPr>
          <p:cNvSpPr/>
          <p:nvPr/>
        </p:nvSpPr>
        <p:spPr>
          <a:xfrm>
            <a:off x="9442042" y="1633448"/>
            <a:ext cx="1449805" cy="1010653"/>
          </a:xfrm>
          <a:prstGeom prst="flowChartMulti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cbuild-idx.yml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cbuild.yml</a:t>
            </a: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Build Information</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32" name="Arrow: Right 31">
            <a:extLst>
              <a:ext uri="{FF2B5EF4-FFF2-40B4-BE49-F238E27FC236}">
                <a16:creationId xmlns:a16="http://schemas.microsoft.com/office/drawing/2014/main" id="{8DCE06D2-5B11-472B-8D45-3B327EA1669E}"/>
              </a:ext>
            </a:extLst>
          </p:cNvPr>
          <p:cNvSpPr/>
          <p:nvPr/>
        </p:nvSpPr>
        <p:spPr>
          <a:xfrm>
            <a:off x="6625392" y="2763273"/>
            <a:ext cx="605587"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cxnSp>
        <p:nvCxnSpPr>
          <p:cNvPr id="41" name="Straight Arrow Connector 40">
            <a:extLst>
              <a:ext uri="{FF2B5EF4-FFF2-40B4-BE49-F238E27FC236}">
                <a16:creationId xmlns:a16="http://schemas.microsoft.com/office/drawing/2014/main" id="{096E6527-5486-468E-A7EE-221C5DA1818D}"/>
              </a:ext>
            </a:extLst>
          </p:cNvPr>
          <p:cNvCxnSpPr>
            <a:cxnSpLocks/>
            <a:endCxn id="23" idx="0"/>
          </p:cNvCxnSpPr>
          <p:nvPr/>
        </p:nvCxnSpPr>
        <p:spPr>
          <a:xfrm flipH="1">
            <a:off x="8001003" y="2101236"/>
            <a:ext cx="2949" cy="551748"/>
          </a:xfrm>
          <a:prstGeom prst="straightConnector1">
            <a:avLst/>
          </a:prstGeom>
          <a:ln w="38100">
            <a:prstDash val="sysDot"/>
            <a:tailEnd type="triangle"/>
          </a:ln>
        </p:spPr>
        <p:style>
          <a:lnRef idx="1">
            <a:schemeClr val="accent1"/>
          </a:lnRef>
          <a:fillRef idx="0">
            <a:schemeClr val="accent1"/>
          </a:fillRef>
          <a:effectRef idx="0">
            <a:schemeClr val="accent1"/>
          </a:effectRef>
          <a:fontRef idx="minor">
            <a:schemeClr val="tx1"/>
          </a:fontRef>
        </p:style>
      </p:cxnSp>
      <p:sp>
        <p:nvSpPr>
          <p:cNvPr id="40" name="Flowchart: Document 39">
            <a:extLst>
              <a:ext uri="{FF2B5EF4-FFF2-40B4-BE49-F238E27FC236}">
                <a16:creationId xmlns:a16="http://schemas.microsoft.com/office/drawing/2014/main" id="{45A8C818-51F2-492B-AD63-90062B0A3BE8}"/>
              </a:ext>
            </a:extLst>
          </p:cNvPr>
          <p:cNvSpPr/>
          <p:nvPr/>
        </p:nvSpPr>
        <p:spPr>
          <a:xfrm>
            <a:off x="3059040" y="1648895"/>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Generic </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200" b="0" i="0" u="none" strike="noStrike" kern="1200" cap="none" spc="0" normalizeH="0" baseline="0" noProof="0" dirty="0">
                <a:ln>
                  <a:noFill/>
                </a:ln>
                <a:solidFill>
                  <a:srgbClr val="FFFFFF"/>
                </a:solidFill>
                <a:effectLst/>
                <a:uLnTx/>
                <a:uFillTx/>
                <a:latin typeface="Calibri"/>
                <a:ea typeface="+mn-ea"/>
                <a:cs typeface="+mn-cs"/>
              </a:rPr>
              <a:t>Software Packs</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with drivers,</a:t>
            </a:r>
            <a:r>
              <a:rPr kumimoji="0" lang="en-US" sz="1200" b="0" i="0" u="none" strike="noStrike" kern="1200" cap="none" spc="0" normalizeH="0" baseline="0" noProof="0" dirty="0">
                <a:ln>
                  <a:noFill/>
                </a:ln>
                <a:solidFill>
                  <a:srgbClr val="FFFFFF"/>
                </a:solidFill>
                <a:effectLst/>
                <a:uLnTx/>
                <a:uFillTx/>
                <a:latin typeface="Calibri"/>
                <a:ea typeface="+mn-ea"/>
                <a:cs typeface="+mn-cs"/>
              </a:rPr>
              <a:t> m</a:t>
            </a:r>
            <a:r>
              <a:rPr lang="en-US" sz="1100" dirty="0" err="1">
                <a:solidFill>
                  <a:srgbClr val="FFFFFF"/>
                </a:solidFill>
                <a:latin typeface="Calibri"/>
              </a:rPr>
              <a:t>iddleware</a:t>
            </a:r>
            <a:r>
              <a:rPr lang="en-US" sz="1100" dirty="0">
                <a:solidFill>
                  <a:srgbClr val="FFFFFF"/>
                </a:solidFill>
                <a:latin typeface="Calibri"/>
              </a:rPr>
              <a:t>, etc.</a:t>
            </a:r>
          </a:p>
        </p:txBody>
      </p:sp>
      <p:sp>
        <p:nvSpPr>
          <p:cNvPr id="31" name="Arrow: Right 30">
            <a:extLst>
              <a:ext uri="{FF2B5EF4-FFF2-40B4-BE49-F238E27FC236}">
                <a16:creationId xmlns:a16="http://schemas.microsoft.com/office/drawing/2014/main" id="{1F9E4950-7682-4A97-95D2-18A9AEA2F368}"/>
              </a:ext>
            </a:extLst>
          </p:cNvPr>
          <p:cNvSpPr/>
          <p:nvPr/>
        </p:nvSpPr>
        <p:spPr>
          <a:xfrm>
            <a:off x="8764993" y="3074073"/>
            <a:ext cx="508607"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38" name="Flowchart: Document 37">
            <a:extLst>
              <a:ext uri="{FF2B5EF4-FFF2-40B4-BE49-F238E27FC236}">
                <a16:creationId xmlns:a16="http://schemas.microsoft.com/office/drawing/2014/main" id="{973775FC-78A5-4325-B535-441862918E54}"/>
              </a:ext>
            </a:extLst>
          </p:cNvPr>
          <p:cNvSpPr/>
          <p:nvPr/>
        </p:nvSpPr>
        <p:spPr>
          <a:xfrm>
            <a:off x="7332472" y="1541480"/>
            <a:ext cx="1350233" cy="80474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err="1">
                <a:ln>
                  <a:noFill/>
                </a:ln>
                <a:solidFill>
                  <a:srgbClr val="FFFFFF"/>
                </a:solidFill>
                <a:effectLst/>
                <a:uLnTx/>
                <a:uFillTx/>
                <a:latin typeface="Calibri"/>
                <a:ea typeface="+mn-ea"/>
                <a:cs typeface="+mn-cs"/>
              </a:rPr>
              <a:t>cdefault.yml</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Global Toolchain Settings</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34" name="TextBox 33">
            <a:extLst>
              <a:ext uri="{FF2B5EF4-FFF2-40B4-BE49-F238E27FC236}">
                <a16:creationId xmlns:a16="http://schemas.microsoft.com/office/drawing/2014/main" id="{D8C95C4F-468A-6AB9-3B12-1CD9F328CDC3}"/>
              </a:ext>
            </a:extLst>
          </p:cNvPr>
          <p:cNvSpPr txBox="1"/>
          <p:nvPr/>
        </p:nvSpPr>
        <p:spPr>
          <a:xfrm>
            <a:off x="7224965" y="5247270"/>
            <a:ext cx="4989166" cy="1384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000" b="1" kern="1200" dirty="0">
                <a:solidFill>
                  <a:schemeClr val="tx2"/>
                </a:solidFill>
                <a:latin typeface="+mn-lt"/>
                <a:ea typeface="+mn-ea"/>
                <a:cs typeface="+mn-cs"/>
              </a:rPr>
              <a:t>Note: </a:t>
            </a:r>
            <a:r>
              <a:rPr lang="en-US" sz="1000" kern="1200" dirty="0">
                <a:solidFill>
                  <a:schemeClr val="tx2"/>
                </a:solidFill>
                <a:latin typeface="+mn-lt"/>
                <a:ea typeface="+mn-ea"/>
                <a:cs typeface="+mn-cs"/>
              </a:rPr>
              <a:t>Optionally memory information for Linker Scatter Files</a:t>
            </a:r>
            <a:r>
              <a:rPr lang="en-US" sz="1000" dirty="0">
                <a:solidFill>
                  <a:schemeClr val="tx2"/>
                </a:solidFill>
              </a:rPr>
              <a:t> </a:t>
            </a:r>
            <a:r>
              <a:rPr lang="en-US" sz="1000" kern="1200" dirty="0">
                <a:solidFill>
                  <a:schemeClr val="tx2"/>
                </a:solidFill>
                <a:latin typeface="+mn-lt"/>
                <a:ea typeface="+mn-ea"/>
                <a:cs typeface="+mn-cs"/>
              </a:rPr>
              <a:t>is generated.</a:t>
            </a:r>
          </a:p>
        </p:txBody>
      </p:sp>
      <p:sp>
        <p:nvSpPr>
          <p:cNvPr id="2" name="Rectangle 1">
            <a:extLst>
              <a:ext uri="{FF2B5EF4-FFF2-40B4-BE49-F238E27FC236}">
                <a16:creationId xmlns:a16="http://schemas.microsoft.com/office/drawing/2014/main" id="{D5B674A0-813F-75ED-5461-A29A125B9686}"/>
              </a:ext>
            </a:extLst>
          </p:cNvPr>
          <p:cNvSpPr/>
          <p:nvPr/>
        </p:nvSpPr>
        <p:spPr>
          <a:xfrm>
            <a:off x="6832020" y="3854137"/>
            <a:ext cx="2293229" cy="132021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b" anchorCtr="0"/>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000" dirty="0">
                <a:solidFill>
                  <a:schemeClr val="tx2"/>
                </a:solidFill>
              </a:rPr>
              <a:t>Reproducible builds on different hosts</a:t>
            </a:r>
            <a:endParaRPr lang="en-US" sz="1000" kern="1200" dirty="0">
              <a:solidFill>
                <a:schemeClr val="tx2"/>
              </a:solidFill>
              <a:latin typeface="+mn-lt"/>
              <a:ea typeface="+mn-ea"/>
              <a:cs typeface="+mn-cs"/>
            </a:endParaRPr>
          </a:p>
        </p:txBody>
      </p:sp>
      <p:cxnSp>
        <p:nvCxnSpPr>
          <p:cNvPr id="4" name="Straight Arrow Connector 3">
            <a:extLst>
              <a:ext uri="{FF2B5EF4-FFF2-40B4-BE49-F238E27FC236}">
                <a16:creationId xmlns:a16="http://schemas.microsoft.com/office/drawing/2014/main" id="{BB5F8D21-824B-36AB-951D-435AED871410}"/>
              </a:ext>
            </a:extLst>
          </p:cNvPr>
          <p:cNvCxnSpPr>
            <a:cxnSpLocks/>
          </p:cNvCxnSpPr>
          <p:nvPr/>
        </p:nvCxnSpPr>
        <p:spPr>
          <a:xfrm flipV="1">
            <a:off x="7996142" y="3675669"/>
            <a:ext cx="0" cy="407400"/>
          </a:xfrm>
          <a:prstGeom prst="straightConnector1">
            <a:avLst/>
          </a:prstGeom>
          <a:ln w="38100">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Flowchart: Document 10">
            <a:extLst>
              <a:ext uri="{FF2B5EF4-FFF2-40B4-BE49-F238E27FC236}">
                <a16:creationId xmlns:a16="http://schemas.microsoft.com/office/drawing/2014/main" id="{057A4819-CEB0-A8FD-8A56-C9A078D7B8A2}"/>
              </a:ext>
            </a:extLst>
          </p:cNvPr>
          <p:cNvSpPr/>
          <p:nvPr/>
        </p:nvSpPr>
        <p:spPr>
          <a:xfrm>
            <a:off x="9516415" y="2849356"/>
            <a:ext cx="1333416" cy="884321"/>
          </a:xfrm>
          <a:prstGeom prst="flowChart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cbuild-run.yml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lang="en-US" sz="1000" dirty="0">
                <a:solidFill>
                  <a:schemeClr val="bg2">
                    <a:lumMod val="25000"/>
                  </a:schemeClr>
                </a:solidFill>
                <a:latin typeface="Calibri"/>
              </a:rPr>
              <a:t>Configuration for</a:t>
            </a:r>
            <a:br>
              <a:rPr lang="en-US" sz="1000" dirty="0">
                <a:solidFill>
                  <a:schemeClr val="bg2">
                    <a:lumMod val="25000"/>
                  </a:schemeClr>
                </a:solidFill>
                <a:latin typeface="Calibri"/>
              </a:rPr>
            </a:br>
            <a:r>
              <a:rPr lang="en-US" sz="1000" dirty="0">
                <a:solidFill>
                  <a:schemeClr val="bg2">
                    <a:lumMod val="25000"/>
                  </a:schemeClr>
                </a:solidFill>
                <a:latin typeface="Calibri"/>
              </a:rPr>
              <a:t>programmer and debugger</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8" name="Flowchart: Document 7">
            <a:extLst>
              <a:ext uri="{FF2B5EF4-FFF2-40B4-BE49-F238E27FC236}">
                <a16:creationId xmlns:a16="http://schemas.microsoft.com/office/drawing/2014/main" id="{33C7AE6F-8170-5A8F-96DA-02DD29AD49C5}"/>
              </a:ext>
            </a:extLst>
          </p:cNvPr>
          <p:cNvSpPr/>
          <p:nvPr/>
        </p:nvSpPr>
        <p:spPr>
          <a:xfrm>
            <a:off x="7321025" y="4092416"/>
            <a:ext cx="1350233" cy="80474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a:t>
            </a:r>
            <a:r>
              <a:rPr lang="en-US" sz="1200" dirty="0" err="1">
                <a:solidFill>
                  <a:srgbClr val="FFFFFF"/>
                </a:solidFill>
                <a:latin typeface="Calibri"/>
              </a:rPr>
              <a:t>cbuild</a:t>
            </a:r>
            <a:r>
              <a:rPr lang="en-US" sz="1200" dirty="0">
                <a:solidFill>
                  <a:srgbClr val="FFFFFF"/>
                </a:solidFill>
                <a:latin typeface="Calibri"/>
              </a:rPr>
              <a:t>-pack</a:t>
            </a:r>
            <a:r>
              <a:rPr kumimoji="0" lang="en-US" sz="1200" b="0" i="0" u="none" strike="noStrike" kern="1200" cap="none" spc="0" normalizeH="0" baseline="0" noProof="0" dirty="0">
                <a:ln>
                  <a:noFill/>
                </a:ln>
                <a:solidFill>
                  <a:srgbClr val="FFFFFF"/>
                </a:solidFill>
                <a:effectLst/>
                <a:uLnTx/>
                <a:uFillTx/>
                <a:latin typeface="Calibri"/>
                <a:ea typeface="+mn-ea"/>
                <a:cs typeface="+mn-cs"/>
              </a:rPr>
              <a:t>.</a:t>
            </a:r>
            <a:r>
              <a:rPr kumimoji="0" lang="en-US" sz="1200" b="0" i="0" u="none" strike="noStrike" kern="1200" cap="none" spc="0" normalizeH="0" baseline="0" noProof="0" dirty="0" err="1">
                <a:ln>
                  <a:noFill/>
                </a:ln>
                <a:solidFill>
                  <a:srgbClr val="FFFFFF"/>
                </a:solidFill>
                <a:effectLst/>
                <a:uLnTx/>
                <a:uFillTx/>
                <a:latin typeface="Calibri"/>
                <a:ea typeface="+mn-ea"/>
                <a:cs typeface="+mn-cs"/>
              </a:rPr>
              <a:t>yml</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Pack </a:t>
            </a:r>
            <a:r>
              <a:rPr lang="en-US" sz="1000" dirty="0">
                <a:solidFill>
                  <a:srgbClr val="FFFFFF"/>
                </a:solidFill>
                <a:latin typeface="Calibri"/>
              </a:rPr>
              <a:t>version</a:t>
            </a:r>
            <a:br>
              <a:rPr lang="en-US" sz="1000" dirty="0">
                <a:solidFill>
                  <a:srgbClr val="FFFFFF"/>
                </a:solidFill>
                <a:latin typeface="Calibri"/>
              </a:rPr>
            </a:br>
            <a:r>
              <a:rPr lang="en-US" sz="1000" dirty="0">
                <a:solidFill>
                  <a:srgbClr val="FFFFFF"/>
                </a:solidFill>
                <a:latin typeface="Calibri"/>
              </a:rPr>
              <a:t>locking</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24698139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Arrow: Right 31">
            <a:extLst>
              <a:ext uri="{FF2B5EF4-FFF2-40B4-BE49-F238E27FC236}">
                <a16:creationId xmlns:a16="http://schemas.microsoft.com/office/drawing/2014/main" id="{8DCE06D2-5B11-472B-8D45-3B327EA1669E}"/>
              </a:ext>
            </a:extLst>
          </p:cNvPr>
          <p:cNvSpPr/>
          <p:nvPr/>
        </p:nvSpPr>
        <p:spPr>
          <a:xfrm>
            <a:off x="6625392" y="3053516"/>
            <a:ext cx="605587"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29" name="Rectangle 28">
            <a:extLst>
              <a:ext uri="{FF2B5EF4-FFF2-40B4-BE49-F238E27FC236}">
                <a16:creationId xmlns:a16="http://schemas.microsoft.com/office/drawing/2014/main" id="{EC3CC268-843C-42DC-9FAB-259824F90297}"/>
              </a:ext>
            </a:extLst>
          </p:cNvPr>
          <p:cNvSpPr/>
          <p:nvPr/>
        </p:nvSpPr>
        <p:spPr>
          <a:xfrm>
            <a:off x="4849688" y="1212527"/>
            <a:ext cx="1786690" cy="3956387"/>
          </a:xfrm>
          <a:prstGeom prst="rect">
            <a:avLst/>
          </a:prstGeom>
          <a:solidFill>
            <a:schemeClr val="accent5">
              <a:lumMod val="40000"/>
              <a:lumOff val="6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6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Generator Information</a:t>
            </a:r>
          </a:p>
        </p:txBody>
      </p:sp>
      <p:sp>
        <p:nvSpPr>
          <p:cNvPr id="22" name="Rectangle 21">
            <a:extLst>
              <a:ext uri="{FF2B5EF4-FFF2-40B4-BE49-F238E27FC236}">
                <a16:creationId xmlns:a16="http://schemas.microsoft.com/office/drawing/2014/main" id="{5487FEAB-7D2D-4E65-8BF8-9C55DAECCD8A}"/>
              </a:ext>
            </a:extLst>
          </p:cNvPr>
          <p:cNvSpPr/>
          <p:nvPr/>
        </p:nvSpPr>
        <p:spPr>
          <a:xfrm>
            <a:off x="9596746" y="1212527"/>
            <a:ext cx="1786690" cy="3956387"/>
          </a:xfrm>
          <a:prstGeom prst="rect">
            <a:avLst/>
          </a:prstGeom>
          <a:solidFill>
            <a:schemeClr val="bg2">
              <a:lumMod val="9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lang="en-US" sz="1600" b="1" dirty="0">
                <a:solidFill>
                  <a:srgbClr val="333E48"/>
                </a:solidFill>
                <a:latin typeface="Calibri"/>
                <a:ea typeface="ＭＳ Ｐゴシック" panose="020B0600070205080204" pitchFamily="34" charset="-128"/>
              </a:rPr>
              <a:t>Generator Output</a:t>
            </a:r>
            <a:endParaRPr kumimoji="0" lang="en-US" sz="16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endParaRPr>
          </a:p>
        </p:txBody>
      </p:sp>
      <p:sp>
        <p:nvSpPr>
          <p:cNvPr id="6" name="Flowchart: Document 5">
            <a:extLst>
              <a:ext uri="{FF2B5EF4-FFF2-40B4-BE49-F238E27FC236}">
                <a16:creationId xmlns:a16="http://schemas.microsoft.com/office/drawing/2014/main" id="{05CB531E-7400-4A1A-9853-81AF2D7E5608}"/>
              </a:ext>
            </a:extLst>
          </p:cNvPr>
          <p:cNvSpPr/>
          <p:nvPr/>
        </p:nvSpPr>
        <p:spPr>
          <a:xfrm>
            <a:off x="9803374" y="1633963"/>
            <a:ext cx="1333416" cy="884321"/>
          </a:xfrm>
          <a:prstGeom prst="flowChartDocumen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ioc</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lang="en-US" sz="1000" dirty="0">
                <a:solidFill>
                  <a:schemeClr val="bg2">
                    <a:lumMod val="25000"/>
                  </a:schemeClr>
                </a:solidFill>
                <a:latin typeface="Calibri"/>
              </a:rPr>
              <a:t>Generator Project</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7" name="Flowchart: Multidocument 6">
            <a:extLst>
              <a:ext uri="{FF2B5EF4-FFF2-40B4-BE49-F238E27FC236}">
                <a16:creationId xmlns:a16="http://schemas.microsoft.com/office/drawing/2014/main" id="{0FCC1B91-99A1-4E45-AE23-2D8F8B8DFEBE}"/>
              </a:ext>
            </a:extLst>
          </p:cNvPr>
          <p:cNvSpPr/>
          <p:nvPr/>
        </p:nvSpPr>
        <p:spPr>
          <a:xfrm>
            <a:off x="9760776" y="2711978"/>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*.c/*.</a:t>
            </a:r>
            <a:r>
              <a:rPr lang="en-US" sz="1200" dirty="0">
                <a:solidFill>
                  <a:schemeClr val="bg2">
                    <a:lumMod val="25000"/>
                  </a:schemeClr>
                </a:solidFill>
                <a:latin typeface="Calibri"/>
              </a:rPr>
              <a:t>h</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generated source files</a:t>
            </a:r>
          </a:p>
        </p:txBody>
      </p:sp>
      <p:sp>
        <p:nvSpPr>
          <p:cNvPr id="10" name="Flowchart: Multidocument 9">
            <a:extLst>
              <a:ext uri="{FF2B5EF4-FFF2-40B4-BE49-F238E27FC236}">
                <a16:creationId xmlns:a16="http://schemas.microsoft.com/office/drawing/2014/main" id="{063DD4F5-6984-4CA0-9BAE-639DAB72225F}"/>
              </a:ext>
            </a:extLst>
          </p:cNvPr>
          <p:cNvSpPr/>
          <p:nvPr/>
        </p:nvSpPr>
        <p:spPr>
          <a:xfrm>
            <a:off x="5044282" y="3437335"/>
            <a:ext cx="1449805" cy="1010653"/>
          </a:xfrm>
          <a:prstGeom prst="flowChartMulti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a:solidFill>
                  <a:schemeClr val="bg2">
                    <a:lumMod val="25000"/>
                  </a:schemeClr>
                </a:solidFill>
                <a:latin typeface="Calibri"/>
              </a:rPr>
              <a:t>&lt;project&gt;</a:t>
            </a: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cbuild-gen.yml</a:t>
            </a:r>
            <a:endParaRPr kumimoji="0" lang="en-GB" sz="12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17" name="Straight Arrow Connector 16">
            <a:extLst>
              <a:ext uri="{FF2B5EF4-FFF2-40B4-BE49-F238E27FC236}">
                <a16:creationId xmlns:a16="http://schemas.microsoft.com/office/drawing/2014/main" id="{8700C784-4ABC-4B94-A393-C72FD280887C}"/>
              </a:ext>
            </a:extLst>
          </p:cNvPr>
          <p:cNvCxnSpPr>
            <a:cxnSpLocks/>
            <a:endCxn id="18" idx="1"/>
          </p:cNvCxnSpPr>
          <p:nvPr/>
        </p:nvCxnSpPr>
        <p:spPr>
          <a:xfrm>
            <a:off x="8682705" y="3558843"/>
            <a:ext cx="1128203" cy="86818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 name="Flowchart: Multidocument 17">
            <a:extLst>
              <a:ext uri="{FF2B5EF4-FFF2-40B4-BE49-F238E27FC236}">
                <a16:creationId xmlns:a16="http://schemas.microsoft.com/office/drawing/2014/main" id="{F193B99D-00C8-43D5-A8CC-0E46D2AFFC10}"/>
              </a:ext>
            </a:extLst>
          </p:cNvPr>
          <p:cNvSpPr/>
          <p:nvPr/>
        </p:nvSpPr>
        <p:spPr>
          <a:xfrm>
            <a:off x="9810908" y="3881337"/>
            <a:ext cx="1399674" cy="1091386"/>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150" b="0" i="0" u="none" strike="noStrike" kern="1200" cap="none" spc="0" normalizeH="0" baseline="0" noProof="0" dirty="0">
                <a:ln>
                  <a:noFill/>
                </a:ln>
                <a:solidFill>
                  <a:schemeClr val="bg2">
                    <a:lumMod val="25000"/>
                  </a:schemeClr>
                </a:solidFill>
                <a:effectLst/>
                <a:uLnTx/>
                <a:uFillTx/>
                <a:latin typeface="Calibri"/>
                <a:ea typeface="+mn-ea"/>
                <a:cs typeface="+mn-cs"/>
              </a:rPr>
              <a:t>&lt;project&gt;.</a:t>
            </a:r>
            <a:br>
              <a:rPr lang="en-US" sz="1150" dirty="0">
                <a:solidFill>
                  <a:schemeClr val="bg2">
                    <a:lumMod val="25000"/>
                  </a:schemeClr>
                </a:solidFill>
                <a:latin typeface="Calibri"/>
              </a:rPr>
            </a:br>
            <a:r>
              <a:rPr kumimoji="0" lang="en-US" sz="1150" b="0" i="0" u="none" strike="noStrike" kern="1200" cap="none" spc="0" normalizeH="0" baseline="0" noProof="0" dirty="0" err="1">
                <a:ln>
                  <a:noFill/>
                </a:ln>
                <a:solidFill>
                  <a:schemeClr val="bg2">
                    <a:lumMod val="25000"/>
                  </a:schemeClr>
                </a:solidFill>
                <a:effectLst/>
                <a:uLnTx/>
                <a:uFillTx/>
                <a:latin typeface="Calibri"/>
                <a:ea typeface="+mn-ea"/>
                <a:cs typeface="+mn-cs"/>
              </a:rPr>
              <a:t>cgen.yml</a:t>
            </a:r>
            <a:br>
              <a:rPr kumimoji="0" lang="en-US" sz="1100" b="0" i="0" u="none" strike="noStrike" kern="1200" cap="none" spc="0" normalizeH="0" baseline="0" noProof="0" dirty="0">
                <a:ln>
                  <a:noFill/>
                </a:ln>
                <a:solidFill>
                  <a:schemeClr val="bg2">
                    <a:lumMod val="25000"/>
                  </a:schemeClr>
                </a:solidFill>
                <a:effectLst/>
                <a:uLnTx/>
                <a:uFillTx/>
                <a:latin typeface="Calibri"/>
                <a:ea typeface="+mn-ea"/>
                <a:cs typeface="+mn-cs"/>
              </a:rPr>
            </a:br>
            <a:r>
              <a:rPr lang="en-US" sz="950" dirty="0">
                <a:solidFill>
                  <a:schemeClr val="bg2">
                    <a:lumMod val="25000"/>
                  </a:schemeClr>
                </a:solidFill>
                <a:latin typeface="Calibri"/>
              </a:rPr>
              <a:t>Import data for CMSIS-Toolbox</a:t>
            </a:r>
            <a:endParaRPr kumimoji="0" lang="en-GB" sz="95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23" name="Rectangle 22">
            <a:extLst>
              <a:ext uri="{FF2B5EF4-FFF2-40B4-BE49-F238E27FC236}">
                <a16:creationId xmlns:a16="http://schemas.microsoft.com/office/drawing/2014/main" id="{8119DA75-D395-4806-9923-A60C1658B62A}"/>
              </a:ext>
            </a:extLst>
          </p:cNvPr>
          <p:cNvSpPr/>
          <p:nvPr/>
        </p:nvSpPr>
        <p:spPr>
          <a:xfrm>
            <a:off x="7230982" y="2488468"/>
            <a:ext cx="1540042" cy="1253706"/>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err="1">
                <a:solidFill>
                  <a:schemeClr val="tx2"/>
                </a:solidFill>
                <a:latin typeface="Calibri"/>
              </a:rPr>
              <a:t>cbridge</a:t>
            </a:r>
            <a:br>
              <a:rPr lang="en-US" b="1" dirty="0">
                <a:solidFill>
                  <a:schemeClr val="tx2"/>
                </a:solidFill>
                <a:latin typeface="Calibri"/>
              </a:rPr>
            </a:br>
            <a:r>
              <a:rPr lang="en-US" sz="1000" dirty="0">
                <a:solidFill>
                  <a:schemeClr val="tx2"/>
                </a:solidFill>
                <a:latin typeface="Calibri"/>
              </a:rPr>
              <a:t>Generator Bridge</a:t>
            </a:r>
            <a:endParaRPr kumimoji="0" lang="en-GB" sz="1000" b="0" i="0" u="none" strike="noStrike" kern="1200" cap="none" spc="0" normalizeH="0" baseline="0" noProof="0" dirty="0">
              <a:ln>
                <a:noFill/>
              </a:ln>
              <a:solidFill>
                <a:schemeClr val="tx2"/>
              </a:solidFill>
              <a:effectLst/>
              <a:uLnTx/>
              <a:uFillTx/>
              <a:latin typeface="Calibri"/>
              <a:ea typeface="+mn-ea"/>
              <a:cs typeface="+mn-cs"/>
            </a:endParaRPr>
          </a:p>
        </p:txBody>
      </p:sp>
      <p:sp>
        <p:nvSpPr>
          <p:cNvPr id="11" name="Flowchart: Document 10">
            <a:extLst>
              <a:ext uri="{FF2B5EF4-FFF2-40B4-BE49-F238E27FC236}">
                <a16:creationId xmlns:a16="http://schemas.microsoft.com/office/drawing/2014/main" id="{057A4819-CEB0-A8FD-8A56-C9A078D7B8A2}"/>
              </a:ext>
            </a:extLst>
          </p:cNvPr>
          <p:cNvSpPr/>
          <p:nvPr/>
        </p:nvSpPr>
        <p:spPr>
          <a:xfrm>
            <a:off x="5092503" y="2349468"/>
            <a:ext cx="1333416" cy="884321"/>
          </a:xfrm>
          <a:prstGeom prst="flowChart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cbuild</a:t>
            </a: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-gen-</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idx.yml</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4" name="Straight Arrow Connector 3">
            <a:extLst>
              <a:ext uri="{FF2B5EF4-FFF2-40B4-BE49-F238E27FC236}">
                <a16:creationId xmlns:a16="http://schemas.microsoft.com/office/drawing/2014/main" id="{1B738DEF-D013-6026-AFE3-E7B42433B06B}"/>
              </a:ext>
            </a:extLst>
          </p:cNvPr>
          <p:cNvCxnSpPr>
            <a:cxnSpLocks/>
          </p:cNvCxnSpPr>
          <p:nvPr/>
        </p:nvCxnSpPr>
        <p:spPr>
          <a:xfrm>
            <a:off x="5755876" y="3160609"/>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71752413-9444-8A2E-D325-5EE15401C75F}"/>
              </a:ext>
            </a:extLst>
          </p:cNvPr>
          <p:cNvSpPr/>
          <p:nvPr/>
        </p:nvSpPr>
        <p:spPr>
          <a:xfrm>
            <a:off x="7332472" y="2664172"/>
            <a:ext cx="1350233" cy="503321"/>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err="1">
                <a:ln>
                  <a:noFill/>
                </a:ln>
                <a:solidFill>
                  <a:srgbClr val="FFFFFF"/>
                </a:solidFill>
                <a:effectLst/>
                <a:uLnTx/>
                <a:uFillTx/>
                <a:latin typeface="Calibri"/>
                <a:ea typeface="+mn-ea"/>
                <a:cs typeface="+mn-cs"/>
              </a:rPr>
              <a:t>CubeMX</a:t>
            </a:r>
            <a:br>
              <a:rPr kumimoji="0" lang="en-US" sz="1800" b="1" i="0" u="none" strike="noStrike" kern="1200" cap="none" spc="0" normalizeH="0" baseline="0" noProof="0" dirty="0">
                <a:ln>
                  <a:noFill/>
                </a:ln>
                <a:solidFill>
                  <a:srgbClr val="FFFFFF"/>
                </a:solidFill>
                <a:effectLst/>
                <a:uLnTx/>
                <a:uFillTx/>
                <a:latin typeface="Calibri"/>
                <a:ea typeface="+mn-ea"/>
                <a:cs typeface="+mn-cs"/>
              </a:rPr>
            </a:br>
            <a:r>
              <a:rPr lang="en-US" sz="1000" dirty="0">
                <a:solidFill>
                  <a:srgbClr val="FFFFFF"/>
                </a:solidFill>
                <a:latin typeface="Calibri"/>
              </a:rPr>
              <a:t>Generator</a:t>
            </a:r>
            <a:endParaRPr lang="en-GB" sz="1000" dirty="0">
              <a:solidFill>
                <a:srgbClr val="FFFFFF"/>
              </a:solidFill>
              <a:latin typeface="Calibri"/>
            </a:endParaRPr>
          </a:p>
        </p:txBody>
      </p:sp>
      <p:cxnSp>
        <p:nvCxnSpPr>
          <p:cNvPr id="14" name="Straight Arrow Connector 13">
            <a:extLst>
              <a:ext uri="{FF2B5EF4-FFF2-40B4-BE49-F238E27FC236}">
                <a16:creationId xmlns:a16="http://schemas.microsoft.com/office/drawing/2014/main" id="{0CA20441-F3C2-440A-892E-1359E8990DC5}"/>
              </a:ext>
            </a:extLst>
          </p:cNvPr>
          <p:cNvCxnSpPr>
            <a:cxnSpLocks/>
            <a:endCxn id="7" idx="1"/>
          </p:cNvCxnSpPr>
          <p:nvPr/>
        </p:nvCxnSpPr>
        <p:spPr>
          <a:xfrm>
            <a:off x="8682705" y="3014604"/>
            <a:ext cx="1078071" cy="20270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EE598C1-5713-C80E-B797-F277D97B1CB4}"/>
              </a:ext>
            </a:extLst>
          </p:cNvPr>
          <p:cNvCxnSpPr>
            <a:cxnSpLocks/>
          </p:cNvCxnSpPr>
          <p:nvPr/>
        </p:nvCxnSpPr>
        <p:spPr>
          <a:xfrm flipV="1">
            <a:off x="8682705" y="2076123"/>
            <a:ext cx="1132886" cy="72473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25379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8119DA75-D395-4806-9923-A60C1658B62A}"/>
              </a:ext>
            </a:extLst>
          </p:cNvPr>
          <p:cNvSpPr/>
          <p:nvPr/>
        </p:nvSpPr>
        <p:spPr>
          <a:xfrm>
            <a:off x="1131710" y="2774514"/>
            <a:ext cx="1540042" cy="1022685"/>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a:solidFill>
                  <a:srgbClr val="FFFFFF"/>
                </a:solidFill>
                <a:latin typeface="Calibri"/>
              </a:rPr>
              <a:t>c</a:t>
            </a:r>
            <a:r>
              <a:rPr kumimoji="0" lang="en-US" sz="1800" b="1" i="0" u="none" strike="noStrike" kern="1200" cap="none" spc="0" normalizeH="0" baseline="0" noProof="0" dirty="0">
                <a:ln>
                  <a:noFill/>
                </a:ln>
                <a:solidFill>
                  <a:srgbClr val="FFFFFF"/>
                </a:solidFill>
                <a:effectLst/>
                <a:uLnTx/>
                <a:uFillTx/>
                <a:latin typeface="Calibri"/>
                <a:ea typeface="+mn-ea"/>
                <a:cs typeface="+mn-cs"/>
              </a:rPr>
              <a:t>solution</a:t>
            </a:r>
            <a:br>
              <a:rPr kumimoji="0" lang="en-US" sz="1800" b="1"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CMSIS Project Manager</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cxnSp>
        <p:nvCxnSpPr>
          <p:cNvPr id="4" name="Straight Arrow Connector 3">
            <a:extLst>
              <a:ext uri="{FF2B5EF4-FFF2-40B4-BE49-F238E27FC236}">
                <a16:creationId xmlns:a16="http://schemas.microsoft.com/office/drawing/2014/main" id="{BB5F8D21-824B-36AB-951D-435AED871410}"/>
              </a:ext>
            </a:extLst>
          </p:cNvPr>
          <p:cNvCxnSpPr>
            <a:cxnSpLocks/>
            <a:stCxn id="38" idx="1"/>
            <a:endCxn id="23" idx="3"/>
          </p:cNvCxnSpPr>
          <p:nvPr/>
        </p:nvCxnSpPr>
        <p:spPr>
          <a:xfrm flipH="1">
            <a:off x="2671752" y="3278610"/>
            <a:ext cx="380820" cy="7247"/>
          </a:xfrm>
          <a:prstGeom prst="straightConnector1">
            <a:avLst/>
          </a:prstGeom>
          <a:ln w="38100">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B7CE54B9-BB26-E5B0-4A76-1B2AC4DB6780}"/>
              </a:ext>
            </a:extLst>
          </p:cNvPr>
          <p:cNvSpPr/>
          <p:nvPr/>
        </p:nvSpPr>
        <p:spPr>
          <a:xfrm>
            <a:off x="5037675" y="1340537"/>
            <a:ext cx="1540042" cy="1022685"/>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a:solidFill>
                  <a:srgbClr val="FFFFFF"/>
                </a:solidFill>
                <a:latin typeface="Calibri"/>
              </a:rPr>
              <a:t>Debugger</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6" name="Rectangle 15">
            <a:extLst>
              <a:ext uri="{FF2B5EF4-FFF2-40B4-BE49-F238E27FC236}">
                <a16:creationId xmlns:a16="http://schemas.microsoft.com/office/drawing/2014/main" id="{2373F6AB-4EE9-799A-8277-00AFEA672822}"/>
              </a:ext>
            </a:extLst>
          </p:cNvPr>
          <p:cNvSpPr/>
          <p:nvPr/>
        </p:nvSpPr>
        <p:spPr>
          <a:xfrm>
            <a:off x="5037675" y="2765257"/>
            <a:ext cx="1540042" cy="1022685"/>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a:solidFill>
                  <a:srgbClr val="FFFFFF"/>
                </a:solidFill>
                <a:latin typeface="Calibri"/>
              </a:rPr>
              <a:t>Flash</a:t>
            </a:r>
            <a:br>
              <a:rPr lang="en-US" b="1" dirty="0">
                <a:solidFill>
                  <a:srgbClr val="FFFFFF"/>
                </a:solidFill>
                <a:latin typeface="Calibri"/>
              </a:rPr>
            </a:br>
            <a:r>
              <a:rPr lang="en-US" b="1" dirty="0">
                <a:solidFill>
                  <a:srgbClr val="FFFFFF"/>
                </a:solidFill>
                <a:latin typeface="Calibri"/>
              </a:rPr>
              <a:t>Programmer</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5" name="Rectangle 24">
            <a:extLst>
              <a:ext uri="{FF2B5EF4-FFF2-40B4-BE49-F238E27FC236}">
                <a16:creationId xmlns:a16="http://schemas.microsoft.com/office/drawing/2014/main" id="{0EC97572-BC00-4D3B-5860-7D35F2DDD8A1}"/>
              </a:ext>
            </a:extLst>
          </p:cNvPr>
          <p:cNvSpPr/>
          <p:nvPr/>
        </p:nvSpPr>
        <p:spPr>
          <a:xfrm>
            <a:off x="5037675" y="4189977"/>
            <a:ext cx="1540042" cy="1022685"/>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a:solidFill>
                  <a:srgbClr val="FFFFFF"/>
                </a:solidFill>
                <a:latin typeface="Calibri"/>
              </a:rPr>
              <a:t>OTA/Cloud</a:t>
            </a:r>
            <a:br>
              <a:rPr lang="en-US" b="1" dirty="0">
                <a:solidFill>
                  <a:srgbClr val="FFFFFF"/>
                </a:solidFill>
                <a:latin typeface="Calibri"/>
              </a:rPr>
            </a:br>
            <a:r>
              <a:rPr lang="en-US" b="1" dirty="0">
                <a:solidFill>
                  <a:srgbClr val="FFFFFF"/>
                </a:solidFill>
                <a:latin typeface="Calibri"/>
              </a:rPr>
              <a:t>Service</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cxnSp>
        <p:nvCxnSpPr>
          <p:cNvPr id="27" name="Straight Arrow Connector 26">
            <a:extLst>
              <a:ext uri="{FF2B5EF4-FFF2-40B4-BE49-F238E27FC236}">
                <a16:creationId xmlns:a16="http://schemas.microsoft.com/office/drawing/2014/main" id="{A6042665-7C7D-BA22-1E44-17A6ED7DA1A7}"/>
              </a:ext>
            </a:extLst>
          </p:cNvPr>
          <p:cNvCxnSpPr>
            <a:cxnSpLocks/>
            <a:stCxn id="16" idx="1"/>
          </p:cNvCxnSpPr>
          <p:nvPr/>
        </p:nvCxnSpPr>
        <p:spPr>
          <a:xfrm flipH="1" flipV="1">
            <a:off x="4402204" y="3276599"/>
            <a:ext cx="635471" cy="1"/>
          </a:xfrm>
          <a:prstGeom prst="straightConnector1">
            <a:avLst/>
          </a:prstGeom>
          <a:ln w="38100">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E1C07020-4D86-CAC3-4AF4-DB254FB77F79}"/>
              </a:ext>
            </a:extLst>
          </p:cNvPr>
          <p:cNvCxnSpPr>
            <a:cxnSpLocks/>
          </p:cNvCxnSpPr>
          <p:nvPr/>
        </p:nvCxnSpPr>
        <p:spPr>
          <a:xfrm flipH="1" flipV="1">
            <a:off x="4295878" y="3285856"/>
            <a:ext cx="741797" cy="904121"/>
          </a:xfrm>
          <a:prstGeom prst="straightConnector1">
            <a:avLst/>
          </a:prstGeom>
          <a:ln w="38100">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6E56173B-DE80-7625-093C-E95C11E3DB52}"/>
              </a:ext>
            </a:extLst>
          </p:cNvPr>
          <p:cNvCxnSpPr>
            <a:cxnSpLocks/>
          </p:cNvCxnSpPr>
          <p:nvPr/>
        </p:nvCxnSpPr>
        <p:spPr>
          <a:xfrm flipH="1">
            <a:off x="4363356" y="2333994"/>
            <a:ext cx="693427" cy="807581"/>
          </a:xfrm>
          <a:prstGeom prst="straightConnector1">
            <a:avLst/>
          </a:prstGeom>
          <a:ln w="38100">
            <a:prstDash val="solid"/>
            <a:headEnd type="triangle"/>
            <a:tailEnd type="none"/>
          </a:ln>
        </p:spPr>
        <p:style>
          <a:lnRef idx="1">
            <a:schemeClr val="accent1"/>
          </a:lnRef>
          <a:fillRef idx="0">
            <a:schemeClr val="accent1"/>
          </a:fillRef>
          <a:effectRef idx="0">
            <a:schemeClr val="accent1"/>
          </a:effectRef>
          <a:fontRef idx="minor">
            <a:schemeClr val="tx1"/>
          </a:fontRef>
        </p:style>
      </p:cxnSp>
      <p:sp>
        <p:nvSpPr>
          <p:cNvPr id="38" name="Flowchart: Document 37">
            <a:extLst>
              <a:ext uri="{FF2B5EF4-FFF2-40B4-BE49-F238E27FC236}">
                <a16:creationId xmlns:a16="http://schemas.microsoft.com/office/drawing/2014/main" id="{973775FC-78A5-4325-B535-441862918E54}"/>
              </a:ext>
            </a:extLst>
          </p:cNvPr>
          <p:cNvSpPr/>
          <p:nvPr/>
        </p:nvSpPr>
        <p:spPr>
          <a:xfrm>
            <a:off x="3052572" y="2876239"/>
            <a:ext cx="1350233" cy="80474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err="1">
                <a:ln>
                  <a:noFill/>
                </a:ln>
                <a:solidFill>
                  <a:srgbClr val="FFFFFF"/>
                </a:solidFill>
                <a:effectLst/>
                <a:uLnTx/>
                <a:uFillTx/>
                <a:latin typeface="Calibri"/>
                <a:ea typeface="+mn-ea"/>
                <a:cs typeface="+mn-cs"/>
              </a:rPr>
              <a:t>cbuild-set.yml</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Project </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context set</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2204371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2D999F79-03CB-B2A2-3091-A6068754E255}"/>
              </a:ext>
            </a:extLst>
          </p:cNvPr>
          <p:cNvSpPr/>
          <p:nvPr/>
        </p:nvSpPr>
        <p:spPr>
          <a:xfrm>
            <a:off x="6811926" y="1212527"/>
            <a:ext cx="2293229" cy="135117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nchorCtr="0"/>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000" kern="1200" dirty="0">
                <a:solidFill>
                  <a:schemeClr val="tx2"/>
                </a:solidFill>
                <a:latin typeface="+mn-lt"/>
                <a:ea typeface="+mn-ea"/>
                <a:cs typeface="+mn-cs"/>
              </a:rPr>
              <a:t>Default compiler options for AC6, GCC, IAR</a:t>
            </a:r>
          </a:p>
        </p:txBody>
      </p:sp>
      <p:sp>
        <p:nvSpPr>
          <p:cNvPr id="36" name="Rectangle 35">
            <a:extLst>
              <a:ext uri="{FF2B5EF4-FFF2-40B4-BE49-F238E27FC236}">
                <a16:creationId xmlns:a16="http://schemas.microsoft.com/office/drawing/2014/main" id="{DE695693-9F96-58BA-7A5B-F1C32D732606}"/>
              </a:ext>
            </a:extLst>
          </p:cNvPr>
          <p:cNvSpPr/>
          <p:nvPr/>
        </p:nvSpPr>
        <p:spPr>
          <a:xfrm>
            <a:off x="6811926" y="5190127"/>
            <a:ext cx="4248363" cy="26479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EC3CC268-843C-42DC-9FAB-259824F90297}"/>
              </a:ext>
            </a:extLst>
          </p:cNvPr>
          <p:cNvSpPr/>
          <p:nvPr/>
        </p:nvSpPr>
        <p:spPr>
          <a:xfrm>
            <a:off x="9273600" y="1212529"/>
            <a:ext cx="1786690" cy="2753876"/>
          </a:xfrm>
          <a:prstGeom prst="rect">
            <a:avLst/>
          </a:prstGeom>
          <a:solidFill>
            <a:schemeClr val="accent5">
              <a:lumMod val="40000"/>
              <a:lumOff val="6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8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Output Files</a:t>
            </a:r>
          </a:p>
        </p:txBody>
      </p:sp>
      <p:sp>
        <p:nvSpPr>
          <p:cNvPr id="26" name="Arrow: Right 25">
            <a:extLst>
              <a:ext uri="{FF2B5EF4-FFF2-40B4-BE49-F238E27FC236}">
                <a16:creationId xmlns:a16="http://schemas.microsoft.com/office/drawing/2014/main" id="{553DF65A-F969-41EF-89B5-09CAFF0CC328}"/>
              </a:ext>
            </a:extLst>
          </p:cNvPr>
          <p:cNvSpPr/>
          <p:nvPr/>
        </p:nvSpPr>
        <p:spPr>
          <a:xfrm>
            <a:off x="4078708" y="3450026"/>
            <a:ext cx="3146258"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22" name="Rectangle 21">
            <a:extLst>
              <a:ext uri="{FF2B5EF4-FFF2-40B4-BE49-F238E27FC236}">
                <a16:creationId xmlns:a16="http://schemas.microsoft.com/office/drawing/2014/main" id="{5487FEAB-7D2D-4E65-8BF8-9C55DAECCD8A}"/>
              </a:ext>
            </a:extLst>
          </p:cNvPr>
          <p:cNvSpPr/>
          <p:nvPr/>
        </p:nvSpPr>
        <p:spPr>
          <a:xfrm>
            <a:off x="4838702" y="1216862"/>
            <a:ext cx="1786690" cy="3956387"/>
          </a:xfrm>
          <a:prstGeom prst="rect">
            <a:avLst/>
          </a:prstGeom>
          <a:solidFill>
            <a:schemeClr val="accent3">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800" b="1" i="0" u="none" strike="noStrike" kern="1200" cap="none" spc="0" normalizeH="0" baseline="0" noProof="0" dirty="0" err="1">
                <a:ln>
                  <a:noFill/>
                </a:ln>
                <a:solidFill>
                  <a:srgbClr val="333E48"/>
                </a:solidFill>
                <a:effectLst/>
                <a:uLnTx/>
                <a:uFillTx/>
                <a:latin typeface="Calibri"/>
                <a:ea typeface="ＭＳ Ｐゴシック" panose="020B0600070205080204" pitchFamily="34" charset="-128"/>
                <a:cs typeface="+mn-cs"/>
              </a:rPr>
              <a:t>csolution</a:t>
            </a:r>
            <a:r>
              <a:rPr kumimoji="0" lang="en-US" sz="18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 project</a:t>
            </a:r>
          </a:p>
        </p:txBody>
      </p:sp>
      <p:sp>
        <p:nvSpPr>
          <p:cNvPr id="21" name="Rectangle 20">
            <a:extLst>
              <a:ext uri="{FF2B5EF4-FFF2-40B4-BE49-F238E27FC236}">
                <a16:creationId xmlns:a16="http://schemas.microsoft.com/office/drawing/2014/main" id="{0F8F6D10-7E91-4D68-8F46-4EF0F023AF1B}"/>
              </a:ext>
            </a:extLst>
          </p:cNvPr>
          <p:cNvSpPr/>
          <p:nvPr/>
        </p:nvSpPr>
        <p:spPr>
          <a:xfrm>
            <a:off x="2832217" y="1230077"/>
            <a:ext cx="1786690" cy="393883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8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Software Packs</a:t>
            </a:r>
          </a:p>
        </p:txBody>
      </p:sp>
      <p:sp>
        <p:nvSpPr>
          <p:cNvPr id="6" name="Flowchart: Document 5">
            <a:extLst>
              <a:ext uri="{FF2B5EF4-FFF2-40B4-BE49-F238E27FC236}">
                <a16:creationId xmlns:a16="http://schemas.microsoft.com/office/drawing/2014/main" id="{05CB531E-7400-4A1A-9853-81AF2D7E5608}"/>
              </a:ext>
            </a:extLst>
          </p:cNvPr>
          <p:cNvSpPr/>
          <p:nvPr/>
        </p:nvSpPr>
        <p:spPr>
          <a:xfrm>
            <a:off x="5045330" y="1638298"/>
            <a:ext cx="1333416" cy="884321"/>
          </a:xfrm>
          <a:prstGeom prst="flowChartDocumen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csolution.yml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Target (Device, Board) Build (Debug, Release) </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7" name="Flowchart: Multidocument 6">
            <a:extLst>
              <a:ext uri="{FF2B5EF4-FFF2-40B4-BE49-F238E27FC236}">
                <a16:creationId xmlns:a16="http://schemas.microsoft.com/office/drawing/2014/main" id="{0FCC1B91-99A1-4E45-AE23-2D8F8B8DFEBE}"/>
              </a:ext>
            </a:extLst>
          </p:cNvPr>
          <p:cNvSpPr/>
          <p:nvPr/>
        </p:nvSpPr>
        <p:spPr>
          <a:xfrm>
            <a:off x="5002732" y="2755225"/>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cproject.yml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Manages </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independent</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projects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0" name="Flowchart: Multidocument 9">
            <a:extLst>
              <a:ext uri="{FF2B5EF4-FFF2-40B4-BE49-F238E27FC236}">
                <a16:creationId xmlns:a16="http://schemas.microsoft.com/office/drawing/2014/main" id="{063DD4F5-6984-4CA0-9BAE-639DAB72225F}"/>
              </a:ext>
            </a:extLst>
          </p:cNvPr>
          <p:cNvSpPr/>
          <p:nvPr/>
        </p:nvSpPr>
        <p:spPr>
          <a:xfrm>
            <a:off x="9452726" y="2767245"/>
            <a:ext cx="1449805" cy="1010653"/>
          </a:xfrm>
          <a:prstGeom prst="flowChartMulti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a:solidFill>
                  <a:schemeClr val="bg2">
                    <a:lumMod val="25000"/>
                  </a:schemeClr>
                </a:solidFill>
                <a:latin typeface="Calibri"/>
              </a:rPr>
              <a:t>Run-Time Environment (RTE)</a:t>
            </a:r>
            <a:br>
              <a:rPr lang="en-US" sz="1000" dirty="0">
                <a:solidFill>
                  <a:schemeClr val="bg2">
                    <a:lumMod val="25000"/>
                  </a:schemeClr>
                </a:solidFill>
                <a:latin typeface="Calibri"/>
              </a:rPr>
            </a:br>
            <a:r>
              <a:rPr lang="en-US" sz="1000" dirty="0">
                <a:solidFill>
                  <a:schemeClr val="bg2">
                    <a:lumMod val="25000"/>
                  </a:schemeClr>
                </a:solidFill>
                <a:latin typeface="Calibri"/>
              </a:rPr>
              <a:t>(config files*.c / *.h)</a:t>
            </a:r>
            <a:br>
              <a:rPr lang="en-US" sz="1200" dirty="0">
                <a:solidFill>
                  <a:schemeClr val="bg2">
                    <a:lumMod val="25000"/>
                  </a:schemeClr>
                </a:solidFill>
                <a:latin typeface="Calibri"/>
              </a:rPr>
            </a:br>
            <a:endParaRPr kumimoji="0" lang="en-GB" sz="12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14" name="Straight Arrow Connector 13">
            <a:extLst>
              <a:ext uri="{FF2B5EF4-FFF2-40B4-BE49-F238E27FC236}">
                <a16:creationId xmlns:a16="http://schemas.microsoft.com/office/drawing/2014/main" id="{0CA20441-F3C2-440A-892E-1359E8990DC5}"/>
              </a:ext>
            </a:extLst>
          </p:cNvPr>
          <p:cNvCxnSpPr>
            <a:cxnSpLocks/>
          </p:cNvCxnSpPr>
          <p:nvPr/>
        </p:nvCxnSpPr>
        <p:spPr>
          <a:xfrm>
            <a:off x="5693030" y="2478504"/>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700C784-4ABC-4B94-A393-C72FD280887C}"/>
              </a:ext>
            </a:extLst>
          </p:cNvPr>
          <p:cNvCxnSpPr>
            <a:cxnSpLocks/>
          </p:cNvCxnSpPr>
          <p:nvPr/>
        </p:nvCxnSpPr>
        <p:spPr>
          <a:xfrm>
            <a:off x="5713083" y="3695699"/>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 name="Flowchart: Multidocument 17">
            <a:extLst>
              <a:ext uri="{FF2B5EF4-FFF2-40B4-BE49-F238E27FC236}">
                <a16:creationId xmlns:a16="http://schemas.microsoft.com/office/drawing/2014/main" id="{F193B99D-00C8-43D5-A8CC-0E46D2AFFC10}"/>
              </a:ext>
            </a:extLst>
          </p:cNvPr>
          <p:cNvSpPr/>
          <p:nvPr/>
        </p:nvSpPr>
        <p:spPr>
          <a:xfrm>
            <a:off x="5052863" y="3966404"/>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clayer.yml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Defines re-usable project parts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9" name="Flowchart: Document 18">
            <a:extLst>
              <a:ext uri="{FF2B5EF4-FFF2-40B4-BE49-F238E27FC236}">
                <a16:creationId xmlns:a16="http://schemas.microsoft.com/office/drawing/2014/main" id="{D63E43D9-EAD2-43AD-B647-C5A8C4326FDF}"/>
              </a:ext>
            </a:extLst>
          </p:cNvPr>
          <p:cNvSpPr/>
          <p:nvPr/>
        </p:nvSpPr>
        <p:spPr>
          <a:xfrm>
            <a:off x="3073245" y="3966404"/>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Device Family Pack (DFP)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a:ea typeface="+mn-ea"/>
                <a:cs typeface="+mn-cs"/>
              </a:rPr>
              <a:t>Defines device</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properties</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0" name="Flowchart: Document 19">
            <a:extLst>
              <a:ext uri="{FF2B5EF4-FFF2-40B4-BE49-F238E27FC236}">
                <a16:creationId xmlns:a16="http://schemas.microsoft.com/office/drawing/2014/main" id="{E8D155CF-279C-4302-9DE1-8F6B8DB4D1F4}"/>
              </a:ext>
            </a:extLst>
          </p:cNvPr>
          <p:cNvSpPr/>
          <p:nvPr/>
        </p:nvSpPr>
        <p:spPr>
          <a:xfrm>
            <a:off x="3054439" y="2752894"/>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Board Support Pack (BSP)</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Defines board</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properties</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3" name="Rectangle 22">
            <a:extLst>
              <a:ext uri="{FF2B5EF4-FFF2-40B4-BE49-F238E27FC236}">
                <a16:creationId xmlns:a16="http://schemas.microsoft.com/office/drawing/2014/main" id="{8119DA75-D395-4806-9923-A60C1658B62A}"/>
              </a:ext>
            </a:extLst>
          </p:cNvPr>
          <p:cNvSpPr/>
          <p:nvPr/>
        </p:nvSpPr>
        <p:spPr>
          <a:xfrm>
            <a:off x="7230982" y="2794305"/>
            <a:ext cx="1540042" cy="1022685"/>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err="1">
                <a:solidFill>
                  <a:srgbClr val="FFFFFF"/>
                </a:solidFill>
                <a:latin typeface="Calibri"/>
              </a:rPr>
              <a:t>cbuild</a:t>
            </a:r>
            <a:br>
              <a:rPr kumimoji="0" lang="en-US" sz="1800" b="1"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CMSIS Project Manager</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32" name="Arrow: Right 31">
            <a:extLst>
              <a:ext uri="{FF2B5EF4-FFF2-40B4-BE49-F238E27FC236}">
                <a16:creationId xmlns:a16="http://schemas.microsoft.com/office/drawing/2014/main" id="{8DCE06D2-5B11-472B-8D45-3B327EA1669E}"/>
              </a:ext>
            </a:extLst>
          </p:cNvPr>
          <p:cNvSpPr/>
          <p:nvPr/>
        </p:nvSpPr>
        <p:spPr>
          <a:xfrm>
            <a:off x="6625392" y="2904594"/>
            <a:ext cx="605587"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cxnSp>
        <p:nvCxnSpPr>
          <p:cNvPr id="41" name="Straight Arrow Connector 40">
            <a:extLst>
              <a:ext uri="{FF2B5EF4-FFF2-40B4-BE49-F238E27FC236}">
                <a16:creationId xmlns:a16="http://schemas.microsoft.com/office/drawing/2014/main" id="{096E6527-5486-468E-A7EE-221C5DA1818D}"/>
              </a:ext>
            </a:extLst>
          </p:cNvPr>
          <p:cNvCxnSpPr>
            <a:cxnSpLocks/>
            <a:endCxn id="23" idx="0"/>
          </p:cNvCxnSpPr>
          <p:nvPr/>
        </p:nvCxnSpPr>
        <p:spPr>
          <a:xfrm flipH="1">
            <a:off x="8001003" y="2242557"/>
            <a:ext cx="2949" cy="551748"/>
          </a:xfrm>
          <a:prstGeom prst="straightConnector1">
            <a:avLst/>
          </a:prstGeom>
          <a:ln w="38100">
            <a:prstDash val="sysDot"/>
            <a:tailEnd type="triangle"/>
          </a:ln>
        </p:spPr>
        <p:style>
          <a:lnRef idx="1">
            <a:schemeClr val="accent1"/>
          </a:lnRef>
          <a:fillRef idx="0">
            <a:schemeClr val="accent1"/>
          </a:fillRef>
          <a:effectRef idx="0">
            <a:schemeClr val="accent1"/>
          </a:effectRef>
          <a:fontRef idx="minor">
            <a:schemeClr val="tx1"/>
          </a:fontRef>
        </p:style>
      </p:cxnSp>
      <p:sp>
        <p:nvSpPr>
          <p:cNvPr id="40" name="Flowchart: Document 39">
            <a:extLst>
              <a:ext uri="{FF2B5EF4-FFF2-40B4-BE49-F238E27FC236}">
                <a16:creationId xmlns:a16="http://schemas.microsoft.com/office/drawing/2014/main" id="{45A8C818-51F2-492B-AD63-90062B0A3BE8}"/>
              </a:ext>
            </a:extLst>
          </p:cNvPr>
          <p:cNvSpPr/>
          <p:nvPr/>
        </p:nvSpPr>
        <p:spPr>
          <a:xfrm>
            <a:off x="3059040" y="1648895"/>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Generic </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200" b="0" i="0" u="none" strike="noStrike" kern="1200" cap="none" spc="0" normalizeH="0" baseline="0" noProof="0" dirty="0">
                <a:ln>
                  <a:noFill/>
                </a:ln>
                <a:solidFill>
                  <a:srgbClr val="FFFFFF"/>
                </a:solidFill>
                <a:effectLst/>
                <a:uLnTx/>
                <a:uFillTx/>
                <a:latin typeface="Calibri"/>
                <a:ea typeface="+mn-ea"/>
                <a:cs typeface="+mn-cs"/>
              </a:rPr>
              <a:t>Software Packs</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with drivers,</a:t>
            </a:r>
            <a:r>
              <a:rPr kumimoji="0" lang="en-US" sz="1200" b="0" i="0" u="none" strike="noStrike" kern="1200" cap="none" spc="0" normalizeH="0" baseline="0" noProof="0" dirty="0">
                <a:ln>
                  <a:noFill/>
                </a:ln>
                <a:solidFill>
                  <a:srgbClr val="FFFFFF"/>
                </a:solidFill>
                <a:effectLst/>
                <a:uLnTx/>
                <a:uFillTx/>
                <a:latin typeface="Calibri"/>
                <a:ea typeface="+mn-ea"/>
                <a:cs typeface="+mn-cs"/>
              </a:rPr>
              <a:t> m</a:t>
            </a:r>
            <a:r>
              <a:rPr lang="en-US" sz="1100" dirty="0" err="1">
                <a:solidFill>
                  <a:srgbClr val="FFFFFF"/>
                </a:solidFill>
                <a:latin typeface="Calibri"/>
              </a:rPr>
              <a:t>iddleware</a:t>
            </a:r>
            <a:r>
              <a:rPr lang="en-US" sz="1100" dirty="0">
                <a:solidFill>
                  <a:srgbClr val="FFFFFF"/>
                </a:solidFill>
                <a:latin typeface="Calibri"/>
              </a:rPr>
              <a:t>, etc.</a:t>
            </a:r>
          </a:p>
        </p:txBody>
      </p:sp>
      <p:sp>
        <p:nvSpPr>
          <p:cNvPr id="31" name="Arrow: Right 30">
            <a:extLst>
              <a:ext uri="{FF2B5EF4-FFF2-40B4-BE49-F238E27FC236}">
                <a16:creationId xmlns:a16="http://schemas.microsoft.com/office/drawing/2014/main" id="{1F9E4950-7682-4A97-95D2-18A9AEA2F368}"/>
              </a:ext>
            </a:extLst>
          </p:cNvPr>
          <p:cNvSpPr/>
          <p:nvPr/>
        </p:nvSpPr>
        <p:spPr>
          <a:xfrm>
            <a:off x="8764993" y="3215394"/>
            <a:ext cx="508607"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38" name="Flowchart: Document 37">
            <a:extLst>
              <a:ext uri="{FF2B5EF4-FFF2-40B4-BE49-F238E27FC236}">
                <a16:creationId xmlns:a16="http://schemas.microsoft.com/office/drawing/2014/main" id="{973775FC-78A5-4325-B535-441862918E54}"/>
              </a:ext>
            </a:extLst>
          </p:cNvPr>
          <p:cNvSpPr/>
          <p:nvPr/>
        </p:nvSpPr>
        <p:spPr>
          <a:xfrm>
            <a:off x="7332472" y="1541480"/>
            <a:ext cx="1350233" cy="80474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a:ea typeface="+mn-ea"/>
                <a:cs typeface="+mn-cs"/>
              </a:rPr>
              <a:t>cdefault</a:t>
            </a:r>
            <a:r>
              <a:rPr kumimoji="0" lang="en-US" sz="1200" b="0" i="0" u="none" strike="noStrike" kern="1200" cap="none" spc="0" normalizeH="0" baseline="0" noProof="0" dirty="0" err="1">
                <a:ln>
                  <a:noFill/>
                </a:ln>
                <a:solidFill>
                  <a:srgbClr val="FFFFFF"/>
                </a:solidFill>
                <a:effectLst/>
                <a:uLnTx/>
                <a:uFillTx/>
                <a:latin typeface="Calibri"/>
                <a:ea typeface="+mn-ea"/>
                <a:cs typeface="+mn-cs"/>
              </a:rPr>
              <a:t>.yml</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Global Toolchain Settings</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1" name="Flowchart: Document 10">
            <a:extLst>
              <a:ext uri="{FF2B5EF4-FFF2-40B4-BE49-F238E27FC236}">
                <a16:creationId xmlns:a16="http://schemas.microsoft.com/office/drawing/2014/main" id="{057A4819-CEB0-A8FD-8A56-C9A078D7B8A2}"/>
              </a:ext>
            </a:extLst>
          </p:cNvPr>
          <p:cNvSpPr/>
          <p:nvPr/>
        </p:nvSpPr>
        <p:spPr>
          <a:xfrm>
            <a:off x="9405404" y="1943850"/>
            <a:ext cx="1333416" cy="884321"/>
          </a:xfrm>
          <a:prstGeom prst="flowChart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cbuild-idx.yml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cbuild.yml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Build information</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34" name="TextBox 33">
            <a:extLst>
              <a:ext uri="{FF2B5EF4-FFF2-40B4-BE49-F238E27FC236}">
                <a16:creationId xmlns:a16="http://schemas.microsoft.com/office/drawing/2014/main" id="{D8C95C4F-468A-6AB9-3B12-1CD9F328CDC3}"/>
              </a:ext>
            </a:extLst>
          </p:cNvPr>
          <p:cNvSpPr txBox="1"/>
          <p:nvPr/>
        </p:nvSpPr>
        <p:spPr>
          <a:xfrm>
            <a:off x="7004027" y="5253100"/>
            <a:ext cx="4326736" cy="1384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000" b="1" kern="1200" dirty="0">
                <a:solidFill>
                  <a:schemeClr val="tx2"/>
                </a:solidFill>
                <a:latin typeface="+mn-lt"/>
                <a:ea typeface="+mn-ea"/>
                <a:cs typeface="+mn-cs"/>
              </a:rPr>
              <a:t>Note: </a:t>
            </a:r>
            <a:r>
              <a:rPr lang="en-US" sz="1000" kern="1200" dirty="0">
                <a:solidFill>
                  <a:schemeClr val="tx2"/>
                </a:solidFill>
                <a:latin typeface="+mn-lt"/>
                <a:ea typeface="+mn-ea"/>
                <a:cs typeface="+mn-cs"/>
              </a:rPr>
              <a:t>Optionally memory information for Linker Scatter Files is generated.</a:t>
            </a:r>
          </a:p>
        </p:txBody>
      </p:sp>
      <p:sp>
        <p:nvSpPr>
          <p:cNvPr id="2" name="Rectangle 1">
            <a:extLst>
              <a:ext uri="{FF2B5EF4-FFF2-40B4-BE49-F238E27FC236}">
                <a16:creationId xmlns:a16="http://schemas.microsoft.com/office/drawing/2014/main" id="{1E91A674-185E-2847-973A-2D95E43394EE}"/>
              </a:ext>
            </a:extLst>
          </p:cNvPr>
          <p:cNvSpPr/>
          <p:nvPr/>
        </p:nvSpPr>
        <p:spPr>
          <a:xfrm>
            <a:off x="6811926" y="4054939"/>
            <a:ext cx="4248363" cy="1101035"/>
          </a:xfrm>
          <a:prstGeom prst="rect">
            <a:avLst/>
          </a:prstGeom>
          <a:solidFill>
            <a:schemeClr val="accent5">
              <a:lumMod val="40000"/>
              <a:lumOff val="6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endParaRPr kumimoji="0" lang="en-US" sz="18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endParaRPr>
          </a:p>
        </p:txBody>
      </p:sp>
      <p:sp>
        <p:nvSpPr>
          <p:cNvPr id="3" name="Flowchart: Document 2">
            <a:extLst>
              <a:ext uri="{FF2B5EF4-FFF2-40B4-BE49-F238E27FC236}">
                <a16:creationId xmlns:a16="http://schemas.microsoft.com/office/drawing/2014/main" id="{07D698BC-BFC9-5FCC-B38A-13EA7D31BFA9}"/>
              </a:ext>
            </a:extLst>
          </p:cNvPr>
          <p:cNvSpPr/>
          <p:nvPr/>
        </p:nvSpPr>
        <p:spPr>
          <a:xfrm>
            <a:off x="7112370" y="4167592"/>
            <a:ext cx="1333416" cy="884321"/>
          </a:xfrm>
          <a:prstGeom prst="flowChart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cbuild-idx.yml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cbuild.yml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Build information</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Tree>
    <p:extLst>
      <p:ext uri="{BB962C8B-B14F-4D97-AF65-F5344CB8AC3E}">
        <p14:creationId xmlns:p14="http://schemas.microsoft.com/office/powerpoint/2010/main" val="493489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C3CC268-843C-42DC-9FAB-259824F90297}"/>
              </a:ext>
            </a:extLst>
          </p:cNvPr>
          <p:cNvSpPr/>
          <p:nvPr/>
        </p:nvSpPr>
        <p:spPr>
          <a:xfrm>
            <a:off x="9273600" y="743902"/>
            <a:ext cx="1786690" cy="5714048"/>
          </a:xfrm>
          <a:prstGeom prst="rect">
            <a:avLst/>
          </a:prstGeom>
          <a:solidFill>
            <a:schemeClr val="accent5">
              <a:lumMod val="40000"/>
              <a:lumOff val="6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8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Output Files</a:t>
            </a:r>
          </a:p>
        </p:txBody>
      </p:sp>
      <p:sp>
        <p:nvSpPr>
          <p:cNvPr id="26" name="Arrow: Right 25">
            <a:extLst>
              <a:ext uri="{FF2B5EF4-FFF2-40B4-BE49-F238E27FC236}">
                <a16:creationId xmlns:a16="http://schemas.microsoft.com/office/drawing/2014/main" id="{553DF65A-F969-41EF-89B5-09CAFF0CC328}"/>
              </a:ext>
            </a:extLst>
          </p:cNvPr>
          <p:cNvSpPr/>
          <p:nvPr/>
        </p:nvSpPr>
        <p:spPr>
          <a:xfrm>
            <a:off x="4078708" y="3350792"/>
            <a:ext cx="3146258"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22" name="Rectangle 21">
            <a:extLst>
              <a:ext uri="{FF2B5EF4-FFF2-40B4-BE49-F238E27FC236}">
                <a16:creationId xmlns:a16="http://schemas.microsoft.com/office/drawing/2014/main" id="{5487FEAB-7D2D-4E65-8BF8-9C55DAECCD8A}"/>
              </a:ext>
            </a:extLst>
          </p:cNvPr>
          <p:cNvSpPr/>
          <p:nvPr/>
        </p:nvSpPr>
        <p:spPr>
          <a:xfrm>
            <a:off x="4838702" y="1216862"/>
            <a:ext cx="1786690" cy="5126787"/>
          </a:xfrm>
          <a:prstGeom prst="rect">
            <a:avLst/>
          </a:prstGeom>
          <a:solidFill>
            <a:schemeClr val="accent3">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lang="en-US" b="1" dirty="0" err="1">
                <a:solidFill>
                  <a:srgbClr val="333E48"/>
                </a:solidFill>
                <a:latin typeface="Calibri"/>
                <a:ea typeface="ＭＳ Ｐゴシック" panose="020B0600070205080204" pitchFamily="34" charset="-128"/>
              </a:rPr>
              <a:t>csolution</a:t>
            </a:r>
            <a:r>
              <a:rPr lang="en-US" b="1" dirty="0">
                <a:solidFill>
                  <a:srgbClr val="333E48"/>
                </a:solidFill>
                <a:latin typeface="Calibri"/>
                <a:ea typeface="ＭＳ Ｐゴシック" panose="020B0600070205080204" pitchFamily="34" charset="-128"/>
              </a:rPr>
              <a:t> project</a:t>
            </a:r>
            <a:endParaRPr kumimoji="0" lang="en-US" sz="18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endParaRPr>
          </a:p>
        </p:txBody>
      </p:sp>
      <p:sp>
        <p:nvSpPr>
          <p:cNvPr id="21" name="Rectangle 20">
            <a:extLst>
              <a:ext uri="{FF2B5EF4-FFF2-40B4-BE49-F238E27FC236}">
                <a16:creationId xmlns:a16="http://schemas.microsoft.com/office/drawing/2014/main" id="{0F8F6D10-7E91-4D68-8F46-4EF0F023AF1B}"/>
              </a:ext>
            </a:extLst>
          </p:cNvPr>
          <p:cNvSpPr/>
          <p:nvPr/>
        </p:nvSpPr>
        <p:spPr>
          <a:xfrm>
            <a:off x="2292018" y="274719"/>
            <a:ext cx="1786690" cy="490286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8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Software Packs</a:t>
            </a:r>
          </a:p>
        </p:txBody>
      </p:sp>
      <p:sp>
        <p:nvSpPr>
          <p:cNvPr id="5" name="Flowchart: Document 4">
            <a:extLst>
              <a:ext uri="{FF2B5EF4-FFF2-40B4-BE49-F238E27FC236}">
                <a16:creationId xmlns:a16="http://schemas.microsoft.com/office/drawing/2014/main" id="{2D3770D1-02A3-4E7A-8574-CDC5E2D313BA}"/>
              </a:ext>
            </a:extLst>
          </p:cNvPr>
          <p:cNvSpPr/>
          <p:nvPr/>
        </p:nvSpPr>
        <p:spPr>
          <a:xfrm>
            <a:off x="2510676" y="3918641"/>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a:t>
            </a:r>
            <a:r>
              <a:rPr kumimoji="0" lang="en-US" sz="1200" b="0" i="0" u="none" strike="noStrike" kern="1200" cap="none" spc="0" normalizeH="0" baseline="0" noProof="0" dirty="0" err="1">
                <a:ln>
                  <a:noFill/>
                </a:ln>
                <a:solidFill>
                  <a:srgbClr val="FFFFFF"/>
                </a:solidFill>
                <a:effectLst/>
                <a:uLnTx/>
                <a:uFillTx/>
                <a:latin typeface="Calibri"/>
                <a:ea typeface="+mn-ea"/>
                <a:cs typeface="+mn-cs"/>
              </a:rPr>
              <a:t>rzone</a:t>
            </a:r>
            <a:r>
              <a:rPr kumimoji="0" lang="en-US" sz="1200" b="0" i="0" u="none" strike="noStrike" kern="1200" cap="none" spc="0" normalizeH="0" baseline="0" noProof="0" dirty="0">
                <a:ln>
                  <a:noFill/>
                </a:ln>
                <a:solidFill>
                  <a:srgbClr val="FFFFFF"/>
                </a:solidFill>
                <a:effectLst/>
                <a:uLnTx/>
                <a:uFillTx/>
                <a:latin typeface="Calibri"/>
                <a:ea typeface="+mn-ea"/>
                <a:cs typeface="+mn-cs"/>
              </a:rPr>
              <a:t> (optional)</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lang="en-US" sz="1050" dirty="0">
                <a:solidFill>
                  <a:srgbClr val="FFFFFF"/>
                </a:solidFill>
                <a:latin typeface="Calibri"/>
              </a:rPr>
              <a:t>D</a:t>
            </a:r>
            <a:r>
              <a:rPr kumimoji="0" lang="en-US" sz="1000" b="0" i="0" u="none" strike="noStrike" kern="1200" cap="none" spc="0" normalizeH="0" baseline="0" noProof="0" dirty="0" err="1">
                <a:ln>
                  <a:noFill/>
                </a:ln>
                <a:solidFill>
                  <a:srgbClr val="FFFFFF"/>
                </a:solidFill>
                <a:effectLst/>
                <a:uLnTx/>
                <a:uFillTx/>
                <a:latin typeface="Calibri"/>
                <a:ea typeface="+mn-ea"/>
                <a:cs typeface="+mn-cs"/>
              </a:rPr>
              <a:t>efines</a:t>
            </a:r>
            <a:r>
              <a:rPr kumimoji="0" lang="en-US" sz="1000" b="0" i="0" u="none" strike="noStrike" kern="1200" cap="none" spc="0" normalizeH="0" baseline="0" noProof="0" dirty="0">
                <a:ln>
                  <a:noFill/>
                </a:ln>
                <a:solidFill>
                  <a:srgbClr val="FFFFFF"/>
                </a:solidFill>
                <a:effectLst/>
                <a:uLnTx/>
                <a:uFillTx/>
                <a:latin typeface="Calibri"/>
                <a:ea typeface="+mn-ea"/>
                <a:cs typeface="+mn-cs"/>
              </a:rPr>
              <a:t> system resources</a:t>
            </a:r>
            <a:endParaRPr kumimoji="0" lang="en-GB" sz="1100" b="0" i="0" u="none" strike="noStrike" kern="1200" cap="none" spc="0" normalizeH="0" baseline="0" noProof="0" dirty="0">
              <a:ln>
                <a:noFill/>
              </a:ln>
              <a:solidFill>
                <a:srgbClr val="FFFFFF"/>
              </a:solidFill>
              <a:effectLst/>
              <a:uLnTx/>
              <a:uFillTx/>
              <a:latin typeface="Calibri"/>
              <a:ea typeface="+mn-ea"/>
              <a:cs typeface="+mn-cs"/>
            </a:endParaRPr>
          </a:p>
        </p:txBody>
      </p:sp>
      <p:sp>
        <p:nvSpPr>
          <p:cNvPr id="6" name="Flowchart: Document 5">
            <a:extLst>
              <a:ext uri="{FF2B5EF4-FFF2-40B4-BE49-F238E27FC236}">
                <a16:creationId xmlns:a16="http://schemas.microsoft.com/office/drawing/2014/main" id="{05CB531E-7400-4A1A-9853-81AF2D7E5608}"/>
              </a:ext>
            </a:extLst>
          </p:cNvPr>
          <p:cNvSpPr/>
          <p:nvPr/>
        </p:nvSpPr>
        <p:spPr>
          <a:xfrm>
            <a:off x="5045330" y="1638298"/>
            <a:ext cx="1333416" cy="884321"/>
          </a:xfrm>
          <a:prstGeom prst="flowChartDocumen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csolution.yml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Target (Device, Board) Build (Debug, Release) </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7" name="Flowchart: Multidocument 6">
            <a:extLst>
              <a:ext uri="{FF2B5EF4-FFF2-40B4-BE49-F238E27FC236}">
                <a16:creationId xmlns:a16="http://schemas.microsoft.com/office/drawing/2014/main" id="{0FCC1B91-99A1-4E45-AE23-2D8F8B8DFEBE}"/>
              </a:ext>
            </a:extLst>
          </p:cNvPr>
          <p:cNvSpPr/>
          <p:nvPr/>
        </p:nvSpPr>
        <p:spPr>
          <a:xfrm>
            <a:off x="5002732" y="2755225"/>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cproject.yml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Manages </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independent</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projects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0" name="Flowchart: Multidocument 9">
            <a:extLst>
              <a:ext uri="{FF2B5EF4-FFF2-40B4-BE49-F238E27FC236}">
                <a16:creationId xmlns:a16="http://schemas.microsoft.com/office/drawing/2014/main" id="{063DD4F5-6984-4CA0-9BAE-639DAB72225F}"/>
              </a:ext>
            </a:extLst>
          </p:cNvPr>
          <p:cNvSpPr/>
          <p:nvPr/>
        </p:nvSpPr>
        <p:spPr>
          <a:xfrm>
            <a:off x="9467610" y="5300327"/>
            <a:ext cx="1449805" cy="1010653"/>
          </a:xfrm>
          <a:prstGeom prst="flowChartMulti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a:solidFill>
                  <a:schemeClr val="bg2">
                    <a:lumMod val="25000"/>
                  </a:schemeClr>
                </a:solidFill>
                <a:latin typeface="Calibri"/>
              </a:rPr>
              <a:t>Run-Time Environment (RTE)</a:t>
            </a:r>
            <a:br>
              <a:rPr lang="en-US" sz="1000" dirty="0">
                <a:solidFill>
                  <a:schemeClr val="bg2">
                    <a:lumMod val="25000"/>
                  </a:schemeClr>
                </a:solidFill>
                <a:latin typeface="Calibri"/>
              </a:rPr>
            </a:br>
            <a:r>
              <a:rPr lang="en-US" sz="1000" dirty="0">
                <a:solidFill>
                  <a:schemeClr val="bg2">
                    <a:lumMod val="25000"/>
                  </a:schemeClr>
                </a:solidFill>
                <a:latin typeface="Calibri"/>
              </a:rPr>
              <a:t>(*.c / *.h files with config information)</a:t>
            </a:r>
            <a:br>
              <a:rPr lang="en-US" sz="1200" dirty="0">
                <a:solidFill>
                  <a:schemeClr val="bg2">
                    <a:lumMod val="25000"/>
                  </a:schemeClr>
                </a:solidFill>
                <a:latin typeface="Calibri"/>
              </a:rPr>
            </a:br>
            <a:endParaRPr kumimoji="0" lang="en-GB" sz="12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14" name="Straight Arrow Connector 13">
            <a:extLst>
              <a:ext uri="{FF2B5EF4-FFF2-40B4-BE49-F238E27FC236}">
                <a16:creationId xmlns:a16="http://schemas.microsoft.com/office/drawing/2014/main" id="{0CA20441-F3C2-440A-892E-1359E8990DC5}"/>
              </a:ext>
            </a:extLst>
          </p:cNvPr>
          <p:cNvCxnSpPr>
            <a:cxnSpLocks/>
          </p:cNvCxnSpPr>
          <p:nvPr/>
        </p:nvCxnSpPr>
        <p:spPr>
          <a:xfrm>
            <a:off x="5693030" y="2478504"/>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700C784-4ABC-4B94-A393-C72FD280887C}"/>
              </a:ext>
            </a:extLst>
          </p:cNvPr>
          <p:cNvCxnSpPr>
            <a:cxnSpLocks/>
          </p:cNvCxnSpPr>
          <p:nvPr/>
        </p:nvCxnSpPr>
        <p:spPr>
          <a:xfrm>
            <a:off x="5713083" y="3695699"/>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 name="Flowchart: Multidocument 17">
            <a:extLst>
              <a:ext uri="{FF2B5EF4-FFF2-40B4-BE49-F238E27FC236}">
                <a16:creationId xmlns:a16="http://schemas.microsoft.com/office/drawing/2014/main" id="{F193B99D-00C8-43D5-A8CC-0E46D2AFFC10}"/>
              </a:ext>
            </a:extLst>
          </p:cNvPr>
          <p:cNvSpPr/>
          <p:nvPr/>
        </p:nvSpPr>
        <p:spPr>
          <a:xfrm>
            <a:off x="5052863" y="3966404"/>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clayer.yml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Defines re-usable project parts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9" name="Flowchart: Document 18">
            <a:extLst>
              <a:ext uri="{FF2B5EF4-FFF2-40B4-BE49-F238E27FC236}">
                <a16:creationId xmlns:a16="http://schemas.microsoft.com/office/drawing/2014/main" id="{D63E43D9-EAD2-43AD-B647-C5A8C4326FDF}"/>
              </a:ext>
            </a:extLst>
          </p:cNvPr>
          <p:cNvSpPr/>
          <p:nvPr/>
        </p:nvSpPr>
        <p:spPr>
          <a:xfrm>
            <a:off x="2510676" y="2805361"/>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Device Family Pack (DFP)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a:ea typeface="+mn-ea"/>
                <a:cs typeface="+mn-cs"/>
              </a:rPr>
              <a:t>Defines device</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properties</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0" name="Flowchart: Document 19">
            <a:extLst>
              <a:ext uri="{FF2B5EF4-FFF2-40B4-BE49-F238E27FC236}">
                <a16:creationId xmlns:a16="http://schemas.microsoft.com/office/drawing/2014/main" id="{E8D155CF-279C-4302-9DE1-8F6B8DB4D1F4}"/>
              </a:ext>
            </a:extLst>
          </p:cNvPr>
          <p:cNvSpPr/>
          <p:nvPr/>
        </p:nvSpPr>
        <p:spPr>
          <a:xfrm>
            <a:off x="2518233" y="1760222"/>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Board Support Pack (BSP)</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Defines board</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properties</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3" name="Rectangle 22">
            <a:extLst>
              <a:ext uri="{FF2B5EF4-FFF2-40B4-BE49-F238E27FC236}">
                <a16:creationId xmlns:a16="http://schemas.microsoft.com/office/drawing/2014/main" id="{8119DA75-D395-4806-9923-A60C1658B62A}"/>
              </a:ext>
            </a:extLst>
          </p:cNvPr>
          <p:cNvSpPr/>
          <p:nvPr/>
        </p:nvSpPr>
        <p:spPr>
          <a:xfrm>
            <a:off x="7230982" y="2695071"/>
            <a:ext cx="1540042" cy="1022685"/>
          </a:xfrm>
          <a:prstGeom prst="rect">
            <a:avLst/>
          </a:prstGeom>
          <a:solidFill>
            <a:srgbClr val="92D050"/>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dirty="0">
                <a:solidFill>
                  <a:srgbClr val="FFFFFF"/>
                </a:solidFill>
                <a:latin typeface="Calibri"/>
              </a:rPr>
              <a:t>c</a:t>
            </a:r>
            <a:r>
              <a:rPr kumimoji="0" lang="en-US" sz="1800" b="0" i="0" u="none" strike="noStrike" kern="1200" cap="none" spc="0" normalizeH="0" baseline="0" noProof="0" dirty="0">
                <a:ln>
                  <a:noFill/>
                </a:ln>
                <a:solidFill>
                  <a:srgbClr val="FFFFFF"/>
                </a:solidFill>
                <a:effectLst/>
                <a:uLnTx/>
                <a:uFillTx/>
                <a:latin typeface="Calibri"/>
                <a:ea typeface="+mn-ea"/>
                <a:cs typeface="+mn-cs"/>
              </a:rPr>
              <a:t>solution</a:t>
            </a:r>
            <a:br>
              <a:rPr kumimoji="0" lang="en-US" sz="1800" b="0" i="0" u="none" strike="noStrike" kern="1200" cap="none" spc="0" normalizeH="0" baseline="0" noProof="0" dirty="0">
                <a:ln>
                  <a:noFill/>
                </a:ln>
                <a:solidFill>
                  <a:srgbClr val="FFFFFF"/>
                </a:solidFill>
                <a:effectLst/>
                <a:uLnTx/>
                <a:uFillTx/>
                <a:latin typeface="Calibri"/>
                <a:ea typeface="+mn-ea"/>
                <a:cs typeface="+mn-cs"/>
              </a:rPr>
            </a:br>
            <a:r>
              <a:rPr kumimoji="0" lang="en-US" sz="1800" b="0" i="0" u="none" strike="noStrike" kern="1200" cap="none" spc="0" normalizeH="0" baseline="0" noProof="0" dirty="0">
                <a:ln>
                  <a:noFill/>
                </a:ln>
                <a:solidFill>
                  <a:srgbClr val="FFFFFF"/>
                </a:solidFill>
                <a:effectLst/>
                <a:uLnTx/>
                <a:uFillTx/>
                <a:latin typeface="Calibri"/>
                <a:ea typeface="+mn-ea"/>
                <a:cs typeface="+mn-cs"/>
              </a:rPr>
              <a:t>CLI tool</a:t>
            </a: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4" name="Flowchart: Multidocument 23">
            <a:extLst>
              <a:ext uri="{FF2B5EF4-FFF2-40B4-BE49-F238E27FC236}">
                <a16:creationId xmlns:a16="http://schemas.microsoft.com/office/drawing/2014/main" id="{AC417908-17B4-4FD1-8070-B598BF19F8CD}"/>
              </a:ext>
            </a:extLst>
          </p:cNvPr>
          <p:cNvSpPr/>
          <p:nvPr/>
        </p:nvSpPr>
        <p:spPr>
          <a:xfrm>
            <a:off x="9468194" y="1216209"/>
            <a:ext cx="1449805" cy="1010653"/>
          </a:xfrm>
          <a:prstGeom prst="flowChartMulti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Project Build Files *.</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cprj</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for CMSIS-Build</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32" name="Arrow: Right 31">
            <a:extLst>
              <a:ext uri="{FF2B5EF4-FFF2-40B4-BE49-F238E27FC236}">
                <a16:creationId xmlns:a16="http://schemas.microsoft.com/office/drawing/2014/main" id="{8DCE06D2-5B11-472B-8D45-3B327EA1669E}"/>
              </a:ext>
            </a:extLst>
          </p:cNvPr>
          <p:cNvSpPr/>
          <p:nvPr/>
        </p:nvSpPr>
        <p:spPr>
          <a:xfrm>
            <a:off x="6625392" y="2805360"/>
            <a:ext cx="605587"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cxnSp>
        <p:nvCxnSpPr>
          <p:cNvPr id="41" name="Straight Arrow Connector 40">
            <a:extLst>
              <a:ext uri="{FF2B5EF4-FFF2-40B4-BE49-F238E27FC236}">
                <a16:creationId xmlns:a16="http://schemas.microsoft.com/office/drawing/2014/main" id="{096E6527-5486-468E-A7EE-221C5DA1818D}"/>
              </a:ext>
            </a:extLst>
          </p:cNvPr>
          <p:cNvCxnSpPr>
            <a:cxnSpLocks/>
          </p:cNvCxnSpPr>
          <p:nvPr/>
        </p:nvCxnSpPr>
        <p:spPr>
          <a:xfrm>
            <a:off x="5722046" y="953351"/>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0" name="Flowchart: Document 39">
            <a:extLst>
              <a:ext uri="{FF2B5EF4-FFF2-40B4-BE49-F238E27FC236}">
                <a16:creationId xmlns:a16="http://schemas.microsoft.com/office/drawing/2014/main" id="{45A8C818-51F2-492B-AD63-90062B0A3BE8}"/>
              </a:ext>
            </a:extLst>
          </p:cNvPr>
          <p:cNvSpPr/>
          <p:nvPr/>
        </p:nvSpPr>
        <p:spPr>
          <a:xfrm>
            <a:off x="2519492" y="733727"/>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Generic </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200" b="0" i="0" u="none" strike="noStrike" kern="1200" cap="none" spc="0" normalizeH="0" baseline="0" noProof="0" dirty="0">
                <a:ln>
                  <a:noFill/>
                </a:ln>
                <a:solidFill>
                  <a:srgbClr val="FFFFFF"/>
                </a:solidFill>
                <a:effectLst/>
                <a:uLnTx/>
                <a:uFillTx/>
                <a:latin typeface="Calibri"/>
                <a:ea typeface="+mn-ea"/>
                <a:cs typeface="+mn-cs"/>
              </a:rPr>
              <a:t>Software Packs</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with drivers,</a:t>
            </a:r>
            <a:r>
              <a:rPr kumimoji="0" lang="en-US" sz="1200" b="0" i="0" u="none" strike="noStrike" kern="1200" cap="none" spc="0" normalizeH="0" baseline="0" noProof="0" dirty="0">
                <a:ln>
                  <a:noFill/>
                </a:ln>
                <a:solidFill>
                  <a:srgbClr val="FFFFFF"/>
                </a:solidFill>
                <a:effectLst/>
                <a:uLnTx/>
                <a:uFillTx/>
                <a:latin typeface="Calibri"/>
                <a:ea typeface="+mn-ea"/>
                <a:cs typeface="+mn-cs"/>
              </a:rPr>
              <a:t> m</a:t>
            </a:r>
            <a:r>
              <a:rPr lang="en-US" sz="1100" dirty="0" err="1">
                <a:solidFill>
                  <a:srgbClr val="FFFFFF"/>
                </a:solidFill>
                <a:latin typeface="Calibri"/>
              </a:rPr>
              <a:t>iddleware</a:t>
            </a:r>
            <a:r>
              <a:rPr lang="en-US" sz="1100" dirty="0">
                <a:solidFill>
                  <a:srgbClr val="FFFFFF"/>
                </a:solidFill>
                <a:latin typeface="Calibri"/>
              </a:rPr>
              <a:t>, etc.</a:t>
            </a:r>
          </a:p>
        </p:txBody>
      </p:sp>
      <p:sp>
        <p:nvSpPr>
          <p:cNvPr id="28" name="Flowchart: Multidocument 27">
            <a:extLst>
              <a:ext uri="{FF2B5EF4-FFF2-40B4-BE49-F238E27FC236}">
                <a16:creationId xmlns:a16="http://schemas.microsoft.com/office/drawing/2014/main" id="{F0174EA1-F6A6-4697-8C2A-616FAACBE88C}"/>
              </a:ext>
            </a:extLst>
          </p:cNvPr>
          <p:cNvSpPr/>
          <p:nvPr/>
        </p:nvSpPr>
        <p:spPr>
          <a:xfrm>
            <a:off x="9507279" y="2608796"/>
            <a:ext cx="1449805" cy="1010653"/>
          </a:xfrm>
          <a:prstGeom prst="flowChartMulti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Project Resource Files *.</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fzone</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for template engines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31" name="Arrow: Right 30">
            <a:extLst>
              <a:ext uri="{FF2B5EF4-FFF2-40B4-BE49-F238E27FC236}">
                <a16:creationId xmlns:a16="http://schemas.microsoft.com/office/drawing/2014/main" id="{1F9E4950-7682-4A97-95D2-18A9AEA2F368}"/>
              </a:ext>
            </a:extLst>
          </p:cNvPr>
          <p:cNvSpPr/>
          <p:nvPr/>
        </p:nvSpPr>
        <p:spPr>
          <a:xfrm>
            <a:off x="8764993" y="3116160"/>
            <a:ext cx="508607"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2" name="Oval 1">
            <a:extLst>
              <a:ext uri="{FF2B5EF4-FFF2-40B4-BE49-F238E27FC236}">
                <a16:creationId xmlns:a16="http://schemas.microsoft.com/office/drawing/2014/main" id="{5E657FDB-C487-44EF-8E7D-F8175C5B588B}"/>
              </a:ext>
            </a:extLst>
          </p:cNvPr>
          <p:cNvSpPr/>
          <p:nvPr/>
        </p:nvSpPr>
        <p:spPr>
          <a:xfrm>
            <a:off x="4658702" y="94719"/>
            <a:ext cx="360000" cy="36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1</a:t>
            </a:r>
            <a:endParaRPr lang="en-GB" dirty="0">
              <a:latin typeface="Calibri" panose="020F0502020204030204" pitchFamily="34" charset="0"/>
              <a:cs typeface="Calibri" panose="020F0502020204030204" pitchFamily="34" charset="0"/>
            </a:endParaRPr>
          </a:p>
        </p:txBody>
      </p:sp>
      <p:sp>
        <p:nvSpPr>
          <p:cNvPr id="27" name="Oval 26">
            <a:extLst>
              <a:ext uri="{FF2B5EF4-FFF2-40B4-BE49-F238E27FC236}">
                <a16:creationId xmlns:a16="http://schemas.microsoft.com/office/drawing/2014/main" id="{81407B11-6AFE-4D8A-B305-BE0AABD77969}"/>
              </a:ext>
            </a:extLst>
          </p:cNvPr>
          <p:cNvSpPr/>
          <p:nvPr/>
        </p:nvSpPr>
        <p:spPr>
          <a:xfrm>
            <a:off x="4658702" y="1458298"/>
            <a:ext cx="360000" cy="36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2</a:t>
            </a:r>
            <a:endParaRPr lang="en-GB" dirty="0">
              <a:latin typeface="Calibri" panose="020F0502020204030204" pitchFamily="34" charset="0"/>
              <a:cs typeface="Calibri" panose="020F0502020204030204" pitchFamily="34" charset="0"/>
            </a:endParaRPr>
          </a:p>
        </p:txBody>
      </p:sp>
      <p:sp>
        <p:nvSpPr>
          <p:cNvPr id="33" name="Oval 32">
            <a:extLst>
              <a:ext uri="{FF2B5EF4-FFF2-40B4-BE49-F238E27FC236}">
                <a16:creationId xmlns:a16="http://schemas.microsoft.com/office/drawing/2014/main" id="{589149B6-4311-43B0-8FA0-27944C657D0D}"/>
              </a:ext>
            </a:extLst>
          </p:cNvPr>
          <p:cNvSpPr/>
          <p:nvPr/>
        </p:nvSpPr>
        <p:spPr>
          <a:xfrm>
            <a:off x="4655694" y="2754123"/>
            <a:ext cx="360000" cy="36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3</a:t>
            </a:r>
            <a:endParaRPr lang="en-GB" dirty="0">
              <a:latin typeface="Calibri" panose="020F0502020204030204" pitchFamily="34" charset="0"/>
              <a:cs typeface="Calibri" panose="020F0502020204030204" pitchFamily="34" charset="0"/>
            </a:endParaRPr>
          </a:p>
        </p:txBody>
      </p:sp>
      <p:sp>
        <p:nvSpPr>
          <p:cNvPr id="35" name="Oval 34">
            <a:extLst>
              <a:ext uri="{FF2B5EF4-FFF2-40B4-BE49-F238E27FC236}">
                <a16:creationId xmlns:a16="http://schemas.microsoft.com/office/drawing/2014/main" id="{46A578CD-9EE0-408B-A678-0EFB17AD42CF}"/>
              </a:ext>
            </a:extLst>
          </p:cNvPr>
          <p:cNvSpPr/>
          <p:nvPr/>
        </p:nvSpPr>
        <p:spPr>
          <a:xfrm>
            <a:off x="4655694" y="3963001"/>
            <a:ext cx="360000" cy="36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4</a:t>
            </a:r>
            <a:endParaRPr lang="en-GB" dirty="0">
              <a:latin typeface="Calibri" panose="020F0502020204030204" pitchFamily="34" charset="0"/>
              <a:cs typeface="Calibri" panose="020F0502020204030204" pitchFamily="34" charset="0"/>
            </a:endParaRPr>
          </a:p>
        </p:txBody>
      </p:sp>
      <p:sp>
        <p:nvSpPr>
          <p:cNvPr id="38" name="Flowchart: Document 37">
            <a:extLst>
              <a:ext uri="{FF2B5EF4-FFF2-40B4-BE49-F238E27FC236}">
                <a16:creationId xmlns:a16="http://schemas.microsoft.com/office/drawing/2014/main" id="{973775FC-78A5-4325-B535-441862918E54}"/>
              </a:ext>
            </a:extLst>
          </p:cNvPr>
          <p:cNvSpPr/>
          <p:nvPr/>
        </p:nvSpPr>
        <p:spPr>
          <a:xfrm>
            <a:off x="5050566" y="274719"/>
            <a:ext cx="1350233" cy="768017"/>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a:t>
            </a:r>
            <a:r>
              <a:rPr kumimoji="0" lang="en-US" sz="1200" b="0" i="0" u="none" strike="noStrike" kern="1200" cap="none" spc="0" normalizeH="0" baseline="0" noProof="0" dirty="0" err="1">
                <a:ln>
                  <a:noFill/>
                </a:ln>
                <a:solidFill>
                  <a:srgbClr val="FFFFFF"/>
                </a:solidFill>
                <a:effectLst/>
                <a:uLnTx/>
                <a:uFillTx/>
                <a:latin typeface="Calibri"/>
                <a:ea typeface="+mn-ea"/>
                <a:cs typeface="+mn-cs"/>
              </a:rPr>
              <a:t>cdefault.yml</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Global Settings</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(Toolchain)</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370F4CCE-2B1C-035A-5D4A-81B8A6DC1905}"/>
              </a:ext>
            </a:extLst>
          </p:cNvPr>
          <p:cNvSpPr/>
          <p:nvPr/>
        </p:nvSpPr>
        <p:spPr>
          <a:xfrm>
            <a:off x="9282684" y="2591828"/>
            <a:ext cx="1786691" cy="1377234"/>
          </a:xfrm>
          <a:prstGeom prst="rect">
            <a:avLst/>
          </a:prstGeom>
          <a:solidFill>
            <a:schemeClr val="bg1">
              <a:lumMod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1"/>
          <a:lstStyle/>
          <a:p>
            <a:pPr algn="ctr"/>
            <a:r>
              <a:rPr lang="en-US" dirty="0"/>
              <a:t>future extension</a:t>
            </a:r>
          </a:p>
        </p:txBody>
      </p:sp>
      <p:sp>
        <p:nvSpPr>
          <p:cNvPr id="4" name="Rectangle 3">
            <a:extLst>
              <a:ext uri="{FF2B5EF4-FFF2-40B4-BE49-F238E27FC236}">
                <a16:creationId xmlns:a16="http://schemas.microsoft.com/office/drawing/2014/main" id="{C5772D99-DFDE-63C8-ED0F-8913B54FFD71}"/>
              </a:ext>
            </a:extLst>
          </p:cNvPr>
          <p:cNvSpPr/>
          <p:nvPr/>
        </p:nvSpPr>
        <p:spPr>
          <a:xfrm>
            <a:off x="7230982" y="4990622"/>
            <a:ext cx="1540042" cy="1022685"/>
          </a:xfrm>
          <a:prstGeom prst="rect">
            <a:avLst/>
          </a:prstGeom>
          <a:solidFill>
            <a:schemeClr val="accent2">
              <a:lumMod val="50000"/>
              <a:lumOff val="5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dirty="0">
                <a:solidFill>
                  <a:srgbClr val="FFFFFF"/>
                </a:solidFill>
                <a:latin typeface="Calibri"/>
              </a:rPr>
              <a:t>Generator</a:t>
            </a: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8" name="Rectangle 7">
            <a:extLst>
              <a:ext uri="{FF2B5EF4-FFF2-40B4-BE49-F238E27FC236}">
                <a16:creationId xmlns:a16="http://schemas.microsoft.com/office/drawing/2014/main" id="{132D24B4-9144-7276-CA05-5F9E950F9163}"/>
              </a:ext>
            </a:extLst>
          </p:cNvPr>
          <p:cNvSpPr/>
          <p:nvPr/>
        </p:nvSpPr>
        <p:spPr>
          <a:xfrm>
            <a:off x="9283599" y="1175887"/>
            <a:ext cx="1786691" cy="1377234"/>
          </a:xfrm>
          <a:prstGeom prst="rect">
            <a:avLst/>
          </a:prstGeom>
          <a:solidFill>
            <a:schemeClr val="bg1">
              <a:lumMod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1"/>
          <a:lstStyle/>
          <a:p>
            <a:pPr algn="ctr"/>
            <a:r>
              <a:rPr lang="en-US" dirty="0"/>
              <a:t>legacy</a:t>
            </a:r>
          </a:p>
        </p:txBody>
      </p:sp>
      <p:sp>
        <p:nvSpPr>
          <p:cNvPr id="12" name="Flowchart: Multidocument 11">
            <a:extLst>
              <a:ext uri="{FF2B5EF4-FFF2-40B4-BE49-F238E27FC236}">
                <a16:creationId xmlns:a16="http://schemas.microsoft.com/office/drawing/2014/main" id="{C1D42684-F2E8-5ED1-A6D2-22AD5040CDD3}"/>
              </a:ext>
            </a:extLst>
          </p:cNvPr>
          <p:cNvSpPr/>
          <p:nvPr/>
        </p:nvSpPr>
        <p:spPr>
          <a:xfrm>
            <a:off x="5045059" y="5177583"/>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cgen.yml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Defines generated</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project parts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3" name="Arrow: Right 12">
            <a:extLst>
              <a:ext uri="{FF2B5EF4-FFF2-40B4-BE49-F238E27FC236}">
                <a16:creationId xmlns:a16="http://schemas.microsoft.com/office/drawing/2014/main" id="{3C413814-5338-0CBB-0ADF-3392B8D26B35}"/>
              </a:ext>
            </a:extLst>
          </p:cNvPr>
          <p:cNvSpPr/>
          <p:nvPr/>
        </p:nvSpPr>
        <p:spPr>
          <a:xfrm rot="10800000">
            <a:off x="6488832" y="5414630"/>
            <a:ext cx="742146" cy="204536"/>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15" name="Arrow: Right 14">
            <a:extLst>
              <a:ext uri="{FF2B5EF4-FFF2-40B4-BE49-F238E27FC236}">
                <a16:creationId xmlns:a16="http://schemas.microsoft.com/office/drawing/2014/main" id="{405B82CE-AB85-0E73-D247-5FE9D420D9EF}"/>
              </a:ext>
            </a:extLst>
          </p:cNvPr>
          <p:cNvSpPr/>
          <p:nvPr/>
        </p:nvSpPr>
        <p:spPr>
          <a:xfrm rot="9005722">
            <a:off x="8747485" y="4640233"/>
            <a:ext cx="937026" cy="237456"/>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11" name="Flowchart: Document 10">
            <a:extLst>
              <a:ext uri="{FF2B5EF4-FFF2-40B4-BE49-F238E27FC236}">
                <a16:creationId xmlns:a16="http://schemas.microsoft.com/office/drawing/2014/main" id="{057A4819-CEB0-A8FD-8A56-C9A078D7B8A2}"/>
              </a:ext>
            </a:extLst>
          </p:cNvPr>
          <p:cNvSpPr/>
          <p:nvPr/>
        </p:nvSpPr>
        <p:spPr>
          <a:xfrm>
            <a:off x="9533850" y="4192534"/>
            <a:ext cx="1333416" cy="884321"/>
          </a:xfrm>
          <a:prstGeom prst="flowChart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cbuild.yml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Build information</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25" name="Straight Arrow Connector 24">
            <a:extLst>
              <a:ext uri="{FF2B5EF4-FFF2-40B4-BE49-F238E27FC236}">
                <a16:creationId xmlns:a16="http://schemas.microsoft.com/office/drawing/2014/main" id="{AE60EF65-4A79-4DC7-4A62-B477FD9D9B32}"/>
              </a:ext>
            </a:extLst>
          </p:cNvPr>
          <p:cNvCxnSpPr>
            <a:endCxn id="10" idx="1"/>
          </p:cNvCxnSpPr>
          <p:nvPr/>
        </p:nvCxnSpPr>
        <p:spPr>
          <a:xfrm>
            <a:off x="8764993" y="5682909"/>
            <a:ext cx="702617" cy="122745"/>
          </a:xfrm>
          <a:prstGeom prst="straightConnector1">
            <a:avLst/>
          </a:prstGeom>
          <a:ln w="38100">
            <a:prstDash val="sysDot"/>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DE55AD16-61F6-ECB7-E485-9CF75C1E3D3E}"/>
              </a:ext>
            </a:extLst>
          </p:cNvPr>
          <p:cNvSpPr/>
          <p:nvPr/>
        </p:nvSpPr>
        <p:spPr>
          <a:xfrm>
            <a:off x="2296169" y="3772280"/>
            <a:ext cx="1782539" cy="1377234"/>
          </a:xfrm>
          <a:prstGeom prst="rect">
            <a:avLst/>
          </a:prstGeom>
          <a:solidFill>
            <a:schemeClr val="bg1">
              <a:lumMod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1"/>
          <a:lstStyle/>
          <a:p>
            <a:pPr algn="ctr"/>
            <a:r>
              <a:rPr lang="en-US" dirty="0"/>
              <a:t>future extension</a:t>
            </a:r>
          </a:p>
        </p:txBody>
      </p:sp>
    </p:spTree>
    <p:extLst>
      <p:ext uri="{BB962C8B-B14F-4D97-AF65-F5344CB8AC3E}">
        <p14:creationId xmlns:p14="http://schemas.microsoft.com/office/powerpoint/2010/main" val="1984616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0020ED1A-4AE0-4AD4-AA47-B7F3413293D7}"/>
              </a:ext>
            </a:extLst>
          </p:cNvPr>
          <p:cNvSpPr/>
          <p:nvPr/>
        </p:nvSpPr>
        <p:spPr>
          <a:xfrm>
            <a:off x="9271448" y="1216862"/>
            <a:ext cx="1786690" cy="3902337"/>
          </a:xfrm>
          <a:prstGeom prst="rect">
            <a:avLst/>
          </a:prstGeom>
          <a:solidFill>
            <a:schemeClr val="accent5">
              <a:lumMod val="40000"/>
              <a:lumOff val="6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1" name="TextBox 10">
            <a:extLst>
              <a:ext uri="{FF2B5EF4-FFF2-40B4-BE49-F238E27FC236}">
                <a16:creationId xmlns:a16="http://schemas.microsoft.com/office/drawing/2014/main" id="{8269B7B5-438D-41ED-8C61-6825135F919C}"/>
              </a:ext>
            </a:extLst>
          </p:cNvPr>
          <p:cNvSpPr txBox="1"/>
          <p:nvPr/>
        </p:nvSpPr>
        <p:spPr>
          <a:xfrm>
            <a:off x="8136000" y="2145600"/>
            <a:ext cx="1288800" cy="415498"/>
          </a:xfrm>
          <a:prstGeom prst="rect">
            <a:avLst/>
          </a:prstGeom>
          <a:solidFill>
            <a:schemeClr val="accent1">
              <a:lumMod val="20000"/>
              <a:lumOff val="80000"/>
            </a:schemeClr>
          </a:solid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000" kern="1200" dirty="0">
                <a:solidFill>
                  <a:schemeClr val="tx2"/>
                </a:solidFill>
                <a:latin typeface="+mn-lt"/>
                <a:ea typeface="+mn-ea"/>
                <a:cs typeface="+mn-cs"/>
              </a:rPr>
              <a:t>Read previous </a:t>
            </a:r>
            <a:r>
              <a:rPr lang="en-US" sz="1000" dirty="0">
                <a:solidFill>
                  <a:schemeClr val="tx2"/>
                </a:solidFill>
              </a:rPr>
              <a:t>*.</a:t>
            </a:r>
            <a:r>
              <a:rPr lang="en-US" sz="1000" dirty="0" err="1">
                <a:solidFill>
                  <a:schemeClr val="tx2"/>
                </a:solidFill>
              </a:rPr>
              <a:t>cprj</a:t>
            </a:r>
            <a:r>
              <a:rPr lang="en-US" sz="1000" dirty="0">
                <a:solidFill>
                  <a:schemeClr val="tx2"/>
                </a:solidFill>
              </a:rPr>
              <a:t> files to </a:t>
            </a:r>
            <a:r>
              <a:rPr lang="en-US" sz="1000">
                <a:solidFill>
                  <a:schemeClr val="tx2"/>
                </a:solidFill>
              </a:rPr>
              <a:t>check for</a:t>
            </a:r>
            <a:r>
              <a:rPr lang="en-US" sz="1000" kern="1200">
                <a:solidFill>
                  <a:schemeClr val="tx2"/>
                </a:solidFill>
                <a:latin typeface="+mn-lt"/>
                <a:ea typeface="+mn-ea"/>
                <a:cs typeface="+mn-cs"/>
              </a:rPr>
              <a:t> </a:t>
            </a:r>
            <a:r>
              <a:rPr lang="en-US" sz="1000" kern="1200" dirty="0">
                <a:solidFill>
                  <a:schemeClr val="tx2"/>
                </a:solidFill>
                <a:latin typeface="+mn-lt"/>
                <a:ea typeface="+mn-ea"/>
                <a:cs typeface="+mn-cs"/>
              </a:rPr>
              <a:t>config file version changes</a:t>
            </a:r>
            <a:endParaRPr lang="en-GB" sz="1000" kern="1200" dirty="0" err="1">
              <a:solidFill>
                <a:schemeClr val="tx2"/>
              </a:solidFill>
              <a:latin typeface="+mn-lt"/>
              <a:ea typeface="+mn-ea"/>
              <a:cs typeface="+mn-cs"/>
            </a:endParaRPr>
          </a:p>
        </p:txBody>
      </p:sp>
      <p:sp>
        <p:nvSpPr>
          <p:cNvPr id="4" name="TextBox 3">
            <a:extLst>
              <a:ext uri="{FF2B5EF4-FFF2-40B4-BE49-F238E27FC236}">
                <a16:creationId xmlns:a16="http://schemas.microsoft.com/office/drawing/2014/main" id="{1BF01722-4CCD-45D0-A6F4-E9830D4537B1}"/>
              </a:ext>
            </a:extLst>
          </p:cNvPr>
          <p:cNvSpPr txBox="1"/>
          <p:nvPr/>
        </p:nvSpPr>
        <p:spPr>
          <a:xfrm>
            <a:off x="2937564" y="5181480"/>
            <a:ext cx="5896835" cy="226369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kern="1200" dirty="0">
                <a:solidFill>
                  <a:schemeClr val="tx2"/>
                </a:solidFill>
                <a:latin typeface="+mn-lt"/>
                <a:ea typeface="+mn-ea"/>
                <a:cs typeface="+mn-cs"/>
              </a:rPr>
              <a:t>Control config file versions in case of updated software packs</a:t>
            </a:r>
          </a:p>
          <a:p>
            <a:pPr marL="342900" indent="-342900" algn="l" defTabSz="914400" rtl="0" eaLnBrk="1" latinLnBrk="0" hangingPunct="1">
              <a:lnSpc>
                <a:spcPct val="90000"/>
              </a:lnSpc>
              <a:spcBef>
                <a:spcPts val="0"/>
              </a:spcBef>
              <a:spcAft>
                <a:spcPts val="600"/>
              </a:spcAft>
              <a:buFont typeface="+mj-lt"/>
              <a:buAutoNum type="arabicPeriod"/>
            </a:pPr>
            <a:r>
              <a:rPr lang="en-US" sz="1000" kern="1200" dirty="0">
                <a:solidFill>
                  <a:schemeClr val="tx2"/>
                </a:solidFill>
                <a:latin typeface="+mn-lt"/>
                <a:ea typeface="+mn-ea"/>
                <a:cs typeface="+mn-cs"/>
              </a:rPr>
              <a:t>Read Software Packs and </a:t>
            </a:r>
            <a:r>
              <a:rPr lang="en-US" sz="1000" dirty="0" err="1">
                <a:solidFill>
                  <a:schemeClr val="tx2"/>
                </a:solidFill>
              </a:rPr>
              <a:t>csolution</a:t>
            </a:r>
            <a:r>
              <a:rPr lang="en-US" sz="1000" dirty="0">
                <a:solidFill>
                  <a:schemeClr val="tx2"/>
                </a:solidFill>
              </a:rPr>
              <a:t> project f</a:t>
            </a:r>
            <a:r>
              <a:rPr lang="en-US" sz="1000" kern="1200" dirty="0">
                <a:solidFill>
                  <a:schemeClr val="tx2"/>
                </a:solidFill>
                <a:latin typeface="+mn-lt"/>
                <a:ea typeface="+mn-ea"/>
                <a:cs typeface="+mn-cs"/>
              </a:rPr>
              <a:t>iles</a:t>
            </a:r>
          </a:p>
          <a:p>
            <a:pPr marL="342900" indent="-342900" algn="l" defTabSz="914400" rtl="0" eaLnBrk="1" latinLnBrk="0" hangingPunct="1">
              <a:lnSpc>
                <a:spcPct val="90000"/>
              </a:lnSpc>
              <a:spcBef>
                <a:spcPts val="0"/>
              </a:spcBef>
              <a:spcAft>
                <a:spcPts val="600"/>
              </a:spcAft>
              <a:buFont typeface="+mj-lt"/>
              <a:buAutoNum type="arabicPeriod"/>
            </a:pPr>
            <a:r>
              <a:rPr lang="en-US" sz="1000" dirty="0">
                <a:solidFill>
                  <a:schemeClr val="tx2"/>
                </a:solidFill>
                <a:latin typeface="+mn-lt"/>
                <a:ea typeface="+mn-ea"/>
              </a:rPr>
              <a:t>Process data</a:t>
            </a:r>
          </a:p>
          <a:p>
            <a:pPr marL="342900" indent="-342900">
              <a:lnSpc>
                <a:spcPct val="90000"/>
              </a:lnSpc>
              <a:spcAft>
                <a:spcPts val="600"/>
              </a:spcAft>
              <a:buFont typeface="+mj-lt"/>
              <a:buAutoNum type="arabicPeriod"/>
            </a:pPr>
            <a:r>
              <a:rPr lang="en-US" sz="1000" kern="1200" dirty="0">
                <a:solidFill>
                  <a:schemeClr val="tx2"/>
                </a:solidFill>
                <a:latin typeface="+mn-lt"/>
                <a:ea typeface="+mn-ea"/>
                <a:cs typeface="+mn-cs"/>
              </a:rPr>
              <a:t>Read previous *.</a:t>
            </a:r>
            <a:r>
              <a:rPr lang="en-US" sz="1000" kern="1200" dirty="0" err="1">
                <a:solidFill>
                  <a:schemeClr val="tx2"/>
                </a:solidFill>
                <a:latin typeface="+mn-lt"/>
                <a:ea typeface="+mn-ea"/>
                <a:cs typeface="+mn-cs"/>
              </a:rPr>
              <a:t>cprj</a:t>
            </a:r>
            <a:r>
              <a:rPr lang="en-US" sz="1000" kern="1200" dirty="0">
                <a:solidFill>
                  <a:schemeClr val="tx2"/>
                </a:solidFill>
                <a:latin typeface="+mn-lt"/>
                <a:ea typeface="+mn-ea"/>
                <a:cs typeface="+mn-cs"/>
              </a:rPr>
              <a:t> file to identify the config file versions previously used</a:t>
            </a:r>
          </a:p>
          <a:p>
            <a:pPr marL="342900" indent="-342900">
              <a:lnSpc>
                <a:spcPct val="90000"/>
              </a:lnSpc>
              <a:spcAft>
                <a:spcPts val="600"/>
              </a:spcAft>
              <a:buFont typeface="+mj-lt"/>
              <a:buAutoNum type="arabicPeriod"/>
            </a:pPr>
            <a:r>
              <a:rPr lang="en-US" sz="1000" kern="1200" dirty="0">
                <a:solidFill>
                  <a:schemeClr val="tx2"/>
                </a:solidFill>
                <a:latin typeface="+mn-lt"/>
                <a:ea typeface="+mn-ea"/>
                <a:cs typeface="+mn-cs"/>
              </a:rPr>
              <a:t>Compare versions of “config” files, notify if updates are made (define rename process of config files)</a:t>
            </a:r>
          </a:p>
          <a:p>
            <a:pPr marL="342900" indent="-342900" algn="l" defTabSz="914400" rtl="0" eaLnBrk="1" latinLnBrk="0" hangingPunct="1">
              <a:lnSpc>
                <a:spcPct val="90000"/>
              </a:lnSpc>
              <a:spcBef>
                <a:spcPts val="0"/>
              </a:spcBef>
              <a:spcAft>
                <a:spcPts val="600"/>
              </a:spcAft>
              <a:buFont typeface="+mj-lt"/>
              <a:buAutoNum type="arabicPeriod"/>
            </a:pPr>
            <a:r>
              <a:rPr lang="en-US" sz="1000" dirty="0">
                <a:solidFill>
                  <a:schemeClr val="tx2"/>
                </a:solidFill>
                <a:latin typeface="+mn-lt"/>
                <a:ea typeface="+mn-ea"/>
              </a:rPr>
              <a:t>Check if new *.</a:t>
            </a:r>
            <a:r>
              <a:rPr lang="en-US" sz="1000" dirty="0" err="1">
                <a:solidFill>
                  <a:schemeClr val="tx2"/>
                </a:solidFill>
                <a:latin typeface="+mn-lt"/>
                <a:ea typeface="+mn-ea"/>
              </a:rPr>
              <a:t>cprj</a:t>
            </a:r>
            <a:r>
              <a:rPr lang="en-US" sz="1000" dirty="0">
                <a:solidFill>
                  <a:schemeClr val="tx2"/>
                </a:solidFill>
                <a:latin typeface="+mn-lt"/>
                <a:ea typeface="+mn-ea"/>
              </a:rPr>
              <a:t> file is different from old config files; if it differs rename existing *.</a:t>
            </a:r>
            <a:r>
              <a:rPr lang="en-US" sz="1000" dirty="0" err="1">
                <a:solidFill>
                  <a:schemeClr val="tx2"/>
                </a:solidFill>
                <a:latin typeface="+mn-lt"/>
                <a:ea typeface="+mn-ea"/>
              </a:rPr>
              <a:t>cprj</a:t>
            </a:r>
            <a:r>
              <a:rPr lang="en-US" sz="1000" dirty="0">
                <a:solidFill>
                  <a:schemeClr val="tx2"/>
                </a:solidFill>
                <a:latin typeface="+mn-lt"/>
                <a:ea typeface="+mn-ea"/>
              </a:rPr>
              <a:t> to backup version; write new *.</a:t>
            </a:r>
            <a:r>
              <a:rPr lang="en-US" sz="1000" dirty="0" err="1">
                <a:solidFill>
                  <a:schemeClr val="tx2"/>
                </a:solidFill>
                <a:latin typeface="+mn-lt"/>
                <a:ea typeface="+mn-ea"/>
              </a:rPr>
              <a:t>cprj</a:t>
            </a:r>
            <a:r>
              <a:rPr lang="en-US" sz="1000" dirty="0">
                <a:solidFill>
                  <a:schemeClr val="tx2"/>
                </a:solidFill>
                <a:latin typeface="+mn-lt"/>
                <a:ea typeface="+mn-ea"/>
              </a:rPr>
              <a:t> file</a:t>
            </a:r>
          </a:p>
          <a:p>
            <a:pPr marL="342900" indent="-342900" algn="l" defTabSz="914400" rtl="0" eaLnBrk="1" latinLnBrk="0" hangingPunct="1">
              <a:lnSpc>
                <a:spcPct val="90000"/>
              </a:lnSpc>
              <a:spcBef>
                <a:spcPts val="0"/>
              </a:spcBef>
              <a:spcAft>
                <a:spcPts val="600"/>
              </a:spcAft>
              <a:buFont typeface="+mj-lt"/>
              <a:buAutoNum type="arabicPeriod"/>
            </a:pPr>
            <a:r>
              <a:rPr lang="en-US" sz="1000" dirty="0">
                <a:solidFill>
                  <a:schemeClr val="tx2"/>
                </a:solidFill>
                <a:latin typeface="+mn-lt"/>
                <a:ea typeface="+mn-ea"/>
              </a:rPr>
              <a:t>Q: do we need a status file, perhaps for an IDE flow? </a:t>
            </a:r>
            <a:endParaRPr lang="en-US" sz="1000" kern="1200" dirty="0">
              <a:solidFill>
                <a:schemeClr val="tx2"/>
              </a:solidFill>
              <a:latin typeface="+mn-lt"/>
              <a:ea typeface="+mn-ea"/>
              <a:cs typeface="+mn-cs"/>
            </a:endParaRPr>
          </a:p>
          <a:p>
            <a:pPr algn="l" defTabSz="914400" rtl="0" eaLnBrk="1" latinLnBrk="0" hangingPunct="1">
              <a:lnSpc>
                <a:spcPct val="90000"/>
              </a:lnSpc>
              <a:spcBef>
                <a:spcPts val="0"/>
              </a:spcBef>
              <a:spcAft>
                <a:spcPts val="600"/>
              </a:spcAft>
            </a:pPr>
            <a:endParaRPr lang="en-US" sz="1600" kern="1200" dirty="0">
              <a:solidFill>
                <a:schemeClr val="tx2"/>
              </a:solidFill>
              <a:latin typeface="+mn-lt"/>
              <a:ea typeface="+mn-ea"/>
              <a:cs typeface="+mn-cs"/>
            </a:endParaRPr>
          </a:p>
          <a:p>
            <a:pPr marL="0" indent="0" algn="l" defTabSz="914400" rtl="0" eaLnBrk="1" latinLnBrk="0" hangingPunct="1">
              <a:lnSpc>
                <a:spcPct val="90000"/>
              </a:lnSpc>
              <a:spcBef>
                <a:spcPts val="0"/>
              </a:spcBef>
              <a:spcAft>
                <a:spcPts val="600"/>
              </a:spcAft>
              <a:buFont typeface="Arial" panose="020B0604020202020204" pitchFamily="34" charset="0"/>
              <a:buNone/>
            </a:pPr>
            <a:endParaRPr lang="en-GB" sz="2100" kern="1200" dirty="0" err="1">
              <a:solidFill>
                <a:schemeClr val="tx2"/>
              </a:solidFill>
              <a:latin typeface="+mn-lt"/>
              <a:ea typeface="+mn-ea"/>
              <a:cs typeface="+mn-cs"/>
            </a:endParaRPr>
          </a:p>
        </p:txBody>
      </p:sp>
      <p:sp>
        <p:nvSpPr>
          <p:cNvPr id="39" name="Arrow: Right 38">
            <a:extLst>
              <a:ext uri="{FF2B5EF4-FFF2-40B4-BE49-F238E27FC236}">
                <a16:creationId xmlns:a16="http://schemas.microsoft.com/office/drawing/2014/main" id="{3DA788C3-1645-447C-A40E-271F6D20E621}"/>
              </a:ext>
            </a:extLst>
          </p:cNvPr>
          <p:cNvSpPr/>
          <p:nvPr/>
        </p:nvSpPr>
        <p:spPr>
          <a:xfrm>
            <a:off x="4078708" y="3350792"/>
            <a:ext cx="3146258"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3E3B0814-1ABA-4C9D-92FA-B050BE4C984E}"/>
              </a:ext>
            </a:extLst>
          </p:cNvPr>
          <p:cNvSpPr/>
          <p:nvPr/>
        </p:nvSpPr>
        <p:spPr>
          <a:xfrm>
            <a:off x="4838702" y="1311440"/>
            <a:ext cx="1786690" cy="3761874"/>
          </a:xfrm>
          <a:prstGeom prst="rect">
            <a:avLst/>
          </a:prstGeom>
          <a:solidFill>
            <a:schemeClr val="accent3">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7CFECFC3-19DE-4962-99A4-6BC0C143A34C}"/>
              </a:ext>
            </a:extLst>
          </p:cNvPr>
          <p:cNvSpPr/>
          <p:nvPr/>
        </p:nvSpPr>
        <p:spPr>
          <a:xfrm>
            <a:off x="2292018" y="309838"/>
            <a:ext cx="1786690" cy="472537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47" name="Flowchart: Document 46">
            <a:extLst>
              <a:ext uri="{FF2B5EF4-FFF2-40B4-BE49-F238E27FC236}">
                <a16:creationId xmlns:a16="http://schemas.microsoft.com/office/drawing/2014/main" id="{2C5E4316-D126-45C3-A15D-CD87B0F7CA04}"/>
              </a:ext>
            </a:extLst>
          </p:cNvPr>
          <p:cNvSpPr/>
          <p:nvPr/>
        </p:nvSpPr>
        <p:spPr>
          <a:xfrm>
            <a:off x="2510676" y="3842441"/>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a:t>
            </a:r>
            <a:r>
              <a:rPr kumimoji="0" lang="en-US" sz="1200" b="0" i="0" u="none" strike="noStrike" kern="1200" cap="none" spc="0" normalizeH="0" baseline="0" noProof="0" dirty="0" err="1">
                <a:ln>
                  <a:noFill/>
                </a:ln>
                <a:solidFill>
                  <a:srgbClr val="FFFFFF"/>
                </a:solidFill>
                <a:effectLst/>
                <a:uLnTx/>
                <a:uFillTx/>
                <a:latin typeface="Calibri"/>
                <a:ea typeface="+mn-ea"/>
                <a:cs typeface="+mn-cs"/>
              </a:rPr>
              <a:t>rzone</a:t>
            </a:r>
            <a:r>
              <a:rPr kumimoji="0" lang="en-US" sz="1200" b="0" i="0" u="none" strike="noStrike" kern="1200" cap="none" spc="0" normalizeH="0" baseline="0" noProof="0" dirty="0">
                <a:ln>
                  <a:noFill/>
                </a:ln>
                <a:solidFill>
                  <a:srgbClr val="FFFFFF"/>
                </a:solidFill>
                <a:effectLst/>
                <a:uLnTx/>
                <a:uFillTx/>
                <a:latin typeface="Calibri"/>
                <a:ea typeface="+mn-ea"/>
                <a:cs typeface="+mn-cs"/>
              </a:rPr>
              <a:t> (optional)</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100" b="0" i="0" u="none" strike="noStrike" kern="1200" cap="none" spc="0" normalizeH="0" baseline="0" noProof="0" dirty="0">
                <a:ln>
                  <a:noFill/>
                </a:ln>
                <a:solidFill>
                  <a:srgbClr val="FFFFFF"/>
                </a:solidFill>
                <a:effectLst/>
                <a:uLnTx/>
                <a:uFillTx/>
                <a:latin typeface="Calibri"/>
                <a:ea typeface="+mn-ea"/>
                <a:cs typeface="+mn-cs"/>
              </a:rPr>
              <a:t>that defines </a:t>
            </a:r>
            <a:br>
              <a:rPr kumimoji="0" lang="en-US" sz="1100" b="0" i="0" u="none" strike="noStrike" kern="1200" cap="none" spc="0" normalizeH="0" baseline="0" noProof="0" dirty="0">
                <a:ln>
                  <a:noFill/>
                </a:ln>
                <a:solidFill>
                  <a:srgbClr val="FFFFFF"/>
                </a:solidFill>
                <a:effectLst/>
                <a:uLnTx/>
                <a:uFillTx/>
                <a:latin typeface="Calibri"/>
                <a:ea typeface="+mn-ea"/>
                <a:cs typeface="+mn-cs"/>
              </a:rPr>
            </a:br>
            <a:r>
              <a:rPr kumimoji="0" lang="en-US" sz="1100" b="0" i="0" u="none" strike="noStrike" kern="1200" cap="none" spc="0" normalizeH="0" baseline="0" noProof="0" dirty="0">
                <a:ln>
                  <a:noFill/>
                </a:ln>
                <a:solidFill>
                  <a:srgbClr val="FFFFFF"/>
                </a:solidFill>
                <a:effectLst/>
                <a:uLnTx/>
                <a:uFillTx/>
                <a:latin typeface="Calibri"/>
                <a:ea typeface="+mn-ea"/>
                <a:cs typeface="+mn-cs"/>
              </a:rPr>
              <a:t>System Resources</a:t>
            </a:r>
            <a:endParaRPr kumimoji="0" lang="en-GB" sz="1100" b="0" i="0" u="none" strike="noStrike" kern="1200" cap="none" spc="0" normalizeH="0" baseline="0" noProof="0" dirty="0">
              <a:ln>
                <a:noFill/>
              </a:ln>
              <a:solidFill>
                <a:srgbClr val="FFFFFF"/>
              </a:solidFill>
              <a:effectLst/>
              <a:uLnTx/>
              <a:uFillTx/>
              <a:latin typeface="Calibri"/>
              <a:ea typeface="+mn-ea"/>
              <a:cs typeface="+mn-cs"/>
            </a:endParaRPr>
          </a:p>
        </p:txBody>
      </p:sp>
      <p:sp>
        <p:nvSpPr>
          <p:cNvPr id="48" name="Flowchart: Document 47">
            <a:extLst>
              <a:ext uri="{FF2B5EF4-FFF2-40B4-BE49-F238E27FC236}">
                <a16:creationId xmlns:a16="http://schemas.microsoft.com/office/drawing/2014/main" id="{8A116466-F493-4ACA-B3A8-8C047F4F0E23}"/>
              </a:ext>
            </a:extLst>
          </p:cNvPr>
          <p:cNvSpPr/>
          <p:nvPr/>
        </p:nvSpPr>
        <p:spPr>
          <a:xfrm>
            <a:off x="5045330" y="1638298"/>
            <a:ext cx="1333416" cy="884321"/>
          </a:xfrm>
          <a:prstGeom prst="flowChartDocumen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csolution.yml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Defines Target Application</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49" name="Flowchart: Multidocument 48">
            <a:extLst>
              <a:ext uri="{FF2B5EF4-FFF2-40B4-BE49-F238E27FC236}">
                <a16:creationId xmlns:a16="http://schemas.microsoft.com/office/drawing/2014/main" id="{4DF5DC26-CF95-480F-8AA8-D77E0B1BC770}"/>
              </a:ext>
            </a:extLst>
          </p:cNvPr>
          <p:cNvSpPr/>
          <p:nvPr/>
        </p:nvSpPr>
        <p:spPr>
          <a:xfrm>
            <a:off x="5002732" y="2755225"/>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cproject.yml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Manages </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independent</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projects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50" name="Flowchart: Multidocument 49">
            <a:extLst>
              <a:ext uri="{FF2B5EF4-FFF2-40B4-BE49-F238E27FC236}">
                <a16:creationId xmlns:a16="http://schemas.microsoft.com/office/drawing/2014/main" id="{445D8DD9-2291-4859-822B-5A451A037577}"/>
              </a:ext>
            </a:extLst>
          </p:cNvPr>
          <p:cNvSpPr/>
          <p:nvPr/>
        </p:nvSpPr>
        <p:spPr>
          <a:xfrm>
            <a:off x="9476068" y="2837317"/>
            <a:ext cx="1449805" cy="1010653"/>
          </a:xfrm>
          <a:prstGeom prst="flowChartMultidocument">
            <a:avLst/>
          </a:prstGeom>
          <a:solidFill>
            <a:schemeClr val="accent6">
              <a:lumMod val="20000"/>
              <a:lumOff val="80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000" dirty="0">
                <a:solidFill>
                  <a:schemeClr val="bg2">
                    <a:lumMod val="25000"/>
                  </a:schemeClr>
                </a:solidFill>
                <a:latin typeface="Calibri"/>
              </a:rPr>
              <a:t>Run-Time Environment (RTE)</a:t>
            </a:r>
            <a:br>
              <a:rPr lang="en-US" sz="1000" dirty="0">
                <a:solidFill>
                  <a:schemeClr val="bg2">
                    <a:lumMod val="25000"/>
                  </a:schemeClr>
                </a:solidFill>
                <a:latin typeface="Calibri"/>
              </a:rPr>
            </a:br>
            <a:r>
              <a:rPr lang="en-US" sz="1000" dirty="0">
                <a:solidFill>
                  <a:schemeClr val="bg2">
                    <a:lumMod val="25000"/>
                  </a:schemeClr>
                </a:solidFill>
                <a:latin typeface="Calibri"/>
              </a:rPr>
              <a:t>(*.c / *.h files with config information)</a:t>
            </a:r>
            <a:br>
              <a:rPr lang="en-US" sz="1200" dirty="0">
                <a:solidFill>
                  <a:schemeClr val="bg2">
                    <a:lumMod val="25000"/>
                  </a:schemeClr>
                </a:solidFill>
                <a:latin typeface="Calibri"/>
              </a:rPr>
            </a:br>
            <a:endParaRPr kumimoji="0" lang="en-GB" sz="12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51" name="Straight Arrow Connector 50">
            <a:extLst>
              <a:ext uri="{FF2B5EF4-FFF2-40B4-BE49-F238E27FC236}">
                <a16:creationId xmlns:a16="http://schemas.microsoft.com/office/drawing/2014/main" id="{C87DDDB5-1B7B-4F58-B180-DF5B19B1DAF7}"/>
              </a:ext>
            </a:extLst>
          </p:cNvPr>
          <p:cNvCxnSpPr>
            <a:cxnSpLocks/>
          </p:cNvCxnSpPr>
          <p:nvPr/>
        </p:nvCxnSpPr>
        <p:spPr>
          <a:xfrm>
            <a:off x="5693030" y="2478504"/>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5196E5D6-58A3-4178-809D-42C71C7851FC}"/>
              </a:ext>
            </a:extLst>
          </p:cNvPr>
          <p:cNvCxnSpPr>
            <a:cxnSpLocks/>
          </p:cNvCxnSpPr>
          <p:nvPr/>
        </p:nvCxnSpPr>
        <p:spPr>
          <a:xfrm>
            <a:off x="5713083" y="3695699"/>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3" name="Flowchart: Multidocument 52">
            <a:extLst>
              <a:ext uri="{FF2B5EF4-FFF2-40B4-BE49-F238E27FC236}">
                <a16:creationId xmlns:a16="http://schemas.microsoft.com/office/drawing/2014/main" id="{97823D5B-3E2C-4C11-8BFD-5104542119CB}"/>
              </a:ext>
            </a:extLst>
          </p:cNvPr>
          <p:cNvSpPr/>
          <p:nvPr/>
        </p:nvSpPr>
        <p:spPr>
          <a:xfrm>
            <a:off x="5052863" y="3966404"/>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clayer.yml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Defines re-usable project parts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54" name="Flowchart: Document 53">
            <a:extLst>
              <a:ext uri="{FF2B5EF4-FFF2-40B4-BE49-F238E27FC236}">
                <a16:creationId xmlns:a16="http://schemas.microsoft.com/office/drawing/2014/main" id="{F4914DED-A504-4481-8AE7-5389D6AD3ACA}"/>
              </a:ext>
            </a:extLst>
          </p:cNvPr>
          <p:cNvSpPr/>
          <p:nvPr/>
        </p:nvSpPr>
        <p:spPr>
          <a:xfrm>
            <a:off x="2510676" y="2805361"/>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Device Family Pack (DFP)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alibri"/>
                <a:ea typeface="+mn-ea"/>
                <a:cs typeface="+mn-cs"/>
              </a:rPr>
              <a:t>that defines Device</a:t>
            </a:r>
            <a:br>
              <a:rPr kumimoji="0" lang="en-US" sz="1100" b="0" i="0" u="none" strike="noStrike" kern="1200" cap="none" spc="0" normalizeH="0" baseline="0" noProof="0" dirty="0">
                <a:ln>
                  <a:noFill/>
                </a:ln>
                <a:solidFill>
                  <a:srgbClr val="FFFFFF"/>
                </a:solidFill>
                <a:effectLst/>
                <a:uLnTx/>
                <a:uFillTx/>
                <a:latin typeface="Calibri"/>
                <a:ea typeface="+mn-ea"/>
                <a:cs typeface="+mn-cs"/>
              </a:rPr>
            </a:br>
            <a:r>
              <a:rPr kumimoji="0" lang="en-US" sz="1100" b="0" i="0" u="none" strike="noStrike" kern="1200" cap="none" spc="0" normalizeH="0" baseline="0" noProof="0" dirty="0">
                <a:ln>
                  <a:noFill/>
                </a:ln>
                <a:solidFill>
                  <a:srgbClr val="FFFFFF"/>
                </a:solidFill>
                <a:effectLst/>
                <a:uLnTx/>
                <a:uFillTx/>
                <a:latin typeface="Calibri"/>
                <a:ea typeface="+mn-ea"/>
                <a:cs typeface="+mn-cs"/>
              </a:rPr>
              <a:t>Properties</a:t>
            </a:r>
            <a:endParaRPr kumimoji="0" lang="en-GB" sz="1100" b="0" i="0" u="none" strike="noStrike" kern="1200" cap="none" spc="0" normalizeH="0" baseline="0" noProof="0" dirty="0">
              <a:ln>
                <a:noFill/>
              </a:ln>
              <a:solidFill>
                <a:srgbClr val="FFFFFF"/>
              </a:solidFill>
              <a:effectLst/>
              <a:uLnTx/>
              <a:uFillTx/>
              <a:latin typeface="Calibri"/>
              <a:ea typeface="+mn-ea"/>
              <a:cs typeface="+mn-cs"/>
            </a:endParaRPr>
          </a:p>
        </p:txBody>
      </p:sp>
      <p:sp>
        <p:nvSpPr>
          <p:cNvPr id="55" name="Flowchart: Document 54">
            <a:extLst>
              <a:ext uri="{FF2B5EF4-FFF2-40B4-BE49-F238E27FC236}">
                <a16:creationId xmlns:a16="http://schemas.microsoft.com/office/drawing/2014/main" id="{FCF47093-228F-4012-904D-528E1165020D}"/>
              </a:ext>
            </a:extLst>
          </p:cNvPr>
          <p:cNvSpPr/>
          <p:nvPr/>
        </p:nvSpPr>
        <p:spPr>
          <a:xfrm>
            <a:off x="2518233" y="1760222"/>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Board Support Pack (BSP)</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100" b="0" i="0" u="none" strike="noStrike" kern="1200" cap="none" spc="0" normalizeH="0" baseline="0" noProof="0" dirty="0">
                <a:ln>
                  <a:noFill/>
                </a:ln>
                <a:solidFill>
                  <a:srgbClr val="FFFFFF"/>
                </a:solidFill>
                <a:effectLst/>
                <a:uLnTx/>
                <a:uFillTx/>
                <a:latin typeface="Calibri"/>
                <a:ea typeface="+mn-ea"/>
                <a:cs typeface="+mn-cs"/>
              </a:rPr>
              <a:t>that defines Board</a:t>
            </a:r>
            <a:br>
              <a:rPr kumimoji="0" lang="en-US" sz="1100" b="0" i="0" u="none" strike="noStrike" kern="1200" cap="none" spc="0" normalizeH="0" baseline="0" noProof="0" dirty="0">
                <a:ln>
                  <a:noFill/>
                </a:ln>
                <a:solidFill>
                  <a:srgbClr val="FFFFFF"/>
                </a:solidFill>
                <a:effectLst/>
                <a:uLnTx/>
                <a:uFillTx/>
                <a:latin typeface="Calibri"/>
                <a:ea typeface="+mn-ea"/>
                <a:cs typeface="+mn-cs"/>
              </a:rPr>
            </a:br>
            <a:r>
              <a:rPr kumimoji="0" lang="en-US" sz="1100" b="0" i="0" u="none" strike="noStrike" kern="1200" cap="none" spc="0" normalizeH="0" baseline="0" noProof="0" dirty="0">
                <a:ln>
                  <a:noFill/>
                </a:ln>
                <a:solidFill>
                  <a:srgbClr val="FFFFFF"/>
                </a:solidFill>
                <a:effectLst/>
                <a:uLnTx/>
                <a:uFillTx/>
                <a:latin typeface="Calibri"/>
                <a:ea typeface="+mn-ea"/>
                <a:cs typeface="+mn-cs"/>
              </a:rPr>
              <a:t>Properties</a:t>
            </a:r>
            <a:endParaRPr kumimoji="0" lang="en-GB" sz="1100" b="0" i="0" u="none" strike="noStrike" kern="1200" cap="none" spc="0" normalizeH="0" baseline="0" noProof="0" dirty="0">
              <a:ln>
                <a:noFill/>
              </a:ln>
              <a:solidFill>
                <a:srgbClr val="FFFFFF"/>
              </a:solidFill>
              <a:effectLst/>
              <a:uLnTx/>
              <a:uFillTx/>
              <a:latin typeface="Calibri"/>
              <a:ea typeface="+mn-ea"/>
              <a:cs typeface="+mn-cs"/>
            </a:endParaRPr>
          </a:p>
        </p:txBody>
      </p:sp>
      <p:sp>
        <p:nvSpPr>
          <p:cNvPr id="56" name="Rectangle 55">
            <a:extLst>
              <a:ext uri="{FF2B5EF4-FFF2-40B4-BE49-F238E27FC236}">
                <a16:creationId xmlns:a16="http://schemas.microsoft.com/office/drawing/2014/main" id="{49FE0E03-2E80-4285-85A9-DF19C33E86DB}"/>
              </a:ext>
            </a:extLst>
          </p:cNvPr>
          <p:cNvSpPr/>
          <p:nvPr/>
        </p:nvSpPr>
        <p:spPr>
          <a:xfrm>
            <a:off x="7230982" y="2695071"/>
            <a:ext cx="1540042" cy="1022685"/>
          </a:xfrm>
          <a:prstGeom prst="rect">
            <a:avLst/>
          </a:prstGeom>
          <a:solidFill>
            <a:srgbClr val="92D050"/>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alibri"/>
                <a:ea typeface="+mn-ea"/>
                <a:cs typeface="+mn-cs"/>
              </a:rPr>
              <a:t>CMSIS Project Manager</a:t>
            </a: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57" name="Flowchart: Multidocument 56">
            <a:extLst>
              <a:ext uri="{FF2B5EF4-FFF2-40B4-BE49-F238E27FC236}">
                <a16:creationId xmlns:a16="http://schemas.microsoft.com/office/drawing/2014/main" id="{D1406CC0-37CC-4A93-AD63-95CF187FF525}"/>
              </a:ext>
            </a:extLst>
          </p:cNvPr>
          <p:cNvSpPr/>
          <p:nvPr/>
        </p:nvSpPr>
        <p:spPr>
          <a:xfrm>
            <a:off x="9466042" y="1689169"/>
            <a:ext cx="1449805" cy="1010653"/>
          </a:xfrm>
          <a:prstGeom prst="flowChartMultidocument">
            <a:avLst/>
          </a:prstGeom>
          <a:solidFill>
            <a:schemeClr val="accent6">
              <a:lumMod val="20000"/>
              <a:lumOff val="80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Project Files *.</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cprj</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for CMSIS Build</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58" name="Arrow: Right 57">
            <a:extLst>
              <a:ext uri="{FF2B5EF4-FFF2-40B4-BE49-F238E27FC236}">
                <a16:creationId xmlns:a16="http://schemas.microsoft.com/office/drawing/2014/main" id="{085F6E70-A8EB-4149-98FD-7E407B58BD4E}"/>
              </a:ext>
            </a:extLst>
          </p:cNvPr>
          <p:cNvSpPr/>
          <p:nvPr/>
        </p:nvSpPr>
        <p:spPr>
          <a:xfrm>
            <a:off x="6625392" y="2805360"/>
            <a:ext cx="605587"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59" name="TextBox 58">
            <a:extLst>
              <a:ext uri="{FF2B5EF4-FFF2-40B4-BE49-F238E27FC236}">
                <a16:creationId xmlns:a16="http://schemas.microsoft.com/office/drawing/2014/main" id="{BD4C35EE-3DBD-49DF-A607-BE45647662B8}"/>
              </a:ext>
            </a:extLst>
          </p:cNvPr>
          <p:cNvSpPr txBox="1"/>
          <p:nvPr/>
        </p:nvSpPr>
        <p:spPr>
          <a:xfrm>
            <a:off x="4707284" y="1373598"/>
            <a:ext cx="1606216" cy="193899"/>
          </a:xfrm>
          <a:prstGeom prst="rect">
            <a:avLst/>
          </a:prstGeom>
          <a:noFill/>
        </p:spPr>
        <p:txBody>
          <a:bodyPr wrap="square" lIns="0" tIns="0" rIns="0" bIns="0" rtlCol="0">
            <a:spAutoFit/>
          </a:bodyPr>
          <a:lstStyle/>
          <a:p>
            <a:pPr marL="0" marR="0" lvl="0" indent="0" algn="ctr" defTabSz="914400" rtl="0" eaLnBrk="1" fontAlgn="base" latinLnBrk="0" hangingPunct="1">
              <a:lnSpc>
                <a:spcPct val="90000"/>
              </a:lnSpc>
              <a:spcBef>
                <a:spcPts val="0"/>
              </a:spcBef>
              <a:spcAft>
                <a:spcPts val="600"/>
              </a:spcAft>
              <a:buClrTx/>
              <a:buSzTx/>
              <a:buFont typeface="Arial" panose="020B0604020202020204" pitchFamily="34" charset="0"/>
              <a:buNone/>
              <a:tabLst/>
              <a:defRPr/>
            </a:pPr>
            <a:r>
              <a:rPr kumimoji="0" lang="en-US" sz="1400" b="1" i="0" u="none" strike="noStrike" kern="1200" cap="none" spc="0" normalizeH="0" baseline="0" noProof="0" dirty="0" err="1">
                <a:ln>
                  <a:noFill/>
                </a:ln>
                <a:solidFill>
                  <a:srgbClr val="333E48"/>
                </a:solidFill>
                <a:effectLst/>
                <a:uLnTx/>
                <a:uFillTx/>
                <a:latin typeface="Calibri"/>
                <a:ea typeface="ＭＳ Ｐゴシック" panose="020B0600070205080204" pitchFamily="34" charset="-128"/>
                <a:cs typeface="+mn-cs"/>
              </a:rPr>
              <a:t>csolution</a:t>
            </a:r>
            <a:r>
              <a:rPr kumimoji="0" lang="en-US" sz="14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 project</a:t>
            </a:r>
          </a:p>
        </p:txBody>
      </p:sp>
      <p:sp>
        <p:nvSpPr>
          <p:cNvPr id="60" name="TextBox 59">
            <a:extLst>
              <a:ext uri="{FF2B5EF4-FFF2-40B4-BE49-F238E27FC236}">
                <a16:creationId xmlns:a16="http://schemas.microsoft.com/office/drawing/2014/main" id="{46AD6CC6-2055-407F-A625-DE9F3437CBAE}"/>
              </a:ext>
            </a:extLst>
          </p:cNvPr>
          <p:cNvSpPr txBox="1"/>
          <p:nvPr/>
        </p:nvSpPr>
        <p:spPr>
          <a:xfrm>
            <a:off x="2153648" y="379300"/>
            <a:ext cx="1606216" cy="193899"/>
          </a:xfrm>
          <a:prstGeom prst="rect">
            <a:avLst/>
          </a:prstGeom>
          <a:noFill/>
        </p:spPr>
        <p:txBody>
          <a:bodyPr wrap="square" lIns="0" tIns="0" rIns="0" bIns="0" rtlCol="0">
            <a:spAutoFit/>
          </a:bodyPr>
          <a:lstStyle/>
          <a:p>
            <a:pPr marL="0" marR="0" lvl="0" indent="0" algn="ctr" defTabSz="914400" rtl="0" eaLnBrk="1" fontAlgn="base" latinLnBrk="0" hangingPunct="1">
              <a:lnSpc>
                <a:spcPct val="90000"/>
              </a:lnSpc>
              <a:spcBef>
                <a:spcPts val="0"/>
              </a:spcBef>
              <a:spcAft>
                <a:spcPts val="60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Software Packs</a:t>
            </a:r>
          </a:p>
        </p:txBody>
      </p:sp>
      <p:sp>
        <p:nvSpPr>
          <p:cNvPr id="61" name="Flowchart: Document 60">
            <a:extLst>
              <a:ext uri="{FF2B5EF4-FFF2-40B4-BE49-F238E27FC236}">
                <a16:creationId xmlns:a16="http://schemas.microsoft.com/office/drawing/2014/main" id="{3425A9F6-1D5C-4890-9EFA-CAF1EE885046}"/>
              </a:ext>
            </a:extLst>
          </p:cNvPr>
          <p:cNvSpPr/>
          <p:nvPr/>
        </p:nvSpPr>
        <p:spPr>
          <a:xfrm>
            <a:off x="5050566" y="274719"/>
            <a:ext cx="1350233"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a:ea typeface="+mn-ea"/>
                <a:cs typeface="+mn-cs"/>
              </a:rPr>
              <a:t>[default.]</a:t>
            </a:r>
            <a:r>
              <a:rPr kumimoji="0" lang="en-US" sz="1000" b="0" i="0" u="none" strike="noStrike" kern="1200" cap="none" spc="0" normalizeH="0" baseline="0" noProof="0" dirty="0" err="1">
                <a:ln>
                  <a:noFill/>
                </a:ln>
                <a:solidFill>
                  <a:srgbClr val="FFFFFF"/>
                </a:solidFill>
                <a:effectLst/>
                <a:uLnTx/>
                <a:uFillTx/>
                <a:latin typeface="Calibri"/>
                <a:ea typeface="+mn-ea"/>
                <a:cs typeface="+mn-cs"/>
              </a:rPr>
              <a:t>csettings.yml</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Global Settings</a:t>
            </a:r>
            <a:br>
              <a:rPr kumimoji="0" lang="en-US" sz="10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(Toolchain, Device)</a:t>
            </a:r>
            <a:endParaRPr kumimoji="0" lang="en-GB" sz="1000" b="0" i="0" u="none" strike="noStrike" kern="1200" cap="none" spc="0" normalizeH="0" baseline="0" noProof="0" dirty="0">
              <a:ln>
                <a:noFill/>
              </a:ln>
              <a:solidFill>
                <a:srgbClr val="FFFFFF"/>
              </a:solidFill>
              <a:effectLst/>
              <a:uLnTx/>
              <a:uFillTx/>
              <a:latin typeface="Calibri"/>
              <a:ea typeface="+mn-ea"/>
              <a:cs typeface="+mn-cs"/>
            </a:endParaRPr>
          </a:p>
        </p:txBody>
      </p:sp>
      <p:cxnSp>
        <p:nvCxnSpPr>
          <p:cNvPr id="62" name="Straight Arrow Connector 61">
            <a:extLst>
              <a:ext uri="{FF2B5EF4-FFF2-40B4-BE49-F238E27FC236}">
                <a16:creationId xmlns:a16="http://schemas.microsoft.com/office/drawing/2014/main" id="{5DD31FF0-6F89-4143-B90A-7D2260304146}"/>
              </a:ext>
            </a:extLst>
          </p:cNvPr>
          <p:cNvCxnSpPr>
            <a:cxnSpLocks/>
          </p:cNvCxnSpPr>
          <p:nvPr/>
        </p:nvCxnSpPr>
        <p:spPr>
          <a:xfrm>
            <a:off x="5719099" y="1048751"/>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3" name="Flowchart: Document 62">
            <a:extLst>
              <a:ext uri="{FF2B5EF4-FFF2-40B4-BE49-F238E27FC236}">
                <a16:creationId xmlns:a16="http://schemas.microsoft.com/office/drawing/2014/main" id="{7C09EE6F-D403-4C7B-8CC7-44ACDCB48A9E}"/>
              </a:ext>
            </a:extLst>
          </p:cNvPr>
          <p:cNvSpPr/>
          <p:nvPr/>
        </p:nvSpPr>
        <p:spPr>
          <a:xfrm>
            <a:off x="2519492" y="733727"/>
            <a:ext cx="1333416" cy="88432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Generic </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200" b="0" i="0" u="none" strike="noStrike" kern="1200" cap="none" spc="0" normalizeH="0" baseline="0" noProof="0" dirty="0">
                <a:ln>
                  <a:noFill/>
                </a:ln>
                <a:solidFill>
                  <a:srgbClr val="FFFFFF"/>
                </a:solidFill>
                <a:effectLst/>
                <a:uLnTx/>
                <a:uFillTx/>
                <a:latin typeface="Calibri"/>
                <a:ea typeface="+mn-ea"/>
                <a:cs typeface="+mn-cs"/>
              </a:rPr>
              <a:t>Software Packs</a:t>
            </a:r>
            <a:br>
              <a:rPr kumimoji="0" lang="en-US" sz="1200" b="0" i="0" u="none" strike="noStrike" kern="1200" cap="none" spc="0" normalizeH="0" baseline="0" noProof="0" dirty="0">
                <a:ln>
                  <a:noFill/>
                </a:ln>
                <a:solidFill>
                  <a:srgbClr val="FFFFFF"/>
                </a:solidFill>
                <a:effectLst/>
                <a:uLnTx/>
                <a:uFillTx/>
                <a:latin typeface="Calibri"/>
                <a:ea typeface="+mn-ea"/>
                <a:cs typeface="+mn-cs"/>
              </a:rPr>
            </a:br>
            <a:r>
              <a:rPr kumimoji="0" lang="en-US" sz="1000" b="0" i="0" u="none" strike="noStrike" kern="1200" cap="none" spc="0" normalizeH="0" baseline="0" noProof="0" dirty="0">
                <a:ln>
                  <a:noFill/>
                </a:ln>
                <a:solidFill>
                  <a:srgbClr val="FFFFFF"/>
                </a:solidFill>
                <a:effectLst/>
                <a:uLnTx/>
                <a:uFillTx/>
                <a:latin typeface="Calibri"/>
                <a:ea typeface="+mn-ea"/>
                <a:cs typeface="+mn-cs"/>
              </a:rPr>
              <a:t>with drivers,</a:t>
            </a:r>
            <a:r>
              <a:rPr kumimoji="0" lang="en-US" sz="1200" b="0" i="0" u="none" strike="noStrike" kern="1200" cap="none" spc="0" normalizeH="0" baseline="0" noProof="0" dirty="0">
                <a:ln>
                  <a:noFill/>
                </a:ln>
                <a:solidFill>
                  <a:srgbClr val="FFFFFF"/>
                </a:solidFill>
                <a:effectLst/>
                <a:uLnTx/>
                <a:uFillTx/>
                <a:latin typeface="Calibri"/>
                <a:ea typeface="+mn-ea"/>
                <a:cs typeface="+mn-cs"/>
              </a:rPr>
              <a:t> m</a:t>
            </a:r>
            <a:r>
              <a:rPr lang="en-US" sz="1100" dirty="0" err="1">
                <a:solidFill>
                  <a:srgbClr val="FFFFFF"/>
                </a:solidFill>
                <a:latin typeface="Calibri"/>
              </a:rPr>
              <a:t>iddleware</a:t>
            </a:r>
            <a:r>
              <a:rPr lang="en-US" sz="1100" dirty="0">
                <a:solidFill>
                  <a:srgbClr val="FFFFFF"/>
                </a:solidFill>
                <a:latin typeface="Calibri"/>
              </a:rPr>
              <a:t>, etc.</a:t>
            </a:r>
          </a:p>
        </p:txBody>
      </p:sp>
      <p:sp>
        <p:nvSpPr>
          <p:cNvPr id="64" name="Flowchart: Multidocument 63">
            <a:extLst>
              <a:ext uri="{FF2B5EF4-FFF2-40B4-BE49-F238E27FC236}">
                <a16:creationId xmlns:a16="http://schemas.microsoft.com/office/drawing/2014/main" id="{C6AB218C-B779-4E4F-B26D-DD04F9517E1E}"/>
              </a:ext>
            </a:extLst>
          </p:cNvPr>
          <p:cNvSpPr/>
          <p:nvPr/>
        </p:nvSpPr>
        <p:spPr>
          <a:xfrm>
            <a:off x="9496042" y="3979969"/>
            <a:ext cx="1449805" cy="1010653"/>
          </a:xfrm>
          <a:prstGeom prst="flowChartMultidocument">
            <a:avLst/>
          </a:prstGeom>
          <a:solidFill>
            <a:schemeClr val="accent6">
              <a:lumMod val="20000"/>
              <a:lumOff val="80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Project Resource Files *.</a:t>
            </a:r>
            <a:r>
              <a:rPr kumimoji="0" lang="en-US" sz="1000" b="0" i="0" u="none" strike="noStrike" kern="1200" cap="none" spc="0" normalizeH="0" baseline="0" noProof="0" dirty="0" err="1">
                <a:ln>
                  <a:noFill/>
                </a:ln>
                <a:solidFill>
                  <a:schemeClr val="bg2">
                    <a:lumMod val="25000"/>
                  </a:schemeClr>
                </a:solidFill>
                <a:effectLst/>
                <a:uLnTx/>
                <a:uFillTx/>
                <a:latin typeface="Calibri"/>
                <a:ea typeface="+mn-ea"/>
                <a:cs typeface="+mn-cs"/>
              </a:rPr>
              <a:t>fzone</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for template engines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65" name="TextBox 64">
            <a:extLst>
              <a:ext uri="{FF2B5EF4-FFF2-40B4-BE49-F238E27FC236}">
                <a16:creationId xmlns:a16="http://schemas.microsoft.com/office/drawing/2014/main" id="{594D4E9B-4064-4977-9062-F920D0BDD75B}"/>
              </a:ext>
            </a:extLst>
          </p:cNvPr>
          <p:cNvSpPr txBox="1"/>
          <p:nvPr/>
        </p:nvSpPr>
        <p:spPr>
          <a:xfrm>
            <a:off x="8992484" y="1309998"/>
            <a:ext cx="1606216" cy="193899"/>
          </a:xfrm>
          <a:prstGeom prst="rect">
            <a:avLst/>
          </a:prstGeom>
          <a:noFill/>
        </p:spPr>
        <p:txBody>
          <a:bodyPr wrap="square" lIns="0" tIns="0" rIns="0" bIns="0" rtlCol="0">
            <a:spAutoFit/>
          </a:bodyPr>
          <a:lstStyle/>
          <a:p>
            <a:pPr marL="0" marR="0" lvl="0" indent="0" algn="ctr" defTabSz="914400" rtl="0" eaLnBrk="1" fontAlgn="base" latinLnBrk="0" hangingPunct="1">
              <a:lnSpc>
                <a:spcPct val="90000"/>
              </a:lnSpc>
              <a:spcBef>
                <a:spcPts val="0"/>
              </a:spcBef>
              <a:spcAft>
                <a:spcPts val="60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Output Files</a:t>
            </a:r>
          </a:p>
        </p:txBody>
      </p:sp>
      <p:sp>
        <p:nvSpPr>
          <p:cNvPr id="66" name="Arrow: Right 65">
            <a:extLst>
              <a:ext uri="{FF2B5EF4-FFF2-40B4-BE49-F238E27FC236}">
                <a16:creationId xmlns:a16="http://schemas.microsoft.com/office/drawing/2014/main" id="{552742CB-0988-4128-BD4A-476AD66D2564}"/>
              </a:ext>
            </a:extLst>
          </p:cNvPr>
          <p:cNvSpPr/>
          <p:nvPr/>
        </p:nvSpPr>
        <p:spPr>
          <a:xfrm>
            <a:off x="8764993" y="3116160"/>
            <a:ext cx="508607"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cxnSp>
        <p:nvCxnSpPr>
          <p:cNvPr id="8" name="Straight Arrow Connector 7">
            <a:extLst>
              <a:ext uri="{FF2B5EF4-FFF2-40B4-BE49-F238E27FC236}">
                <a16:creationId xmlns:a16="http://schemas.microsoft.com/office/drawing/2014/main" id="{31DE26EC-546E-45F7-9968-0F563A921C74}"/>
              </a:ext>
            </a:extLst>
          </p:cNvPr>
          <p:cNvCxnSpPr>
            <a:cxnSpLocks/>
          </p:cNvCxnSpPr>
          <p:nvPr/>
        </p:nvCxnSpPr>
        <p:spPr>
          <a:xfrm flipH="1">
            <a:off x="8769600" y="2332800"/>
            <a:ext cx="712800" cy="49680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2768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0020ED1A-4AE0-4AD4-AA47-B7F3413293D7}"/>
              </a:ext>
            </a:extLst>
          </p:cNvPr>
          <p:cNvSpPr/>
          <p:nvPr/>
        </p:nvSpPr>
        <p:spPr>
          <a:xfrm>
            <a:off x="2316358" y="4023023"/>
            <a:ext cx="1786690" cy="2426423"/>
          </a:xfrm>
          <a:prstGeom prst="rect">
            <a:avLst/>
          </a:prstGeom>
          <a:solidFill>
            <a:schemeClr val="accent5">
              <a:lumMod val="40000"/>
              <a:lumOff val="6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3E3B0814-1ABA-4C9D-92FA-B050BE4C984E}"/>
              </a:ext>
            </a:extLst>
          </p:cNvPr>
          <p:cNvSpPr/>
          <p:nvPr/>
        </p:nvSpPr>
        <p:spPr>
          <a:xfrm>
            <a:off x="2316358" y="2474902"/>
            <a:ext cx="1786690" cy="1383631"/>
          </a:xfrm>
          <a:prstGeom prst="rect">
            <a:avLst/>
          </a:prstGeom>
          <a:solidFill>
            <a:schemeClr val="accent3">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48" name="Flowchart: Document 47">
            <a:extLst>
              <a:ext uri="{FF2B5EF4-FFF2-40B4-BE49-F238E27FC236}">
                <a16:creationId xmlns:a16="http://schemas.microsoft.com/office/drawing/2014/main" id="{8A116466-F493-4ACA-B3A8-8C047F4F0E23}"/>
              </a:ext>
            </a:extLst>
          </p:cNvPr>
          <p:cNvSpPr/>
          <p:nvPr/>
        </p:nvSpPr>
        <p:spPr>
          <a:xfrm>
            <a:off x="2522986" y="2801760"/>
            <a:ext cx="1333416" cy="884321"/>
          </a:xfrm>
          <a:prstGeom prst="flowChartDocumen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csolution.yml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Defines Target Application</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56" name="Rectangle 55">
            <a:extLst>
              <a:ext uri="{FF2B5EF4-FFF2-40B4-BE49-F238E27FC236}">
                <a16:creationId xmlns:a16="http://schemas.microsoft.com/office/drawing/2014/main" id="{49FE0E03-2E80-4285-85A9-DF19C33E86DB}"/>
              </a:ext>
            </a:extLst>
          </p:cNvPr>
          <p:cNvSpPr/>
          <p:nvPr/>
        </p:nvSpPr>
        <p:spPr>
          <a:xfrm>
            <a:off x="4750579" y="2491450"/>
            <a:ext cx="1540042" cy="1333614"/>
          </a:xfrm>
          <a:prstGeom prst="rect">
            <a:avLst/>
          </a:prstGeom>
          <a:solidFill>
            <a:srgbClr val="92D050"/>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defRPr/>
            </a:pPr>
            <a:br>
              <a:rPr kumimoji="0" lang="en-US" sz="1100" b="0" i="0" u="none" strike="noStrike" kern="1200" cap="none" spc="0" normalizeH="0" baseline="0" noProof="0" dirty="0">
                <a:ln>
                  <a:noFill/>
                </a:ln>
                <a:solidFill>
                  <a:srgbClr val="FFFFFF"/>
                </a:solidFill>
                <a:effectLst/>
                <a:uLnTx/>
                <a:uFillTx/>
                <a:latin typeface="Calibri"/>
                <a:ea typeface="+mn-ea"/>
                <a:cs typeface="+mn-cs"/>
              </a:rPr>
            </a:br>
            <a:r>
              <a:rPr kumimoji="0" lang="en-US" sz="1800" b="0" i="0" u="none" strike="noStrike" kern="1200" cap="none" spc="0" normalizeH="0" baseline="0" noProof="0" dirty="0" err="1">
                <a:ln>
                  <a:noFill/>
                </a:ln>
                <a:solidFill>
                  <a:srgbClr val="FFFFFF"/>
                </a:solidFill>
                <a:effectLst/>
                <a:uLnTx/>
                <a:uFillTx/>
                <a:latin typeface="Calibri"/>
                <a:ea typeface="+mn-ea"/>
                <a:cs typeface="+mn-cs"/>
              </a:rPr>
              <a:t>csolution</a:t>
            </a:r>
            <a:br>
              <a:rPr kumimoji="0" lang="en-US" sz="1800" b="0" i="0" u="none" strike="noStrike" kern="1200" cap="none" spc="0" normalizeH="0" baseline="0" noProof="0" dirty="0">
                <a:ln>
                  <a:noFill/>
                </a:ln>
                <a:solidFill>
                  <a:srgbClr val="FFFFFF"/>
                </a:solidFill>
                <a:effectLst/>
                <a:uLnTx/>
                <a:uFillTx/>
                <a:latin typeface="Calibri"/>
                <a:ea typeface="+mn-ea"/>
                <a:cs typeface="+mn-cs"/>
              </a:rPr>
            </a:br>
            <a:r>
              <a:rPr lang="en-US" sz="1050" kern="1200" dirty="0">
                <a:solidFill>
                  <a:schemeClr val="tx2"/>
                </a:solidFill>
                <a:latin typeface="+mn-lt"/>
                <a:ea typeface="+mn-ea"/>
                <a:cs typeface="+mn-cs"/>
              </a:rPr>
              <a:t>Project setup: defines tools, target, </a:t>
            </a:r>
            <a:r>
              <a:rPr lang="en-US" sz="1050" dirty="0">
                <a:solidFill>
                  <a:schemeClr val="tx2"/>
                </a:solidFill>
              </a:rPr>
              <a:t>components, files,</a:t>
            </a:r>
            <a:r>
              <a:rPr lang="en-US" sz="1050" kern="1200" dirty="0">
                <a:solidFill>
                  <a:schemeClr val="tx2"/>
                </a:solidFill>
                <a:latin typeface="+mn-lt"/>
                <a:ea typeface="+mn-ea"/>
                <a:cs typeface="+mn-cs"/>
              </a:rPr>
              <a:t> and current list of context that should be build.</a:t>
            </a:r>
            <a:endParaRPr lang="en-US" sz="1100" kern="1200" dirty="0">
              <a:solidFill>
                <a:schemeClr val="tx2"/>
              </a:solidFill>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59" name="TextBox 58">
            <a:extLst>
              <a:ext uri="{FF2B5EF4-FFF2-40B4-BE49-F238E27FC236}">
                <a16:creationId xmlns:a16="http://schemas.microsoft.com/office/drawing/2014/main" id="{BD4C35EE-3DBD-49DF-A607-BE45647662B8}"/>
              </a:ext>
            </a:extLst>
          </p:cNvPr>
          <p:cNvSpPr txBox="1"/>
          <p:nvPr/>
        </p:nvSpPr>
        <p:spPr>
          <a:xfrm>
            <a:off x="2184940" y="2537060"/>
            <a:ext cx="1606216" cy="193899"/>
          </a:xfrm>
          <a:prstGeom prst="rect">
            <a:avLst/>
          </a:prstGeom>
          <a:noFill/>
        </p:spPr>
        <p:txBody>
          <a:bodyPr wrap="square" lIns="0" tIns="0" rIns="0" bIns="0" rtlCol="0">
            <a:spAutoFit/>
          </a:bodyPr>
          <a:lstStyle/>
          <a:p>
            <a:pPr marL="0" marR="0" lvl="0" indent="0" algn="ctr" defTabSz="914400" rtl="0" eaLnBrk="1" fontAlgn="base" latinLnBrk="0" hangingPunct="1">
              <a:lnSpc>
                <a:spcPct val="90000"/>
              </a:lnSpc>
              <a:spcBef>
                <a:spcPts val="0"/>
              </a:spcBef>
              <a:spcAft>
                <a:spcPts val="600"/>
              </a:spcAft>
              <a:buClrTx/>
              <a:buSzTx/>
              <a:buFont typeface="Arial" panose="020B0604020202020204" pitchFamily="34" charset="0"/>
              <a:buNone/>
              <a:tabLst/>
              <a:defRPr/>
            </a:pPr>
            <a:r>
              <a:rPr kumimoji="0" lang="en-US" sz="1400" b="1" i="0" u="none" strike="noStrike" kern="1200" cap="none" spc="0" normalizeH="0" baseline="0" noProof="0" dirty="0" err="1">
                <a:ln>
                  <a:noFill/>
                </a:ln>
                <a:solidFill>
                  <a:srgbClr val="333E48"/>
                </a:solidFill>
                <a:effectLst/>
                <a:uLnTx/>
                <a:uFillTx/>
                <a:latin typeface="Calibri"/>
                <a:ea typeface="ＭＳ Ｐゴシック" panose="020B0600070205080204" pitchFamily="34" charset="-128"/>
                <a:cs typeface="+mn-cs"/>
              </a:rPr>
              <a:t>csolution</a:t>
            </a:r>
            <a:r>
              <a:rPr kumimoji="0" lang="en-US" sz="14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 project</a:t>
            </a:r>
          </a:p>
        </p:txBody>
      </p:sp>
      <p:sp>
        <p:nvSpPr>
          <p:cNvPr id="65" name="TextBox 64">
            <a:extLst>
              <a:ext uri="{FF2B5EF4-FFF2-40B4-BE49-F238E27FC236}">
                <a16:creationId xmlns:a16="http://schemas.microsoft.com/office/drawing/2014/main" id="{594D4E9B-4064-4977-9062-F920D0BDD75B}"/>
              </a:ext>
            </a:extLst>
          </p:cNvPr>
          <p:cNvSpPr txBox="1"/>
          <p:nvPr/>
        </p:nvSpPr>
        <p:spPr>
          <a:xfrm>
            <a:off x="2263328" y="4091018"/>
            <a:ext cx="1606216" cy="193899"/>
          </a:xfrm>
          <a:prstGeom prst="rect">
            <a:avLst/>
          </a:prstGeom>
          <a:noFill/>
        </p:spPr>
        <p:txBody>
          <a:bodyPr wrap="square" lIns="0" tIns="0" rIns="0" bIns="0" rtlCol="0">
            <a:spAutoFit/>
          </a:bodyPr>
          <a:lstStyle/>
          <a:p>
            <a:pPr marL="0" marR="0" lvl="0" indent="0" algn="ctr" defTabSz="914400" rtl="0" eaLnBrk="1" fontAlgn="base" latinLnBrk="0" hangingPunct="1">
              <a:lnSpc>
                <a:spcPct val="90000"/>
              </a:lnSpc>
              <a:spcBef>
                <a:spcPts val="0"/>
              </a:spcBef>
              <a:spcAft>
                <a:spcPts val="600"/>
              </a:spcAft>
              <a:buClrTx/>
              <a:buSzTx/>
              <a:buFont typeface="Arial" panose="020B0604020202020204" pitchFamily="34" charset="0"/>
              <a:buNone/>
              <a:tabLst/>
              <a:defRPr/>
            </a:pPr>
            <a:r>
              <a:rPr lang="en-US" sz="1400" b="1" dirty="0">
                <a:solidFill>
                  <a:srgbClr val="333E48"/>
                </a:solidFill>
                <a:latin typeface="Calibri"/>
                <a:ea typeface="ＭＳ Ｐゴシック" panose="020B0600070205080204" pitchFamily="34" charset="-128"/>
              </a:rPr>
              <a:t>Build Control</a:t>
            </a:r>
            <a:r>
              <a:rPr kumimoji="0" lang="en-US" sz="14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 Files</a:t>
            </a:r>
          </a:p>
        </p:txBody>
      </p:sp>
      <p:sp>
        <p:nvSpPr>
          <p:cNvPr id="3" name="Flowchart: Document 2">
            <a:extLst>
              <a:ext uri="{FF2B5EF4-FFF2-40B4-BE49-F238E27FC236}">
                <a16:creationId xmlns:a16="http://schemas.microsoft.com/office/drawing/2014/main" id="{F3608725-E8F2-6123-3BF0-DFCEA2A1ADD2}"/>
              </a:ext>
            </a:extLst>
          </p:cNvPr>
          <p:cNvSpPr/>
          <p:nvPr/>
        </p:nvSpPr>
        <p:spPr>
          <a:xfrm>
            <a:off x="2536128" y="4371986"/>
            <a:ext cx="1333416" cy="884321"/>
          </a:xfrm>
          <a:prstGeom prst="flowChartDocumen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cbuild-set.yml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Defines </a:t>
            </a:r>
            <a:r>
              <a:rPr kumimoji="0" lang="en-US" sz="1000" b="1" i="0" u="none" strike="noStrike" kern="1200" cap="none" spc="0" normalizeH="0" baseline="0" noProof="0" dirty="0">
                <a:ln>
                  <a:noFill/>
                </a:ln>
                <a:solidFill>
                  <a:schemeClr val="bg2">
                    <a:lumMod val="25000"/>
                  </a:schemeClr>
                </a:solidFill>
                <a:effectLst/>
                <a:uLnTx/>
                <a:uFillTx/>
                <a:latin typeface="Calibri"/>
                <a:ea typeface="+mn-ea"/>
                <a:cs typeface="+mn-cs"/>
              </a:rPr>
              <a:t>context set</a:t>
            </a: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 of  Application</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5" name="Rectangle 4">
            <a:extLst>
              <a:ext uri="{FF2B5EF4-FFF2-40B4-BE49-F238E27FC236}">
                <a16:creationId xmlns:a16="http://schemas.microsoft.com/office/drawing/2014/main" id="{7E0BEEB2-3839-D52A-8889-F720F06A6D81}"/>
              </a:ext>
            </a:extLst>
          </p:cNvPr>
          <p:cNvSpPr/>
          <p:nvPr/>
        </p:nvSpPr>
        <p:spPr>
          <a:xfrm>
            <a:off x="412110" y="3473221"/>
            <a:ext cx="1540042" cy="1609139"/>
          </a:xfrm>
          <a:prstGeom prst="rect">
            <a:avLst/>
          </a:prstGeom>
          <a:solidFill>
            <a:srgbClr val="92D050"/>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err="1">
                <a:ln>
                  <a:noFill/>
                </a:ln>
                <a:solidFill>
                  <a:srgbClr val="FFFFFF"/>
                </a:solidFill>
                <a:effectLst/>
                <a:uLnTx/>
                <a:uFillTx/>
                <a:latin typeface="Calibri"/>
                <a:ea typeface="+mn-ea"/>
                <a:cs typeface="+mn-cs"/>
              </a:rPr>
              <a:t>cbuild</a:t>
            </a:r>
            <a:r>
              <a:rPr kumimoji="0" lang="en-US" sz="1800" b="0" i="0" u="none" strike="noStrike" kern="1200" cap="none" spc="0" normalizeH="0" baseline="0" noProof="0" dirty="0">
                <a:ln>
                  <a:noFill/>
                </a:ln>
                <a:solidFill>
                  <a:srgbClr val="FFFFFF"/>
                </a:solidFill>
                <a:effectLst/>
                <a:uLnTx/>
                <a:uFillTx/>
                <a:latin typeface="Calibri"/>
                <a:ea typeface="+mn-ea"/>
                <a:cs typeface="+mn-cs"/>
              </a:rPr>
              <a:t> (CLI)</a:t>
            </a:r>
          </a:p>
          <a:p>
            <a:pPr algn="ctr" eaLnBrk="0" fontAlgn="base" hangingPunct="0">
              <a:spcBef>
                <a:spcPct val="0"/>
              </a:spcBef>
              <a:spcAft>
                <a:spcPct val="0"/>
              </a:spcAft>
              <a:defRPr/>
            </a:pPr>
            <a:r>
              <a:rPr lang="en-US" sz="1050" dirty="0">
                <a:solidFill>
                  <a:schemeClr val="tx2"/>
                </a:solidFill>
              </a:rPr>
              <a:t>Invokes </a:t>
            </a:r>
            <a:r>
              <a:rPr lang="en-US" sz="1050" dirty="0" err="1">
                <a:solidFill>
                  <a:schemeClr val="tx2"/>
                </a:solidFill>
              </a:rPr>
              <a:t>csolution</a:t>
            </a:r>
            <a:endParaRPr lang="en-US" sz="1050" dirty="0">
              <a:solidFill>
                <a:schemeClr val="tx2"/>
              </a:solidFill>
            </a:endParaRPr>
          </a:p>
          <a:p>
            <a:pPr algn="ctr" eaLnBrk="0" fontAlgn="base" hangingPunct="0">
              <a:spcBef>
                <a:spcPct val="0"/>
              </a:spcBef>
              <a:spcAft>
                <a:spcPct val="0"/>
              </a:spcAft>
              <a:defRPr/>
            </a:pPr>
            <a:r>
              <a:rPr lang="en-US" sz="1050" kern="1200" dirty="0">
                <a:solidFill>
                  <a:schemeClr val="tx2"/>
                </a:solidFill>
                <a:latin typeface="+mn-lt"/>
                <a:ea typeface="+mn-ea"/>
                <a:cs typeface="+mn-cs"/>
              </a:rPr>
              <a:t>When </a:t>
            </a:r>
            <a:r>
              <a:rPr lang="en-US" sz="1050" kern="1200" dirty="0" err="1">
                <a:solidFill>
                  <a:schemeClr val="tx2"/>
                </a:solidFill>
                <a:latin typeface="+mn-lt"/>
                <a:ea typeface="+mn-ea"/>
                <a:cs typeface="+mn-cs"/>
              </a:rPr>
              <a:t>csolution</a:t>
            </a:r>
            <a:r>
              <a:rPr lang="en-US" sz="1050" kern="1200" dirty="0">
                <a:solidFill>
                  <a:schemeClr val="tx2"/>
                </a:solidFill>
                <a:latin typeface="+mn-lt"/>
                <a:ea typeface="+mn-ea"/>
                <a:cs typeface="+mn-cs"/>
              </a:rPr>
              <a:t> project files are newer (</a:t>
            </a:r>
            <a:r>
              <a:rPr lang="en-US" sz="1050" dirty="0">
                <a:solidFill>
                  <a:schemeClr val="tx2"/>
                </a:solidFill>
              </a:rPr>
              <a:t>context-set of *.</a:t>
            </a:r>
            <a:r>
              <a:rPr lang="en-US" sz="1050" dirty="0" err="1">
                <a:solidFill>
                  <a:schemeClr val="tx2"/>
                </a:solidFill>
              </a:rPr>
              <a:t>cbuild-idx.yml</a:t>
            </a:r>
            <a:r>
              <a:rPr lang="en-US" sz="1050" dirty="0">
                <a:solidFill>
                  <a:schemeClr val="tx2"/>
                </a:solidFill>
              </a:rPr>
              <a:t> defines scope)</a:t>
            </a:r>
            <a:br>
              <a:rPr lang="en-US" sz="1050" dirty="0">
                <a:solidFill>
                  <a:schemeClr val="tx2"/>
                </a:solidFill>
              </a:rPr>
            </a:br>
            <a:br>
              <a:rPr lang="en-US" sz="1050" dirty="0">
                <a:solidFill>
                  <a:schemeClr val="tx2"/>
                </a:solidFill>
              </a:rPr>
            </a:br>
            <a:r>
              <a:rPr lang="en-US" sz="1050" dirty="0">
                <a:solidFill>
                  <a:schemeClr val="tx2"/>
                </a:solidFill>
              </a:rPr>
              <a:t>Invokes </a:t>
            </a:r>
            <a:r>
              <a:rPr lang="en-US" sz="1050" dirty="0" err="1">
                <a:solidFill>
                  <a:schemeClr val="tx2"/>
                </a:solidFill>
              </a:rPr>
              <a:t>cbuild</a:t>
            </a:r>
            <a:r>
              <a:rPr lang="en-US" sz="1050" dirty="0">
                <a:solidFill>
                  <a:schemeClr val="tx2"/>
                </a:solidFill>
              </a:rPr>
              <a:t>-gen</a:t>
            </a:r>
            <a:br>
              <a:rPr lang="en-US" sz="1050" dirty="0">
                <a:solidFill>
                  <a:schemeClr val="tx2"/>
                </a:solidFill>
              </a:rPr>
            </a:br>
            <a:r>
              <a:rPr lang="en-US" sz="1050" dirty="0">
                <a:solidFill>
                  <a:schemeClr val="tx2"/>
                </a:solidFill>
              </a:rPr>
              <a:t>for build process</a:t>
            </a:r>
          </a:p>
        </p:txBody>
      </p:sp>
      <p:sp>
        <p:nvSpPr>
          <p:cNvPr id="13" name="Flowchart: Multidocument 12">
            <a:extLst>
              <a:ext uri="{FF2B5EF4-FFF2-40B4-BE49-F238E27FC236}">
                <a16:creationId xmlns:a16="http://schemas.microsoft.com/office/drawing/2014/main" id="{9A350521-ACE3-AF60-70B9-9224085AC451}"/>
              </a:ext>
            </a:extLst>
          </p:cNvPr>
          <p:cNvSpPr/>
          <p:nvPr/>
        </p:nvSpPr>
        <p:spPr>
          <a:xfrm>
            <a:off x="2505333" y="5348357"/>
            <a:ext cx="1449805" cy="1010653"/>
          </a:xfrm>
          <a:prstGeom prst="flowChartMultidocument">
            <a:avLst/>
          </a:prstGeom>
          <a:solidFill>
            <a:schemeClr val="accent6">
              <a:lumMod val="20000"/>
              <a:lumOff val="80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9144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000" dirty="0">
                <a:solidFill>
                  <a:schemeClr val="bg2">
                    <a:lumMod val="25000"/>
                  </a:schemeClr>
                </a:solidFill>
                <a:latin typeface="Calibri"/>
              </a:rPr>
              <a:t>&lt;context&gt;.</a:t>
            </a:r>
            <a:r>
              <a:rPr lang="en-US" sz="1000" dirty="0" err="1">
                <a:solidFill>
                  <a:schemeClr val="bg2">
                    <a:lumMod val="25000"/>
                  </a:schemeClr>
                </a:solidFill>
                <a:latin typeface="Calibri"/>
              </a:rPr>
              <a:t>cbuild.yml</a:t>
            </a:r>
            <a:r>
              <a:rPr lang="en-US" sz="1000" dirty="0">
                <a:solidFill>
                  <a:schemeClr val="bg2">
                    <a:lumMod val="25000"/>
                  </a:schemeClr>
                </a:solidFill>
                <a:latin typeface="Calibri"/>
              </a:rPr>
              <a:t> Build information</a:t>
            </a:r>
            <a:br>
              <a:rPr lang="en-US" sz="1000" dirty="0">
                <a:solidFill>
                  <a:schemeClr val="bg2">
                    <a:lumMod val="25000"/>
                  </a:schemeClr>
                </a:solidFill>
                <a:latin typeface="Calibri"/>
              </a:rPr>
            </a:br>
            <a:r>
              <a:rPr lang="en-US" sz="1000" dirty="0">
                <a:solidFill>
                  <a:schemeClr val="bg2">
                    <a:lumMod val="25000"/>
                  </a:schemeClr>
                </a:solidFill>
                <a:latin typeface="Calibri"/>
              </a:rPr>
              <a:t>for a project context</a:t>
            </a:r>
            <a:endParaRPr kumimoji="0" lang="en-GB" sz="12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15" name="Straight Arrow Connector 14">
            <a:extLst>
              <a:ext uri="{FF2B5EF4-FFF2-40B4-BE49-F238E27FC236}">
                <a16:creationId xmlns:a16="http://schemas.microsoft.com/office/drawing/2014/main" id="{2BB8999D-3EDC-C3CF-7A90-A33BA670EFB7}"/>
              </a:ext>
            </a:extLst>
          </p:cNvPr>
          <p:cNvCxnSpPr>
            <a:cxnSpLocks/>
            <a:stCxn id="40" idx="3"/>
            <a:endCxn id="56" idx="1"/>
          </p:cNvCxnSpPr>
          <p:nvPr/>
        </p:nvCxnSpPr>
        <p:spPr>
          <a:xfrm flipV="1">
            <a:off x="4103048" y="3158257"/>
            <a:ext cx="647531" cy="846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57F7BB0C-8DDE-2E56-AD3D-87E3E4FA9B1B}"/>
              </a:ext>
            </a:extLst>
          </p:cNvPr>
          <p:cNvSpPr/>
          <p:nvPr/>
        </p:nvSpPr>
        <p:spPr>
          <a:xfrm>
            <a:off x="7003700" y="4094645"/>
            <a:ext cx="1540042" cy="569509"/>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alibri"/>
                <a:ea typeface="+mn-ea"/>
                <a:cs typeface="+mn-cs"/>
              </a:rPr>
              <a:t>IDE</a:t>
            </a: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cxnSp>
        <p:nvCxnSpPr>
          <p:cNvPr id="19" name="Straight Arrow Connector 18">
            <a:extLst>
              <a:ext uri="{FF2B5EF4-FFF2-40B4-BE49-F238E27FC236}">
                <a16:creationId xmlns:a16="http://schemas.microsoft.com/office/drawing/2014/main" id="{9F8217A7-E31C-C8FA-3F93-84D15AB8E789}"/>
              </a:ext>
            </a:extLst>
          </p:cNvPr>
          <p:cNvCxnSpPr>
            <a:cxnSpLocks/>
          </p:cNvCxnSpPr>
          <p:nvPr/>
        </p:nvCxnSpPr>
        <p:spPr>
          <a:xfrm flipH="1">
            <a:off x="4076172" y="3617931"/>
            <a:ext cx="669562" cy="63954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E9B3782B-B9D1-969F-5B9F-9E175217E558}"/>
              </a:ext>
            </a:extLst>
          </p:cNvPr>
          <p:cNvCxnSpPr>
            <a:cxnSpLocks/>
            <a:endCxn id="17" idx="1"/>
          </p:cNvCxnSpPr>
          <p:nvPr/>
        </p:nvCxnSpPr>
        <p:spPr>
          <a:xfrm flipV="1">
            <a:off x="3869544" y="4379400"/>
            <a:ext cx="3134156" cy="33262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3084F89B-5617-9C42-32AB-738A1BB7E549}"/>
              </a:ext>
            </a:extLst>
          </p:cNvPr>
          <p:cNvSpPr txBox="1"/>
          <p:nvPr/>
        </p:nvSpPr>
        <p:spPr>
          <a:xfrm>
            <a:off x="6834066" y="3031543"/>
            <a:ext cx="1786690" cy="66479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kern="1200" dirty="0">
                <a:solidFill>
                  <a:schemeClr val="tx2"/>
                </a:solidFill>
                <a:latin typeface="+mn-lt"/>
                <a:ea typeface="+mn-ea"/>
                <a:cs typeface="+mn-cs"/>
              </a:rPr>
              <a:t>When setup in context manager is changed (or items </a:t>
            </a:r>
            <a:r>
              <a:rPr lang="en-US" sz="1200" kern="1200" dirty="0" err="1">
                <a:solidFill>
                  <a:schemeClr val="tx2"/>
                </a:solidFill>
                <a:latin typeface="+mn-lt"/>
                <a:ea typeface="+mn-ea"/>
                <a:cs typeface="+mn-cs"/>
              </a:rPr>
              <a:t>modifed</a:t>
            </a:r>
            <a:r>
              <a:rPr lang="en-US" sz="1200" kern="1200" dirty="0">
                <a:solidFill>
                  <a:schemeClr val="tx2"/>
                </a:solidFill>
                <a:latin typeface="+mn-lt"/>
                <a:ea typeface="+mn-ea"/>
                <a:cs typeface="+mn-cs"/>
              </a:rPr>
              <a:t>), </a:t>
            </a:r>
            <a:r>
              <a:rPr lang="en-US" sz="1200" kern="1200" dirty="0" err="1">
                <a:solidFill>
                  <a:schemeClr val="tx2"/>
                </a:solidFill>
                <a:latin typeface="+mn-lt"/>
                <a:ea typeface="+mn-ea"/>
                <a:cs typeface="+mn-cs"/>
              </a:rPr>
              <a:t>csolution</a:t>
            </a:r>
            <a:r>
              <a:rPr lang="en-US" sz="1200" kern="1200" dirty="0">
                <a:solidFill>
                  <a:schemeClr val="tx2"/>
                </a:solidFill>
                <a:latin typeface="+mn-lt"/>
                <a:ea typeface="+mn-ea"/>
                <a:cs typeface="+mn-cs"/>
              </a:rPr>
              <a:t> is called</a:t>
            </a:r>
            <a:endParaRPr lang="en-US" sz="1200" dirty="0">
              <a:solidFill>
                <a:schemeClr val="tx2"/>
              </a:solidFill>
            </a:endParaRPr>
          </a:p>
        </p:txBody>
      </p:sp>
      <p:cxnSp>
        <p:nvCxnSpPr>
          <p:cNvPr id="71" name="Straight Arrow Connector 70">
            <a:extLst>
              <a:ext uri="{FF2B5EF4-FFF2-40B4-BE49-F238E27FC236}">
                <a16:creationId xmlns:a16="http://schemas.microsoft.com/office/drawing/2014/main" id="{ADD341E2-51D3-D58D-9344-267AD795F8BD}"/>
              </a:ext>
            </a:extLst>
          </p:cNvPr>
          <p:cNvCxnSpPr>
            <a:cxnSpLocks/>
            <a:endCxn id="56" idx="3"/>
          </p:cNvCxnSpPr>
          <p:nvPr/>
        </p:nvCxnSpPr>
        <p:spPr>
          <a:xfrm flipH="1" flipV="1">
            <a:off x="6290621" y="3158257"/>
            <a:ext cx="713079" cy="93276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9BC52724-4E05-9886-A566-AE9900C7D293}"/>
              </a:ext>
            </a:extLst>
          </p:cNvPr>
          <p:cNvSpPr txBox="1"/>
          <p:nvPr/>
        </p:nvSpPr>
        <p:spPr>
          <a:xfrm>
            <a:off x="6708430" y="5200464"/>
            <a:ext cx="1786690" cy="3323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dirty="0">
                <a:solidFill>
                  <a:schemeClr val="tx2"/>
                </a:solidFill>
              </a:rPr>
              <a:t>When build is invoked,</a:t>
            </a:r>
            <a:br>
              <a:rPr lang="en-US" sz="1200" dirty="0">
                <a:solidFill>
                  <a:schemeClr val="tx2"/>
                </a:solidFill>
              </a:rPr>
            </a:br>
            <a:r>
              <a:rPr lang="en-US" sz="1200" dirty="0" err="1">
                <a:solidFill>
                  <a:schemeClr val="tx2"/>
                </a:solidFill>
              </a:rPr>
              <a:t>cbuild</a:t>
            </a:r>
            <a:r>
              <a:rPr lang="en-US" sz="1200" dirty="0">
                <a:solidFill>
                  <a:schemeClr val="tx2"/>
                </a:solidFill>
              </a:rPr>
              <a:t>-gen is called. </a:t>
            </a:r>
          </a:p>
        </p:txBody>
      </p:sp>
      <p:cxnSp>
        <p:nvCxnSpPr>
          <p:cNvPr id="77" name="Straight Arrow Connector 76">
            <a:extLst>
              <a:ext uri="{FF2B5EF4-FFF2-40B4-BE49-F238E27FC236}">
                <a16:creationId xmlns:a16="http://schemas.microsoft.com/office/drawing/2014/main" id="{6AC8BDEA-0CD7-1934-A968-5CBE8CC7D898}"/>
              </a:ext>
            </a:extLst>
          </p:cNvPr>
          <p:cNvCxnSpPr>
            <a:cxnSpLocks/>
          </p:cNvCxnSpPr>
          <p:nvPr/>
        </p:nvCxnSpPr>
        <p:spPr>
          <a:xfrm flipH="1">
            <a:off x="6307007" y="4653309"/>
            <a:ext cx="696693" cy="67974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80" name="Title 79">
            <a:extLst>
              <a:ext uri="{FF2B5EF4-FFF2-40B4-BE49-F238E27FC236}">
                <a16:creationId xmlns:a16="http://schemas.microsoft.com/office/drawing/2014/main" id="{FA174BB4-31B1-D66B-22AE-90CC3F8A72A7}"/>
              </a:ext>
            </a:extLst>
          </p:cNvPr>
          <p:cNvSpPr>
            <a:spLocks noGrp="1"/>
          </p:cNvSpPr>
          <p:nvPr>
            <p:ph type="title"/>
          </p:nvPr>
        </p:nvSpPr>
        <p:spPr/>
        <p:txBody>
          <a:bodyPr/>
          <a:lstStyle/>
          <a:p>
            <a:r>
              <a:rPr lang="en-US" dirty="0"/>
              <a:t>Multi-Project Build Process: IDE and CLI</a:t>
            </a:r>
          </a:p>
        </p:txBody>
      </p:sp>
      <p:sp>
        <p:nvSpPr>
          <p:cNvPr id="88" name="Text Placeholder 87">
            <a:extLst>
              <a:ext uri="{FF2B5EF4-FFF2-40B4-BE49-F238E27FC236}">
                <a16:creationId xmlns:a16="http://schemas.microsoft.com/office/drawing/2014/main" id="{53A64FAC-7931-339F-B478-BE66E63876E1}"/>
              </a:ext>
            </a:extLst>
          </p:cNvPr>
          <p:cNvSpPr>
            <a:spLocks noGrp="1"/>
          </p:cNvSpPr>
          <p:nvPr>
            <p:ph type="body" sz="quarter" idx="13"/>
          </p:nvPr>
        </p:nvSpPr>
        <p:spPr/>
        <p:txBody>
          <a:bodyPr/>
          <a:lstStyle/>
          <a:p>
            <a:r>
              <a:rPr lang="en-US" dirty="0"/>
              <a:t>Introduce `context-set`: defines the selected context for application</a:t>
            </a:r>
          </a:p>
        </p:txBody>
      </p:sp>
      <p:sp>
        <p:nvSpPr>
          <p:cNvPr id="82" name="TextBox 81">
            <a:extLst>
              <a:ext uri="{FF2B5EF4-FFF2-40B4-BE49-F238E27FC236}">
                <a16:creationId xmlns:a16="http://schemas.microsoft.com/office/drawing/2014/main" id="{77222870-E657-D4DB-049D-7D9A32E273DB}"/>
              </a:ext>
            </a:extLst>
          </p:cNvPr>
          <p:cNvSpPr txBox="1"/>
          <p:nvPr/>
        </p:nvSpPr>
        <p:spPr>
          <a:xfrm>
            <a:off x="9061120" y="2368293"/>
            <a:ext cx="1786690" cy="2086725"/>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kern="1200" dirty="0">
                <a:solidFill>
                  <a:schemeClr val="tx2"/>
                </a:solidFill>
                <a:latin typeface="+mn-lt"/>
                <a:ea typeface="+mn-ea"/>
                <a:cs typeface="+mn-cs"/>
              </a:rPr>
              <a:t>Items are stored in </a:t>
            </a:r>
            <a:r>
              <a:rPr lang="en-US" sz="1200" b="1" kern="1200" dirty="0" err="1">
                <a:solidFill>
                  <a:schemeClr val="tx2"/>
                </a:solidFill>
                <a:latin typeface="+mn-lt"/>
                <a:ea typeface="+mn-ea"/>
                <a:cs typeface="+mn-cs"/>
              </a:rPr>
              <a:t>csolution</a:t>
            </a:r>
            <a:r>
              <a:rPr lang="en-US" sz="1200" b="1" kern="1200" dirty="0">
                <a:solidFill>
                  <a:schemeClr val="tx2"/>
                </a:solidFill>
                <a:latin typeface="+mn-lt"/>
                <a:ea typeface="+mn-ea"/>
                <a:cs typeface="+mn-cs"/>
              </a:rPr>
              <a:t> project files</a:t>
            </a:r>
            <a:endParaRPr lang="en-US" sz="1200" kern="1200" dirty="0">
              <a:solidFill>
                <a:schemeClr val="tx2"/>
              </a:solidFill>
              <a:latin typeface="+mn-lt"/>
              <a:ea typeface="+mn-ea"/>
              <a:cs typeface="+mn-cs"/>
            </a:endParaRPr>
          </a:p>
          <a:p>
            <a:pPr marL="171450" indent="-171450" algn="l" defTabSz="914400" rtl="0" eaLnBrk="1" latinLnBrk="0" hangingPunct="1">
              <a:spcBef>
                <a:spcPts val="0"/>
              </a:spcBef>
              <a:spcAft>
                <a:spcPts val="600"/>
              </a:spcAft>
              <a:buFont typeface="Arial" panose="020B0604020202020204" pitchFamily="34" charset="0"/>
              <a:buChar char="•"/>
            </a:pPr>
            <a:r>
              <a:rPr lang="en-US" sz="1200" dirty="0">
                <a:solidFill>
                  <a:schemeClr val="tx2"/>
                </a:solidFill>
              </a:rPr>
              <a:t>toolchain</a:t>
            </a:r>
          </a:p>
          <a:p>
            <a:pPr marL="171450" indent="-171450" algn="l" defTabSz="914400" rtl="0" eaLnBrk="1" latinLnBrk="0" hangingPunct="1">
              <a:spcBef>
                <a:spcPts val="0"/>
              </a:spcBef>
              <a:spcAft>
                <a:spcPts val="600"/>
              </a:spcAft>
              <a:buFont typeface="Arial" panose="020B0604020202020204" pitchFamily="34" charset="0"/>
              <a:buChar char="•"/>
            </a:pPr>
            <a:r>
              <a:rPr lang="en-US" sz="1200" kern="1200" dirty="0">
                <a:solidFill>
                  <a:schemeClr val="tx2"/>
                </a:solidFill>
                <a:latin typeface="+mn-lt"/>
                <a:ea typeface="+mn-ea"/>
                <a:cs typeface="+mn-cs"/>
              </a:rPr>
              <a:t>device, board, </a:t>
            </a:r>
          </a:p>
          <a:p>
            <a:pPr marL="171450" indent="-171450" algn="l" defTabSz="914400" rtl="0" eaLnBrk="1" latinLnBrk="0" hangingPunct="1">
              <a:spcBef>
                <a:spcPts val="0"/>
              </a:spcBef>
              <a:spcAft>
                <a:spcPts val="600"/>
              </a:spcAft>
              <a:buFont typeface="Arial" panose="020B0604020202020204" pitchFamily="34" charset="0"/>
              <a:buChar char="•"/>
            </a:pPr>
            <a:r>
              <a:rPr lang="en-US" sz="1200" dirty="0">
                <a:solidFill>
                  <a:schemeClr val="tx2"/>
                </a:solidFill>
              </a:rPr>
              <a:t>build-type, target-type</a:t>
            </a:r>
          </a:p>
          <a:p>
            <a:pPr marL="171450" indent="-171450" algn="l" defTabSz="914400" rtl="0" eaLnBrk="1" latinLnBrk="0" hangingPunct="1">
              <a:spcBef>
                <a:spcPts val="0"/>
              </a:spcBef>
              <a:spcAft>
                <a:spcPts val="600"/>
              </a:spcAft>
              <a:buFont typeface="Arial" panose="020B0604020202020204" pitchFamily="34" charset="0"/>
              <a:buChar char="•"/>
            </a:pPr>
            <a:r>
              <a:rPr lang="en-US" sz="1200" kern="1200" dirty="0">
                <a:solidFill>
                  <a:schemeClr val="tx2"/>
                </a:solidFill>
                <a:latin typeface="+mn-lt"/>
                <a:ea typeface="+mn-ea"/>
                <a:cs typeface="+mn-cs"/>
              </a:rPr>
              <a:t>components</a:t>
            </a:r>
          </a:p>
          <a:p>
            <a:pPr marL="171450" indent="-171450" algn="l" defTabSz="914400" rtl="0" eaLnBrk="1" latinLnBrk="0" hangingPunct="1">
              <a:spcBef>
                <a:spcPts val="0"/>
              </a:spcBef>
              <a:spcAft>
                <a:spcPts val="600"/>
              </a:spcAft>
              <a:buFont typeface="Arial" panose="020B0604020202020204" pitchFamily="34" charset="0"/>
              <a:buChar char="•"/>
            </a:pPr>
            <a:r>
              <a:rPr lang="en-US" sz="1200" dirty="0">
                <a:solidFill>
                  <a:schemeClr val="tx2"/>
                </a:solidFill>
              </a:rPr>
              <a:t>files</a:t>
            </a:r>
          </a:p>
          <a:p>
            <a:pPr marL="171450" indent="-171450" algn="l" defTabSz="914400" rtl="0" eaLnBrk="1" latinLnBrk="0" hangingPunct="1">
              <a:spcBef>
                <a:spcPts val="0"/>
              </a:spcBef>
              <a:spcAft>
                <a:spcPts val="600"/>
              </a:spcAft>
              <a:buFont typeface="Arial" panose="020B0604020202020204" pitchFamily="34" charset="0"/>
              <a:buChar char="•"/>
            </a:pPr>
            <a:r>
              <a:rPr lang="en-US" sz="1200" kern="1200" dirty="0">
                <a:solidFill>
                  <a:schemeClr val="tx2"/>
                </a:solidFill>
                <a:latin typeface="+mn-lt"/>
                <a:ea typeface="+mn-ea"/>
                <a:cs typeface="+mn-cs"/>
              </a:rPr>
              <a:t>options</a:t>
            </a:r>
            <a:br>
              <a:rPr lang="en-US" sz="1200" kern="1200" dirty="0">
                <a:solidFill>
                  <a:schemeClr val="tx2"/>
                </a:solidFill>
                <a:latin typeface="+mn-lt"/>
                <a:ea typeface="+mn-ea"/>
                <a:cs typeface="+mn-cs"/>
              </a:rPr>
            </a:br>
            <a:endParaRPr lang="en-US" sz="1200" kern="1200" dirty="0">
              <a:solidFill>
                <a:schemeClr val="tx2"/>
              </a:solidFill>
              <a:latin typeface="+mn-lt"/>
              <a:ea typeface="+mn-ea"/>
              <a:cs typeface="+mn-cs"/>
            </a:endParaRPr>
          </a:p>
        </p:txBody>
      </p:sp>
      <p:sp>
        <p:nvSpPr>
          <p:cNvPr id="83" name="Rectangle 82">
            <a:extLst>
              <a:ext uri="{FF2B5EF4-FFF2-40B4-BE49-F238E27FC236}">
                <a16:creationId xmlns:a16="http://schemas.microsoft.com/office/drawing/2014/main" id="{0EA87AED-7ADE-7367-EB5F-7041B7D12019}"/>
              </a:ext>
            </a:extLst>
          </p:cNvPr>
          <p:cNvSpPr/>
          <p:nvPr/>
        </p:nvSpPr>
        <p:spPr>
          <a:xfrm>
            <a:off x="4750579" y="4995012"/>
            <a:ext cx="1540042" cy="1190932"/>
          </a:xfrm>
          <a:prstGeom prst="rect">
            <a:avLst/>
          </a:prstGeom>
          <a:solidFill>
            <a:srgbClr val="92D050"/>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err="1">
                <a:ln>
                  <a:noFill/>
                </a:ln>
                <a:solidFill>
                  <a:srgbClr val="FFFFFF"/>
                </a:solidFill>
                <a:effectLst/>
                <a:uLnTx/>
                <a:uFillTx/>
                <a:latin typeface="Calibri"/>
                <a:ea typeface="+mn-ea"/>
                <a:cs typeface="+mn-cs"/>
              </a:rPr>
              <a:t>cbuild</a:t>
            </a:r>
            <a:r>
              <a:rPr kumimoji="0" lang="en-US" sz="1800" b="0" i="0" u="none" strike="noStrike" kern="1200" cap="none" spc="0" normalizeH="0" baseline="0" noProof="0" dirty="0">
                <a:ln>
                  <a:noFill/>
                </a:ln>
                <a:solidFill>
                  <a:srgbClr val="FFFFFF"/>
                </a:solidFill>
                <a:effectLst/>
                <a:uLnTx/>
                <a:uFillTx/>
                <a:latin typeface="Calibri"/>
                <a:ea typeface="+mn-ea"/>
                <a:cs typeface="+mn-cs"/>
              </a:rPr>
              <a:t>-gen</a:t>
            </a:r>
          </a:p>
          <a:p>
            <a:pPr algn="ctr" eaLnBrk="0" fontAlgn="base" hangingPunct="0">
              <a:spcBef>
                <a:spcPct val="0"/>
              </a:spcBef>
              <a:spcAft>
                <a:spcPct val="0"/>
              </a:spcAft>
              <a:defRPr/>
            </a:pPr>
            <a:r>
              <a:rPr lang="en-US" sz="1050" kern="1200" dirty="0">
                <a:solidFill>
                  <a:schemeClr val="tx2"/>
                </a:solidFill>
                <a:latin typeface="+mn-lt"/>
                <a:ea typeface="+mn-ea"/>
                <a:cs typeface="+mn-cs"/>
              </a:rPr>
              <a:t>Build Process: uses the build control files to generate the output (via </a:t>
            </a:r>
            <a:r>
              <a:rPr lang="en-US" sz="1050" kern="1200" dirty="0" err="1">
                <a:solidFill>
                  <a:schemeClr val="tx2"/>
                </a:solidFill>
                <a:latin typeface="+mn-lt"/>
                <a:ea typeface="+mn-ea"/>
                <a:cs typeface="+mn-cs"/>
              </a:rPr>
              <a:t>CMake</a:t>
            </a:r>
            <a:r>
              <a:rPr lang="en-US" sz="1050" kern="1200" dirty="0">
                <a:solidFill>
                  <a:schemeClr val="tx2"/>
                </a:solidFill>
                <a:latin typeface="+mn-lt"/>
                <a:ea typeface="+mn-ea"/>
                <a:cs typeface="+mn-cs"/>
              </a:rPr>
              <a:t>, …)</a:t>
            </a: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cxnSp>
        <p:nvCxnSpPr>
          <p:cNvPr id="84" name="Straight Arrow Connector 83">
            <a:extLst>
              <a:ext uri="{FF2B5EF4-FFF2-40B4-BE49-F238E27FC236}">
                <a16:creationId xmlns:a16="http://schemas.microsoft.com/office/drawing/2014/main" id="{C4EA3319-4DD9-93D6-DE4B-2FCAD7558E0B}"/>
              </a:ext>
            </a:extLst>
          </p:cNvPr>
          <p:cNvCxnSpPr>
            <a:cxnSpLocks/>
          </p:cNvCxnSpPr>
          <p:nvPr/>
        </p:nvCxnSpPr>
        <p:spPr>
          <a:xfrm flipV="1">
            <a:off x="4103047" y="5649820"/>
            <a:ext cx="647531" cy="846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04B906CC-CFEA-B918-D01D-730ADA486B29}"/>
              </a:ext>
            </a:extLst>
          </p:cNvPr>
          <p:cNvSpPr txBox="1"/>
          <p:nvPr/>
        </p:nvSpPr>
        <p:spPr>
          <a:xfrm>
            <a:off x="341067" y="1436790"/>
            <a:ext cx="10837503" cy="507831"/>
          </a:xfrm>
          <a:prstGeom prst="rect">
            <a:avLst/>
          </a:prstGeom>
          <a:noFill/>
        </p:spPr>
        <p:txBody>
          <a:bodyPr wrap="square">
            <a:spAutoFit/>
          </a:bodyPr>
          <a:lstStyle/>
          <a:p>
            <a:r>
              <a:rPr lang="en-US" sz="1600" b="1" dirty="0" err="1">
                <a:solidFill>
                  <a:schemeClr val="tx2"/>
                </a:solidFill>
              </a:rPr>
              <a:t>csolution</a:t>
            </a:r>
            <a:r>
              <a:rPr lang="en-US" sz="1600" b="1" dirty="0">
                <a:solidFill>
                  <a:schemeClr val="tx2"/>
                </a:solidFill>
              </a:rPr>
              <a:t> command-line defines context-set:</a:t>
            </a:r>
          </a:p>
          <a:p>
            <a:r>
              <a:rPr lang="en-US" sz="1100" b="0" dirty="0" err="1">
                <a:solidFill>
                  <a:srgbClr val="000000"/>
                </a:solidFill>
                <a:effectLst/>
                <a:latin typeface="Consolas" panose="020B0609020204030204" pitchFamily="49" charset="0"/>
              </a:rPr>
              <a:t>csolution</a:t>
            </a:r>
            <a:r>
              <a:rPr lang="en-US" sz="1100" b="0" dirty="0">
                <a:solidFill>
                  <a:srgbClr val="000000"/>
                </a:solidFill>
                <a:effectLst/>
                <a:latin typeface="Consolas" panose="020B0609020204030204" pitchFamily="49" charset="0"/>
              </a:rPr>
              <a:t> convert </a:t>
            </a:r>
            <a:r>
              <a:rPr lang="en-US" sz="1100" b="0" dirty="0" err="1">
                <a:solidFill>
                  <a:srgbClr val="000000"/>
                </a:solidFill>
                <a:effectLst/>
                <a:latin typeface="Consolas" panose="020B0609020204030204" pitchFamily="49" charset="0"/>
              </a:rPr>
              <a:t>HelloWorld.csolution.yml</a:t>
            </a:r>
            <a:r>
              <a:rPr lang="en-US" sz="1100" b="0" dirty="0">
                <a:solidFill>
                  <a:srgbClr val="000000"/>
                </a:solidFill>
                <a:effectLst/>
                <a:latin typeface="Consolas" panose="020B0609020204030204" pitchFamily="49" charset="0"/>
              </a:rPr>
              <a:t> --context HelloWorld_cm0plus.Debug+FRDM-K32L3A6 --context -HelloWorld_cm4.Release+FRDM-K32L3A6</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7599653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9937895-70CA-4DED-93E9-B63DFB5625EF}"/>
              </a:ext>
            </a:extLst>
          </p:cNvPr>
          <p:cNvSpPr/>
          <p:nvPr/>
        </p:nvSpPr>
        <p:spPr>
          <a:xfrm>
            <a:off x="479425" y="5364855"/>
            <a:ext cx="11020657" cy="862659"/>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Down Arrow 26">
            <a:extLst>
              <a:ext uri="{FF2B5EF4-FFF2-40B4-BE49-F238E27FC236}">
                <a16:creationId xmlns:a16="http://schemas.microsoft.com/office/drawing/2014/main" id="{DB37F426-3778-4E0F-814C-4181F9B81BFC}"/>
              </a:ext>
            </a:extLst>
          </p:cNvPr>
          <p:cNvSpPr/>
          <p:nvPr/>
        </p:nvSpPr>
        <p:spPr>
          <a:xfrm>
            <a:off x="1248363" y="2990245"/>
            <a:ext cx="510729" cy="2463428"/>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70" name="Rectangle 69">
            <a:extLst>
              <a:ext uri="{FF2B5EF4-FFF2-40B4-BE49-F238E27FC236}">
                <a16:creationId xmlns:a16="http://schemas.microsoft.com/office/drawing/2014/main" id="{81FDFE44-E848-4BDE-B5F6-9264A0D50477}"/>
              </a:ext>
            </a:extLst>
          </p:cNvPr>
          <p:cNvSpPr/>
          <p:nvPr/>
        </p:nvSpPr>
        <p:spPr>
          <a:xfrm>
            <a:off x="1276280" y="1595311"/>
            <a:ext cx="1615871" cy="620170"/>
          </a:xfrm>
          <a:custGeom>
            <a:avLst/>
            <a:gdLst>
              <a:gd name="connsiteX0" fmla="*/ 0 w 3676919"/>
              <a:gd name="connsiteY0" fmla="*/ 0 h 1547767"/>
              <a:gd name="connsiteX1" fmla="*/ 3676919 w 3676919"/>
              <a:gd name="connsiteY1" fmla="*/ 0 h 1547767"/>
              <a:gd name="connsiteX2" fmla="*/ 3676919 w 3676919"/>
              <a:gd name="connsiteY2" fmla="*/ 1547767 h 1547767"/>
              <a:gd name="connsiteX3" fmla="*/ 0 w 3676919"/>
              <a:gd name="connsiteY3" fmla="*/ 1547767 h 1547767"/>
              <a:gd name="connsiteX4" fmla="*/ 0 w 3676919"/>
              <a:gd name="connsiteY4" fmla="*/ 0 h 1547767"/>
              <a:gd name="connsiteX0" fmla="*/ 0 w 3676919"/>
              <a:gd name="connsiteY0" fmla="*/ 0 h 1547767"/>
              <a:gd name="connsiteX1" fmla="*/ 3676919 w 3676919"/>
              <a:gd name="connsiteY1" fmla="*/ 0 h 1547767"/>
              <a:gd name="connsiteX2" fmla="*/ 3676919 w 3676919"/>
              <a:gd name="connsiteY2" fmla="*/ 1534888 h 1547767"/>
              <a:gd name="connsiteX3" fmla="*/ 0 w 3676919"/>
              <a:gd name="connsiteY3" fmla="*/ 1547767 h 1547767"/>
              <a:gd name="connsiteX4" fmla="*/ 0 w 3676919"/>
              <a:gd name="connsiteY4" fmla="*/ 0 h 1547767"/>
              <a:gd name="connsiteX0" fmla="*/ 0 w 4552682"/>
              <a:gd name="connsiteY0" fmla="*/ 0 h 1547767"/>
              <a:gd name="connsiteX1" fmla="*/ 3676919 w 4552682"/>
              <a:gd name="connsiteY1" fmla="*/ 0 h 1547767"/>
              <a:gd name="connsiteX2" fmla="*/ 3676919 w 4552682"/>
              <a:gd name="connsiteY2" fmla="*/ 1534888 h 1547767"/>
              <a:gd name="connsiteX3" fmla="*/ 0 w 4552682"/>
              <a:gd name="connsiteY3" fmla="*/ 1547767 h 1547767"/>
              <a:gd name="connsiteX4" fmla="*/ 0 w 4552682"/>
              <a:gd name="connsiteY4" fmla="*/ 0 h 1547767"/>
              <a:gd name="connsiteX0" fmla="*/ 0 w 5724659"/>
              <a:gd name="connsiteY0" fmla="*/ 12879 h 1560646"/>
              <a:gd name="connsiteX1" fmla="*/ 5724659 w 5724659"/>
              <a:gd name="connsiteY1" fmla="*/ 0 h 1560646"/>
              <a:gd name="connsiteX2" fmla="*/ 3676919 w 5724659"/>
              <a:gd name="connsiteY2" fmla="*/ 1547767 h 1560646"/>
              <a:gd name="connsiteX3" fmla="*/ 0 w 5724659"/>
              <a:gd name="connsiteY3" fmla="*/ 1560646 h 1560646"/>
              <a:gd name="connsiteX4" fmla="*/ 0 w 5724659"/>
              <a:gd name="connsiteY4" fmla="*/ 12879 h 1560646"/>
              <a:gd name="connsiteX0" fmla="*/ 0 w 5724659"/>
              <a:gd name="connsiteY0" fmla="*/ 12879 h 1560646"/>
              <a:gd name="connsiteX1" fmla="*/ 5724659 w 5724659"/>
              <a:gd name="connsiteY1" fmla="*/ 0 h 1560646"/>
              <a:gd name="connsiteX2" fmla="*/ 3676919 w 5724659"/>
              <a:gd name="connsiteY2" fmla="*/ 1547767 h 1560646"/>
              <a:gd name="connsiteX3" fmla="*/ 0 w 5724659"/>
              <a:gd name="connsiteY3" fmla="*/ 1560646 h 1560646"/>
              <a:gd name="connsiteX4" fmla="*/ 0 w 5724659"/>
              <a:gd name="connsiteY4" fmla="*/ 12879 h 1560646"/>
              <a:gd name="connsiteX0" fmla="*/ 0 w 5724659"/>
              <a:gd name="connsiteY0" fmla="*/ 12879 h 1560646"/>
              <a:gd name="connsiteX1" fmla="*/ 5724659 w 5724659"/>
              <a:gd name="connsiteY1" fmla="*/ 0 h 1560646"/>
              <a:gd name="connsiteX2" fmla="*/ 3676919 w 5724659"/>
              <a:gd name="connsiteY2" fmla="*/ 1547767 h 1560646"/>
              <a:gd name="connsiteX3" fmla="*/ 5711780 w 5724659"/>
              <a:gd name="connsiteY3" fmla="*/ 697761 h 1560646"/>
              <a:gd name="connsiteX4" fmla="*/ 0 w 5724659"/>
              <a:gd name="connsiteY4" fmla="*/ 1560646 h 1560646"/>
              <a:gd name="connsiteX5" fmla="*/ 0 w 5724659"/>
              <a:gd name="connsiteY5" fmla="*/ 12879 h 1560646"/>
              <a:gd name="connsiteX0" fmla="*/ 0 w 5724659"/>
              <a:gd name="connsiteY0" fmla="*/ 12879 h 1573524"/>
              <a:gd name="connsiteX1" fmla="*/ 5724659 w 5724659"/>
              <a:gd name="connsiteY1" fmla="*/ 0 h 1573524"/>
              <a:gd name="connsiteX2" fmla="*/ 3676919 w 5724659"/>
              <a:gd name="connsiteY2" fmla="*/ 1547767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5673144 w 5724659"/>
              <a:gd name="connsiteY3" fmla="*/ 704201 h 1573524"/>
              <a:gd name="connsiteX4" fmla="*/ 3528811 w 5724659"/>
              <a:gd name="connsiteY4" fmla="*/ 1573524 h 1573524"/>
              <a:gd name="connsiteX5" fmla="*/ 0 w 5724659"/>
              <a:gd name="connsiteY5" fmla="*/ 1560646 h 1573524"/>
              <a:gd name="connsiteX6" fmla="*/ 0 w 5724659"/>
              <a:gd name="connsiteY6"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612524 w 5724659"/>
              <a:gd name="connsiteY3" fmla="*/ 948900 h 1573524"/>
              <a:gd name="connsiteX4" fmla="*/ 3528811 w 5724659"/>
              <a:gd name="connsiteY4" fmla="*/ 1573524 h 1573524"/>
              <a:gd name="connsiteX5" fmla="*/ 0 w 5724659"/>
              <a:gd name="connsiteY5" fmla="*/ 1560646 h 1573524"/>
              <a:gd name="connsiteX6" fmla="*/ 0 w 5724659"/>
              <a:gd name="connsiteY6" fmla="*/ 12879 h 1573524"/>
              <a:gd name="connsiteX0" fmla="*/ 0 w 6607105"/>
              <a:gd name="connsiteY0" fmla="*/ 12879 h 1573524"/>
              <a:gd name="connsiteX1" fmla="*/ 5724659 w 6607105"/>
              <a:gd name="connsiteY1" fmla="*/ 0 h 1573524"/>
              <a:gd name="connsiteX2" fmla="*/ 5698903 w 6607105"/>
              <a:gd name="connsiteY2" fmla="*/ 652685 h 1573524"/>
              <a:gd name="connsiteX3" fmla="*/ 3612524 w 6607105"/>
              <a:gd name="connsiteY3" fmla="*/ 948900 h 1573524"/>
              <a:gd name="connsiteX4" fmla="*/ 3528811 w 6607105"/>
              <a:gd name="connsiteY4" fmla="*/ 1573524 h 1573524"/>
              <a:gd name="connsiteX5" fmla="*/ 0 w 6607105"/>
              <a:gd name="connsiteY5" fmla="*/ 1560646 h 1573524"/>
              <a:gd name="connsiteX6" fmla="*/ 0 w 6607105"/>
              <a:gd name="connsiteY6" fmla="*/ 12879 h 1573524"/>
              <a:gd name="connsiteX0" fmla="*/ 0 w 6607105"/>
              <a:gd name="connsiteY0" fmla="*/ 12879 h 1573524"/>
              <a:gd name="connsiteX1" fmla="*/ 5724659 w 6607105"/>
              <a:gd name="connsiteY1" fmla="*/ 0 h 1573524"/>
              <a:gd name="connsiteX2" fmla="*/ 5698903 w 6607105"/>
              <a:gd name="connsiteY2" fmla="*/ 652685 h 1573524"/>
              <a:gd name="connsiteX3" fmla="*/ 3593205 w 6607105"/>
              <a:gd name="connsiteY3" fmla="*/ 672004 h 1573524"/>
              <a:gd name="connsiteX4" fmla="*/ 3528811 w 6607105"/>
              <a:gd name="connsiteY4" fmla="*/ 1573524 h 1573524"/>
              <a:gd name="connsiteX5" fmla="*/ 0 w 6607105"/>
              <a:gd name="connsiteY5" fmla="*/ 1560646 h 1573524"/>
              <a:gd name="connsiteX6" fmla="*/ 0 w 6607105"/>
              <a:gd name="connsiteY6" fmla="*/ 12879 h 1573524"/>
              <a:gd name="connsiteX0" fmla="*/ 0 w 5724659"/>
              <a:gd name="connsiteY0" fmla="*/ 12879 h 1573524"/>
              <a:gd name="connsiteX1" fmla="*/ 5724659 w 5724659"/>
              <a:gd name="connsiteY1" fmla="*/ 0 h 1573524"/>
              <a:gd name="connsiteX2" fmla="*/ 5698903 w 5724659"/>
              <a:gd name="connsiteY2" fmla="*/ 652685 h 1573524"/>
              <a:gd name="connsiteX3" fmla="*/ 3593205 w 5724659"/>
              <a:gd name="connsiteY3" fmla="*/ 672004 h 1573524"/>
              <a:gd name="connsiteX4" fmla="*/ 3528811 w 5724659"/>
              <a:gd name="connsiteY4" fmla="*/ 1573524 h 1573524"/>
              <a:gd name="connsiteX5" fmla="*/ 0 w 5724659"/>
              <a:gd name="connsiteY5" fmla="*/ 1560646 h 1573524"/>
              <a:gd name="connsiteX6" fmla="*/ 0 w 5724659"/>
              <a:gd name="connsiteY6" fmla="*/ 12879 h 1573524"/>
              <a:gd name="connsiteX0" fmla="*/ 0 w 5698903"/>
              <a:gd name="connsiteY0" fmla="*/ 19318 h 1579963"/>
              <a:gd name="connsiteX1" fmla="*/ 5692462 w 5698903"/>
              <a:gd name="connsiteY1" fmla="*/ 0 h 1579963"/>
              <a:gd name="connsiteX2" fmla="*/ 5698903 w 5698903"/>
              <a:gd name="connsiteY2" fmla="*/ 659124 h 1579963"/>
              <a:gd name="connsiteX3" fmla="*/ 3593205 w 5698903"/>
              <a:gd name="connsiteY3" fmla="*/ 678443 h 1579963"/>
              <a:gd name="connsiteX4" fmla="*/ 3528811 w 5698903"/>
              <a:gd name="connsiteY4" fmla="*/ 1579963 h 1579963"/>
              <a:gd name="connsiteX5" fmla="*/ 0 w 5698903"/>
              <a:gd name="connsiteY5" fmla="*/ 1567085 h 1579963"/>
              <a:gd name="connsiteX6" fmla="*/ 0 w 5698903"/>
              <a:gd name="connsiteY6" fmla="*/ 19318 h 1579963"/>
              <a:gd name="connsiteX0" fmla="*/ 0 w 5698903"/>
              <a:gd name="connsiteY0" fmla="*/ 19318 h 1592842"/>
              <a:gd name="connsiteX1" fmla="*/ 5692462 w 5698903"/>
              <a:gd name="connsiteY1" fmla="*/ 0 h 1592842"/>
              <a:gd name="connsiteX2" fmla="*/ 5698903 w 5698903"/>
              <a:gd name="connsiteY2" fmla="*/ 659124 h 1592842"/>
              <a:gd name="connsiteX3" fmla="*/ 3593205 w 5698903"/>
              <a:gd name="connsiteY3" fmla="*/ 678443 h 1592842"/>
              <a:gd name="connsiteX4" fmla="*/ 3631842 w 5698903"/>
              <a:gd name="connsiteY4" fmla="*/ 1592842 h 1592842"/>
              <a:gd name="connsiteX5" fmla="*/ 0 w 5698903"/>
              <a:gd name="connsiteY5" fmla="*/ 1567085 h 1592842"/>
              <a:gd name="connsiteX6" fmla="*/ 0 w 5698903"/>
              <a:gd name="connsiteY6" fmla="*/ 19318 h 1592842"/>
              <a:gd name="connsiteX0" fmla="*/ 0 w 5698903"/>
              <a:gd name="connsiteY0" fmla="*/ 19318 h 1592842"/>
              <a:gd name="connsiteX1" fmla="*/ 5692462 w 5698903"/>
              <a:gd name="connsiteY1" fmla="*/ 0 h 1592842"/>
              <a:gd name="connsiteX2" fmla="*/ 5698903 w 5698903"/>
              <a:gd name="connsiteY2" fmla="*/ 659124 h 1592842"/>
              <a:gd name="connsiteX3" fmla="*/ 3631842 w 5698903"/>
              <a:gd name="connsiteY3" fmla="*/ 672004 h 1592842"/>
              <a:gd name="connsiteX4" fmla="*/ 3631842 w 5698903"/>
              <a:gd name="connsiteY4" fmla="*/ 1592842 h 1592842"/>
              <a:gd name="connsiteX5" fmla="*/ 0 w 5698903"/>
              <a:gd name="connsiteY5" fmla="*/ 1567085 h 1592842"/>
              <a:gd name="connsiteX6" fmla="*/ 0 w 5698903"/>
              <a:gd name="connsiteY6" fmla="*/ 19318 h 1592842"/>
              <a:gd name="connsiteX0" fmla="*/ 0 w 5705343"/>
              <a:gd name="connsiteY0" fmla="*/ 0 h 1689434"/>
              <a:gd name="connsiteX1" fmla="*/ 5698902 w 5705343"/>
              <a:gd name="connsiteY1" fmla="*/ 96592 h 1689434"/>
              <a:gd name="connsiteX2" fmla="*/ 5705343 w 5705343"/>
              <a:gd name="connsiteY2" fmla="*/ 755716 h 1689434"/>
              <a:gd name="connsiteX3" fmla="*/ 3638282 w 5705343"/>
              <a:gd name="connsiteY3" fmla="*/ 768596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638282 w 5705343"/>
              <a:gd name="connsiteY3" fmla="*/ 768596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710007 w 5705343"/>
              <a:gd name="connsiteY3" fmla="*/ 762205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710007 w 5705343"/>
              <a:gd name="connsiteY3" fmla="*/ 762205 h 1689434"/>
              <a:gd name="connsiteX4" fmla="*/ 3703487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85771 w 5705343"/>
              <a:gd name="connsiteY1" fmla="*/ 19366 h 1689434"/>
              <a:gd name="connsiteX2" fmla="*/ 5705343 w 5705343"/>
              <a:gd name="connsiteY2" fmla="*/ 755716 h 1689434"/>
              <a:gd name="connsiteX3" fmla="*/ 3710007 w 5705343"/>
              <a:gd name="connsiteY3" fmla="*/ 762205 h 1689434"/>
              <a:gd name="connsiteX4" fmla="*/ 3703487 w 5705343"/>
              <a:gd name="connsiteY4" fmla="*/ 1689434 h 1689434"/>
              <a:gd name="connsiteX5" fmla="*/ 6440 w 5705343"/>
              <a:gd name="connsiteY5" fmla="*/ 1663677 h 1689434"/>
              <a:gd name="connsiteX6" fmla="*/ 0 w 5705343"/>
              <a:gd name="connsiteY6" fmla="*/ 0 h 1689434"/>
              <a:gd name="connsiteX0" fmla="*/ 0 w 5792193"/>
              <a:gd name="connsiteY0" fmla="*/ 0 h 1689434"/>
              <a:gd name="connsiteX1" fmla="*/ 5685771 w 5792193"/>
              <a:gd name="connsiteY1" fmla="*/ 19366 h 1689434"/>
              <a:gd name="connsiteX2" fmla="*/ 3710007 w 5792193"/>
              <a:gd name="connsiteY2" fmla="*/ 762205 h 1689434"/>
              <a:gd name="connsiteX3" fmla="*/ 3703487 w 5792193"/>
              <a:gd name="connsiteY3" fmla="*/ 1689434 h 1689434"/>
              <a:gd name="connsiteX4" fmla="*/ 6440 w 5792193"/>
              <a:gd name="connsiteY4" fmla="*/ 1663677 h 1689434"/>
              <a:gd name="connsiteX5" fmla="*/ 0 w 5792193"/>
              <a:gd name="connsiteY5" fmla="*/ 0 h 1689434"/>
              <a:gd name="connsiteX0" fmla="*/ 0 w 3710007"/>
              <a:gd name="connsiteY0" fmla="*/ 0 h 1689434"/>
              <a:gd name="connsiteX1" fmla="*/ 3710007 w 3710007"/>
              <a:gd name="connsiteY1" fmla="*/ 762205 h 1689434"/>
              <a:gd name="connsiteX2" fmla="*/ 3703487 w 3710007"/>
              <a:gd name="connsiteY2" fmla="*/ 1689434 h 1689434"/>
              <a:gd name="connsiteX3" fmla="*/ 6440 w 3710007"/>
              <a:gd name="connsiteY3" fmla="*/ 1663677 h 1689434"/>
              <a:gd name="connsiteX4" fmla="*/ 0 w 3710007"/>
              <a:gd name="connsiteY4" fmla="*/ 0 h 1689434"/>
              <a:gd name="connsiteX0" fmla="*/ 0 w 3703773"/>
              <a:gd name="connsiteY0" fmla="*/ 0 h 1689434"/>
              <a:gd name="connsiteX1" fmla="*/ 3696876 w 3703773"/>
              <a:gd name="connsiteY1" fmla="*/ 25633 h 1689434"/>
              <a:gd name="connsiteX2" fmla="*/ 3703487 w 3703773"/>
              <a:gd name="connsiteY2" fmla="*/ 1689434 h 1689434"/>
              <a:gd name="connsiteX3" fmla="*/ 6440 w 3703773"/>
              <a:gd name="connsiteY3" fmla="*/ 1663677 h 1689434"/>
              <a:gd name="connsiteX4" fmla="*/ 0 w 3703773"/>
              <a:gd name="connsiteY4" fmla="*/ 0 h 1689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3773" h="1689434">
                <a:moveTo>
                  <a:pt x="0" y="0"/>
                </a:moveTo>
                <a:lnTo>
                  <a:pt x="3696876" y="25633"/>
                </a:lnTo>
                <a:cubicBezTo>
                  <a:pt x="3694703" y="334709"/>
                  <a:pt x="3705660" y="1380358"/>
                  <a:pt x="3703487" y="1689434"/>
                </a:cubicBezTo>
                <a:lnTo>
                  <a:pt x="6440" y="1663677"/>
                </a:lnTo>
                <a:cubicBezTo>
                  <a:pt x="4293" y="1109118"/>
                  <a:pt x="2147" y="554559"/>
                  <a:pt x="0" y="0"/>
                </a:cubicBezTo>
                <a:close/>
              </a:path>
            </a:pathLst>
          </a:custGeom>
          <a:solidFill>
            <a:schemeClr val="accent2">
              <a:lumMod val="10000"/>
              <a:lumOff val="90000"/>
              <a:alpha val="80000"/>
            </a:schemeClr>
          </a:solidFill>
          <a:ln w="28575" cap="flat" cmpd="sng" algn="ctr">
            <a:solidFill>
              <a:schemeClr val="tx1"/>
            </a:solidFill>
            <a:prstDash val="dash"/>
          </a:ln>
          <a:effectLst/>
        </p:spPr>
        <p:txBody>
          <a:bodyPr lIns="91396" tIns="45699" rIns="91396" bIns="45699" rtlCol="0" anchor="t"/>
          <a:lstStyle/>
          <a:p>
            <a:pPr defTabSz="456936" eaLnBrk="1" fontAlgn="auto" hangingPunct="1">
              <a:spcBef>
                <a:spcPts val="0"/>
              </a:spcBef>
              <a:spcAft>
                <a:spcPts val="0"/>
              </a:spcAft>
              <a:defRPr/>
            </a:pPr>
            <a:r>
              <a:rPr lang="en-US" sz="1400" kern="0">
                <a:solidFill>
                  <a:schemeClr val="accent2"/>
                </a:solidFill>
                <a:latin typeface="+mn-lt"/>
              </a:rPr>
              <a:t>User Application Code</a:t>
            </a:r>
            <a:endParaRPr lang="en-GB" sz="1400" kern="0">
              <a:solidFill>
                <a:schemeClr val="accent2"/>
              </a:solidFill>
              <a:latin typeface="+mn-lt"/>
            </a:endParaRPr>
          </a:p>
        </p:txBody>
      </p:sp>
      <p:sp>
        <p:nvSpPr>
          <p:cNvPr id="2" name="Title 1">
            <a:extLst>
              <a:ext uri="{FF2B5EF4-FFF2-40B4-BE49-F238E27FC236}">
                <a16:creationId xmlns:a16="http://schemas.microsoft.com/office/drawing/2014/main" id="{66B49C65-9D93-0940-A2D2-FDC728ABEBFC}"/>
              </a:ext>
            </a:extLst>
          </p:cNvPr>
          <p:cNvSpPr>
            <a:spLocks noGrp="1"/>
          </p:cNvSpPr>
          <p:nvPr>
            <p:ph type="title"/>
          </p:nvPr>
        </p:nvSpPr>
        <p:spPr>
          <a:xfrm>
            <a:off x="482352" y="314383"/>
            <a:ext cx="11227300" cy="512562"/>
          </a:xfrm>
        </p:spPr>
        <p:txBody>
          <a:bodyPr/>
          <a:lstStyle/>
          <a:p>
            <a:r>
              <a:rPr lang="en-US" sz="3198"/>
              <a:t>Application Software – from Virtual to Physical Hardware</a:t>
            </a:r>
          </a:p>
        </p:txBody>
      </p:sp>
      <p:sp>
        <p:nvSpPr>
          <p:cNvPr id="21" name="Rectangle 20">
            <a:extLst>
              <a:ext uri="{FF2B5EF4-FFF2-40B4-BE49-F238E27FC236}">
                <a16:creationId xmlns:a16="http://schemas.microsoft.com/office/drawing/2014/main" id="{55D6DD88-1FD7-4BA4-AB28-44E626DD2497}"/>
              </a:ext>
            </a:extLst>
          </p:cNvPr>
          <p:cNvSpPr/>
          <p:nvPr/>
        </p:nvSpPr>
        <p:spPr>
          <a:xfrm>
            <a:off x="481863" y="3326660"/>
            <a:ext cx="2642046" cy="653663"/>
          </a:xfrm>
          <a:prstGeom prst="rect">
            <a:avLst/>
          </a:prstGeom>
          <a:solidFill>
            <a:schemeClr val="accent1">
              <a:lumMod val="40000"/>
              <a:lumOff val="60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r>
              <a:rPr lang="en-US" sz="1600" kern="0">
                <a:solidFill>
                  <a:srgbClr val="000000"/>
                </a:solidFill>
                <a:latin typeface="+mn-lt"/>
              </a:rPr>
              <a:t>Virtual</a:t>
            </a:r>
            <a:br>
              <a:rPr lang="en-US" sz="1600" kern="0">
                <a:solidFill>
                  <a:srgbClr val="000000"/>
                </a:solidFill>
                <a:latin typeface="+mn-lt"/>
              </a:rPr>
            </a:br>
            <a:r>
              <a:rPr lang="en-US" sz="1600" kern="0">
                <a:solidFill>
                  <a:srgbClr val="000000"/>
                </a:solidFill>
                <a:latin typeface="+mn-lt"/>
              </a:rPr>
              <a:t>Layer</a:t>
            </a:r>
            <a:endParaRPr lang="en-GB" sz="1600" kern="0">
              <a:solidFill>
                <a:srgbClr val="000000"/>
              </a:solidFill>
              <a:latin typeface="+mn-lt"/>
            </a:endParaRPr>
          </a:p>
        </p:txBody>
      </p:sp>
      <p:sp>
        <p:nvSpPr>
          <p:cNvPr id="30" name="Down Arrow 26">
            <a:extLst>
              <a:ext uri="{FF2B5EF4-FFF2-40B4-BE49-F238E27FC236}">
                <a16:creationId xmlns:a16="http://schemas.microsoft.com/office/drawing/2014/main" id="{D6981AE9-5DF4-413F-9F55-F18CBA15AB85}"/>
              </a:ext>
            </a:extLst>
          </p:cNvPr>
          <p:cNvSpPr/>
          <p:nvPr/>
        </p:nvSpPr>
        <p:spPr>
          <a:xfrm flipV="1">
            <a:off x="2344931" y="3837796"/>
            <a:ext cx="550606" cy="804054"/>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66" name="Rectangle 65">
            <a:extLst>
              <a:ext uri="{FF2B5EF4-FFF2-40B4-BE49-F238E27FC236}">
                <a16:creationId xmlns:a16="http://schemas.microsoft.com/office/drawing/2014/main" id="{EBCA1D57-A748-4DD4-B0B9-FB9281C35702}"/>
              </a:ext>
            </a:extLst>
          </p:cNvPr>
          <p:cNvSpPr/>
          <p:nvPr/>
        </p:nvSpPr>
        <p:spPr>
          <a:xfrm>
            <a:off x="1277377" y="2362078"/>
            <a:ext cx="1645062" cy="623901"/>
          </a:xfrm>
          <a:prstGeom prst="rect">
            <a:avLst/>
          </a:prstGeom>
          <a:solidFill>
            <a:schemeClr val="accent1">
              <a:lumMod val="75000"/>
            </a:schemeClr>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r>
              <a:rPr lang="en-US" sz="1400" kern="0">
                <a:solidFill>
                  <a:srgbClr val="FFFFFF"/>
                </a:solidFill>
                <a:latin typeface="+mn-lt"/>
              </a:rPr>
              <a:t>IoT/ML Software Platform</a:t>
            </a:r>
          </a:p>
        </p:txBody>
      </p:sp>
      <p:sp>
        <p:nvSpPr>
          <p:cNvPr id="9" name="Text Placeholder 8">
            <a:extLst>
              <a:ext uri="{FF2B5EF4-FFF2-40B4-BE49-F238E27FC236}">
                <a16:creationId xmlns:a16="http://schemas.microsoft.com/office/drawing/2014/main" id="{EC550EB9-5DD0-4254-B622-58A5F764314F}"/>
              </a:ext>
            </a:extLst>
          </p:cNvPr>
          <p:cNvSpPr>
            <a:spLocks noGrp="1"/>
          </p:cNvSpPr>
          <p:nvPr>
            <p:ph type="body" sz="quarter" idx="13"/>
          </p:nvPr>
        </p:nvSpPr>
        <p:spPr>
          <a:xfrm>
            <a:off x="485401" y="680697"/>
            <a:ext cx="11227300" cy="344398"/>
          </a:xfrm>
        </p:spPr>
        <p:txBody>
          <a:bodyPr/>
          <a:lstStyle/>
          <a:p>
            <a:r>
              <a:rPr lang="en-US" sz="1799"/>
              <a:t>Provide evidence of correctness on Arm Virtual Hardware Target and Physical Hardware</a:t>
            </a:r>
            <a:endParaRPr lang="en-GB" sz="1799"/>
          </a:p>
        </p:txBody>
      </p:sp>
      <p:sp>
        <p:nvSpPr>
          <p:cNvPr id="29" name="Rectangle 28">
            <a:extLst>
              <a:ext uri="{FF2B5EF4-FFF2-40B4-BE49-F238E27FC236}">
                <a16:creationId xmlns:a16="http://schemas.microsoft.com/office/drawing/2014/main" id="{F3B3B581-DD8B-4457-9CC6-E5B89F229FE9}"/>
              </a:ext>
            </a:extLst>
          </p:cNvPr>
          <p:cNvSpPr/>
          <p:nvPr/>
        </p:nvSpPr>
        <p:spPr>
          <a:xfrm>
            <a:off x="987442" y="5450454"/>
            <a:ext cx="1060086" cy="299356"/>
          </a:xfrm>
          <a:prstGeom prst="rect">
            <a:avLst/>
          </a:prstGeom>
          <a:solidFill>
            <a:srgbClr val="58595B"/>
          </a:solidFill>
          <a:ln w="9525" cap="flat" cmpd="sng" algn="ctr">
            <a:noFill/>
            <a:prstDash val="solid"/>
          </a:ln>
          <a:effectLst/>
        </p:spPr>
        <p:txBody>
          <a:bodyPr lIns="91396" tIns="45699" rIns="91396" bIns="45699" numCol="1" rtlCol="0" anchor="t"/>
          <a:lstStyle/>
          <a:p>
            <a:pPr defTabSz="456936" eaLnBrk="1" fontAlgn="auto" hangingPunct="1">
              <a:spcBef>
                <a:spcPts val="0"/>
              </a:spcBef>
              <a:spcAft>
                <a:spcPts val="0"/>
              </a:spcAft>
              <a:defRPr/>
            </a:pPr>
            <a:r>
              <a:rPr lang="en-US" sz="1200" kern="0">
                <a:solidFill>
                  <a:srgbClr val="FFFFFF"/>
                </a:solidFill>
                <a:latin typeface="+mn-lt"/>
              </a:rPr>
              <a:t>Event Log file</a:t>
            </a:r>
            <a:endParaRPr lang="en-US" sz="1400" kern="0">
              <a:solidFill>
                <a:srgbClr val="FFFFFF"/>
              </a:solidFill>
              <a:latin typeface="+mn-lt"/>
            </a:endParaRPr>
          </a:p>
        </p:txBody>
      </p:sp>
      <p:sp>
        <p:nvSpPr>
          <p:cNvPr id="35" name="Down Arrow 26">
            <a:extLst>
              <a:ext uri="{FF2B5EF4-FFF2-40B4-BE49-F238E27FC236}">
                <a16:creationId xmlns:a16="http://schemas.microsoft.com/office/drawing/2014/main" id="{22E10B83-F9E9-4ADC-8692-11AD7842E6F6}"/>
              </a:ext>
            </a:extLst>
          </p:cNvPr>
          <p:cNvSpPr/>
          <p:nvPr/>
        </p:nvSpPr>
        <p:spPr>
          <a:xfrm>
            <a:off x="4355654" y="2994537"/>
            <a:ext cx="510729" cy="2463428"/>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36" name="Rectangle 69">
            <a:extLst>
              <a:ext uri="{FF2B5EF4-FFF2-40B4-BE49-F238E27FC236}">
                <a16:creationId xmlns:a16="http://schemas.microsoft.com/office/drawing/2014/main" id="{86D98D1F-60F2-4E1D-A378-B9D1FC0C69AD}"/>
              </a:ext>
            </a:extLst>
          </p:cNvPr>
          <p:cNvSpPr/>
          <p:nvPr/>
        </p:nvSpPr>
        <p:spPr>
          <a:xfrm>
            <a:off x="4383571" y="1599603"/>
            <a:ext cx="1615871" cy="620170"/>
          </a:xfrm>
          <a:custGeom>
            <a:avLst/>
            <a:gdLst>
              <a:gd name="connsiteX0" fmla="*/ 0 w 3676919"/>
              <a:gd name="connsiteY0" fmla="*/ 0 h 1547767"/>
              <a:gd name="connsiteX1" fmla="*/ 3676919 w 3676919"/>
              <a:gd name="connsiteY1" fmla="*/ 0 h 1547767"/>
              <a:gd name="connsiteX2" fmla="*/ 3676919 w 3676919"/>
              <a:gd name="connsiteY2" fmla="*/ 1547767 h 1547767"/>
              <a:gd name="connsiteX3" fmla="*/ 0 w 3676919"/>
              <a:gd name="connsiteY3" fmla="*/ 1547767 h 1547767"/>
              <a:gd name="connsiteX4" fmla="*/ 0 w 3676919"/>
              <a:gd name="connsiteY4" fmla="*/ 0 h 1547767"/>
              <a:gd name="connsiteX0" fmla="*/ 0 w 3676919"/>
              <a:gd name="connsiteY0" fmla="*/ 0 h 1547767"/>
              <a:gd name="connsiteX1" fmla="*/ 3676919 w 3676919"/>
              <a:gd name="connsiteY1" fmla="*/ 0 h 1547767"/>
              <a:gd name="connsiteX2" fmla="*/ 3676919 w 3676919"/>
              <a:gd name="connsiteY2" fmla="*/ 1534888 h 1547767"/>
              <a:gd name="connsiteX3" fmla="*/ 0 w 3676919"/>
              <a:gd name="connsiteY3" fmla="*/ 1547767 h 1547767"/>
              <a:gd name="connsiteX4" fmla="*/ 0 w 3676919"/>
              <a:gd name="connsiteY4" fmla="*/ 0 h 1547767"/>
              <a:gd name="connsiteX0" fmla="*/ 0 w 4552682"/>
              <a:gd name="connsiteY0" fmla="*/ 0 h 1547767"/>
              <a:gd name="connsiteX1" fmla="*/ 3676919 w 4552682"/>
              <a:gd name="connsiteY1" fmla="*/ 0 h 1547767"/>
              <a:gd name="connsiteX2" fmla="*/ 3676919 w 4552682"/>
              <a:gd name="connsiteY2" fmla="*/ 1534888 h 1547767"/>
              <a:gd name="connsiteX3" fmla="*/ 0 w 4552682"/>
              <a:gd name="connsiteY3" fmla="*/ 1547767 h 1547767"/>
              <a:gd name="connsiteX4" fmla="*/ 0 w 4552682"/>
              <a:gd name="connsiteY4" fmla="*/ 0 h 1547767"/>
              <a:gd name="connsiteX0" fmla="*/ 0 w 5724659"/>
              <a:gd name="connsiteY0" fmla="*/ 12879 h 1560646"/>
              <a:gd name="connsiteX1" fmla="*/ 5724659 w 5724659"/>
              <a:gd name="connsiteY1" fmla="*/ 0 h 1560646"/>
              <a:gd name="connsiteX2" fmla="*/ 3676919 w 5724659"/>
              <a:gd name="connsiteY2" fmla="*/ 1547767 h 1560646"/>
              <a:gd name="connsiteX3" fmla="*/ 0 w 5724659"/>
              <a:gd name="connsiteY3" fmla="*/ 1560646 h 1560646"/>
              <a:gd name="connsiteX4" fmla="*/ 0 w 5724659"/>
              <a:gd name="connsiteY4" fmla="*/ 12879 h 1560646"/>
              <a:gd name="connsiteX0" fmla="*/ 0 w 5724659"/>
              <a:gd name="connsiteY0" fmla="*/ 12879 h 1560646"/>
              <a:gd name="connsiteX1" fmla="*/ 5724659 w 5724659"/>
              <a:gd name="connsiteY1" fmla="*/ 0 h 1560646"/>
              <a:gd name="connsiteX2" fmla="*/ 3676919 w 5724659"/>
              <a:gd name="connsiteY2" fmla="*/ 1547767 h 1560646"/>
              <a:gd name="connsiteX3" fmla="*/ 0 w 5724659"/>
              <a:gd name="connsiteY3" fmla="*/ 1560646 h 1560646"/>
              <a:gd name="connsiteX4" fmla="*/ 0 w 5724659"/>
              <a:gd name="connsiteY4" fmla="*/ 12879 h 1560646"/>
              <a:gd name="connsiteX0" fmla="*/ 0 w 5724659"/>
              <a:gd name="connsiteY0" fmla="*/ 12879 h 1560646"/>
              <a:gd name="connsiteX1" fmla="*/ 5724659 w 5724659"/>
              <a:gd name="connsiteY1" fmla="*/ 0 h 1560646"/>
              <a:gd name="connsiteX2" fmla="*/ 3676919 w 5724659"/>
              <a:gd name="connsiteY2" fmla="*/ 1547767 h 1560646"/>
              <a:gd name="connsiteX3" fmla="*/ 5711780 w 5724659"/>
              <a:gd name="connsiteY3" fmla="*/ 697761 h 1560646"/>
              <a:gd name="connsiteX4" fmla="*/ 0 w 5724659"/>
              <a:gd name="connsiteY4" fmla="*/ 1560646 h 1560646"/>
              <a:gd name="connsiteX5" fmla="*/ 0 w 5724659"/>
              <a:gd name="connsiteY5" fmla="*/ 12879 h 1560646"/>
              <a:gd name="connsiteX0" fmla="*/ 0 w 5724659"/>
              <a:gd name="connsiteY0" fmla="*/ 12879 h 1573524"/>
              <a:gd name="connsiteX1" fmla="*/ 5724659 w 5724659"/>
              <a:gd name="connsiteY1" fmla="*/ 0 h 1573524"/>
              <a:gd name="connsiteX2" fmla="*/ 3676919 w 5724659"/>
              <a:gd name="connsiteY2" fmla="*/ 1547767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5673144 w 5724659"/>
              <a:gd name="connsiteY3" fmla="*/ 704201 h 1573524"/>
              <a:gd name="connsiteX4" fmla="*/ 3528811 w 5724659"/>
              <a:gd name="connsiteY4" fmla="*/ 1573524 h 1573524"/>
              <a:gd name="connsiteX5" fmla="*/ 0 w 5724659"/>
              <a:gd name="connsiteY5" fmla="*/ 1560646 h 1573524"/>
              <a:gd name="connsiteX6" fmla="*/ 0 w 5724659"/>
              <a:gd name="connsiteY6"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612524 w 5724659"/>
              <a:gd name="connsiteY3" fmla="*/ 948900 h 1573524"/>
              <a:gd name="connsiteX4" fmla="*/ 3528811 w 5724659"/>
              <a:gd name="connsiteY4" fmla="*/ 1573524 h 1573524"/>
              <a:gd name="connsiteX5" fmla="*/ 0 w 5724659"/>
              <a:gd name="connsiteY5" fmla="*/ 1560646 h 1573524"/>
              <a:gd name="connsiteX6" fmla="*/ 0 w 5724659"/>
              <a:gd name="connsiteY6" fmla="*/ 12879 h 1573524"/>
              <a:gd name="connsiteX0" fmla="*/ 0 w 6607105"/>
              <a:gd name="connsiteY0" fmla="*/ 12879 h 1573524"/>
              <a:gd name="connsiteX1" fmla="*/ 5724659 w 6607105"/>
              <a:gd name="connsiteY1" fmla="*/ 0 h 1573524"/>
              <a:gd name="connsiteX2" fmla="*/ 5698903 w 6607105"/>
              <a:gd name="connsiteY2" fmla="*/ 652685 h 1573524"/>
              <a:gd name="connsiteX3" fmla="*/ 3612524 w 6607105"/>
              <a:gd name="connsiteY3" fmla="*/ 948900 h 1573524"/>
              <a:gd name="connsiteX4" fmla="*/ 3528811 w 6607105"/>
              <a:gd name="connsiteY4" fmla="*/ 1573524 h 1573524"/>
              <a:gd name="connsiteX5" fmla="*/ 0 w 6607105"/>
              <a:gd name="connsiteY5" fmla="*/ 1560646 h 1573524"/>
              <a:gd name="connsiteX6" fmla="*/ 0 w 6607105"/>
              <a:gd name="connsiteY6" fmla="*/ 12879 h 1573524"/>
              <a:gd name="connsiteX0" fmla="*/ 0 w 6607105"/>
              <a:gd name="connsiteY0" fmla="*/ 12879 h 1573524"/>
              <a:gd name="connsiteX1" fmla="*/ 5724659 w 6607105"/>
              <a:gd name="connsiteY1" fmla="*/ 0 h 1573524"/>
              <a:gd name="connsiteX2" fmla="*/ 5698903 w 6607105"/>
              <a:gd name="connsiteY2" fmla="*/ 652685 h 1573524"/>
              <a:gd name="connsiteX3" fmla="*/ 3593205 w 6607105"/>
              <a:gd name="connsiteY3" fmla="*/ 672004 h 1573524"/>
              <a:gd name="connsiteX4" fmla="*/ 3528811 w 6607105"/>
              <a:gd name="connsiteY4" fmla="*/ 1573524 h 1573524"/>
              <a:gd name="connsiteX5" fmla="*/ 0 w 6607105"/>
              <a:gd name="connsiteY5" fmla="*/ 1560646 h 1573524"/>
              <a:gd name="connsiteX6" fmla="*/ 0 w 6607105"/>
              <a:gd name="connsiteY6" fmla="*/ 12879 h 1573524"/>
              <a:gd name="connsiteX0" fmla="*/ 0 w 5724659"/>
              <a:gd name="connsiteY0" fmla="*/ 12879 h 1573524"/>
              <a:gd name="connsiteX1" fmla="*/ 5724659 w 5724659"/>
              <a:gd name="connsiteY1" fmla="*/ 0 h 1573524"/>
              <a:gd name="connsiteX2" fmla="*/ 5698903 w 5724659"/>
              <a:gd name="connsiteY2" fmla="*/ 652685 h 1573524"/>
              <a:gd name="connsiteX3" fmla="*/ 3593205 w 5724659"/>
              <a:gd name="connsiteY3" fmla="*/ 672004 h 1573524"/>
              <a:gd name="connsiteX4" fmla="*/ 3528811 w 5724659"/>
              <a:gd name="connsiteY4" fmla="*/ 1573524 h 1573524"/>
              <a:gd name="connsiteX5" fmla="*/ 0 w 5724659"/>
              <a:gd name="connsiteY5" fmla="*/ 1560646 h 1573524"/>
              <a:gd name="connsiteX6" fmla="*/ 0 w 5724659"/>
              <a:gd name="connsiteY6" fmla="*/ 12879 h 1573524"/>
              <a:gd name="connsiteX0" fmla="*/ 0 w 5698903"/>
              <a:gd name="connsiteY0" fmla="*/ 19318 h 1579963"/>
              <a:gd name="connsiteX1" fmla="*/ 5692462 w 5698903"/>
              <a:gd name="connsiteY1" fmla="*/ 0 h 1579963"/>
              <a:gd name="connsiteX2" fmla="*/ 5698903 w 5698903"/>
              <a:gd name="connsiteY2" fmla="*/ 659124 h 1579963"/>
              <a:gd name="connsiteX3" fmla="*/ 3593205 w 5698903"/>
              <a:gd name="connsiteY3" fmla="*/ 678443 h 1579963"/>
              <a:gd name="connsiteX4" fmla="*/ 3528811 w 5698903"/>
              <a:gd name="connsiteY4" fmla="*/ 1579963 h 1579963"/>
              <a:gd name="connsiteX5" fmla="*/ 0 w 5698903"/>
              <a:gd name="connsiteY5" fmla="*/ 1567085 h 1579963"/>
              <a:gd name="connsiteX6" fmla="*/ 0 w 5698903"/>
              <a:gd name="connsiteY6" fmla="*/ 19318 h 1579963"/>
              <a:gd name="connsiteX0" fmla="*/ 0 w 5698903"/>
              <a:gd name="connsiteY0" fmla="*/ 19318 h 1592842"/>
              <a:gd name="connsiteX1" fmla="*/ 5692462 w 5698903"/>
              <a:gd name="connsiteY1" fmla="*/ 0 h 1592842"/>
              <a:gd name="connsiteX2" fmla="*/ 5698903 w 5698903"/>
              <a:gd name="connsiteY2" fmla="*/ 659124 h 1592842"/>
              <a:gd name="connsiteX3" fmla="*/ 3593205 w 5698903"/>
              <a:gd name="connsiteY3" fmla="*/ 678443 h 1592842"/>
              <a:gd name="connsiteX4" fmla="*/ 3631842 w 5698903"/>
              <a:gd name="connsiteY4" fmla="*/ 1592842 h 1592842"/>
              <a:gd name="connsiteX5" fmla="*/ 0 w 5698903"/>
              <a:gd name="connsiteY5" fmla="*/ 1567085 h 1592842"/>
              <a:gd name="connsiteX6" fmla="*/ 0 w 5698903"/>
              <a:gd name="connsiteY6" fmla="*/ 19318 h 1592842"/>
              <a:gd name="connsiteX0" fmla="*/ 0 w 5698903"/>
              <a:gd name="connsiteY0" fmla="*/ 19318 h 1592842"/>
              <a:gd name="connsiteX1" fmla="*/ 5692462 w 5698903"/>
              <a:gd name="connsiteY1" fmla="*/ 0 h 1592842"/>
              <a:gd name="connsiteX2" fmla="*/ 5698903 w 5698903"/>
              <a:gd name="connsiteY2" fmla="*/ 659124 h 1592842"/>
              <a:gd name="connsiteX3" fmla="*/ 3631842 w 5698903"/>
              <a:gd name="connsiteY3" fmla="*/ 672004 h 1592842"/>
              <a:gd name="connsiteX4" fmla="*/ 3631842 w 5698903"/>
              <a:gd name="connsiteY4" fmla="*/ 1592842 h 1592842"/>
              <a:gd name="connsiteX5" fmla="*/ 0 w 5698903"/>
              <a:gd name="connsiteY5" fmla="*/ 1567085 h 1592842"/>
              <a:gd name="connsiteX6" fmla="*/ 0 w 5698903"/>
              <a:gd name="connsiteY6" fmla="*/ 19318 h 1592842"/>
              <a:gd name="connsiteX0" fmla="*/ 0 w 5705343"/>
              <a:gd name="connsiteY0" fmla="*/ 0 h 1689434"/>
              <a:gd name="connsiteX1" fmla="*/ 5698902 w 5705343"/>
              <a:gd name="connsiteY1" fmla="*/ 96592 h 1689434"/>
              <a:gd name="connsiteX2" fmla="*/ 5705343 w 5705343"/>
              <a:gd name="connsiteY2" fmla="*/ 755716 h 1689434"/>
              <a:gd name="connsiteX3" fmla="*/ 3638282 w 5705343"/>
              <a:gd name="connsiteY3" fmla="*/ 768596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638282 w 5705343"/>
              <a:gd name="connsiteY3" fmla="*/ 768596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710007 w 5705343"/>
              <a:gd name="connsiteY3" fmla="*/ 762205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710007 w 5705343"/>
              <a:gd name="connsiteY3" fmla="*/ 762205 h 1689434"/>
              <a:gd name="connsiteX4" fmla="*/ 3703487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85771 w 5705343"/>
              <a:gd name="connsiteY1" fmla="*/ 19366 h 1689434"/>
              <a:gd name="connsiteX2" fmla="*/ 5705343 w 5705343"/>
              <a:gd name="connsiteY2" fmla="*/ 755716 h 1689434"/>
              <a:gd name="connsiteX3" fmla="*/ 3710007 w 5705343"/>
              <a:gd name="connsiteY3" fmla="*/ 762205 h 1689434"/>
              <a:gd name="connsiteX4" fmla="*/ 3703487 w 5705343"/>
              <a:gd name="connsiteY4" fmla="*/ 1689434 h 1689434"/>
              <a:gd name="connsiteX5" fmla="*/ 6440 w 5705343"/>
              <a:gd name="connsiteY5" fmla="*/ 1663677 h 1689434"/>
              <a:gd name="connsiteX6" fmla="*/ 0 w 5705343"/>
              <a:gd name="connsiteY6" fmla="*/ 0 h 1689434"/>
              <a:gd name="connsiteX0" fmla="*/ 0 w 5792193"/>
              <a:gd name="connsiteY0" fmla="*/ 0 h 1689434"/>
              <a:gd name="connsiteX1" fmla="*/ 5685771 w 5792193"/>
              <a:gd name="connsiteY1" fmla="*/ 19366 h 1689434"/>
              <a:gd name="connsiteX2" fmla="*/ 3710007 w 5792193"/>
              <a:gd name="connsiteY2" fmla="*/ 762205 h 1689434"/>
              <a:gd name="connsiteX3" fmla="*/ 3703487 w 5792193"/>
              <a:gd name="connsiteY3" fmla="*/ 1689434 h 1689434"/>
              <a:gd name="connsiteX4" fmla="*/ 6440 w 5792193"/>
              <a:gd name="connsiteY4" fmla="*/ 1663677 h 1689434"/>
              <a:gd name="connsiteX5" fmla="*/ 0 w 5792193"/>
              <a:gd name="connsiteY5" fmla="*/ 0 h 1689434"/>
              <a:gd name="connsiteX0" fmla="*/ 0 w 3710007"/>
              <a:gd name="connsiteY0" fmla="*/ 0 h 1689434"/>
              <a:gd name="connsiteX1" fmla="*/ 3710007 w 3710007"/>
              <a:gd name="connsiteY1" fmla="*/ 762205 h 1689434"/>
              <a:gd name="connsiteX2" fmla="*/ 3703487 w 3710007"/>
              <a:gd name="connsiteY2" fmla="*/ 1689434 h 1689434"/>
              <a:gd name="connsiteX3" fmla="*/ 6440 w 3710007"/>
              <a:gd name="connsiteY3" fmla="*/ 1663677 h 1689434"/>
              <a:gd name="connsiteX4" fmla="*/ 0 w 3710007"/>
              <a:gd name="connsiteY4" fmla="*/ 0 h 1689434"/>
              <a:gd name="connsiteX0" fmla="*/ 0 w 3703773"/>
              <a:gd name="connsiteY0" fmla="*/ 0 h 1689434"/>
              <a:gd name="connsiteX1" fmla="*/ 3696876 w 3703773"/>
              <a:gd name="connsiteY1" fmla="*/ 25633 h 1689434"/>
              <a:gd name="connsiteX2" fmla="*/ 3703487 w 3703773"/>
              <a:gd name="connsiteY2" fmla="*/ 1689434 h 1689434"/>
              <a:gd name="connsiteX3" fmla="*/ 6440 w 3703773"/>
              <a:gd name="connsiteY3" fmla="*/ 1663677 h 1689434"/>
              <a:gd name="connsiteX4" fmla="*/ 0 w 3703773"/>
              <a:gd name="connsiteY4" fmla="*/ 0 h 1689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3773" h="1689434">
                <a:moveTo>
                  <a:pt x="0" y="0"/>
                </a:moveTo>
                <a:lnTo>
                  <a:pt x="3696876" y="25633"/>
                </a:lnTo>
                <a:cubicBezTo>
                  <a:pt x="3694703" y="334709"/>
                  <a:pt x="3705660" y="1380358"/>
                  <a:pt x="3703487" y="1689434"/>
                </a:cubicBezTo>
                <a:lnTo>
                  <a:pt x="6440" y="1663677"/>
                </a:lnTo>
                <a:cubicBezTo>
                  <a:pt x="4293" y="1109118"/>
                  <a:pt x="2147" y="554559"/>
                  <a:pt x="0" y="0"/>
                </a:cubicBezTo>
                <a:close/>
              </a:path>
            </a:pathLst>
          </a:custGeom>
          <a:solidFill>
            <a:schemeClr val="accent2">
              <a:lumMod val="10000"/>
              <a:lumOff val="90000"/>
              <a:alpha val="80000"/>
            </a:schemeClr>
          </a:solidFill>
          <a:ln w="28575" cap="flat" cmpd="sng" algn="ctr">
            <a:solidFill>
              <a:schemeClr val="tx1"/>
            </a:solidFill>
            <a:prstDash val="dash"/>
          </a:ln>
          <a:effectLst/>
        </p:spPr>
        <p:txBody>
          <a:bodyPr lIns="91396" tIns="45699" rIns="91396" bIns="45699" rtlCol="0" anchor="t"/>
          <a:lstStyle/>
          <a:p>
            <a:pPr defTabSz="456936" eaLnBrk="1" fontAlgn="auto" hangingPunct="1">
              <a:spcBef>
                <a:spcPts val="0"/>
              </a:spcBef>
              <a:spcAft>
                <a:spcPts val="0"/>
              </a:spcAft>
              <a:defRPr/>
            </a:pPr>
            <a:r>
              <a:rPr lang="en-US" sz="1400" kern="0">
                <a:solidFill>
                  <a:schemeClr val="accent2"/>
                </a:solidFill>
                <a:latin typeface="+mn-lt"/>
              </a:rPr>
              <a:t>User Application Code</a:t>
            </a:r>
            <a:endParaRPr lang="en-GB" sz="1400" kern="0">
              <a:solidFill>
                <a:schemeClr val="accent2"/>
              </a:solidFill>
              <a:latin typeface="+mn-lt"/>
            </a:endParaRPr>
          </a:p>
        </p:txBody>
      </p:sp>
      <p:sp>
        <p:nvSpPr>
          <p:cNvPr id="37" name="Rectangle 36">
            <a:extLst>
              <a:ext uri="{FF2B5EF4-FFF2-40B4-BE49-F238E27FC236}">
                <a16:creationId xmlns:a16="http://schemas.microsoft.com/office/drawing/2014/main" id="{5A669410-B835-4523-99D0-752183BAA2D6}"/>
              </a:ext>
            </a:extLst>
          </p:cNvPr>
          <p:cNvSpPr/>
          <p:nvPr/>
        </p:nvSpPr>
        <p:spPr>
          <a:xfrm>
            <a:off x="3589155" y="3330951"/>
            <a:ext cx="2642046" cy="1124872"/>
          </a:xfrm>
          <a:prstGeom prst="rect">
            <a:avLst/>
          </a:prstGeom>
          <a:solidFill>
            <a:schemeClr val="accent1">
              <a:lumMod val="40000"/>
              <a:lumOff val="60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r>
              <a:rPr lang="en-US" sz="1600" kern="0">
                <a:solidFill>
                  <a:srgbClr val="000000"/>
                </a:solidFill>
                <a:latin typeface="+mn-lt"/>
              </a:rPr>
              <a:t>Board</a:t>
            </a:r>
            <a:br>
              <a:rPr lang="en-US" sz="1600" kern="0">
                <a:solidFill>
                  <a:srgbClr val="000000"/>
                </a:solidFill>
                <a:latin typeface="+mn-lt"/>
              </a:rPr>
            </a:br>
            <a:r>
              <a:rPr lang="en-US" sz="1600" kern="0">
                <a:solidFill>
                  <a:srgbClr val="000000"/>
                </a:solidFill>
                <a:latin typeface="+mn-lt"/>
              </a:rPr>
              <a:t>Layer</a:t>
            </a:r>
            <a:endParaRPr lang="en-GB" sz="1600" kern="0">
              <a:solidFill>
                <a:srgbClr val="000000"/>
              </a:solidFill>
              <a:latin typeface="+mn-lt"/>
            </a:endParaRPr>
          </a:p>
        </p:txBody>
      </p:sp>
      <p:sp>
        <p:nvSpPr>
          <p:cNvPr id="43" name="Rectangle 42">
            <a:extLst>
              <a:ext uri="{FF2B5EF4-FFF2-40B4-BE49-F238E27FC236}">
                <a16:creationId xmlns:a16="http://schemas.microsoft.com/office/drawing/2014/main" id="{C9C7FA91-429E-41F1-AA90-90F52594FFDA}"/>
              </a:ext>
            </a:extLst>
          </p:cNvPr>
          <p:cNvSpPr/>
          <p:nvPr/>
        </p:nvSpPr>
        <p:spPr>
          <a:xfrm>
            <a:off x="4384669" y="2366370"/>
            <a:ext cx="1645062" cy="623901"/>
          </a:xfrm>
          <a:prstGeom prst="rect">
            <a:avLst/>
          </a:prstGeom>
          <a:solidFill>
            <a:schemeClr val="accent1">
              <a:lumMod val="75000"/>
            </a:schemeClr>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r>
              <a:rPr lang="en-US" sz="1400" kern="0">
                <a:solidFill>
                  <a:srgbClr val="FFFFFF"/>
                </a:solidFill>
                <a:latin typeface="+mn-lt"/>
              </a:rPr>
              <a:t>IoT/ML Software Platform</a:t>
            </a:r>
          </a:p>
        </p:txBody>
      </p:sp>
      <p:sp>
        <p:nvSpPr>
          <p:cNvPr id="44" name="Rectangle 43">
            <a:extLst>
              <a:ext uri="{FF2B5EF4-FFF2-40B4-BE49-F238E27FC236}">
                <a16:creationId xmlns:a16="http://schemas.microsoft.com/office/drawing/2014/main" id="{EC1A27E2-367F-4AC2-8C0C-B2F69C3475ED}"/>
              </a:ext>
            </a:extLst>
          </p:cNvPr>
          <p:cNvSpPr/>
          <p:nvPr/>
        </p:nvSpPr>
        <p:spPr>
          <a:xfrm>
            <a:off x="4094734" y="5454746"/>
            <a:ext cx="1060086" cy="299356"/>
          </a:xfrm>
          <a:prstGeom prst="rect">
            <a:avLst/>
          </a:prstGeom>
          <a:solidFill>
            <a:srgbClr val="58595B"/>
          </a:solidFill>
          <a:ln w="9525" cap="flat" cmpd="sng" algn="ctr">
            <a:noFill/>
            <a:prstDash val="solid"/>
          </a:ln>
          <a:effectLst/>
        </p:spPr>
        <p:txBody>
          <a:bodyPr lIns="91396" tIns="45699" rIns="91396" bIns="45699" numCol="1" rtlCol="0" anchor="t"/>
          <a:lstStyle/>
          <a:p>
            <a:pPr defTabSz="456936" eaLnBrk="1" fontAlgn="auto" hangingPunct="1">
              <a:spcBef>
                <a:spcPts val="0"/>
              </a:spcBef>
              <a:spcAft>
                <a:spcPts val="0"/>
              </a:spcAft>
              <a:defRPr/>
            </a:pPr>
            <a:r>
              <a:rPr lang="en-US" sz="1200" kern="0">
                <a:solidFill>
                  <a:srgbClr val="FFFFFF"/>
                </a:solidFill>
                <a:latin typeface="+mn-lt"/>
              </a:rPr>
              <a:t>Event Log file</a:t>
            </a:r>
            <a:endParaRPr lang="en-US" sz="1400" kern="0">
              <a:solidFill>
                <a:srgbClr val="FFFFFF"/>
              </a:solidFill>
              <a:latin typeface="+mn-lt"/>
            </a:endParaRPr>
          </a:p>
        </p:txBody>
      </p:sp>
      <p:sp>
        <p:nvSpPr>
          <p:cNvPr id="45" name="Rectangle 44">
            <a:extLst>
              <a:ext uri="{FF2B5EF4-FFF2-40B4-BE49-F238E27FC236}">
                <a16:creationId xmlns:a16="http://schemas.microsoft.com/office/drawing/2014/main" id="{619CC135-E062-49A3-8AB0-1BE2E7063EB8}"/>
              </a:ext>
            </a:extLst>
          </p:cNvPr>
          <p:cNvSpPr/>
          <p:nvPr/>
        </p:nvSpPr>
        <p:spPr>
          <a:xfrm>
            <a:off x="4372828" y="3908545"/>
            <a:ext cx="1641629" cy="445644"/>
          </a:xfrm>
          <a:prstGeom prst="rect">
            <a:avLst/>
          </a:prstGeom>
          <a:solidFill>
            <a:srgbClr val="F68A33"/>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r>
              <a:rPr lang="en-US" sz="1400" kern="0">
                <a:solidFill>
                  <a:srgbClr val="FFFFFF"/>
                </a:solidFill>
                <a:latin typeface="+mn-lt"/>
              </a:rPr>
              <a:t>Device SDK with configuration</a:t>
            </a:r>
          </a:p>
        </p:txBody>
      </p:sp>
      <p:sp>
        <p:nvSpPr>
          <p:cNvPr id="46" name="Down Arrow 26">
            <a:extLst>
              <a:ext uri="{FF2B5EF4-FFF2-40B4-BE49-F238E27FC236}">
                <a16:creationId xmlns:a16="http://schemas.microsoft.com/office/drawing/2014/main" id="{8B778490-FABE-4976-9933-16400A315E75}"/>
              </a:ext>
            </a:extLst>
          </p:cNvPr>
          <p:cNvSpPr/>
          <p:nvPr/>
        </p:nvSpPr>
        <p:spPr>
          <a:xfrm>
            <a:off x="7894277" y="3011705"/>
            <a:ext cx="510729" cy="2463428"/>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47" name="Rectangle 69">
            <a:extLst>
              <a:ext uri="{FF2B5EF4-FFF2-40B4-BE49-F238E27FC236}">
                <a16:creationId xmlns:a16="http://schemas.microsoft.com/office/drawing/2014/main" id="{75F698CC-5807-4882-97CF-D12368579EA2}"/>
              </a:ext>
            </a:extLst>
          </p:cNvPr>
          <p:cNvSpPr/>
          <p:nvPr/>
        </p:nvSpPr>
        <p:spPr>
          <a:xfrm>
            <a:off x="7922193" y="1616770"/>
            <a:ext cx="1615871" cy="620170"/>
          </a:xfrm>
          <a:custGeom>
            <a:avLst/>
            <a:gdLst>
              <a:gd name="connsiteX0" fmla="*/ 0 w 3676919"/>
              <a:gd name="connsiteY0" fmla="*/ 0 h 1547767"/>
              <a:gd name="connsiteX1" fmla="*/ 3676919 w 3676919"/>
              <a:gd name="connsiteY1" fmla="*/ 0 h 1547767"/>
              <a:gd name="connsiteX2" fmla="*/ 3676919 w 3676919"/>
              <a:gd name="connsiteY2" fmla="*/ 1547767 h 1547767"/>
              <a:gd name="connsiteX3" fmla="*/ 0 w 3676919"/>
              <a:gd name="connsiteY3" fmla="*/ 1547767 h 1547767"/>
              <a:gd name="connsiteX4" fmla="*/ 0 w 3676919"/>
              <a:gd name="connsiteY4" fmla="*/ 0 h 1547767"/>
              <a:gd name="connsiteX0" fmla="*/ 0 w 3676919"/>
              <a:gd name="connsiteY0" fmla="*/ 0 h 1547767"/>
              <a:gd name="connsiteX1" fmla="*/ 3676919 w 3676919"/>
              <a:gd name="connsiteY1" fmla="*/ 0 h 1547767"/>
              <a:gd name="connsiteX2" fmla="*/ 3676919 w 3676919"/>
              <a:gd name="connsiteY2" fmla="*/ 1534888 h 1547767"/>
              <a:gd name="connsiteX3" fmla="*/ 0 w 3676919"/>
              <a:gd name="connsiteY3" fmla="*/ 1547767 h 1547767"/>
              <a:gd name="connsiteX4" fmla="*/ 0 w 3676919"/>
              <a:gd name="connsiteY4" fmla="*/ 0 h 1547767"/>
              <a:gd name="connsiteX0" fmla="*/ 0 w 4552682"/>
              <a:gd name="connsiteY0" fmla="*/ 0 h 1547767"/>
              <a:gd name="connsiteX1" fmla="*/ 3676919 w 4552682"/>
              <a:gd name="connsiteY1" fmla="*/ 0 h 1547767"/>
              <a:gd name="connsiteX2" fmla="*/ 3676919 w 4552682"/>
              <a:gd name="connsiteY2" fmla="*/ 1534888 h 1547767"/>
              <a:gd name="connsiteX3" fmla="*/ 0 w 4552682"/>
              <a:gd name="connsiteY3" fmla="*/ 1547767 h 1547767"/>
              <a:gd name="connsiteX4" fmla="*/ 0 w 4552682"/>
              <a:gd name="connsiteY4" fmla="*/ 0 h 1547767"/>
              <a:gd name="connsiteX0" fmla="*/ 0 w 5724659"/>
              <a:gd name="connsiteY0" fmla="*/ 12879 h 1560646"/>
              <a:gd name="connsiteX1" fmla="*/ 5724659 w 5724659"/>
              <a:gd name="connsiteY1" fmla="*/ 0 h 1560646"/>
              <a:gd name="connsiteX2" fmla="*/ 3676919 w 5724659"/>
              <a:gd name="connsiteY2" fmla="*/ 1547767 h 1560646"/>
              <a:gd name="connsiteX3" fmla="*/ 0 w 5724659"/>
              <a:gd name="connsiteY3" fmla="*/ 1560646 h 1560646"/>
              <a:gd name="connsiteX4" fmla="*/ 0 w 5724659"/>
              <a:gd name="connsiteY4" fmla="*/ 12879 h 1560646"/>
              <a:gd name="connsiteX0" fmla="*/ 0 w 5724659"/>
              <a:gd name="connsiteY0" fmla="*/ 12879 h 1560646"/>
              <a:gd name="connsiteX1" fmla="*/ 5724659 w 5724659"/>
              <a:gd name="connsiteY1" fmla="*/ 0 h 1560646"/>
              <a:gd name="connsiteX2" fmla="*/ 3676919 w 5724659"/>
              <a:gd name="connsiteY2" fmla="*/ 1547767 h 1560646"/>
              <a:gd name="connsiteX3" fmla="*/ 0 w 5724659"/>
              <a:gd name="connsiteY3" fmla="*/ 1560646 h 1560646"/>
              <a:gd name="connsiteX4" fmla="*/ 0 w 5724659"/>
              <a:gd name="connsiteY4" fmla="*/ 12879 h 1560646"/>
              <a:gd name="connsiteX0" fmla="*/ 0 w 5724659"/>
              <a:gd name="connsiteY0" fmla="*/ 12879 h 1560646"/>
              <a:gd name="connsiteX1" fmla="*/ 5724659 w 5724659"/>
              <a:gd name="connsiteY1" fmla="*/ 0 h 1560646"/>
              <a:gd name="connsiteX2" fmla="*/ 3676919 w 5724659"/>
              <a:gd name="connsiteY2" fmla="*/ 1547767 h 1560646"/>
              <a:gd name="connsiteX3" fmla="*/ 5711780 w 5724659"/>
              <a:gd name="connsiteY3" fmla="*/ 697761 h 1560646"/>
              <a:gd name="connsiteX4" fmla="*/ 0 w 5724659"/>
              <a:gd name="connsiteY4" fmla="*/ 1560646 h 1560646"/>
              <a:gd name="connsiteX5" fmla="*/ 0 w 5724659"/>
              <a:gd name="connsiteY5" fmla="*/ 12879 h 1560646"/>
              <a:gd name="connsiteX0" fmla="*/ 0 w 5724659"/>
              <a:gd name="connsiteY0" fmla="*/ 12879 h 1573524"/>
              <a:gd name="connsiteX1" fmla="*/ 5724659 w 5724659"/>
              <a:gd name="connsiteY1" fmla="*/ 0 h 1573524"/>
              <a:gd name="connsiteX2" fmla="*/ 3676919 w 5724659"/>
              <a:gd name="connsiteY2" fmla="*/ 1547767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5673144 w 5724659"/>
              <a:gd name="connsiteY3" fmla="*/ 704201 h 1573524"/>
              <a:gd name="connsiteX4" fmla="*/ 3528811 w 5724659"/>
              <a:gd name="connsiteY4" fmla="*/ 1573524 h 1573524"/>
              <a:gd name="connsiteX5" fmla="*/ 0 w 5724659"/>
              <a:gd name="connsiteY5" fmla="*/ 1560646 h 1573524"/>
              <a:gd name="connsiteX6" fmla="*/ 0 w 5724659"/>
              <a:gd name="connsiteY6"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612524 w 5724659"/>
              <a:gd name="connsiteY3" fmla="*/ 948900 h 1573524"/>
              <a:gd name="connsiteX4" fmla="*/ 3528811 w 5724659"/>
              <a:gd name="connsiteY4" fmla="*/ 1573524 h 1573524"/>
              <a:gd name="connsiteX5" fmla="*/ 0 w 5724659"/>
              <a:gd name="connsiteY5" fmla="*/ 1560646 h 1573524"/>
              <a:gd name="connsiteX6" fmla="*/ 0 w 5724659"/>
              <a:gd name="connsiteY6" fmla="*/ 12879 h 1573524"/>
              <a:gd name="connsiteX0" fmla="*/ 0 w 6607105"/>
              <a:gd name="connsiteY0" fmla="*/ 12879 h 1573524"/>
              <a:gd name="connsiteX1" fmla="*/ 5724659 w 6607105"/>
              <a:gd name="connsiteY1" fmla="*/ 0 h 1573524"/>
              <a:gd name="connsiteX2" fmla="*/ 5698903 w 6607105"/>
              <a:gd name="connsiteY2" fmla="*/ 652685 h 1573524"/>
              <a:gd name="connsiteX3" fmla="*/ 3612524 w 6607105"/>
              <a:gd name="connsiteY3" fmla="*/ 948900 h 1573524"/>
              <a:gd name="connsiteX4" fmla="*/ 3528811 w 6607105"/>
              <a:gd name="connsiteY4" fmla="*/ 1573524 h 1573524"/>
              <a:gd name="connsiteX5" fmla="*/ 0 w 6607105"/>
              <a:gd name="connsiteY5" fmla="*/ 1560646 h 1573524"/>
              <a:gd name="connsiteX6" fmla="*/ 0 w 6607105"/>
              <a:gd name="connsiteY6" fmla="*/ 12879 h 1573524"/>
              <a:gd name="connsiteX0" fmla="*/ 0 w 6607105"/>
              <a:gd name="connsiteY0" fmla="*/ 12879 h 1573524"/>
              <a:gd name="connsiteX1" fmla="*/ 5724659 w 6607105"/>
              <a:gd name="connsiteY1" fmla="*/ 0 h 1573524"/>
              <a:gd name="connsiteX2" fmla="*/ 5698903 w 6607105"/>
              <a:gd name="connsiteY2" fmla="*/ 652685 h 1573524"/>
              <a:gd name="connsiteX3" fmla="*/ 3593205 w 6607105"/>
              <a:gd name="connsiteY3" fmla="*/ 672004 h 1573524"/>
              <a:gd name="connsiteX4" fmla="*/ 3528811 w 6607105"/>
              <a:gd name="connsiteY4" fmla="*/ 1573524 h 1573524"/>
              <a:gd name="connsiteX5" fmla="*/ 0 w 6607105"/>
              <a:gd name="connsiteY5" fmla="*/ 1560646 h 1573524"/>
              <a:gd name="connsiteX6" fmla="*/ 0 w 6607105"/>
              <a:gd name="connsiteY6" fmla="*/ 12879 h 1573524"/>
              <a:gd name="connsiteX0" fmla="*/ 0 w 5724659"/>
              <a:gd name="connsiteY0" fmla="*/ 12879 h 1573524"/>
              <a:gd name="connsiteX1" fmla="*/ 5724659 w 5724659"/>
              <a:gd name="connsiteY1" fmla="*/ 0 h 1573524"/>
              <a:gd name="connsiteX2" fmla="*/ 5698903 w 5724659"/>
              <a:gd name="connsiteY2" fmla="*/ 652685 h 1573524"/>
              <a:gd name="connsiteX3" fmla="*/ 3593205 w 5724659"/>
              <a:gd name="connsiteY3" fmla="*/ 672004 h 1573524"/>
              <a:gd name="connsiteX4" fmla="*/ 3528811 w 5724659"/>
              <a:gd name="connsiteY4" fmla="*/ 1573524 h 1573524"/>
              <a:gd name="connsiteX5" fmla="*/ 0 w 5724659"/>
              <a:gd name="connsiteY5" fmla="*/ 1560646 h 1573524"/>
              <a:gd name="connsiteX6" fmla="*/ 0 w 5724659"/>
              <a:gd name="connsiteY6" fmla="*/ 12879 h 1573524"/>
              <a:gd name="connsiteX0" fmla="*/ 0 w 5698903"/>
              <a:gd name="connsiteY0" fmla="*/ 19318 h 1579963"/>
              <a:gd name="connsiteX1" fmla="*/ 5692462 w 5698903"/>
              <a:gd name="connsiteY1" fmla="*/ 0 h 1579963"/>
              <a:gd name="connsiteX2" fmla="*/ 5698903 w 5698903"/>
              <a:gd name="connsiteY2" fmla="*/ 659124 h 1579963"/>
              <a:gd name="connsiteX3" fmla="*/ 3593205 w 5698903"/>
              <a:gd name="connsiteY3" fmla="*/ 678443 h 1579963"/>
              <a:gd name="connsiteX4" fmla="*/ 3528811 w 5698903"/>
              <a:gd name="connsiteY4" fmla="*/ 1579963 h 1579963"/>
              <a:gd name="connsiteX5" fmla="*/ 0 w 5698903"/>
              <a:gd name="connsiteY5" fmla="*/ 1567085 h 1579963"/>
              <a:gd name="connsiteX6" fmla="*/ 0 w 5698903"/>
              <a:gd name="connsiteY6" fmla="*/ 19318 h 1579963"/>
              <a:gd name="connsiteX0" fmla="*/ 0 w 5698903"/>
              <a:gd name="connsiteY0" fmla="*/ 19318 h 1592842"/>
              <a:gd name="connsiteX1" fmla="*/ 5692462 w 5698903"/>
              <a:gd name="connsiteY1" fmla="*/ 0 h 1592842"/>
              <a:gd name="connsiteX2" fmla="*/ 5698903 w 5698903"/>
              <a:gd name="connsiteY2" fmla="*/ 659124 h 1592842"/>
              <a:gd name="connsiteX3" fmla="*/ 3593205 w 5698903"/>
              <a:gd name="connsiteY3" fmla="*/ 678443 h 1592842"/>
              <a:gd name="connsiteX4" fmla="*/ 3631842 w 5698903"/>
              <a:gd name="connsiteY4" fmla="*/ 1592842 h 1592842"/>
              <a:gd name="connsiteX5" fmla="*/ 0 w 5698903"/>
              <a:gd name="connsiteY5" fmla="*/ 1567085 h 1592842"/>
              <a:gd name="connsiteX6" fmla="*/ 0 w 5698903"/>
              <a:gd name="connsiteY6" fmla="*/ 19318 h 1592842"/>
              <a:gd name="connsiteX0" fmla="*/ 0 w 5698903"/>
              <a:gd name="connsiteY0" fmla="*/ 19318 h 1592842"/>
              <a:gd name="connsiteX1" fmla="*/ 5692462 w 5698903"/>
              <a:gd name="connsiteY1" fmla="*/ 0 h 1592842"/>
              <a:gd name="connsiteX2" fmla="*/ 5698903 w 5698903"/>
              <a:gd name="connsiteY2" fmla="*/ 659124 h 1592842"/>
              <a:gd name="connsiteX3" fmla="*/ 3631842 w 5698903"/>
              <a:gd name="connsiteY3" fmla="*/ 672004 h 1592842"/>
              <a:gd name="connsiteX4" fmla="*/ 3631842 w 5698903"/>
              <a:gd name="connsiteY4" fmla="*/ 1592842 h 1592842"/>
              <a:gd name="connsiteX5" fmla="*/ 0 w 5698903"/>
              <a:gd name="connsiteY5" fmla="*/ 1567085 h 1592842"/>
              <a:gd name="connsiteX6" fmla="*/ 0 w 5698903"/>
              <a:gd name="connsiteY6" fmla="*/ 19318 h 1592842"/>
              <a:gd name="connsiteX0" fmla="*/ 0 w 5705343"/>
              <a:gd name="connsiteY0" fmla="*/ 0 h 1689434"/>
              <a:gd name="connsiteX1" fmla="*/ 5698902 w 5705343"/>
              <a:gd name="connsiteY1" fmla="*/ 96592 h 1689434"/>
              <a:gd name="connsiteX2" fmla="*/ 5705343 w 5705343"/>
              <a:gd name="connsiteY2" fmla="*/ 755716 h 1689434"/>
              <a:gd name="connsiteX3" fmla="*/ 3638282 w 5705343"/>
              <a:gd name="connsiteY3" fmla="*/ 768596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638282 w 5705343"/>
              <a:gd name="connsiteY3" fmla="*/ 768596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710007 w 5705343"/>
              <a:gd name="connsiteY3" fmla="*/ 762205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710007 w 5705343"/>
              <a:gd name="connsiteY3" fmla="*/ 762205 h 1689434"/>
              <a:gd name="connsiteX4" fmla="*/ 3703487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85771 w 5705343"/>
              <a:gd name="connsiteY1" fmla="*/ 19366 h 1689434"/>
              <a:gd name="connsiteX2" fmla="*/ 5705343 w 5705343"/>
              <a:gd name="connsiteY2" fmla="*/ 755716 h 1689434"/>
              <a:gd name="connsiteX3" fmla="*/ 3710007 w 5705343"/>
              <a:gd name="connsiteY3" fmla="*/ 762205 h 1689434"/>
              <a:gd name="connsiteX4" fmla="*/ 3703487 w 5705343"/>
              <a:gd name="connsiteY4" fmla="*/ 1689434 h 1689434"/>
              <a:gd name="connsiteX5" fmla="*/ 6440 w 5705343"/>
              <a:gd name="connsiteY5" fmla="*/ 1663677 h 1689434"/>
              <a:gd name="connsiteX6" fmla="*/ 0 w 5705343"/>
              <a:gd name="connsiteY6" fmla="*/ 0 h 1689434"/>
              <a:gd name="connsiteX0" fmla="*/ 0 w 5792193"/>
              <a:gd name="connsiteY0" fmla="*/ 0 h 1689434"/>
              <a:gd name="connsiteX1" fmla="*/ 5685771 w 5792193"/>
              <a:gd name="connsiteY1" fmla="*/ 19366 h 1689434"/>
              <a:gd name="connsiteX2" fmla="*/ 3710007 w 5792193"/>
              <a:gd name="connsiteY2" fmla="*/ 762205 h 1689434"/>
              <a:gd name="connsiteX3" fmla="*/ 3703487 w 5792193"/>
              <a:gd name="connsiteY3" fmla="*/ 1689434 h 1689434"/>
              <a:gd name="connsiteX4" fmla="*/ 6440 w 5792193"/>
              <a:gd name="connsiteY4" fmla="*/ 1663677 h 1689434"/>
              <a:gd name="connsiteX5" fmla="*/ 0 w 5792193"/>
              <a:gd name="connsiteY5" fmla="*/ 0 h 1689434"/>
              <a:gd name="connsiteX0" fmla="*/ 0 w 3710007"/>
              <a:gd name="connsiteY0" fmla="*/ 0 h 1689434"/>
              <a:gd name="connsiteX1" fmla="*/ 3710007 w 3710007"/>
              <a:gd name="connsiteY1" fmla="*/ 762205 h 1689434"/>
              <a:gd name="connsiteX2" fmla="*/ 3703487 w 3710007"/>
              <a:gd name="connsiteY2" fmla="*/ 1689434 h 1689434"/>
              <a:gd name="connsiteX3" fmla="*/ 6440 w 3710007"/>
              <a:gd name="connsiteY3" fmla="*/ 1663677 h 1689434"/>
              <a:gd name="connsiteX4" fmla="*/ 0 w 3710007"/>
              <a:gd name="connsiteY4" fmla="*/ 0 h 1689434"/>
              <a:gd name="connsiteX0" fmla="*/ 0 w 3703773"/>
              <a:gd name="connsiteY0" fmla="*/ 0 h 1689434"/>
              <a:gd name="connsiteX1" fmla="*/ 3696876 w 3703773"/>
              <a:gd name="connsiteY1" fmla="*/ 25633 h 1689434"/>
              <a:gd name="connsiteX2" fmla="*/ 3703487 w 3703773"/>
              <a:gd name="connsiteY2" fmla="*/ 1689434 h 1689434"/>
              <a:gd name="connsiteX3" fmla="*/ 6440 w 3703773"/>
              <a:gd name="connsiteY3" fmla="*/ 1663677 h 1689434"/>
              <a:gd name="connsiteX4" fmla="*/ 0 w 3703773"/>
              <a:gd name="connsiteY4" fmla="*/ 0 h 1689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3773" h="1689434">
                <a:moveTo>
                  <a:pt x="0" y="0"/>
                </a:moveTo>
                <a:lnTo>
                  <a:pt x="3696876" y="25633"/>
                </a:lnTo>
                <a:cubicBezTo>
                  <a:pt x="3694703" y="334709"/>
                  <a:pt x="3705660" y="1380358"/>
                  <a:pt x="3703487" y="1689434"/>
                </a:cubicBezTo>
                <a:lnTo>
                  <a:pt x="6440" y="1663677"/>
                </a:lnTo>
                <a:cubicBezTo>
                  <a:pt x="4293" y="1109118"/>
                  <a:pt x="2147" y="554559"/>
                  <a:pt x="0" y="0"/>
                </a:cubicBezTo>
                <a:close/>
              </a:path>
            </a:pathLst>
          </a:custGeom>
          <a:solidFill>
            <a:schemeClr val="accent2">
              <a:lumMod val="10000"/>
              <a:lumOff val="90000"/>
              <a:alpha val="80000"/>
            </a:schemeClr>
          </a:solidFill>
          <a:ln w="28575" cap="flat" cmpd="sng" algn="ctr">
            <a:solidFill>
              <a:schemeClr val="tx1"/>
            </a:solidFill>
            <a:prstDash val="dash"/>
          </a:ln>
          <a:effectLst/>
        </p:spPr>
        <p:txBody>
          <a:bodyPr lIns="91396" tIns="45699" rIns="91396" bIns="45699" rtlCol="0" anchor="t"/>
          <a:lstStyle/>
          <a:p>
            <a:pPr defTabSz="456936" eaLnBrk="1" fontAlgn="auto" hangingPunct="1">
              <a:spcBef>
                <a:spcPts val="0"/>
              </a:spcBef>
              <a:spcAft>
                <a:spcPts val="0"/>
              </a:spcAft>
              <a:defRPr/>
            </a:pPr>
            <a:r>
              <a:rPr lang="en-US" sz="1400" kern="0">
                <a:solidFill>
                  <a:schemeClr val="accent2"/>
                </a:solidFill>
                <a:latin typeface="+mn-lt"/>
              </a:rPr>
              <a:t>User Application Code</a:t>
            </a:r>
            <a:endParaRPr lang="en-GB" sz="1400" kern="0">
              <a:solidFill>
                <a:schemeClr val="accent2"/>
              </a:solidFill>
              <a:latin typeface="+mn-lt"/>
            </a:endParaRPr>
          </a:p>
        </p:txBody>
      </p:sp>
      <p:sp>
        <p:nvSpPr>
          <p:cNvPr id="48" name="Rectangle 47">
            <a:extLst>
              <a:ext uri="{FF2B5EF4-FFF2-40B4-BE49-F238E27FC236}">
                <a16:creationId xmlns:a16="http://schemas.microsoft.com/office/drawing/2014/main" id="{21C10648-B07A-45B0-9DD1-E144E93D19A5}"/>
              </a:ext>
            </a:extLst>
          </p:cNvPr>
          <p:cNvSpPr/>
          <p:nvPr/>
        </p:nvSpPr>
        <p:spPr>
          <a:xfrm>
            <a:off x="7127778" y="3348119"/>
            <a:ext cx="4320147" cy="1124872"/>
          </a:xfrm>
          <a:prstGeom prst="rect">
            <a:avLst/>
          </a:prstGeom>
          <a:solidFill>
            <a:schemeClr val="accent1">
              <a:lumMod val="40000"/>
              <a:lumOff val="60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r>
              <a:rPr lang="en-US" sz="1600" kern="0">
                <a:solidFill>
                  <a:srgbClr val="000000"/>
                </a:solidFill>
                <a:latin typeface="+mn-lt"/>
              </a:rPr>
              <a:t>Target</a:t>
            </a:r>
            <a:br>
              <a:rPr lang="en-US" sz="1600" kern="0">
                <a:solidFill>
                  <a:srgbClr val="000000"/>
                </a:solidFill>
                <a:latin typeface="+mn-lt"/>
              </a:rPr>
            </a:br>
            <a:r>
              <a:rPr lang="en-US" sz="1600" kern="0">
                <a:solidFill>
                  <a:srgbClr val="000000"/>
                </a:solidFill>
                <a:latin typeface="+mn-lt"/>
              </a:rPr>
              <a:t>Layer</a:t>
            </a:r>
            <a:endParaRPr lang="en-GB" sz="1600" kern="0">
              <a:solidFill>
                <a:srgbClr val="000000"/>
              </a:solidFill>
              <a:latin typeface="+mn-lt"/>
            </a:endParaRPr>
          </a:p>
        </p:txBody>
      </p:sp>
      <p:sp>
        <p:nvSpPr>
          <p:cNvPr id="54" name="Rectangle 53">
            <a:extLst>
              <a:ext uri="{FF2B5EF4-FFF2-40B4-BE49-F238E27FC236}">
                <a16:creationId xmlns:a16="http://schemas.microsoft.com/office/drawing/2014/main" id="{6ECC9839-F281-43A8-B7C0-6837DA108860}"/>
              </a:ext>
            </a:extLst>
          </p:cNvPr>
          <p:cNvSpPr/>
          <p:nvPr/>
        </p:nvSpPr>
        <p:spPr>
          <a:xfrm>
            <a:off x="7923291" y="2383538"/>
            <a:ext cx="1645062" cy="623901"/>
          </a:xfrm>
          <a:prstGeom prst="rect">
            <a:avLst/>
          </a:prstGeom>
          <a:solidFill>
            <a:schemeClr val="accent1">
              <a:lumMod val="75000"/>
            </a:schemeClr>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r>
              <a:rPr lang="en-US" sz="1400" kern="0">
                <a:solidFill>
                  <a:srgbClr val="FFFFFF"/>
                </a:solidFill>
                <a:latin typeface="+mn-lt"/>
              </a:rPr>
              <a:t>IoT/ML Software Platform</a:t>
            </a:r>
          </a:p>
        </p:txBody>
      </p:sp>
      <p:sp>
        <p:nvSpPr>
          <p:cNvPr id="55" name="Rectangle 54">
            <a:extLst>
              <a:ext uri="{FF2B5EF4-FFF2-40B4-BE49-F238E27FC236}">
                <a16:creationId xmlns:a16="http://schemas.microsoft.com/office/drawing/2014/main" id="{9633B4D3-C7B0-4A21-B82D-04D7D241C169}"/>
              </a:ext>
            </a:extLst>
          </p:cNvPr>
          <p:cNvSpPr/>
          <p:nvPr/>
        </p:nvSpPr>
        <p:spPr>
          <a:xfrm>
            <a:off x="7633356" y="5471914"/>
            <a:ext cx="1060086" cy="299356"/>
          </a:xfrm>
          <a:prstGeom prst="rect">
            <a:avLst/>
          </a:prstGeom>
          <a:solidFill>
            <a:srgbClr val="58595B"/>
          </a:solidFill>
          <a:ln w="9525" cap="flat" cmpd="sng" algn="ctr">
            <a:noFill/>
            <a:prstDash val="solid"/>
          </a:ln>
          <a:effectLst/>
        </p:spPr>
        <p:txBody>
          <a:bodyPr lIns="91396" tIns="45699" rIns="91396" bIns="45699" numCol="1" rtlCol="0" anchor="t"/>
          <a:lstStyle/>
          <a:p>
            <a:pPr defTabSz="456936" eaLnBrk="1" fontAlgn="auto" hangingPunct="1">
              <a:spcBef>
                <a:spcPts val="0"/>
              </a:spcBef>
              <a:spcAft>
                <a:spcPts val="0"/>
              </a:spcAft>
              <a:defRPr/>
            </a:pPr>
            <a:r>
              <a:rPr lang="en-US" sz="1200" kern="0">
                <a:solidFill>
                  <a:srgbClr val="FFFFFF"/>
                </a:solidFill>
                <a:latin typeface="+mn-lt"/>
              </a:rPr>
              <a:t>Event Log file</a:t>
            </a:r>
            <a:endParaRPr lang="en-US" sz="1400" kern="0">
              <a:solidFill>
                <a:srgbClr val="FFFFFF"/>
              </a:solidFill>
              <a:latin typeface="+mn-lt"/>
            </a:endParaRPr>
          </a:p>
        </p:txBody>
      </p:sp>
      <p:sp>
        <p:nvSpPr>
          <p:cNvPr id="56" name="Rectangle 55">
            <a:extLst>
              <a:ext uri="{FF2B5EF4-FFF2-40B4-BE49-F238E27FC236}">
                <a16:creationId xmlns:a16="http://schemas.microsoft.com/office/drawing/2014/main" id="{ED67CA96-B941-403E-9ADC-A35569AB7406}"/>
              </a:ext>
            </a:extLst>
          </p:cNvPr>
          <p:cNvSpPr/>
          <p:nvPr/>
        </p:nvSpPr>
        <p:spPr>
          <a:xfrm>
            <a:off x="7911449" y="3925713"/>
            <a:ext cx="3414159" cy="445644"/>
          </a:xfrm>
          <a:prstGeom prst="rect">
            <a:avLst/>
          </a:prstGeom>
          <a:solidFill>
            <a:srgbClr val="F68A33"/>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r>
              <a:rPr lang="en-US" sz="1600" kern="0">
                <a:solidFill>
                  <a:srgbClr val="FFFFFF"/>
                </a:solidFill>
                <a:latin typeface="+mn-lt"/>
              </a:rPr>
              <a:t>Device SDK with configuration</a:t>
            </a:r>
          </a:p>
        </p:txBody>
      </p:sp>
      <p:sp>
        <p:nvSpPr>
          <p:cNvPr id="58" name="Rectangle 57">
            <a:extLst>
              <a:ext uri="{FF2B5EF4-FFF2-40B4-BE49-F238E27FC236}">
                <a16:creationId xmlns:a16="http://schemas.microsoft.com/office/drawing/2014/main" id="{6C1230B8-E203-4042-AF55-D32483C9D066}"/>
              </a:ext>
            </a:extLst>
          </p:cNvPr>
          <p:cNvSpPr/>
          <p:nvPr/>
        </p:nvSpPr>
        <p:spPr>
          <a:xfrm>
            <a:off x="9704404" y="2394268"/>
            <a:ext cx="1645062" cy="623901"/>
          </a:xfrm>
          <a:prstGeom prst="rect">
            <a:avLst/>
          </a:prstGeom>
          <a:solidFill>
            <a:schemeClr val="accent1">
              <a:lumMod val="75000"/>
            </a:schemeClr>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r>
              <a:rPr lang="en-US" sz="1400" kern="0">
                <a:solidFill>
                  <a:srgbClr val="FFFFFF"/>
                </a:solidFill>
                <a:latin typeface="+mn-lt"/>
              </a:rPr>
              <a:t>More Software</a:t>
            </a:r>
          </a:p>
        </p:txBody>
      </p:sp>
      <p:sp>
        <p:nvSpPr>
          <p:cNvPr id="59" name="Rectangle 58">
            <a:extLst>
              <a:ext uri="{FF2B5EF4-FFF2-40B4-BE49-F238E27FC236}">
                <a16:creationId xmlns:a16="http://schemas.microsoft.com/office/drawing/2014/main" id="{8FD327DA-C1EC-427F-A747-4D6C08D693EF}"/>
              </a:ext>
            </a:extLst>
          </p:cNvPr>
          <p:cNvSpPr/>
          <p:nvPr/>
        </p:nvSpPr>
        <p:spPr>
          <a:xfrm>
            <a:off x="9688769" y="3416125"/>
            <a:ext cx="1645062" cy="445644"/>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600" kern="0">
                <a:solidFill>
                  <a:srgbClr val="FFFFFF"/>
                </a:solidFill>
                <a:latin typeface="+mn-lt"/>
              </a:rPr>
              <a:t>More Drivers</a:t>
            </a:r>
            <a:endParaRPr lang="en-US" sz="1300" kern="0">
              <a:solidFill>
                <a:srgbClr val="FFFFFF"/>
              </a:solidFill>
              <a:latin typeface="+mn-lt"/>
            </a:endParaRPr>
          </a:p>
        </p:txBody>
      </p:sp>
      <p:sp>
        <p:nvSpPr>
          <p:cNvPr id="60" name="Down Arrow 26">
            <a:extLst>
              <a:ext uri="{FF2B5EF4-FFF2-40B4-BE49-F238E27FC236}">
                <a16:creationId xmlns:a16="http://schemas.microsoft.com/office/drawing/2014/main" id="{A0F2D0B9-502B-4EAF-BA37-DE49DDC1ACA9}"/>
              </a:ext>
            </a:extLst>
          </p:cNvPr>
          <p:cNvSpPr/>
          <p:nvPr/>
        </p:nvSpPr>
        <p:spPr>
          <a:xfrm flipV="1">
            <a:off x="2349223" y="2985866"/>
            <a:ext cx="550606" cy="420602"/>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40" name="Rectangle 39">
            <a:extLst>
              <a:ext uri="{FF2B5EF4-FFF2-40B4-BE49-F238E27FC236}">
                <a16:creationId xmlns:a16="http://schemas.microsoft.com/office/drawing/2014/main" id="{E68A9320-69F2-4B09-9EC9-F66B43DA0FD1}"/>
              </a:ext>
            </a:extLst>
          </p:cNvPr>
          <p:cNvSpPr/>
          <p:nvPr/>
        </p:nvSpPr>
        <p:spPr>
          <a:xfrm>
            <a:off x="1268179" y="3396016"/>
            <a:ext cx="1645062" cy="445644"/>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600" kern="0">
                <a:solidFill>
                  <a:srgbClr val="FFFFFF"/>
                </a:solidFill>
                <a:latin typeface="+mn-lt"/>
              </a:rPr>
              <a:t>Virtual Drivers</a:t>
            </a:r>
            <a:endParaRPr lang="en-US" sz="1300" kern="0">
              <a:solidFill>
                <a:srgbClr val="FFFFFF"/>
              </a:solidFill>
              <a:latin typeface="+mn-lt"/>
            </a:endParaRPr>
          </a:p>
        </p:txBody>
      </p:sp>
      <p:sp>
        <p:nvSpPr>
          <p:cNvPr id="61" name="Down Arrow 26">
            <a:extLst>
              <a:ext uri="{FF2B5EF4-FFF2-40B4-BE49-F238E27FC236}">
                <a16:creationId xmlns:a16="http://schemas.microsoft.com/office/drawing/2014/main" id="{323A53A6-1F08-4F2E-A8CC-6ACFFACD7500}"/>
              </a:ext>
            </a:extLst>
          </p:cNvPr>
          <p:cNvSpPr/>
          <p:nvPr/>
        </p:nvSpPr>
        <p:spPr>
          <a:xfrm flipV="1">
            <a:off x="5443640" y="2989086"/>
            <a:ext cx="550606" cy="420602"/>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42" name="Rectangle 41">
            <a:extLst>
              <a:ext uri="{FF2B5EF4-FFF2-40B4-BE49-F238E27FC236}">
                <a16:creationId xmlns:a16="http://schemas.microsoft.com/office/drawing/2014/main" id="{CB19A037-6D86-405B-AF5F-CE7A837BA992}"/>
              </a:ext>
            </a:extLst>
          </p:cNvPr>
          <p:cNvSpPr/>
          <p:nvPr/>
        </p:nvSpPr>
        <p:spPr>
          <a:xfrm>
            <a:off x="4375471" y="3400307"/>
            <a:ext cx="1645062" cy="445644"/>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600" kern="0">
                <a:solidFill>
                  <a:srgbClr val="FFFFFF"/>
                </a:solidFill>
                <a:latin typeface="+mn-lt"/>
              </a:rPr>
              <a:t>HW Drivers</a:t>
            </a:r>
            <a:endParaRPr lang="en-US" sz="1300" kern="0">
              <a:solidFill>
                <a:srgbClr val="FFFFFF"/>
              </a:solidFill>
              <a:latin typeface="+mn-lt"/>
            </a:endParaRPr>
          </a:p>
        </p:txBody>
      </p:sp>
      <p:sp>
        <p:nvSpPr>
          <p:cNvPr id="62" name="Down Arrow 26">
            <a:extLst>
              <a:ext uri="{FF2B5EF4-FFF2-40B4-BE49-F238E27FC236}">
                <a16:creationId xmlns:a16="http://schemas.microsoft.com/office/drawing/2014/main" id="{78FA4569-108D-4DA7-95F2-9459F5366872}"/>
              </a:ext>
            </a:extLst>
          </p:cNvPr>
          <p:cNvSpPr/>
          <p:nvPr/>
        </p:nvSpPr>
        <p:spPr>
          <a:xfrm flipV="1">
            <a:off x="5447932" y="4358095"/>
            <a:ext cx="550606" cy="368026"/>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38" name="Rectangle 37">
            <a:extLst>
              <a:ext uri="{FF2B5EF4-FFF2-40B4-BE49-F238E27FC236}">
                <a16:creationId xmlns:a16="http://schemas.microsoft.com/office/drawing/2014/main" id="{154115F1-C80D-4CF9-AFCE-230EAEB24C8B}"/>
              </a:ext>
            </a:extLst>
          </p:cNvPr>
          <p:cNvSpPr/>
          <p:nvPr/>
        </p:nvSpPr>
        <p:spPr>
          <a:xfrm>
            <a:off x="5111014" y="4639293"/>
            <a:ext cx="1248926" cy="599784"/>
          </a:xfrm>
          <a:prstGeom prst="rect">
            <a:avLst/>
          </a:prstGeom>
          <a:solidFill>
            <a:srgbClr val="58595B"/>
          </a:solidFill>
          <a:ln w="9525" cap="flat" cmpd="sng" algn="ctr">
            <a:noFill/>
            <a:prstDash val="solid"/>
          </a:ln>
          <a:effectLst/>
        </p:spPr>
        <p:txBody>
          <a:bodyPr lIns="91396" tIns="45699" rIns="91396" bIns="45699" numCol="1" rtlCol="0" anchor="t"/>
          <a:lstStyle/>
          <a:p>
            <a:pPr defTabSz="456936" eaLnBrk="1" fontAlgn="auto" hangingPunct="1">
              <a:spcBef>
                <a:spcPts val="0"/>
              </a:spcBef>
              <a:spcAft>
                <a:spcPts val="0"/>
              </a:spcAft>
              <a:defRPr/>
            </a:pPr>
            <a:r>
              <a:rPr lang="en-US" sz="1200" kern="0">
                <a:solidFill>
                  <a:srgbClr val="FFFFFF"/>
                </a:solidFill>
                <a:latin typeface="+mn-lt"/>
              </a:rPr>
              <a:t>Real I/O via test equipment</a:t>
            </a:r>
            <a:endParaRPr lang="en-US" sz="1400" kern="0">
              <a:solidFill>
                <a:srgbClr val="FFFFFF"/>
              </a:solidFill>
              <a:latin typeface="+mn-lt"/>
            </a:endParaRPr>
          </a:p>
        </p:txBody>
      </p:sp>
      <p:sp>
        <p:nvSpPr>
          <p:cNvPr id="69" name="Down Arrow 26">
            <a:extLst>
              <a:ext uri="{FF2B5EF4-FFF2-40B4-BE49-F238E27FC236}">
                <a16:creationId xmlns:a16="http://schemas.microsoft.com/office/drawing/2014/main" id="{24A5430A-19C7-440E-8828-9C09D907B757}"/>
              </a:ext>
            </a:extLst>
          </p:cNvPr>
          <p:cNvSpPr/>
          <p:nvPr/>
        </p:nvSpPr>
        <p:spPr>
          <a:xfrm flipV="1">
            <a:off x="8924323" y="3008398"/>
            <a:ext cx="550606" cy="420602"/>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73" name="Down Arrow 26">
            <a:extLst>
              <a:ext uri="{FF2B5EF4-FFF2-40B4-BE49-F238E27FC236}">
                <a16:creationId xmlns:a16="http://schemas.microsoft.com/office/drawing/2014/main" id="{72C96718-5402-4EB8-BB26-3218AFE2C5BD}"/>
              </a:ext>
            </a:extLst>
          </p:cNvPr>
          <p:cNvSpPr/>
          <p:nvPr/>
        </p:nvSpPr>
        <p:spPr>
          <a:xfrm flipV="1">
            <a:off x="8928614" y="4371057"/>
            <a:ext cx="550606" cy="368026"/>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49" name="Rectangle 48">
            <a:extLst>
              <a:ext uri="{FF2B5EF4-FFF2-40B4-BE49-F238E27FC236}">
                <a16:creationId xmlns:a16="http://schemas.microsoft.com/office/drawing/2014/main" id="{BE201CEC-018B-4522-931B-7FCCF046ABC2}"/>
              </a:ext>
            </a:extLst>
          </p:cNvPr>
          <p:cNvSpPr/>
          <p:nvPr/>
        </p:nvSpPr>
        <p:spPr>
          <a:xfrm>
            <a:off x="8649636" y="4656460"/>
            <a:ext cx="1248926" cy="599784"/>
          </a:xfrm>
          <a:prstGeom prst="rect">
            <a:avLst/>
          </a:prstGeom>
          <a:solidFill>
            <a:srgbClr val="58595B"/>
          </a:solidFill>
          <a:ln w="9525" cap="flat" cmpd="sng" algn="ctr">
            <a:noFill/>
            <a:prstDash val="solid"/>
          </a:ln>
          <a:effectLst/>
        </p:spPr>
        <p:txBody>
          <a:bodyPr lIns="91396" tIns="45699" rIns="91396" bIns="45699" numCol="1" rtlCol="0" anchor="t"/>
          <a:lstStyle/>
          <a:p>
            <a:pPr defTabSz="456936" eaLnBrk="1" fontAlgn="auto" hangingPunct="1">
              <a:spcBef>
                <a:spcPts val="0"/>
              </a:spcBef>
              <a:spcAft>
                <a:spcPts val="0"/>
              </a:spcAft>
              <a:defRPr/>
            </a:pPr>
            <a:r>
              <a:rPr lang="en-US" sz="1200" kern="0">
                <a:solidFill>
                  <a:srgbClr val="FFFFFF"/>
                </a:solidFill>
                <a:latin typeface="+mn-lt"/>
              </a:rPr>
              <a:t>Real I/O via </a:t>
            </a:r>
            <a:br>
              <a:rPr lang="en-US" sz="1200" kern="0">
                <a:solidFill>
                  <a:srgbClr val="FFFFFF"/>
                </a:solidFill>
                <a:latin typeface="+mn-lt"/>
              </a:rPr>
            </a:br>
            <a:r>
              <a:rPr lang="en-US" sz="1200" kern="0">
                <a:solidFill>
                  <a:srgbClr val="FFFFFF"/>
                </a:solidFill>
                <a:latin typeface="+mn-lt"/>
              </a:rPr>
              <a:t>user peripherals</a:t>
            </a:r>
            <a:endParaRPr lang="en-US" sz="1400" kern="0">
              <a:solidFill>
                <a:srgbClr val="FFFFFF"/>
              </a:solidFill>
              <a:latin typeface="+mn-lt"/>
            </a:endParaRPr>
          </a:p>
        </p:txBody>
      </p:sp>
      <p:sp>
        <p:nvSpPr>
          <p:cNvPr id="52" name="Rectangle 51">
            <a:extLst>
              <a:ext uri="{FF2B5EF4-FFF2-40B4-BE49-F238E27FC236}">
                <a16:creationId xmlns:a16="http://schemas.microsoft.com/office/drawing/2014/main" id="{48EC2F1A-B484-4E6A-BEF8-56E4F520752E}"/>
              </a:ext>
            </a:extLst>
          </p:cNvPr>
          <p:cNvSpPr/>
          <p:nvPr/>
        </p:nvSpPr>
        <p:spPr>
          <a:xfrm>
            <a:off x="7914093" y="3417475"/>
            <a:ext cx="1645062" cy="445644"/>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600" kern="0">
                <a:solidFill>
                  <a:srgbClr val="FFFFFF"/>
                </a:solidFill>
                <a:latin typeface="+mn-lt"/>
              </a:rPr>
              <a:t>HW Drivers</a:t>
            </a:r>
            <a:endParaRPr lang="en-US" sz="1300" kern="0">
              <a:solidFill>
                <a:srgbClr val="FFFFFF"/>
              </a:solidFill>
              <a:latin typeface="+mn-lt"/>
            </a:endParaRPr>
          </a:p>
        </p:txBody>
      </p:sp>
      <p:sp>
        <p:nvSpPr>
          <p:cNvPr id="3" name="TextBox 2">
            <a:extLst>
              <a:ext uri="{FF2B5EF4-FFF2-40B4-BE49-F238E27FC236}">
                <a16:creationId xmlns:a16="http://schemas.microsoft.com/office/drawing/2014/main" id="{5AD9F1E1-C880-4201-B5C3-541DAF9AC2B2}"/>
              </a:ext>
            </a:extLst>
          </p:cNvPr>
          <p:cNvSpPr txBox="1"/>
          <p:nvPr/>
        </p:nvSpPr>
        <p:spPr>
          <a:xfrm>
            <a:off x="480890" y="1211193"/>
            <a:ext cx="5816829" cy="193849"/>
          </a:xfrm>
          <a:prstGeom prst="rect">
            <a:avLst/>
          </a:prstGeom>
          <a:solidFill>
            <a:schemeClr val="bg1">
              <a:lumMod val="95000"/>
            </a:schemeClr>
          </a:solidFill>
        </p:spPr>
        <p:txBody>
          <a:bodyPr wrap="square" lIns="0" tIns="0" rIns="0" bIns="0" rtlCol="0">
            <a:spAutoFit/>
          </a:bodyPr>
          <a:lstStyle/>
          <a:p>
            <a:pPr algn="ctr" defTabSz="914126" eaLnBrk="1" hangingPunct="1">
              <a:lnSpc>
                <a:spcPct val="90000"/>
              </a:lnSpc>
              <a:spcBef>
                <a:spcPts val="0"/>
              </a:spcBef>
              <a:spcAft>
                <a:spcPts val="600"/>
              </a:spcAft>
            </a:pPr>
            <a:r>
              <a:rPr lang="en-US" sz="1400">
                <a:solidFill>
                  <a:schemeClr val="tx2"/>
                </a:solidFill>
                <a:latin typeface="+mn-lt"/>
                <a:ea typeface="+mn-ea"/>
              </a:rPr>
              <a:t>Unit &amp; Integration Testing on Virtual Hardware or Physical Hardware Boards</a:t>
            </a:r>
            <a:endParaRPr lang="en-GB" sz="1400">
              <a:solidFill>
                <a:schemeClr val="tx2"/>
              </a:solidFill>
              <a:latin typeface="+mn-lt"/>
              <a:ea typeface="+mn-ea"/>
            </a:endParaRPr>
          </a:p>
        </p:txBody>
      </p:sp>
      <p:sp>
        <p:nvSpPr>
          <p:cNvPr id="74" name="TextBox 73">
            <a:extLst>
              <a:ext uri="{FF2B5EF4-FFF2-40B4-BE49-F238E27FC236}">
                <a16:creationId xmlns:a16="http://schemas.microsoft.com/office/drawing/2014/main" id="{DF5377C6-2C92-4C75-A091-234F4C553784}"/>
              </a:ext>
            </a:extLst>
          </p:cNvPr>
          <p:cNvSpPr txBox="1"/>
          <p:nvPr/>
        </p:nvSpPr>
        <p:spPr>
          <a:xfrm>
            <a:off x="6922942" y="1221922"/>
            <a:ext cx="4608675" cy="193849"/>
          </a:xfrm>
          <a:prstGeom prst="rect">
            <a:avLst/>
          </a:prstGeom>
          <a:solidFill>
            <a:schemeClr val="bg1">
              <a:lumMod val="95000"/>
            </a:schemeClr>
          </a:solidFill>
        </p:spPr>
        <p:txBody>
          <a:bodyPr wrap="square" lIns="0" tIns="0" rIns="0" bIns="0" rtlCol="0">
            <a:spAutoFit/>
          </a:bodyPr>
          <a:lstStyle/>
          <a:p>
            <a:pPr algn="ctr" defTabSz="914126" eaLnBrk="1" hangingPunct="1">
              <a:lnSpc>
                <a:spcPct val="90000"/>
              </a:lnSpc>
              <a:spcBef>
                <a:spcPts val="0"/>
              </a:spcBef>
              <a:spcAft>
                <a:spcPts val="600"/>
              </a:spcAft>
            </a:pPr>
            <a:r>
              <a:rPr lang="en-US" sz="1400">
                <a:solidFill>
                  <a:schemeClr val="tx2"/>
                </a:solidFill>
                <a:latin typeface="+mn-lt"/>
                <a:ea typeface="+mn-ea"/>
              </a:rPr>
              <a:t>Deployment and System Testing on Production Hardware</a:t>
            </a:r>
            <a:endParaRPr lang="en-GB" sz="1400">
              <a:solidFill>
                <a:schemeClr val="tx2"/>
              </a:solidFill>
              <a:latin typeface="+mn-lt"/>
              <a:ea typeface="+mn-ea"/>
            </a:endParaRPr>
          </a:p>
        </p:txBody>
      </p:sp>
      <p:sp>
        <p:nvSpPr>
          <p:cNvPr id="75" name="TextBox 74">
            <a:extLst>
              <a:ext uri="{FF2B5EF4-FFF2-40B4-BE49-F238E27FC236}">
                <a16:creationId xmlns:a16="http://schemas.microsoft.com/office/drawing/2014/main" id="{D1E74628-B277-4265-ABC1-B22C9F02215C}"/>
              </a:ext>
            </a:extLst>
          </p:cNvPr>
          <p:cNvSpPr txBox="1"/>
          <p:nvPr/>
        </p:nvSpPr>
        <p:spPr>
          <a:xfrm>
            <a:off x="480889" y="5951476"/>
            <a:ext cx="8883368" cy="193899"/>
          </a:xfrm>
          <a:prstGeom prst="rect">
            <a:avLst/>
          </a:prstGeom>
          <a:noFill/>
        </p:spPr>
        <p:txBody>
          <a:bodyPr wrap="square" lIns="0" tIns="0" rIns="0" bIns="0" rtlCol="0">
            <a:spAutoFit/>
          </a:bodyPr>
          <a:lstStyle/>
          <a:p>
            <a:pPr algn="ctr" defTabSz="914126" eaLnBrk="1" hangingPunct="1">
              <a:lnSpc>
                <a:spcPct val="90000"/>
              </a:lnSpc>
              <a:spcBef>
                <a:spcPts val="0"/>
              </a:spcBef>
              <a:spcAft>
                <a:spcPts val="600"/>
              </a:spcAft>
            </a:pPr>
            <a:r>
              <a:rPr lang="en-US" sz="1400">
                <a:solidFill>
                  <a:schemeClr val="tx2"/>
                </a:solidFill>
                <a:latin typeface="+mn-lt"/>
                <a:ea typeface="+mn-ea"/>
              </a:rPr>
              <a:t>Essentially the same event logs are generated across the different deployments. This ensures correctness.</a:t>
            </a:r>
            <a:endParaRPr lang="en-US" sz="1400" i="1">
              <a:solidFill>
                <a:schemeClr val="tx2"/>
              </a:solidFill>
              <a:latin typeface="+mn-lt"/>
              <a:ea typeface="+mn-ea"/>
            </a:endParaRPr>
          </a:p>
        </p:txBody>
      </p:sp>
      <p:sp>
        <p:nvSpPr>
          <p:cNvPr id="27" name="Rectangle 26">
            <a:extLst>
              <a:ext uri="{FF2B5EF4-FFF2-40B4-BE49-F238E27FC236}">
                <a16:creationId xmlns:a16="http://schemas.microsoft.com/office/drawing/2014/main" id="{B5AA21C1-2259-49A4-81EC-B41EA89DA738}"/>
              </a:ext>
            </a:extLst>
          </p:cNvPr>
          <p:cNvSpPr/>
          <p:nvPr/>
        </p:nvSpPr>
        <p:spPr>
          <a:xfrm>
            <a:off x="2003722" y="4635001"/>
            <a:ext cx="1248926" cy="599784"/>
          </a:xfrm>
          <a:prstGeom prst="rect">
            <a:avLst/>
          </a:prstGeom>
          <a:solidFill>
            <a:srgbClr val="58595B"/>
          </a:solidFill>
          <a:ln w="9525" cap="flat" cmpd="sng" algn="ctr">
            <a:noFill/>
            <a:prstDash val="solid"/>
          </a:ln>
          <a:effectLst/>
        </p:spPr>
        <p:txBody>
          <a:bodyPr lIns="91396" tIns="45699" rIns="91396" bIns="45699" numCol="1" rtlCol="0" anchor="t"/>
          <a:lstStyle/>
          <a:p>
            <a:pPr defTabSz="456936" eaLnBrk="1" fontAlgn="auto" hangingPunct="1">
              <a:spcBef>
                <a:spcPts val="0"/>
              </a:spcBef>
              <a:spcAft>
                <a:spcPts val="0"/>
              </a:spcAft>
              <a:defRPr/>
            </a:pPr>
            <a:r>
              <a:rPr lang="en-US" sz="1200" kern="0">
                <a:solidFill>
                  <a:srgbClr val="FFFFFF"/>
                </a:solidFill>
                <a:latin typeface="+mn-lt"/>
              </a:rPr>
              <a:t>Simulated I/O via Python scripts and stimuli files</a:t>
            </a:r>
            <a:endParaRPr lang="en-US" sz="1400" kern="0">
              <a:solidFill>
                <a:srgbClr val="FFFFFF"/>
              </a:solidFill>
              <a:latin typeface="+mn-lt"/>
            </a:endParaRPr>
          </a:p>
        </p:txBody>
      </p:sp>
    </p:spTree>
    <p:extLst>
      <p:ext uri="{BB962C8B-B14F-4D97-AF65-F5344CB8AC3E}">
        <p14:creationId xmlns:p14="http://schemas.microsoft.com/office/powerpoint/2010/main" val="14235568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F03A91C7-E568-4392-9F3F-5E93ED4A8672}"/>
              </a:ext>
            </a:extLst>
          </p:cNvPr>
          <p:cNvSpPr/>
          <p:nvPr/>
        </p:nvSpPr>
        <p:spPr>
          <a:xfrm>
            <a:off x="8370447" y="2107436"/>
            <a:ext cx="2427094" cy="37854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a:solidFill>
                  <a:schemeClr val="tx1"/>
                </a:solidFill>
              </a:rPr>
              <a:t>Project D</a:t>
            </a:r>
            <a:endParaRPr lang="en-GB">
              <a:solidFill>
                <a:schemeClr val="tx1"/>
              </a:solidFill>
            </a:endParaRPr>
          </a:p>
        </p:txBody>
      </p:sp>
      <p:sp>
        <p:nvSpPr>
          <p:cNvPr id="29" name="Rectangle 28">
            <a:extLst>
              <a:ext uri="{FF2B5EF4-FFF2-40B4-BE49-F238E27FC236}">
                <a16:creationId xmlns:a16="http://schemas.microsoft.com/office/drawing/2014/main" id="{DD068409-DFFD-42FA-807F-DB91630CFEC9}"/>
              </a:ext>
            </a:extLst>
          </p:cNvPr>
          <p:cNvSpPr/>
          <p:nvPr/>
        </p:nvSpPr>
        <p:spPr>
          <a:xfrm>
            <a:off x="3013586" y="2130296"/>
            <a:ext cx="5304503" cy="37854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a:solidFill>
                  <a:schemeClr val="tx1"/>
                </a:solidFill>
              </a:rPr>
              <a:t>Project B</a:t>
            </a:r>
            <a:endParaRPr lang="en-GB">
              <a:solidFill>
                <a:schemeClr val="tx1"/>
              </a:solidFill>
            </a:endParaRPr>
          </a:p>
        </p:txBody>
      </p:sp>
      <p:sp>
        <p:nvSpPr>
          <p:cNvPr id="28" name="Rectangle 27">
            <a:extLst>
              <a:ext uri="{FF2B5EF4-FFF2-40B4-BE49-F238E27FC236}">
                <a16:creationId xmlns:a16="http://schemas.microsoft.com/office/drawing/2014/main" id="{D52D86A6-4EB4-455A-8D07-1E362DFDB5D8}"/>
              </a:ext>
            </a:extLst>
          </p:cNvPr>
          <p:cNvSpPr/>
          <p:nvPr/>
        </p:nvSpPr>
        <p:spPr>
          <a:xfrm>
            <a:off x="1160206" y="2135212"/>
            <a:ext cx="1661652" cy="37854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a:solidFill>
                  <a:schemeClr val="tx1"/>
                </a:solidFill>
              </a:rPr>
              <a:t>Project A</a:t>
            </a:r>
            <a:endParaRPr lang="en-GB">
              <a:solidFill>
                <a:schemeClr val="tx1"/>
              </a:solidFill>
            </a:endParaRPr>
          </a:p>
        </p:txBody>
      </p:sp>
      <p:sp>
        <p:nvSpPr>
          <p:cNvPr id="2" name="Title 1">
            <a:extLst>
              <a:ext uri="{FF2B5EF4-FFF2-40B4-BE49-F238E27FC236}">
                <a16:creationId xmlns:a16="http://schemas.microsoft.com/office/drawing/2014/main" id="{1475F5F8-C58D-4658-9D7E-591339A72658}"/>
              </a:ext>
            </a:extLst>
          </p:cNvPr>
          <p:cNvSpPr>
            <a:spLocks noGrp="1"/>
          </p:cNvSpPr>
          <p:nvPr>
            <p:ph type="title"/>
          </p:nvPr>
        </p:nvSpPr>
        <p:spPr/>
        <p:txBody>
          <a:bodyPr/>
          <a:lstStyle/>
          <a:p>
            <a:r>
              <a:rPr lang="en-US"/>
              <a:t>Multi-Project Requirements</a:t>
            </a:r>
            <a:endParaRPr lang="en-GB"/>
          </a:p>
        </p:txBody>
      </p:sp>
      <p:sp>
        <p:nvSpPr>
          <p:cNvPr id="3" name="Text Placeholder 2">
            <a:extLst>
              <a:ext uri="{FF2B5EF4-FFF2-40B4-BE49-F238E27FC236}">
                <a16:creationId xmlns:a16="http://schemas.microsoft.com/office/drawing/2014/main" id="{886606F5-88C0-4E3D-85DC-7F37B93FEDD8}"/>
              </a:ext>
            </a:extLst>
          </p:cNvPr>
          <p:cNvSpPr>
            <a:spLocks noGrp="1"/>
          </p:cNvSpPr>
          <p:nvPr>
            <p:ph type="body" sz="quarter" idx="13"/>
          </p:nvPr>
        </p:nvSpPr>
        <p:spPr/>
        <p:txBody>
          <a:bodyPr/>
          <a:lstStyle/>
          <a:p>
            <a:r>
              <a:rPr lang="en-GB">
                <a:latin typeface="Calibri" panose="020F0502020204030204" pitchFamily="34" charset="0"/>
                <a:ea typeface="Times New Roman" panose="02020603050405020304" pitchFamily="18" charset="0"/>
              </a:rPr>
              <a:t>Separate projects independently developed; combined in a multi-project workspace</a:t>
            </a:r>
            <a:endParaRPr lang="en-GB"/>
          </a:p>
        </p:txBody>
      </p:sp>
      <p:sp>
        <p:nvSpPr>
          <p:cNvPr id="5" name="Rectangle 4">
            <a:extLst>
              <a:ext uri="{FF2B5EF4-FFF2-40B4-BE49-F238E27FC236}">
                <a16:creationId xmlns:a16="http://schemas.microsoft.com/office/drawing/2014/main" id="{9A3883A6-CCB3-450B-B8C3-84DA6E594026}"/>
              </a:ext>
            </a:extLst>
          </p:cNvPr>
          <p:cNvSpPr/>
          <p:nvPr/>
        </p:nvSpPr>
        <p:spPr>
          <a:xfrm rot="16200000">
            <a:off x="7895268" y="2745175"/>
            <a:ext cx="3238045" cy="2254815"/>
          </a:xfrm>
          <a:prstGeom prst="rect">
            <a:avLst/>
          </a:prstGeom>
          <a:solidFill>
            <a:schemeClr val="accent3">
              <a:lumMod val="40000"/>
              <a:lumOff val="60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852"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a:extLst>
              <a:ext uri="{FF2B5EF4-FFF2-40B4-BE49-F238E27FC236}">
                <a16:creationId xmlns:a16="http://schemas.microsoft.com/office/drawing/2014/main" id="{D38F9676-9CB2-429D-B769-4D4BCEE3CC9B}"/>
              </a:ext>
            </a:extLst>
          </p:cNvPr>
          <p:cNvSpPr txBox="1"/>
          <p:nvPr/>
        </p:nvSpPr>
        <p:spPr>
          <a:xfrm>
            <a:off x="8575150" y="2323933"/>
            <a:ext cx="1865376" cy="276999"/>
          </a:xfrm>
          <a:prstGeom prst="rect">
            <a:avLst/>
          </a:prstGeom>
          <a:noFill/>
        </p:spPr>
        <p:txBody>
          <a:bodyPr wrap="square" lIns="0" tIns="0" rIns="0" bIns="0" rtlCol="0">
            <a:spAutoFit/>
          </a:bodyPr>
          <a:lstStyle/>
          <a:p>
            <a:pPr marL="0" marR="0" lvl="0" indent="0" algn="ctr" defTabSz="914126" rtl="0" eaLnBrk="1" fontAlgn="base" latinLnBrk="0" hangingPunct="1">
              <a:lnSpc>
                <a:spcPct val="90000"/>
              </a:lnSpc>
              <a:spcBef>
                <a:spcPts val="0"/>
              </a:spcBef>
              <a:spcAft>
                <a:spcPts val="600"/>
              </a:spcAft>
              <a:buClrTx/>
              <a:buSzTx/>
              <a:buFontTx/>
              <a:buNone/>
              <a:tabLst/>
              <a:defRPr/>
            </a:pPr>
            <a:r>
              <a:rPr kumimoji="0" lang="en-GB" sz="2000" b="0" i="0" u="none" strike="noStrike" kern="1200" cap="none" spc="0" normalizeH="0" baseline="0" noProof="0">
                <a:ln>
                  <a:noFill/>
                </a:ln>
                <a:solidFill>
                  <a:srgbClr val="333E48"/>
                </a:solidFill>
                <a:effectLst/>
                <a:uLnTx/>
                <a:uFillTx/>
                <a:latin typeface="Calibri"/>
                <a:ea typeface="ＭＳ Ｐゴシック" panose="020B0600070205080204" pitchFamily="34" charset="-128"/>
                <a:cs typeface="+mn-cs"/>
              </a:rPr>
              <a:t>Security</a:t>
            </a:r>
            <a:endParaRPr kumimoji="0" lang="en-US" sz="2000" b="0" i="0" u="none" strike="noStrike" kern="1200" cap="none" spc="0" normalizeH="0" baseline="0" noProof="0">
              <a:ln>
                <a:noFill/>
              </a:ln>
              <a:solidFill>
                <a:srgbClr val="333E48"/>
              </a:solidFill>
              <a:effectLst/>
              <a:uLnTx/>
              <a:uFillTx/>
              <a:latin typeface="Calibri"/>
              <a:ea typeface="ＭＳ Ｐゴシック" panose="020B0600070205080204" pitchFamily="34" charset="-128"/>
              <a:cs typeface="+mn-cs"/>
            </a:endParaRPr>
          </a:p>
        </p:txBody>
      </p:sp>
      <p:sp>
        <p:nvSpPr>
          <p:cNvPr id="7" name="Rectangle 6">
            <a:extLst>
              <a:ext uri="{FF2B5EF4-FFF2-40B4-BE49-F238E27FC236}">
                <a16:creationId xmlns:a16="http://schemas.microsoft.com/office/drawing/2014/main" id="{6E51DBE1-C91D-4837-81EA-354F72806896}"/>
              </a:ext>
            </a:extLst>
          </p:cNvPr>
          <p:cNvSpPr/>
          <p:nvPr/>
        </p:nvSpPr>
        <p:spPr>
          <a:xfrm>
            <a:off x="8564563" y="3399708"/>
            <a:ext cx="1890045" cy="5238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852"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Calibri"/>
                <a:ea typeface="+mn-ea"/>
                <a:cs typeface="+mn-cs"/>
              </a:rPr>
              <a:t>Storage</a:t>
            </a:r>
          </a:p>
        </p:txBody>
      </p:sp>
      <p:sp>
        <p:nvSpPr>
          <p:cNvPr id="8" name="Rectangle 7">
            <a:extLst>
              <a:ext uri="{FF2B5EF4-FFF2-40B4-BE49-F238E27FC236}">
                <a16:creationId xmlns:a16="http://schemas.microsoft.com/office/drawing/2014/main" id="{E35EBF7F-0FAB-47AF-9C92-65A97335E246}"/>
              </a:ext>
            </a:extLst>
          </p:cNvPr>
          <p:cNvSpPr/>
          <p:nvPr/>
        </p:nvSpPr>
        <p:spPr>
          <a:xfrm>
            <a:off x="8564401" y="2701618"/>
            <a:ext cx="1890047" cy="5238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852"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Calibri"/>
                <a:ea typeface="+mn-ea"/>
                <a:cs typeface="+mn-cs"/>
              </a:rPr>
              <a:t>Crypto</a:t>
            </a:r>
          </a:p>
        </p:txBody>
      </p:sp>
      <p:sp>
        <p:nvSpPr>
          <p:cNvPr id="9" name="Rectangle 8">
            <a:extLst>
              <a:ext uri="{FF2B5EF4-FFF2-40B4-BE49-F238E27FC236}">
                <a16:creationId xmlns:a16="http://schemas.microsoft.com/office/drawing/2014/main" id="{FA05FD17-7CF1-418A-907F-F1C3BD76EB52}"/>
              </a:ext>
            </a:extLst>
          </p:cNvPr>
          <p:cNvSpPr/>
          <p:nvPr/>
        </p:nvSpPr>
        <p:spPr>
          <a:xfrm>
            <a:off x="8555098" y="4097798"/>
            <a:ext cx="1890043" cy="5238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852"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Calibri"/>
                <a:ea typeface="+mn-ea"/>
                <a:cs typeface="+mn-cs"/>
              </a:rPr>
              <a:t>Attestation</a:t>
            </a:r>
          </a:p>
        </p:txBody>
      </p:sp>
      <p:sp>
        <p:nvSpPr>
          <p:cNvPr id="10" name="Rectangle 9">
            <a:extLst>
              <a:ext uri="{FF2B5EF4-FFF2-40B4-BE49-F238E27FC236}">
                <a16:creationId xmlns:a16="http://schemas.microsoft.com/office/drawing/2014/main" id="{0DE0ED57-370F-45BF-870A-15448AFE2E70}"/>
              </a:ext>
            </a:extLst>
          </p:cNvPr>
          <p:cNvSpPr/>
          <p:nvPr/>
        </p:nvSpPr>
        <p:spPr>
          <a:xfrm>
            <a:off x="1308225" y="5010737"/>
            <a:ext cx="6907979" cy="479709"/>
          </a:xfrm>
          <a:prstGeom prst="rect">
            <a:avLst/>
          </a:prstGeom>
          <a:solidFill>
            <a:srgbClr val="00C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852"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Calibri"/>
                <a:ea typeface="+mn-ea"/>
                <a:cs typeface="+mn-cs"/>
              </a:rPr>
              <a:t>Device / Board HAL</a:t>
            </a:r>
          </a:p>
        </p:txBody>
      </p:sp>
      <p:cxnSp>
        <p:nvCxnSpPr>
          <p:cNvPr id="11" name="Straight Connector 10">
            <a:extLst>
              <a:ext uri="{FF2B5EF4-FFF2-40B4-BE49-F238E27FC236}">
                <a16:creationId xmlns:a16="http://schemas.microsoft.com/office/drawing/2014/main" id="{7B9898CD-08A5-4AE3-AF22-B883CEDE6304}"/>
              </a:ext>
            </a:extLst>
          </p:cNvPr>
          <p:cNvCxnSpPr>
            <a:cxnSpLocks/>
          </p:cNvCxnSpPr>
          <p:nvPr/>
        </p:nvCxnSpPr>
        <p:spPr>
          <a:xfrm>
            <a:off x="8380950" y="2253562"/>
            <a:ext cx="0" cy="3228618"/>
          </a:xfrm>
          <a:prstGeom prst="line">
            <a:avLst/>
          </a:prstGeom>
          <a:ln w="31750">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370EAD32-1D3F-41A2-8DEF-99CA8D7D5713}"/>
              </a:ext>
            </a:extLst>
          </p:cNvPr>
          <p:cNvSpPr/>
          <p:nvPr/>
        </p:nvSpPr>
        <p:spPr>
          <a:xfrm>
            <a:off x="3146959" y="4496429"/>
            <a:ext cx="5069239" cy="396297"/>
          </a:xfrm>
          <a:prstGeom prst="rect">
            <a:avLst/>
          </a:prstGeom>
          <a:solidFill>
            <a:srgbClr val="95D600"/>
          </a:solidFill>
          <a:ln>
            <a:noFill/>
          </a:ln>
          <a:effectLst/>
        </p:spPr>
        <p:style>
          <a:lnRef idx="1">
            <a:schemeClr val="accent1"/>
          </a:lnRef>
          <a:fillRef idx="3">
            <a:schemeClr val="accent1"/>
          </a:fillRef>
          <a:effectRef idx="2">
            <a:schemeClr val="accent1"/>
          </a:effectRef>
          <a:fontRef idx="minor">
            <a:schemeClr val="lt1"/>
          </a:fontRef>
        </p:style>
        <p:txBody>
          <a:bodyPr lIns="35964" rIns="35964" rtlCol="0" anchor="ctr"/>
          <a:lstStyle/>
          <a:p>
            <a:pPr marL="0" marR="0" lvl="0" indent="0" algn="ctr" defTabSz="913852"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Calibri"/>
                <a:ea typeface="+mn-ea"/>
                <a:cs typeface="+mn-cs"/>
              </a:rPr>
              <a:t>RTOS</a:t>
            </a:r>
          </a:p>
        </p:txBody>
      </p:sp>
      <p:sp>
        <p:nvSpPr>
          <p:cNvPr id="13" name="Rectangle 12">
            <a:extLst>
              <a:ext uri="{FF2B5EF4-FFF2-40B4-BE49-F238E27FC236}">
                <a16:creationId xmlns:a16="http://schemas.microsoft.com/office/drawing/2014/main" id="{D4FB1869-DEA2-4D49-B6CC-581B6ADD1F0F}"/>
              </a:ext>
            </a:extLst>
          </p:cNvPr>
          <p:cNvSpPr/>
          <p:nvPr/>
        </p:nvSpPr>
        <p:spPr>
          <a:xfrm rot="16200000">
            <a:off x="2588325" y="2786757"/>
            <a:ext cx="1924181" cy="841796"/>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852"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Calibri"/>
                <a:ea typeface="+mn-ea"/>
                <a:cs typeface="+mn-cs"/>
              </a:rPr>
              <a:t>User Application</a:t>
            </a:r>
            <a:endParaRPr kumimoji="0" lang="en-GB" sz="20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a:extLst>
              <a:ext uri="{FF2B5EF4-FFF2-40B4-BE49-F238E27FC236}">
                <a16:creationId xmlns:a16="http://schemas.microsoft.com/office/drawing/2014/main" id="{288B6C82-925F-49B1-A07D-4803E39F0B25}"/>
              </a:ext>
            </a:extLst>
          </p:cNvPr>
          <p:cNvSpPr/>
          <p:nvPr/>
        </p:nvSpPr>
        <p:spPr>
          <a:xfrm rot="16200000">
            <a:off x="5771043" y="2779230"/>
            <a:ext cx="1890852" cy="841796"/>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Calibri"/>
                <a:ea typeface="+mn-ea"/>
                <a:cs typeface="+mn-cs"/>
              </a:rPr>
              <a:t>Cloud</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Calibri"/>
                <a:ea typeface="+mn-ea"/>
                <a:cs typeface="+mn-cs"/>
              </a:rPr>
              <a:t>Connector</a:t>
            </a:r>
          </a:p>
        </p:txBody>
      </p:sp>
      <p:sp>
        <p:nvSpPr>
          <p:cNvPr id="15" name="Rectangle 14">
            <a:extLst>
              <a:ext uri="{FF2B5EF4-FFF2-40B4-BE49-F238E27FC236}">
                <a16:creationId xmlns:a16="http://schemas.microsoft.com/office/drawing/2014/main" id="{2DDF6F88-7132-462F-A33E-FC6BCB560924}"/>
              </a:ext>
            </a:extLst>
          </p:cNvPr>
          <p:cNvSpPr/>
          <p:nvPr/>
        </p:nvSpPr>
        <p:spPr>
          <a:xfrm rot="16200000">
            <a:off x="6849874" y="2784512"/>
            <a:ext cx="1890852" cy="841796"/>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35964" rIns="35964" rtlCol="0" anchor="ctr"/>
          <a:lstStyle/>
          <a:p>
            <a:pPr marL="0" marR="0" lvl="0" indent="0" algn="ctr" defTabSz="913852"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Calibri"/>
                <a:ea typeface="+mn-ea"/>
                <a:cs typeface="+mn-cs"/>
              </a:rPr>
              <a:t>Secure Network</a:t>
            </a:r>
          </a:p>
          <a:p>
            <a:pPr marL="0" marR="0" lvl="0" indent="0" algn="ctr" defTabSz="913852"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Calibri"/>
                <a:ea typeface="+mn-ea"/>
                <a:cs typeface="+mn-cs"/>
              </a:rPr>
              <a:t>Interface</a:t>
            </a:r>
          </a:p>
        </p:txBody>
      </p:sp>
      <p:sp>
        <p:nvSpPr>
          <p:cNvPr id="16" name="Rectangle 15">
            <a:extLst>
              <a:ext uri="{FF2B5EF4-FFF2-40B4-BE49-F238E27FC236}">
                <a16:creationId xmlns:a16="http://schemas.microsoft.com/office/drawing/2014/main" id="{C4406EFD-C5AE-4402-84C2-C8EE4688A69E}"/>
              </a:ext>
            </a:extLst>
          </p:cNvPr>
          <p:cNvSpPr/>
          <p:nvPr/>
        </p:nvSpPr>
        <p:spPr>
          <a:xfrm>
            <a:off x="8552050" y="4795888"/>
            <a:ext cx="1890043" cy="5238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852"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Calibri"/>
                <a:ea typeface="+mn-ea"/>
                <a:cs typeface="+mn-cs"/>
              </a:rPr>
              <a:t>Secure Boot</a:t>
            </a:r>
          </a:p>
        </p:txBody>
      </p:sp>
      <p:sp>
        <p:nvSpPr>
          <p:cNvPr id="17" name="Rectangle 16">
            <a:extLst>
              <a:ext uri="{FF2B5EF4-FFF2-40B4-BE49-F238E27FC236}">
                <a16:creationId xmlns:a16="http://schemas.microsoft.com/office/drawing/2014/main" id="{BB9B8DD1-D8D6-4FB3-986D-94D607A9E35F}"/>
              </a:ext>
            </a:extLst>
          </p:cNvPr>
          <p:cNvSpPr/>
          <p:nvPr/>
        </p:nvSpPr>
        <p:spPr>
          <a:xfrm>
            <a:off x="10643189" y="3637211"/>
            <a:ext cx="242374" cy="369332"/>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 </a:t>
            </a:r>
            <a:endParaRPr kumimoji="0" lang="en-GB"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18" name="Rectangle 17">
            <a:extLst>
              <a:ext uri="{FF2B5EF4-FFF2-40B4-BE49-F238E27FC236}">
                <a16:creationId xmlns:a16="http://schemas.microsoft.com/office/drawing/2014/main" id="{7A82D532-238A-475E-A65A-7E10824C4FB1}"/>
              </a:ext>
            </a:extLst>
          </p:cNvPr>
          <p:cNvSpPr/>
          <p:nvPr/>
        </p:nvSpPr>
        <p:spPr>
          <a:xfrm>
            <a:off x="10643189" y="3637211"/>
            <a:ext cx="242374" cy="369332"/>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 </a:t>
            </a:r>
            <a:endParaRPr kumimoji="0" lang="en-GB"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19" name="Rectangle 18">
            <a:extLst>
              <a:ext uri="{FF2B5EF4-FFF2-40B4-BE49-F238E27FC236}">
                <a16:creationId xmlns:a16="http://schemas.microsoft.com/office/drawing/2014/main" id="{C9987E5C-F61E-4D02-A752-C0E1695787F1}"/>
              </a:ext>
            </a:extLst>
          </p:cNvPr>
          <p:cNvSpPr/>
          <p:nvPr/>
        </p:nvSpPr>
        <p:spPr>
          <a:xfrm rot="16200000">
            <a:off x="5147693" y="2296026"/>
            <a:ext cx="937695" cy="841796"/>
          </a:xfrm>
          <a:prstGeom prst="rect">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Calibri"/>
                <a:ea typeface="+mn-ea"/>
                <a:cs typeface="+mn-cs"/>
              </a:rPr>
              <a:t>ML</a:t>
            </a:r>
            <a:br>
              <a:rPr kumimoji="0" lang="en-US" sz="2000" b="0" i="0" u="none" strike="noStrike" kern="1200" cap="none" spc="0" normalizeH="0" baseline="0" noProof="0">
                <a:ln>
                  <a:noFill/>
                </a:ln>
                <a:solidFill>
                  <a:srgbClr val="FFFFFF"/>
                </a:solidFill>
                <a:effectLst/>
                <a:uLnTx/>
                <a:uFillTx/>
                <a:latin typeface="Calibri"/>
                <a:ea typeface="+mn-ea"/>
                <a:cs typeface="+mn-cs"/>
              </a:rPr>
            </a:br>
            <a:r>
              <a:rPr kumimoji="0" lang="en-US" sz="2000" b="0" i="0" u="none" strike="noStrike" kern="1200" cap="none" spc="0" normalizeH="0" baseline="0" noProof="0">
                <a:ln>
                  <a:noFill/>
                </a:ln>
                <a:solidFill>
                  <a:srgbClr val="FFFFFF"/>
                </a:solidFill>
                <a:effectLst/>
                <a:uLnTx/>
                <a:uFillTx/>
                <a:latin typeface="Calibri"/>
                <a:ea typeface="+mn-ea"/>
                <a:cs typeface="+mn-cs"/>
              </a:rPr>
              <a:t>Library</a:t>
            </a:r>
          </a:p>
        </p:txBody>
      </p:sp>
      <p:sp>
        <p:nvSpPr>
          <p:cNvPr id="20" name="Rectangle 19">
            <a:extLst>
              <a:ext uri="{FF2B5EF4-FFF2-40B4-BE49-F238E27FC236}">
                <a16:creationId xmlns:a16="http://schemas.microsoft.com/office/drawing/2014/main" id="{96A8710D-068C-4DFF-81DB-7A9E38D9F71B}"/>
              </a:ext>
            </a:extLst>
          </p:cNvPr>
          <p:cNvSpPr/>
          <p:nvPr/>
        </p:nvSpPr>
        <p:spPr>
          <a:xfrm rot="16200000">
            <a:off x="5197438" y="3316496"/>
            <a:ext cx="864704" cy="841796"/>
          </a:xfrm>
          <a:prstGeom prst="rect">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Calibri"/>
                <a:ea typeface="+mn-ea"/>
                <a:cs typeface="+mn-cs"/>
              </a:rPr>
              <a:t>ML</a:t>
            </a:r>
            <a:br>
              <a:rPr kumimoji="0" lang="en-US" sz="2000" b="0" i="0" u="none" strike="noStrike" kern="1200" cap="none" spc="0" normalizeH="0" baseline="0" noProof="0">
                <a:ln>
                  <a:noFill/>
                </a:ln>
                <a:solidFill>
                  <a:srgbClr val="FFFFFF"/>
                </a:solidFill>
                <a:effectLst/>
                <a:uLnTx/>
                <a:uFillTx/>
                <a:latin typeface="Calibri"/>
                <a:ea typeface="+mn-ea"/>
                <a:cs typeface="+mn-cs"/>
              </a:rPr>
            </a:br>
            <a:r>
              <a:rPr kumimoji="0" lang="en-US" sz="2000" b="0" i="0" u="none" strike="noStrike" kern="1200" cap="none" spc="0" normalizeH="0" baseline="0" noProof="0">
                <a:ln>
                  <a:noFill/>
                </a:ln>
                <a:solidFill>
                  <a:srgbClr val="FFFFFF"/>
                </a:solidFill>
                <a:effectLst/>
                <a:uLnTx/>
                <a:uFillTx/>
                <a:latin typeface="Calibri"/>
                <a:ea typeface="+mn-ea"/>
                <a:cs typeface="+mn-cs"/>
              </a:rPr>
              <a:t>Data</a:t>
            </a:r>
          </a:p>
        </p:txBody>
      </p:sp>
      <p:sp>
        <p:nvSpPr>
          <p:cNvPr id="21" name="Rectangle 20">
            <a:extLst>
              <a:ext uri="{FF2B5EF4-FFF2-40B4-BE49-F238E27FC236}">
                <a16:creationId xmlns:a16="http://schemas.microsoft.com/office/drawing/2014/main" id="{EEB9E6E5-E629-411A-ACDE-9BE584141267}"/>
              </a:ext>
            </a:extLst>
          </p:cNvPr>
          <p:cNvSpPr/>
          <p:nvPr/>
        </p:nvSpPr>
        <p:spPr>
          <a:xfrm rot="16200000">
            <a:off x="4128934" y="2297683"/>
            <a:ext cx="934382" cy="841796"/>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Calibri"/>
                <a:ea typeface="+mn-ea"/>
                <a:cs typeface="+mn-cs"/>
              </a:rPr>
              <a:t>UX</a:t>
            </a:r>
            <a:br>
              <a:rPr kumimoji="0" lang="en-US" sz="1800" b="0" i="0" u="none" strike="noStrike" kern="1200" cap="none" spc="0" normalizeH="0" baseline="0" noProof="0">
                <a:ln>
                  <a:noFill/>
                </a:ln>
                <a:solidFill>
                  <a:srgbClr val="FFFFFF"/>
                </a:solidFill>
                <a:effectLst/>
                <a:uLnTx/>
                <a:uFillTx/>
                <a:latin typeface="Calibri"/>
                <a:ea typeface="+mn-ea"/>
                <a:cs typeface="+mn-cs"/>
              </a:rPr>
            </a:br>
            <a:r>
              <a:rPr kumimoji="0" lang="en-US" sz="1800" b="0" i="0" u="none" strike="noStrike" kern="1200" cap="none" spc="0" normalizeH="0" baseline="0" noProof="0">
                <a:ln>
                  <a:noFill/>
                </a:ln>
                <a:solidFill>
                  <a:srgbClr val="FFFFFF"/>
                </a:solidFill>
                <a:effectLst/>
                <a:uLnTx/>
                <a:uFillTx/>
                <a:latin typeface="Calibri"/>
                <a:ea typeface="+mn-ea"/>
                <a:cs typeface="+mn-cs"/>
              </a:rPr>
              <a:t>Graphic</a:t>
            </a:r>
          </a:p>
        </p:txBody>
      </p:sp>
      <p:sp>
        <p:nvSpPr>
          <p:cNvPr id="22" name="Rectangle 21">
            <a:extLst>
              <a:ext uri="{FF2B5EF4-FFF2-40B4-BE49-F238E27FC236}">
                <a16:creationId xmlns:a16="http://schemas.microsoft.com/office/drawing/2014/main" id="{3D4CFAB8-D151-42FD-8EB0-33B0165D8A93}"/>
              </a:ext>
            </a:extLst>
          </p:cNvPr>
          <p:cNvSpPr/>
          <p:nvPr/>
        </p:nvSpPr>
        <p:spPr>
          <a:xfrm rot="16200000">
            <a:off x="4167081" y="3319809"/>
            <a:ext cx="864704" cy="841796"/>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700" b="0" i="0" u="none" strike="noStrike" kern="1200" cap="none" spc="0" normalizeH="0" baseline="0" noProof="0">
                <a:ln>
                  <a:noFill/>
                </a:ln>
                <a:solidFill>
                  <a:srgbClr val="FFFFFF"/>
                </a:solidFill>
                <a:effectLst/>
                <a:uLnTx/>
                <a:uFillTx/>
                <a:latin typeface="Calibri"/>
                <a:ea typeface="+mn-ea"/>
                <a:cs typeface="+mn-cs"/>
              </a:rPr>
              <a:t>Images</a:t>
            </a:r>
          </a:p>
        </p:txBody>
      </p:sp>
      <p:cxnSp>
        <p:nvCxnSpPr>
          <p:cNvPr id="23" name="Straight Connector 22">
            <a:extLst>
              <a:ext uri="{FF2B5EF4-FFF2-40B4-BE49-F238E27FC236}">
                <a16:creationId xmlns:a16="http://schemas.microsoft.com/office/drawing/2014/main" id="{AB6B1548-D47D-46B9-BEAD-D5D732144F3A}"/>
              </a:ext>
            </a:extLst>
          </p:cNvPr>
          <p:cNvCxnSpPr>
            <a:cxnSpLocks/>
          </p:cNvCxnSpPr>
          <p:nvPr/>
        </p:nvCxnSpPr>
        <p:spPr>
          <a:xfrm>
            <a:off x="2877985" y="2246935"/>
            <a:ext cx="0" cy="3228618"/>
          </a:xfrm>
          <a:prstGeom prst="line">
            <a:avLst/>
          </a:prstGeom>
          <a:ln w="31750">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3417D74-E762-4A98-B1EF-9CE932F6656A}"/>
              </a:ext>
            </a:extLst>
          </p:cNvPr>
          <p:cNvSpPr/>
          <p:nvPr/>
        </p:nvSpPr>
        <p:spPr>
          <a:xfrm rot="16200000">
            <a:off x="767761" y="2817582"/>
            <a:ext cx="2488094" cy="1355918"/>
          </a:xfrm>
          <a:prstGeom prst="rect">
            <a:avLst/>
          </a:prstGeom>
          <a:solidFill>
            <a:schemeClr val="accent3">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852"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Calibri"/>
                <a:ea typeface="+mn-ea"/>
                <a:cs typeface="+mn-cs"/>
              </a:rPr>
              <a:t>Control Algorithm</a:t>
            </a:r>
            <a:endParaRPr kumimoji="0" lang="en-GB" sz="2000" b="0" i="0" u="none" strike="noStrike" kern="1200" cap="none" spc="0" normalizeH="0" baseline="0" noProof="0">
              <a:ln>
                <a:noFill/>
              </a:ln>
              <a:solidFill>
                <a:prstClr val="white"/>
              </a:solidFill>
              <a:effectLst/>
              <a:uLnTx/>
              <a:uFillTx/>
              <a:latin typeface="Calibri"/>
              <a:ea typeface="+mn-ea"/>
              <a:cs typeface="+mn-cs"/>
            </a:endParaRPr>
          </a:p>
        </p:txBody>
      </p:sp>
      <p:sp>
        <p:nvSpPr>
          <p:cNvPr id="25" name="TextBox 24">
            <a:extLst>
              <a:ext uri="{FF2B5EF4-FFF2-40B4-BE49-F238E27FC236}">
                <a16:creationId xmlns:a16="http://schemas.microsoft.com/office/drawing/2014/main" id="{B508A36F-86D0-4E53-87C4-58A42B671718}"/>
              </a:ext>
            </a:extLst>
          </p:cNvPr>
          <p:cNvSpPr txBox="1"/>
          <p:nvPr/>
        </p:nvSpPr>
        <p:spPr>
          <a:xfrm>
            <a:off x="3017755" y="1794294"/>
            <a:ext cx="7722704" cy="221599"/>
          </a:xfrm>
          <a:prstGeom prst="rect">
            <a:avLst/>
          </a:prstGeom>
          <a:solidFill>
            <a:schemeClr val="tx2">
              <a:lumMod val="20000"/>
              <a:lumOff val="80000"/>
            </a:schemeClr>
          </a:solidFill>
        </p:spPr>
        <p:txBody>
          <a:bodyPr wrap="square" lIns="0" tIns="0" rIns="0" bIns="0" rtlCol="0">
            <a:spAutoFit/>
          </a:bodyPr>
          <a:lstStyle/>
          <a:p>
            <a:pPr marL="0" marR="0" lvl="0" indent="0" algn="ctr" defTabSz="914400" rtl="0" eaLnBrk="1" fontAlgn="base" latinLnBrk="0" hangingPunct="1">
              <a:lnSpc>
                <a:spcPct val="90000"/>
              </a:lnSpc>
              <a:spcBef>
                <a:spcPts val="0"/>
              </a:spcBef>
              <a:spcAft>
                <a:spcPts val="60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333E48"/>
                </a:solidFill>
                <a:effectLst/>
                <a:uLnTx/>
                <a:uFillTx/>
                <a:latin typeface="Calibri"/>
                <a:ea typeface="ＭＳ Ｐゴシック" panose="020B0600070205080204" pitchFamily="34" charset="-128"/>
                <a:cs typeface="+mn-cs"/>
              </a:rPr>
              <a:t>Processor #1</a:t>
            </a:r>
            <a:endParaRPr kumimoji="0" lang="en-GB" sz="1600" b="0" i="0" u="none" strike="noStrike" kern="1200" cap="none" spc="0" normalizeH="0" baseline="0" noProof="0" err="1">
              <a:ln>
                <a:noFill/>
              </a:ln>
              <a:solidFill>
                <a:srgbClr val="333E48"/>
              </a:solidFill>
              <a:effectLst/>
              <a:uLnTx/>
              <a:uFillTx/>
              <a:latin typeface="Calibri"/>
              <a:ea typeface="ＭＳ Ｐゴシック" panose="020B0600070205080204" pitchFamily="34" charset="-128"/>
              <a:cs typeface="+mn-cs"/>
            </a:endParaRPr>
          </a:p>
        </p:txBody>
      </p:sp>
      <p:sp>
        <p:nvSpPr>
          <p:cNvPr id="26" name="TextBox 25">
            <a:extLst>
              <a:ext uri="{FF2B5EF4-FFF2-40B4-BE49-F238E27FC236}">
                <a16:creationId xmlns:a16="http://schemas.microsoft.com/office/drawing/2014/main" id="{ED3D1166-83E0-4C27-886C-1009ECCBAE99}"/>
              </a:ext>
            </a:extLst>
          </p:cNvPr>
          <p:cNvSpPr txBox="1"/>
          <p:nvPr/>
        </p:nvSpPr>
        <p:spPr>
          <a:xfrm>
            <a:off x="1169077" y="1797608"/>
            <a:ext cx="1610139" cy="221599"/>
          </a:xfrm>
          <a:prstGeom prst="rect">
            <a:avLst/>
          </a:prstGeom>
          <a:solidFill>
            <a:schemeClr val="tx2">
              <a:lumMod val="20000"/>
              <a:lumOff val="80000"/>
            </a:schemeClr>
          </a:solidFill>
        </p:spPr>
        <p:txBody>
          <a:bodyPr wrap="square" lIns="0" tIns="0" rIns="0" bIns="0" rtlCol="0">
            <a:spAutoFit/>
          </a:bodyPr>
          <a:lstStyle/>
          <a:p>
            <a:pPr marL="0" marR="0" lvl="0" indent="0" algn="ctr" defTabSz="914400" rtl="0" eaLnBrk="1" fontAlgn="base" latinLnBrk="0" hangingPunct="1">
              <a:lnSpc>
                <a:spcPct val="90000"/>
              </a:lnSpc>
              <a:spcBef>
                <a:spcPts val="0"/>
              </a:spcBef>
              <a:spcAft>
                <a:spcPts val="60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333E48"/>
                </a:solidFill>
                <a:effectLst/>
                <a:uLnTx/>
                <a:uFillTx/>
                <a:latin typeface="Calibri"/>
                <a:ea typeface="ＭＳ Ｐゴシック" panose="020B0600070205080204" pitchFamily="34" charset="-128"/>
                <a:cs typeface="+mn-cs"/>
              </a:rPr>
              <a:t>Processor #2</a:t>
            </a:r>
            <a:endParaRPr kumimoji="0" lang="en-GB" sz="1600" b="0" i="0" u="none" strike="noStrike" kern="1200" cap="none" spc="0" normalizeH="0" baseline="0" noProof="0" err="1">
              <a:ln>
                <a:noFill/>
              </a:ln>
              <a:solidFill>
                <a:srgbClr val="333E48"/>
              </a:solidFill>
              <a:effectLst/>
              <a:uLnTx/>
              <a:uFillTx/>
              <a:latin typeface="Calibri"/>
              <a:ea typeface="ＭＳ Ｐゴシック" panose="020B0600070205080204" pitchFamily="34" charset="-128"/>
              <a:cs typeface="+mn-cs"/>
            </a:endParaRPr>
          </a:p>
        </p:txBody>
      </p:sp>
      <p:sp>
        <p:nvSpPr>
          <p:cNvPr id="27" name="Rectangle 26">
            <a:extLst>
              <a:ext uri="{FF2B5EF4-FFF2-40B4-BE49-F238E27FC236}">
                <a16:creationId xmlns:a16="http://schemas.microsoft.com/office/drawing/2014/main" id="{82ABCEEA-4498-4374-86B3-ED293C71937A}"/>
              </a:ext>
            </a:extLst>
          </p:cNvPr>
          <p:cNvSpPr/>
          <p:nvPr/>
        </p:nvSpPr>
        <p:spPr>
          <a:xfrm>
            <a:off x="5157954" y="3226679"/>
            <a:ext cx="952185" cy="1231650"/>
          </a:xfrm>
          <a:prstGeom prst="rect">
            <a:avLst/>
          </a:prstGeom>
          <a:noFill/>
          <a:ln w="28575">
            <a:solidFill>
              <a:schemeClr val="accent6">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1400" b="1">
                <a:solidFill>
                  <a:schemeClr val="tx1"/>
                </a:solidFill>
              </a:rPr>
              <a:t>Project C</a:t>
            </a:r>
            <a:endParaRPr lang="en-GB" sz="1400" b="1"/>
          </a:p>
        </p:txBody>
      </p:sp>
    </p:spTree>
    <p:extLst>
      <p:ext uri="{BB962C8B-B14F-4D97-AF65-F5344CB8AC3E}">
        <p14:creationId xmlns:p14="http://schemas.microsoft.com/office/powerpoint/2010/main" val="653474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a:extLst>
              <a:ext uri="{FF2B5EF4-FFF2-40B4-BE49-F238E27FC236}">
                <a16:creationId xmlns:a16="http://schemas.microsoft.com/office/drawing/2014/main" id="{708715B0-CAF1-45CB-B8CE-F3EE46DD60CB}"/>
              </a:ext>
            </a:extLst>
          </p:cNvPr>
          <p:cNvSpPr/>
          <p:nvPr/>
        </p:nvSpPr>
        <p:spPr>
          <a:xfrm>
            <a:off x="7092175" y="2935268"/>
            <a:ext cx="2235200" cy="1187998"/>
          </a:xfrm>
          <a:prstGeom prst="rect">
            <a:avLst/>
          </a:prstGeom>
          <a:solidFill>
            <a:schemeClr val="accent1">
              <a:lumMod val="40000"/>
              <a:lumOff val="60000"/>
              <a:alpha val="40000"/>
            </a:schemeClr>
          </a:solidFill>
          <a:ln w="9525" cap="flat" cmpd="sng" algn="ctr">
            <a:noFill/>
            <a:prstDash val="solid"/>
          </a:ln>
          <a:effectLst/>
        </p:spPr>
        <p:txBody>
          <a:bodyPr vert="vert270" lIns="36003" tIns="45723" rIns="91444" bIns="45723" rtlCol="0" anchor="t"/>
          <a:lstStyle/>
          <a:p>
            <a:pPr marL="0" marR="0" lvl="0" indent="0" algn="ctr" defTabSz="457210" rtl="0" eaLnBrk="1" fontAlgn="auto" latinLnBrk="0" hangingPunct="1">
              <a:lnSpc>
                <a:spcPts val="17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mn-lt"/>
                <a:ea typeface="ＭＳ Ｐゴシック" panose="020B0600070205080204" pitchFamily="34" charset="-128"/>
                <a:cs typeface="+mn-cs"/>
              </a:rPr>
              <a:t>RTOS Layer</a:t>
            </a:r>
            <a:endParaRPr kumimoji="0" lang="en-GB" sz="1600" b="0" i="0" u="none" strike="noStrike" kern="0" cap="none" spc="0" normalizeH="0" baseline="0" noProof="0" dirty="0">
              <a:ln>
                <a:noFill/>
              </a:ln>
              <a:solidFill>
                <a:srgbClr val="000000"/>
              </a:solidFill>
              <a:effectLst/>
              <a:uLnTx/>
              <a:uFillTx/>
              <a:latin typeface="+mn-lt"/>
              <a:ea typeface="ＭＳ Ｐゴシック" panose="020B0600070205080204" pitchFamily="34" charset="-128"/>
              <a:cs typeface="+mn-cs"/>
            </a:endParaRPr>
          </a:p>
        </p:txBody>
      </p:sp>
      <p:sp>
        <p:nvSpPr>
          <p:cNvPr id="36" name="Rectangle 35">
            <a:extLst>
              <a:ext uri="{FF2B5EF4-FFF2-40B4-BE49-F238E27FC236}">
                <a16:creationId xmlns:a16="http://schemas.microsoft.com/office/drawing/2014/main" id="{A7CCDBC5-D11D-4324-B973-8ABEE5641330}"/>
              </a:ext>
            </a:extLst>
          </p:cNvPr>
          <p:cNvSpPr/>
          <p:nvPr/>
        </p:nvSpPr>
        <p:spPr>
          <a:xfrm>
            <a:off x="593835" y="1292136"/>
            <a:ext cx="2376326" cy="743952"/>
          </a:xfrm>
          <a:prstGeom prst="rect">
            <a:avLst/>
          </a:prstGeom>
          <a:solidFill>
            <a:schemeClr val="accent4">
              <a:lumMod val="75000"/>
              <a:alpha val="20000"/>
            </a:schemeClr>
          </a:solidFill>
          <a:ln w="9525" cap="flat" cmpd="sng" algn="ctr">
            <a:noFill/>
            <a:prstDash val="solid"/>
          </a:ln>
          <a:effectLst/>
        </p:spPr>
        <p:txBody>
          <a:bodyPr vert="vert270" lIns="36003" tIns="45723" rIns="91444" bIns="45723" rtlCol="0" anchor="t"/>
          <a:lstStyle/>
          <a:p>
            <a:pPr marL="0" marR="0" lvl="0" indent="0" algn="ctr" defTabSz="457210" rtl="0" eaLnBrk="1" fontAlgn="auto" latinLnBrk="0" hangingPunct="1">
              <a:lnSpc>
                <a:spcPts val="1700"/>
              </a:lnSpc>
              <a:spcBef>
                <a:spcPts val="0"/>
              </a:spcBef>
              <a:spcAft>
                <a:spcPts val="0"/>
              </a:spcAft>
              <a:buClrTx/>
              <a:buSzTx/>
              <a:buFontTx/>
              <a:buNone/>
              <a:tabLst/>
              <a:defRPr/>
            </a:pPr>
            <a:r>
              <a:rPr lang="en-US" sz="1600" kern="0">
                <a:solidFill>
                  <a:srgbClr val="000000"/>
                </a:solidFill>
                <a:latin typeface="+mn-lt"/>
              </a:rPr>
              <a:t>App</a:t>
            </a:r>
            <a:br>
              <a:rPr kumimoji="0" lang="en-US" sz="16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mn-cs"/>
              </a:rPr>
            </a:br>
            <a:r>
              <a:rPr kumimoji="0" lang="en-US" sz="16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mn-cs"/>
              </a:rPr>
              <a:t>Layer</a:t>
            </a:r>
            <a:endParaRPr kumimoji="0" lang="en-GB" sz="16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mn-cs"/>
            </a:endParaRPr>
          </a:p>
        </p:txBody>
      </p:sp>
      <p:sp>
        <p:nvSpPr>
          <p:cNvPr id="3" name="Rectangle 2">
            <a:extLst>
              <a:ext uri="{FF2B5EF4-FFF2-40B4-BE49-F238E27FC236}">
                <a16:creationId xmlns:a16="http://schemas.microsoft.com/office/drawing/2014/main" id="{4D20B3B5-0119-44EB-995F-8DCE7FBDB0BF}"/>
              </a:ext>
            </a:extLst>
          </p:cNvPr>
          <p:cNvSpPr/>
          <p:nvPr/>
        </p:nvSpPr>
        <p:spPr>
          <a:xfrm>
            <a:off x="709127" y="6298163"/>
            <a:ext cx="1754155" cy="3452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9A7363C6-2AF9-4169-AB55-98108F792271}"/>
              </a:ext>
            </a:extLst>
          </p:cNvPr>
          <p:cNvSpPr/>
          <p:nvPr/>
        </p:nvSpPr>
        <p:spPr>
          <a:xfrm>
            <a:off x="583324" y="2109316"/>
            <a:ext cx="2386837" cy="743952"/>
          </a:xfrm>
          <a:prstGeom prst="rect">
            <a:avLst/>
          </a:prstGeom>
          <a:solidFill>
            <a:schemeClr val="accent3">
              <a:lumMod val="60000"/>
              <a:lumOff val="40000"/>
              <a:alpha val="20000"/>
            </a:schemeClr>
          </a:solidFill>
          <a:ln w="9525" cap="flat" cmpd="sng" algn="ctr">
            <a:noFill/>
            <a:prstDash val="solid"/>
          </a:ln>
          <a:effectLst/>
        </p:spPr>
        <p:txBody>
          <a:bodyPr vert="vert270" lIns="36003" tIns="45723" rIns="91444" bIns="45723" rtlCol="0" anchor="t"/>
          <a:lstStyle/>
          <a:p>
            <a:pPr marL="0" marR="0" lvl="0" indent="0" algn="ctr" defTabSz="457210" rtl="0" eaLnBrk="1" fontAlgn="auto" latinLnBrk="0" hangingPunct="1">
              <a:lnSpc>
                <a:spcPts val="1700"/>
              </a:lnSpc>
              <a:spcBef>
                <a:spcPts val="0"/>
              </a:spcBef>
              <a:spcAft>
                <a:spcPts val="0"/>
              </a:spcAft>
              <a:buClrTx/>
              <a:buSzTx/>
              <a:buFontTx/>
              <a:buNone/>
              <a:tabLst/>
              <a:defRPr/>
            </a:pPr>
            <a:r>
              <a:rPr lang="en-US" sz="1600" kern="0" dirty="0">
                <a:solidFill>
                  <a:srgbClr val="000000"/>
                </a:solidFill>
                <a:latin typeface="+mn-lt"/>
              </a:rPr>
              <a:t>Socket</a:t>
            </a:r>
            <a:br>
              <a:rPr kumimoji="0" lang="en-US" sz="1600" b="0" i="0" u="none" strike="noStrike" kern="0" cap="none" spc="0" normalizeH="0" baseline="0" noProof="0" dirty="0">
                <a:ln>
                  <a:noFill/>
                </a:ln>
                <a:solidFill>
                  <a:srgbClr val="000000"/>
                </a:solidFill>
                <a:effectLst/>
                <a:uLnTx/>
                <a:uFillTx/>
                <a:latin typeface="+mn-lt"/>
                <a:ea typeface="ＭＳ Ｐゴシック" panose="020B0600070205080204" pitchFamily="34" charset="-128"/>
                <a:cs typeface="+mn-cs"/>
              </a:rPr>
            </a:br>
            <a:r>
              <a:rPr kumimoji="0" lang="en-US" sz="1600" b="0" i="0" u="none" strike="noStrike" kern="0" cap="none" spc="0" normalizeH="0" baseline="0" noProof="0" dirty="0">
                <a:ln>
                  <a:noFill/>
                </a:ln>
                <a:solidFill>
                  <a:srgbClr val="000000"/>
                </a:solidFill>
                <a:effectLst/>
                <a:uLnTx/>
                <a:uFillTx/>
                <a:latin typeface="+mn-lt"/>
                <a:ea typeface="ＭＳ Ｐゴシック" panose="020B0600070205080204" pitchFamily="34" charset="-128"/>
                <a:cs typeface="+mn-cs"/>
              </a:rPr>
              <a:t>Layer</a:t>
            </a:r>
            <a:endParaRPr kumimoji="0" lang="en-GB" sz="1600" b="0" i="0" u="none" strike="noStrike" kern="0" cap="none" spc="0" normalizeH="0" baseline="0" noProof="0" dirty="0">
              <a:ln>
                <a:noFill/>
              </a:ln>
              <a:solidFill>
                <a:srgbClr val="000000"/>
              </a:solidFill>
              <a:effectLst/>
              <a:uLnTx/>
              <a:uFillTx/>
              <a:latin typeface="+mn-lt"/>
              <a:ea typeface="ＭＳ Ｐゴシック" panose="020B0600070205080204" pitchFamily="34" charset="-128"/>
              <a:cs typeface="+mn-cs"/>
            </a:endParaRPr>
          </a:p>
        </p:txBody>
      </p:sp>
      <p:sp>
        <p:nvSpPr>
          <p:cNvPr id="2" name="Title 1">
            <a:extLst>
              <a:ext uri="{FF2B5EF4-FFF2-40B4-BE49-F238E27FC236}">
                <a16:creationId xmlns:a16="http://schemas.microsoft.com/office/drawing/2014/main" id="{66B49C65-9D93-0940-A2D2-FDC728ABEBFC}"/>
              </a:ext>
            </a:extLst>
          </p:cNvPr>
          <p:cNvSpPr>
            <a:spLocks noGrp="1"/>
          </p:cNvSpPr>
          <p:nvPr>
            <p:ph type="title"/>
          </p:nvPr>
        </p:nvSpPr>
        <p:spPr>
          <a:xfrm>
            <a:off x="479425" y="312759"/>
            <a:ext cx="11233150" cy="512830"/>
          </a:xfrm>
        </p:spPr>
        <p:txBody>
          <a:bodyPr/>
          <a:lstStyle/>
          <a:p>
            <a:r>
              <a:rPr lang="en-US" sz="3200"/>
              <a:t>Software Layers Group Pre-configured Software Components</a:t>
            </a:r>
          </a:p>
        </p:txBody>
      </p:sp>
      <p:sp>
        <p:nvSpPr>
          <p:cNvPr id="4" name="Text Placeholder 3">
            <a:extLst>
              <a:ext uri="{FF2B5EF4-FFF2-40B4-BE49-F238E27FC236}">
                <a16:creationId xmlns:a16="http://schemas.microsoft.com/office/drawing/2014/main" id="{30D7E723-384B-4C01-AD05-AA23E9DE3B9E}"/>
              </a:ext>
            </a:extLst>
          </p:cNvPr>
          <p:cNvSpPr>
            <a:spLocks noGrp="1"/>
          </p:cNvSpPr>
          <p:nvPr>
            <p:ph type="body" sz="quarter" idx="13"/>
          </p:nvPr>
        </p:nvSpPr>
        <p:spPr>
          <a:xfrm>
            <a:off x="479425" y="683698"/>
            <a:ext cx="11233150" cy="344488"/>
          </a:xfrm>
        </p:spPr>
        <p:txBody>
          <a:bodyPr/>
          <a:lstStyle/>
          <a:p>
            <a:r>
              <a:rPr lang="en-US"/>
              <a:t>IoT for Cortex-M – reference examples for many evaluation kits</a:t>
            </a:r>
            <a:endParaRPr lang="en-GB"/>
          </a:p>
        </p:txBody>
      </p:sp>
      <p:sp>
        <p:nvSpPr>
          <p:cNvPr id="21" name="Rectangle 20">
            <a:extLst>
              <a:ext uri="{FF2B5EF4-FFF2-40B4-BE49-F238E27FC236}">
                <a16:creationId xmlns:a16="http://schemas.microsoft.com/office/drawing/2014/main" id="{55D6DD88-1FD7-4BA4-AB28-44E626DD2497}"/>
              </a:ext>
            </a:extLst>
          </p:cNvPr>
          <p:cNvSpPr/>
          <p:nvPr/>
        </p:nvSpPr>
        <p:spPr>
          <a:xfrm>
            <a:off x="580103" y="2940140"/>
            <a:ext cx="5142437" cy="1187998"/>
          </a:xfrm>
          <a:prstGeom prst="rect">
            <a:avLst/>
          </a:prstGeom>
          <a:solidFill>
            <a:schemeClr val="accent1">
              <a:lumMod val="40000"/>
              <a:lumOff val="60000"/>
              <a:alpha val="40000"/>
            </a:schemeClr>
          </a:solidFill>
          <a:ln w="9525" cap="flat" cmpd="sng" algn="ctr">
            <a:noFill/>
            <a:prstDash val="solid"/>
          </a:ln>
          <a:effectLst/>
        </p:spPr>
        <p:txBody>
          <a:bodyPr vert="vert270" lIns="36003" tIns="45723" rIns="91444" bIns="45723" rtlCol="0" anchor="t"/>
          <a:lstStyle/>
          <a:p>
            <a:pPr marL="0" marR="0" lvl="0" indent="0" algn="ctr" defTabSz="457210" rtl="0" eaLnBrk="1" fontAlgn="auto" latinLnBrk="0" hangingPunct="1">
              <a:lnSpc>
                <a:spcPts val="1700"/>
              </a:lnSpc>
              <a:spcBef>
                <a:spcPts val="0"/>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mn-cs"/>
              </a:rPr>
              <a:t>Board</a:t>
            </a:r>
            <a:br>
              <a:rPr kumimoji="0" lang="en-US" sz="16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mn-cs"/>
              </a:rPr>
            </a:br>
            <a:r>
              <a:rPr kumimoji="0" lang="en-US" sz="16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mn-cs"/>
              </a:rPr>
              <a:t>Layer</a:t>
            </a:r>
            <a:endParaRPr kumimoji="0" lang="en-GB" sz="16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mn-cs"/>
            </a:endParaRPr>
          </a:p>
        </p:txBody>
      </p:sp>
      <p:sp>
        <p:nvSpPr>
          <p:cNvPr id="22" name="Rectangle 21">
            <a:extLst>
              <a:ext uri="{FF2B5EF4-FFF2-40B4-BE49-F238E27FC236}">
                <a16:creationId xmlns:a16="http://schemas.microsoft.com/office/drawing/2014/main" id="{625250BE-9572-402C-BAC5-3DB87DF2F7C0}"/>
              </a:ext>
            </a:extLst>
          </p:cNvPr>
          <p:cNvSpPr/>
          <p:nvPr/>
        </p:nvSpPr>
        <p:spPr>
          <a:xfrm>
            <a:off x="584200" y="4252722"/>
            <a:ext cx="6940188" cy="821881"/>
          </a:xfrm>
          <a:prstGeom prst="rect">
            <a:avLst/>
          </a:prstGeom>
          <a:solidFill>
            <a:srgbClr val="808082">
              <a:alpha val="40000"/>
            </a:srgbClr>
          </a:solidFill>
          <a:ln w="9525" cap="flat" cmpd="sng" algn="ctr">
            <a:noFill/>
            <a:prstDash val="solid"/>
          </a:ln>
          <a:effectLst/>
        </p:spPr>
        <p:txBody>
          <a:bodyPr vert="vert270" lIns="144007" tIns="45723" rIns="91444" bIns="45723" rtlCol="0" anchor="t"/>
          <a:lstStyle/>
          <a:p>
            <a:pPr marL="0" marR="0" lvl="0" indent="0" algn="ctr" defTabSz="457210"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mn-cs"/>
              </a:rPr>
              <a:t>MCU</a:t>
            </a:r>
          </a:p>
        </p:txBody>
      </p:sp>
      <p:sp>
        <p:nvSpPr>
          <p:cNvPr id="27" name="Rectangle 26">
            <a:extLst>
              <a:ext uri="{FF2B5EF4-FFF2-40B4-BE49-F238E27FC236}">
                <a16:creationId xmlns:a16="http://schemas.microsoft.com/office/drawing/2014/main" id="{B5AA21C1-2259-49A4-81EC-B41EA89DA738}"/>
              </a:ext>
            </a:extLst>
          </p:cNvPr>
          <p:cNvSpPr/>
          <p:nvPr/>
        </p:nvSpPr>
        <p:spPr>
          <a:xfrm>
            <a:off x="3905434" y="5451181"/>
            <a:ext cx="1645920" cy="1167328"/>
          </a:xfrm>
          <a:prstGeom prst="rect">
            <a:avLst/>
          </a:prstGeom>
          <a:solidFill>
            <a:srgbClr val="58595B"/>
          </a:solidFill>
          <a:ln w="9525" cap="flat" cmpd="sng" algn="ctr">
            <a:noFill/>
            <a:prstDash val="solid"/>
          </a:ln>
          <a:effectLst/>
        </p:spPr>
        <p:txBody>
          <a:bodyPr lIns="91444" tIns="45723" rIns="91444" bIns="45723" numCol="1" rtlCol="0" anchor="t"/>
          <a:lstStyle/>
          <a:p>
            <a:pPr marL="0" marR="0" lvl="0" indent="0" algn="l" defTabSz="4572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Board</a:t>
            </a:r>
          </a:p>
          <a:p>
            <a:pPr marL="114304" marR="0" lvl="0" indent="-114304" algn="l" defTabSz="45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LED</a:t>
            </a:r>
          </a:p>
          <a:p>
            <a:pPr marL="114304" marR="0" lvl="0" indent="-114304" algn="l" defTabSz="45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Sensor inputs</a:t>
            </a:r>
          </a:p>
          <a:p>
            <a:pPr marL="114304" marR="0" lvl="0" indent="-114304" algn="l" defTabSz="45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Display</a:t>
            </a:r>
          </a:p>
        </p:txBody>
      </p:sp>
      <p:sp>
        <p:nvSpPr>
          <p:cNvPr id="30" name="Down Arrow 26">
            <a:extLst>
              <a:ext uri="{FF2B5EF4-FFF2-40B4-BE49-F238E27FC236}">
                <a16:creationId xmlns:a16="http://schemas.microsoft.com/office/drawing/2014/main" id="{D6981AE9-5DF4-413F-9F55-F18CBA15AB85}"/>
              </a:ext>
            </a:extLst>
          </p:cNvPr>
          <p:cNvSpPr/>
          <p:nvPr/>
        </p:nvSpPr>
        <p:spPr>
          <a:xfrm>
            <a:off x="4148074" y="1639615"/>
            <a:ext cx="1160951" cy="3811570"/>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444" tIns="45723" rIns="91444" bIns="45723" rtlCol="0" anchor="ctr"/>
          <a:lstStyle/>
          <a:p>
            <a:pPr marL="0" marR="0" lvl="0" indent="0" algn="ctr" defTabSz="457210" rtl="0" eaLnBrk="1" fontAlgn="auto" latinLnBrk="0" hangingPunct="1">
              <a:lnSpc>
                <a:spcPct val="100000"/>
              </a:lnSpc>
              <a:spcBef>
                <a:spcPts val="0"/>
              </a:spcBef>
              <a:spcAft>
                <a:spcPts val="0"/>
              </a:spcAft>
              <a:buClrTx/>
              <a:buSzTx/>
              <a:buFontTx/>
              <a:buNone/>
              <a:tabLst/>
              <a:defRPr/>
            </a:pPr>
            <a:endParaRPr kumimoji="0" lang="en-GB" sz="1467"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endParaRPr>
          </a:p>
        </p:txBody>
      </p:sp>
      <p:sp>
        <p:nvSpPr>
          <p:cNvPr id="40" name="Rectangle 39">
            <a:extLst>
              <a:ext uri="{FF2B5EF4-FFF2-40B4-BE49-F238E27FC236}">
                <a16:creationId xmlns:a16="http://schemas.microsoft.com/office/drawing/2014/main" id="{E68A9320-69F2-4B09-9EC9-F66B43DA0FD1}"/>
              </a:ext>
            </a:extLst>
          </p:cNvPr>
          <p:cNvSpPr/>
          <p:nvPr/>
        </p:nvSpPr>
        <p:spPr>
          <a:xfrm>
            <a:off x="3919136" y="3009534"/>
            <a:ext cx="1645920" cy="445876"/>
          </a:xfrm>
          <a:prstGeom prst="rect">
            <a:avLst/>
          </a:prstGeom>
          <a:solidFill>
            <a:srgbClr val="4E5584"/>
          </a:solidFill>
          <a:ln w="9525" cap="flat" cmpd="sng" algn="ctr">
            <a:noFill/>
            <a:prstDash val="solid"/>
          </a:ln>
          <a:effectLst/>
        </p:spPr>
        <p:txBody>
          <a:bodyPr lIns="36003" tIns="45723" rIns="36003" bIns="45723" rtlCol="0" anchor="ctr"/>
          <a:lstStyle/>
          <a:p>
            <a:pPr marL="0" marR="0" lvl="0" indent="0" algn="ctr" defTabSz="4572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CMSIS-Driver-VIO</a:t>
            </a:r>
          </a:p>
          <a:p>
            <a:pPr marL="0" marR="0" lvl="0" indent="0" algn="ctr" defTabSz="45721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Virtual I/O</a:t>
            </a:r>
          </a:p>
        </p:txBody>
      </p:sp>
      <p:sp>
        <p:nvSpPr>
          <p:cNvPr id="41" name="Rectangle 40">
            <a:extLst>
              <a:ext uri="{FF2B5EF4-FFF2-40B4-BE49-F238E27FC236}">
                <a16:creationId xmlns:a16="http://schemas.microsoft.com/office/drawing/2014/main" id="{A4F01639-7D0D-46C0-B57C-1A095CC940E5}"/>
              </a:ext>
            </a:extLst>
          </p:cNvPr>
          <p:cNvSpPr/>
          <p:nvPr/>
        </p:nvSpPr>
        <p:spPr>
          <a:xfrm>
            <a:off x="7524387" y="3000565"/>
            <a:ext cx="1645920" cy="445876"/>
          </a:xfrm>
          <a:prstGeom prst="rect">
            <a:avLst/>
          </a:prstGeom>
          <a:solidFill>
            <a:srgbClr val="4E5584"/>
          </a:solidFill>
          <a:ln w="9525" cap="flat" cmpd="sng" algn="ctr">
            <a:noFill/>
            <a:prstDash val="solid"/>
          </a:ln>
          <a:effectLst/>
        </p:spPr>
        <p:txBody>
          <a:bodyPr lIns="36003" tIns="45723" rIns="36003" bIns="45723" rtlCol="0" anchor="ctr"/>
          <a:lstStyle/>
          <a:p>
            <a:pPr marL="0" marR="0" lvl="0" indent="0" algn="ctr" defTabSz="4572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CMSIS-RTOS2</a:t>
            </a:r>
          </a:p>
        </p:txBody>
      </p:sp>
      <p:sp>
        <p:nvSpPr>
          <p:cNvPr id="35" name="Rectangle 34">
            <a:extLst>
              <a:ext uri="{FF2B5EF4-FFF2-40B4-BE49-F238E27FC236}">
                <a16:creationId xmlns:a16="http://schemas.microsoft.com/office/drawing/2014/main" id="{7A4F3A5B-12F3-433E-AC31-A6F9BE832221}"/>
              </a:ext>
            </a:extLst>
          </p:cNvPr>
          <p:cNvSpPr/>
          <p:nvPr/>
        </p:nvSpPr>
        <p:spPr>
          <a:xfrm>
            <a:off x="3926964" y="1347951"/>
            <a:ext cx="1659984" cy="610321"/>
          </a:xfrm>
          <a:prstGeom prst="rect">
            <a:avLst/>
          </a:prstGeom>
          <a:solidFill>
            <a:srgbClr val="128CAB">
              <a:alpha val="80000"/>
            </a:srgbClr>
          </a:solidFill>
          <a:ln w="9525" cap="flat" cmpd="sng" algn="ctr">
            <a:noFill/>
            <a:prstDash val="solid"/>
          </a:ln>
          <a:effectLst/>
        </p:spPr>
        <p:txBody>
          <a:bodyPr lIns="91444" tIns="45723" rIns="91444" bIns="45723" rtlCol="0" anchor="ctr"/>
          <a:lstStyle/>
          <a:p>
            <a:pPr marL="0" marR="0" lvl="0" indent="0" algn="ctr" defTabSz="4572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FFFFFF"/>
                </a:solidFill>
                <a:effectLst/>
                <a:uLnTx/>
                <a:uFillTx/>
                <a:latin typeface="+mn-lt"/>
                <a:ea typeface="ＭＳ Ｐゴシック" panose="020B0600070205080204" pitchFamily="34" charset="-128"/>
                <a:cs typeface="+mn-cs"/>
              </a:rPr>
              <a:t>Example Application Code</a:t>
            </a:r>
            <a:endParaRPr kumimoji="0" lang="en-GB" sz="1600" b="0" i="0" u="none" strike="noStrike" kern="0" cap="none" spc="0" normalizeH="0" baseline="0" noProof="0" dirty="0">
              <a:ln>
                <a:noFill/>
              </a:ln>
              <a:solidFill>
                <a:srgbClr val="FFFFFF"/>
              </a:solidFill>
              <a:effectLst/>
              <a:uLnTx/>
              <a:uFillTx/>
              <a:latin typeface="+mn-lt"/>
              <a:ea typeface="ＭＳ Ｐゴシック" panose="020B0600070205080204" pitchFamily="34" charset="-128"/>
              <a:cs typeface="+mn-cs"/>
            </a:endParaRPr>
          </a:p>
        </p:txBody>
      </p:sp>
      <p:sp>
        <p:nvSpPr>
          <p:cNvPr id="39" name="Rectangle 38">
            <a:extLst>
              <a:ext uri="{FF2B5EF4-FFF2-40B4-BE49-F238E27FC236}">
                <a16:creationId xmlns:a16="http://schemas.microsoft.com/office/drawing/2014/main" id="{753CD197-D1CC-4FBD-9594-AC59E6CDC8A8}"/>
              </a:ext>
            </a:extLst>
          </p:cNvPr>
          <p:cNvSpPr/>
          <p:nvPr/>
        </p:nvSpPr>
        <p:spPr>
          <a:xfrm rot="16200000">
            <a:off x="9374313" y="2256249"/>
            <a:ext cx="2715769" cy="2425171"/>
          </a:xfrm>
          <a:prstGeom prst="rect">
            <a:avLst/>
          </a:prstGeom>
          <a:solidFill>
            <a:schemeClr val="accent6">
              <a:lumMod val="40000"/>
              <a:lumOff val="60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852"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42" name="TextBox 41">
            <a:extLst>
              <a:ext uri="{FF2B5EF4-FFF2-40B4-BE49-F238E27FC236}">
                <a16:creationId xmlns:a16="http://schemas.microsoft.com/office/drawing/2014/main" id="{2F331FBC-B4AA-4EE8-8ADE-61EE96C87EE7}"/>
              </a:ext>
            </a:extLst>
          </p:cNvPr>
          <p:cNvSpPr txBox="1"/>
          <p:nvPr/>
        </p:nvSpPr>
        <p:spPr>
          <a:xfrm>
            <a:off x="9523844" y="2163035"/>
            <a:ext cx="2406935" cy="520142"/>
          </a:xfrm>
          <a:prstGeom prst="rect">
            <a:avLst/>
          </a:prstGeom>
          <a:noFill/>
        </p:spPr>
        <p:txBody>
          <a:bodyPr wrap="square" lIns="0" tIns="0" rIns="0" bIns="0" rtlCol="0" anchor="t">
            <a:spAutoFit/>
          </a:bodyPr>
          <a:lstStyle/>
          <a:p>
            <a:pPr algn="ctr" defTabSz="914126" eaLnBrk="1" hangingPunct="1">
              <a:lnSpc>
                <a:spcPct val="90000"/>
              </a:lnSpc>
              <a:spcBef>
                <a:spcPts val="0"/>
              </a:spcBef>
              <a:spcAft>
                <a:spcPts val="600"/>
              </a:spcAft>
              <a:defRPr/>
            </a:pPr>
            <a:r>
              <a:rPr kumimoji="0" lang="en-GB" sz="1600" b="0" i="0" u="none" strike="noStrike" kern="1200" cap="none" spc="0" normalizeH="0" baseline="0" noProof="0">
                <a:ln>
                  <a:noFill/>
                </a:ln>
                <a:solidFill>
                  <a:srgbClr val="333E48"/>
                </a:solidFill>
                <a:effectLst/>
                <a:uLnTx/>
                <a:uFillTx/>
                <a:latin typeface="+mn-lt"/>
                <a:ea typeface="ＭＳ Ｐゴシック"/>
                <a:cs typeface="+mn-cs"/>
              </a:rPr>
              <a:t>Trusted </a:t>
            </a:r>
            <a:r>
              <a:rPr lang="en-GB" sz="1600">
                <a:solidFill>
                  <a:srgbClr val="333E48"/>
                </a:solidFill>
                <a:latin typeface="+mn-lt"/>
                <a:ea typeface="ＭＳ Ｐゴシック"/>
              </a:rPr>
              <a:t>Firmware-M (TF-M)</a:t>
            </a:r>
            <a:endParaRPr lang="en-US" sz="1600">
              <a:solidFill>
                <a:srgbClr val="333E48"/>
              </a:solidFill>
              <a:latin typeface="+mn-lt"/>
              <a:ea typeface="ＭＳ Ｐゴシック"/>
            </a:endParaRPr>
          </a:p>
          <a:p>
            <a:pPr algn="ctr" defTabSz="914126">
              <a:lnSpc>
                <a:spcPct val="90000"/>
              </a:lnSpc>
              <a:spcBef>
                <a:spcPts val="0"/>
              </a:spcBef>
              <a:spcAft>
                <a:spcPts val="600"/>
              </a:spcAft>
              <a:defRPr/>
            </a:pPr>
            <a:r>
              <a:rPr lang="en-GB" sz="1600">
                <a:solidFill>
                  <a:srgbClr val="333E48"/>
                </a:solidFill>
                <a:latin typeface="+mn-lt"/>
                <a:ea typeface="ＭＳ Ｐゴシック"/>
              </a:rPr>
              <a:t>implements</a:t>
            </a:r>
            <a:r>
              <a:rPr kumimoji="0" lang="en-GB" sz="1600" b="0" i="0" u="none" strike="noStrike" kern="1200" cap="none" spc="0" normalizeH="0" baseline="0" noProof="0">
                <a:ln>
                  <a:noFill/>
                </a:ln>
                <a:solidFill>
                  <a:srgbClr val="333E48"/>
                </a:solidFill>
                <a:effectLst/>
                <a:uLnTx/>
                <a:uFillTx/>
                <a:latin typeface="+mn-lt"/>
                <a:ea typeface="ＭＳ Ｐゴシック"/>
                <a:cs typeface="+mn-cs"/>
              </a:rPr>
              <a:t> Security</a:t>
            </a:r>
            <a:endParaRPr lang="en-US" sz="1600" b="0" i="0" u="none" strike="noStrike" kern="1200" cap="none" spc="0" normalizeH="0" baseline="0" noProof="0">
              <a:ln>
                <a:noFill/>
              </a:ln>
              <a:solidFill>
                <a:srgbClr val="333E48"/>
              </a:solidFill>
              <a:effectLst/>
              <a:uLnTx/>
              <a:uFillTx/>
              <a:latin typeface="+mn-lt"/>
              <a:ea typeface="ＭＳ Ｐゴシック"/>
              <a:cs typeface="Calibri"/>
            </a:endParaRPr>
          </a:p>
        </p:txBody>
      </p:sp>
      <p:sp>
        <p:nvSpPr>
          <p:cNvPr id="43" name="Rectangle 42">
            <a:extLst>
              <a:ext uri="{FF2B5EF4-FFF2-40B4-BE49-F238E27FC236}">
                <a16:creationId xmlns:a16="http://schemas.microsoft.com/office/drawing/2014/main" id="{C35DC07A-006F-4A06-9ED6-E627D3375AF2}"/>
              </a:ext>
            </a:extLst>
          </p:cNvPr>
          <p:cNvSpPr/>
          <p:nvPr/>
        </p:nvSpPr>
        <p:spPr>
          <a:xfrm>
            <a:off x="9697292" y="3331378"/>
            <a:ext cx="2069727" cy="4077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852"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white"/>
                </a:solidFill>
                <a:effectLst/>
                <a:uLnTx/>
                <a:uFillTx/>
                <a:ea typeface="+mn-ea"/>
                <a:cs typeface="+mn-cs"/>
              </a:rPr>
              <a:t>Storage</a:t>
            </a:r>
          </a:p>
        </p:txBody>
      </p:sp>
      <p:sp>
        <p:nvSpPr>
          <p:cNvPr id="44" name="Rectangle 43">
            <a:extLst>
              <a:ext uri="{FF2B5EF4-FFF2-40B4-BE49-F238E27FC236}">
                <a16:creationId xmlns:a16="http://schemas.microsoft.com/office/drawing/2014/main" id="{B1E222C2-3A5F-4446-9B93-A300AEFBF790}"/>
              </a:ext>
            </a:extLst>
          </p:cNvPr>
          <p:cNvSpPr/>
          <p:nvPr/>
        </p:nvSpPr>
        <p:spPr>
          <a:xfrm>
            <a:off x="9697130" y="2842472"/>
            <a:ext cx="2069729" cy="4077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852"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white"/>
                </a:solidFill>
                <a:effectLst/>
                <a:uLnTx/>
                <a:uFillTx/>
                <a:ea typeface="+mn-ea"/>
                <a:cs typeface="+mn-cs"/>
              </a:rPr>
              <a:t>Crypto</a:t>
            </a:r>
          </a:p>
        </p:txBody>
      </p:sp>
      <p:sp>
        <p:nvSpPr>
          <p:cNvPr id="45" name="Rectangle 44">
            <a:extLst>
              <a:ext uri="{FF2B5EF4-FFF2-40B4-BE49-F238E27FC236}">
                <a16:creationId xmlns:a16="http://schemas.microsoft.com/office/drawing/2014/main" id="{7A0F3903-7CAB-4B03-8AD4-751A3FF804B7}"/>
              </a:ext>
            </a:extLst>
          </p:cNvPr>
          <p:cNvSpPr/>
          <p:nvPr/>
        </p:nvSpPr>
        <p:spPr>
          <a:xfrm>
            <a:off x="9687827" y="3811732"/>
            <a:ext cx="2069726" cy="4077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852"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white"/>
                </a:solidFill>
                <a:effectLst/>
                <a:uLnTx/>
                <a:uFillTx/>
                <a:ea typeface="+mn-ea"/>
                <a:cs typeface="+mn-cs"/>
              </a:rPr>
              <a:t>Attestation</a:t>
            </a:r>
          </a:p>
        </p:txBody>
      </p:sp>
      <p:cxnSp>
        <p:nvCxnSpPr>
          <p:cNvPr id="46" name="Straight Connector 45">
            <a:extLst>
              <a:ext uri="{FF2B5EF4-FFF2-40B4-BE49-F238E27FC236}">
                <a16:creationId xmlns:a16="http://schemas.microsoft.com/office/drawing/2014/main" id="{0DC64ACC-FD66-47E2-BEED-E0C56248FD8E}"/>
              </a:ext>
            </a:extLst>
          </p:cNvPr>
          <p:cNvCxnSpPr>
            <a:cxnSpLocks/>
          </p:cNvCxnSpPr>
          <p:nvPr/>
        </p:nvCxnSpPr>
        <p:spPr>
          <a:xfrm>
            <a:off x="9397312" y="1485900"/>
            <a:ext cx="0" cy="3619500"/>
          </a:xfrm>
          <a:prstGeom prst="line">
            <a:avLst/>
          </a:prstGeom>
          <a:ln w="31750">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1927755F-4B8E-4B6D-842E-9AAA27EF9B2E}"/>
              </a:ext>
            </a:extLst>
          </p:cNvPr>
          <p:cNvSpPr/>
          <p:nvPr/>
        </p:nvSpPr>
        <p:spPr>
          <a:xfrm>
            <a:off x="9684779" y="4302460"/>
            <a:ext cx="2069726" cy="4077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3852"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white"/>
                </a:solidFill>
                <a:effectLst/>
                <a:uLnTx/>
                <a:uFillTx/>
                <a:ea typeface="+mn-ea"/>
                <a:cs typeface="+mn-cs"/>
              </a:rPr>
              <a:t>Secure Boot</a:t>
            </a:r>
          </a:p>
        </p:txBody>
      </p:sp>
      <p:sp>
        <p:nvSpPr>
          <p:cNvPr id="38" name="Right Brace 37">
            <a:extLst>
              <a:ext uri="{FF2B5EF4-FFF2-40B4-BE49-F238E27FC236}">
                <a16:creationId xmlns:a16="http://schemas.microsoft.com/office/drawing/2014/main" id="{CCD7AC10-3263-4A71-9152-DCE894863E92}"/>
              </a:ext>
            </a:extLst>
          </p:cNvPr>
          <p:cNvSpPr/>
          <p:nvPr/>
        </p:nvSpPr>
        <p:spPr>
          <a:xfrm rot="16200000">
            <a:off x="10563499" y="765012"/>
            <a:ext cx="341088" cy="2421484"/>
          </a:xfrm>
          <a:prstGeom prst="rightBrace">
            <a:avLst>
              <a:gd name="adj1" fmla="val 79894"/>
              <a:gd name="adj2" fmla="val 50784"/>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a:p>
        </p:txBody>
      </p:sp>
      <p:sp>
        <p:nvSpPr>
          <p:cNvPr id="48" name="TextBox 47">
            <a:extLst>
              <a:ext uri="{FF2B5EF4-FFF2-40B4-BE49-F238E27FC236}">
                <a16:creationId xmlns:a16="http://schemas.microsoft.com/office/drawing/2014/main" id="{0D1D4D40-5171-4513-8434-8B578C3DADB7}"/>
              </a:ext>
            </a:extLst>
          </p:cNvPr>
          <p:cNvSpPr txBox="1"/>
          <p:nvPr/>
        </p:nvSpPr>
        <p:spPr>
          <a:xfrm>
            <a:off x="9549245" y="1462769"/>
            <a:ext cx="2235200" cy="249299"/>
          </a:xfrm>
          <a:prstGeom prst="rect">
            <a:avLst/>
          </a:prstGeom>
          <a:noFill/>
        </p:spPr>
        <p:txBody>
          <a:bodyPr wrap="square" lIns="0" tIns="0" rIns="0" bIns="0" rtlCol="0">
            <a:spAutoFit/>
          </a:bodyPr>
          <a:lstStyle/>
          <a:p>
            <a:pPr algn="ctr" defTabSz="914126" eaLnBrk="1" hangingPunct="1">
              <a:lnSpc>
                <a:spcPct val="90000"/>
              </a:lnSpc>
              <a:spcBef>
                <a:spcPts val="0"/>
              </a:spcBef>
              <a:spcAft>
                <a:spcPts val="600"/>
              </a:spcAft>
            </a:pPr>
            <a:r>
              <a:rPr lang="en-GB" err="1">
                <a:solidFill>
                  <a:schemeClr val="tx2"/>
                </a:solidFill>
                <a:latin typeface="+mn-lt"/>
                <a:ea typeface="+mn-ea"/>
              </a:rPr>
              <a:t>TrustZone</a:t>
            </a:r>
            <a:r>
              <a:rPr lang="en-GB">
                <a:solidFill>
                  <a:schemeClr val="tx2"/>
                </a:solidFill>
                <a:latin typeface="+mn-lt"/>
                <a:ea typeface="+mn-ea"/>
              </a:rPr>
              <a:t> Security</a:t>
            </a:r>
            <a:endParaRPr lang="en-US">
              <a:solidFill>
                <a:schemeClr val="tx2"/>
              </a:solidFill>
              <a:latin typeface="+mn-lt"/>
              <a:ea typeface="+mn-ea"/>
            </a:endParaRPr>
          </a:p>
        </p:txBody>
      </p:sp>
      <p:sp>
        <p:nvSpPr>
          <p:cNvPr id="53" name="Rectangle 52">
            <a:extLst>
              <a:ext uri="{FF2B5EF4-FFF2-40B4-BE49-F238E27FC236}">
                <a16:creationId xmlns:a16="http://schemas.microsoft.com/office/drawing/2014/main" id="{E4776C67-AD7C-4F51-942A-8BD54C4E6887}"/>
              </a:ext>
            </a:extLst>
          </p:cNvPr>
          <p:cNvSpPr/>
          <p:nvPr/>
        </p:nvSpPr>
        <p:spPr>
          <a:xfrm>
            <a:off x="7516073" y="3583382"/>
            <a:ext cx="1650489" cy="445876"/>
          </a:xfrm>
          <a:prstGeom prst="rect">
            <a:avLst/>
          </a:prstGeom>
          <a:solidFill>
            <a:schemeClr val="accent5">
              <a:lumMod val="75000"/>
            </a:schemeClr>
          </a:solidFill>
          <a:ln w="9525" cap="flat" cmpd="sng" algn="ctr">
            <a:noFill/>
            <a:prstDash val="solid"/>
          </a:ln>
          <a:effectLst/>
        </p:spPr>
        <p:txBody>
          <a:bodyPr lIns="91444" tIns="45723" rIns="91444" bIns="45723" rtlCol="0" anchor="ctr"/>
          <a:lstStyle/>
          <a:p>
            <a:pPr marL="0" marR="0" lvl="0" indent="0" algn="ctr" defTabSz="4572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err="1">
                <a:ln>
                  <a:noFill/>
                </a:ln>
                <a:solidFill>
                  <a:srgbClr val="FFFFFF"/>
                </a:solidFill>
                <a:effectLst/>
                <a:uLnTx/>
                <a:uFillTx/>
                <a:latin typeface="+mn-lt"/>
                <a:ea typeface="ＭＳ Ｐゴシック" panose="020B0600070205080204" pitchFamily="34" charset="-128"/>
                <a:cs typeface="+mn-cs"/>
              </a:rPr>
              <a:t>FreeRTOS</a:t>
            </a:r>
            <a:r>
              <a:rPr kumimoji="0" lang="en-US" sz="1600" b="0" i="0" u="none" strike="noStrike" kern="0" cap="none" spc="0" normalizeH="0" baseline="0" noProof="0" dirty="0">
                <a:ln>
                  <a:noFill/>
                </a:ln>
                <a:solidFill>
                  <a:srgbClr val="FFFFFF"/>
                </a:solidFill>
                <a:effectLst/>
                <a:uLnTx/>
                <a:uFillTx/>
                <a:latin typeface="+mn-lt"/>
                <a:ea typeface="ＭＳ Ｐゴシック" panose="020B0600070205080204" pitchFamily="34" charset="-128"/>
                <a:cs typeface="+mn-cs"/>
              </a:rPr>
              <a:t>, RTX, </a:t>
            </a:r>
            <a:r>
              <a:rPr kumimoji="0" lang="en-US" sz="1100" b="0" i="0" u="none" strike="noStrike" kern="0" cap="none" spc="0" normalizeH="0" baseline="0" noProof="0" dirty="0">
                <a:ln>
                  <a:noFill/>
                </a:ln>
                <a:solidFill>
                  <a:srgbClr val="FFFFFF"/>
                </a:solidFill>
                <a:effectLst/>
                <a:uLnTx/>
                <a:uFillTx/>
                <a:latin typeface="+mn-lt"/>
                <a:ea typeface="ＭＳ Ｐゴシック" panose="020B0600070205080204" pitchFamily="34" charset="-128"/>
                <a:cs typeface="+mn-cs"/>
              </a:rPr>
              <a:t>…</a:t>
            </a:r>
          </a:p>
        </p:txBody>
      </p:sp>
      <p:sp>
        <p:nvSpPr>
          <p:cNvPr id="59" name="Rectangle 58">
            <a:extLst>
              <a:ext uri="{FF2B5EF4-FFF2-40B4-BE49-F238E27FC236}">
                <a16:creationId xmlns:a16="http://schemas.microsoft.com/office/drawing/2014/main" id="{15D0AF1A-D23A-4240-B5E3-2FEA3A4CFA96}"/>
              </a:ext>
            </a:extLst>
          </p:cNvPr>
          <p:cNvSpPr/>
          <p:nvPr/>
        </p:nvSpPr>
        <p:spPr>
          <a:xfrm>
            <a:off x="1234083" y="5451181"/>
            <a:ext cx="1645920" cy="1167328"/>
          </a:xfrm>
          <a:prstGeom prst="rect">
            <a:avLst/>
          </a:prstGeom>
          <a:solidFill>
            <a:srgbClr val="58595B"/>
          </a:solidFill>
          <a:ln w="9525" cap="flat" cmpd="sng" algn="ctr">
            <a:noFill/>
            <a:prstDash val="solid"/>
          </a:ln>
          <a:effectLst/>
        </p:spPr>
        <p:txBody>
          <a:bodyPr lIns="91444" tIns="45723" rIns="91444" bIns="45723" rtlCol="0" anchor="t"/>
          <a:lstStyle/>
          <a:p>
            <a:pPr marL="114304" marR="0" lvl="0" indent="-114304" algn="l" defTabSz="45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SPI</a:t>
            </a:r>
          </a:p>
          <a:p>
            <a:pPr marL="114304" marR="0" lvl="0" indent="-114304" algn="l" defTabSz="45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I2C</a:t>
            </a:r>
          </a:p>
          <a:p>
            <a:pPr marL="114304" marR="0" lvl="0" indent="-114304" algn="l" defTabSz="45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USART</a:t>
            </a:r>
          </a:p>
          <a:p>
            <a:pPr marL="114304" marR="0" lvl="0" indent="-114304" algn="l" defTabSz="45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err="1">
                <a:ln>
                  <a:noFill/>
                </a:ln>
                <a:solidFill>
                  <a:srgbClr val="FFFFFF"/>
                </a:solidFill>
                <a:effectLst/>
                <a:uLnTx/>
                <a:uFillTx/>
                <a:latin typeface="+mn-lt"/>
                <a:ea typeface="ＭＳ Ｐゴシック" panose="020B0600070205080204" pitchFamily="34" charset="-128"/>
                <a:cs typeface="+mn-cs"/>
              </a:rPr>
              <a:t>WiFi</a:t>
            </a:r>
            <a:br>
              <a:rPr kumimoji="0" lang="en-US" sz="12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br>
            <a:endParaRPr kumimoji="0" lang="en-US" sz="12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endParaRPr>
          </a:p>
        </p:txBody>
      </p:sp>
      <p:sp>
        <p:nvSpPr>
          <p:cNvPr id="60" name="Down Arrow 23">
            <a:extLst>
              <a:ext uri="{FF2B5EF4-FFF2-40B4-BE49-F238E27FC236}">
                <a16:creationId xmlns:a16="http://schemas.microsoft.com/office/drawing/2014/main" id="{3713E8F0-69F7-4A10-AB71-F7212563F60F}"/>
              </a:ext>
            </a:extLst>
          </p:cNvPr>
          <p:cNvSpPr/>
          <p:nvPr/>
        </p:nvSpPr>
        <p:spPr>
          <a:xfrm>
            <a:off x="1460005" y="1631731"/>
            <a:ext cx="1160951" cy="3819451"/>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444" tIns="45723" rIns="91444" bIns="45723" rtlCol="0" anchor="ctr"/>
          <a:lstStyle/>
          <a:p>
            <a:pPr marL="0" marR="0" lvl="0" indent="0" algn="ctr" defTabSz="457210" rtl="0" eaLnBrk="1" fontAlgn="auto" latinLnBrk="0" hangingPunct="1">
              <a:lnSpc>
                <a:spcPct val="100000"/>
              </a:lnSpc>
              <a:spcBef>
                <a:spcPts val="0"/>
              </a:spcBef>
              <a:spcAft>
                <a:spcPts val="0"/>
              </a:spcAft>
              <a:buClrTx/>
              <a:buSzTx/>
              <a:buFontTx/>
              <a:buNone/>
              <a:tabLst/>
              <a:defRPr/>
            </a:pPr>
            <a:endParaRPr kumimoji="0" lang="en-GB" sz="1467"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endParaRPr>
          </a:p>
        </p:txBody>
      </p:sp>
      <p:sp>
        <p:nvSpPr>
          <p:cNvPr id="61" name="Rectangle 60">
            <a:extLst>
              <a:ext uri="{FF2B5EF4-FFF2-40B4-BE49-F238E27FC236}">
                <a16:creationId xmlns:a16="http://schemas.microsoft.com/office/drawing/2014/main" id="{A474B3E5-2D4B-40B4-B5D7-0977465B1959}"/>
              </a:ext>
            </a:extLst>
          </p:cNvPr>
          <p:cNvSpPr/>
          <p:nvPr/>
        </p:nvSpPr>
        <p:spPr>
          <a:xfrm>
            <a:off x="1246628" y="3008151"/>
            <a:ext cx="1645920" cy="445876"/>
          </a:xfrm>
          <a:prstGeom prst="rect">
            <a:avLst/>
          </a:prstGeom>
          <a:solidFill>
            <a:srgbClr val="4E5584"/>
          </a:solidFill>
          <a:ln w="9525" cap="flat" cmpd="sng" algn="ctr">
            <a:noFill/>
            <a:prstDash val="solid"/>
          </a:ln>
          <a:effectLst/>
        </p:spPr>
        <p:txBody>
          <a:bodyPr lIns="36003" tIns="45723" rIns="36003" bIns="45723" rtlCol="0" anchor="ctr"/>
          <a:lstStyle/>
          <a:p>
            <a:pPr marL="0" marR="0" lvl="0" indent="0" algn="ctr" defTabSz="4572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CMSIS-Driver</a:t>
            </a:r>
          </a:p>
          <a:p>
            <a:pPr marL="0" marR="0" lvl="0" indent="0" algn="ctr" defTabSz="457210" rtl="0" eaLnBrk="1" fontAlgn="auto" latinLnBrk="0" hangingPunct="1">
              <a:lnSpc>
                <a:spcPct val="100000"/>
              </a:lnSpc>
              <a:spcBef>
                <a:spcPts val="0"/>
              </a:spcBef>
              <a:spcAft>
                <a:spcPts val="0"/>
              </a:spcAft>
              <a:buClrTx/>
              <a:buSzTx/>
              <a:buFontTx/>
              <a:buNone/>
              <a:tabLst/>
              <a:defRPr/>
            </a:pPr>
            <a:r>
              <a:rPr lang="en-US" sz="1300" kern="0">
                <a:solidFill>
                  <a:srgbClr val="FFFFFF"/>
                </a:solidFill>
                <a:latin typeface="+mn-lt"/>
              </a:rPr>
              <a:t>SPI, UART, (Ethernet)</a:t>
            </a:r>
            <a:endParaRPr kumimoji="0" lang="en-US" sz="13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endParaRPr>
          </a:p>
        </p:txBody>
      </p:sp>
      <p:sp>
        <p:nvSpPr>
          <p:cNvPr id="62" name="Rectangle 61">
            <a:extLst>
              <a:ext uri="{FF2B5EF4-FFF2-40B4-BE49-F238E27FC236}">
                <a16:creationId xmlns:a16="http://schemas.microsoft.com/office/drawing/2014/main" id="{DAA024B8-9479-4487-8E6B-CDC493B8AE2B}"/>
              </a:ext>
            </a:extLst>
          </p:cNvPr>
          <p:cNvSpPr/>
          <p:nvPr/>
        </p:nvSpPr>
        <p:spPr>
          <a:xfrm>
            <a:off x="1238020" y="1351370"/>
            <a:ext cx="1663262" cy="608484"/>
          </a:xfrm>
          <a:prstGeom prst="rect">
            <a:avLst/>
          </a:prstGeom>
          <a:solidFill>
            <a:srgbClr val="00958B"/>
          </a:solidFill>
          <a:ln w="9525" cap="flat" cmpd="sng" algn="ctr">
            <a:noFill/>
            <a:prstDash val="solid"/>
          </a:ln>
          <a:effectLst/>
        </p:spPr>
        <p:txBody>
          <a:bodyPr lIns="91444" tIns="45723" rIns="91444" bIns="45723" rtlCol="0" anchor="ctr"/>
          <a:lstStyle/>
          <a:p>
            <a:pPr marL="0" marR="0" lvl="0" indent="0" algn="ctr" defTabSz="4572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Cloud Connector</a:t>
            </a:r>
            <a:b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br>
            <a:r>
              <a:rPr kumimoji="0" lang="en-US" sz="11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 Security</a:t>
            </a:r>
          </a:p>
        </p:txBody>
      </p:sp>
      <p:sp>
        <p:nvSpPr>
          <p:cNvPr id="63" name="Rectangle 62">
            <a:extLst>
              <a:ext uri="{FF2B5EF4-FFF2-40B4-BE49-F238E27FC236}">
                <a16:creationId xmlns:a16="http://schemas.microsoft.com/office/drawing/2014/main" id="{8C0AA59E-D4DA-4341-ADC1-325DECB83E09}"/>
              </a:ext>
            </a:extLst>
          </p:cNvPr>
          <p:cNvSpPr/>
          <p:nvPr/>
        </p:nvSpPr>
        <p:spPr>
          <a:xfrm>
            <a:off x="1229764" y="2165605"/>
            <a:ext cx="1645920" cy="624227"/>
          </a:xfrm>
          <a:prstGeom prst="rect">
            <a:avLst/>
          </a:prstGeom>
          <a:solidFill>
            <a:schemeClr val="accent3">
              <a:lumMod val="75000"/>
            </a:schemeClr>
          </a:solidFill>
          <a:ln w="9525" cap="flat" cmpd="sng" algn="ctr">
            <a:noFill/>
            <a:prstDash val="solid"/>
          </a:ln>
          <a:effectLst/>
        </p:spPr>
        <p:txBody>
          <a:bodyPr lIns="91444" tIns="45723" rIns="91444" bIns="45723" rtlCol="0" anchor="ctr"/>
          <a:lstStyle/>
          <a:p>
            <a:pPr marL="0" marR="0" lvl="0" indent="0" algn="ctr" defTabSz="45721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IoT Socket</a:t>
            </a:r>
            <a:br>
              <a:rPr kumimoji="0" lang="en-US" sz="14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br>
            <a:r>
              <a:rPr kumimoji="0" lang="en-US" sz="11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 Communication Stack</a:t>
            </a:r>
            <a:endParaRPr kumimoji="0" lang="en-US" sz="14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endParaRPr>
          </a:p>
        </p:txBody>
      </p:sp>
      <p:sp>
        <p:nvSpPr>
          <p:cNvPr id="32" name="Rectangle 31">
            <a:extLst>
              <a:ext uri="{FF2B5EF4-FFF2-40B4-BE49-F238E27FC236}">
                <a16:creationId xmlns:a16="http://schemas.microsoft.com/office/drawing/2014/main" id="{DAE774E6-04AA-4E5C-94DB-2B2CE295B15E}"/>
              </a:ext>
            </a:extLst>
          </p:cNvPr>
          <p:cNvSpPr/>
          <p:nvPr/>
        </p:nvSpPr>
        <p:spPr>
          <a:xfrm>
            <a:off x="1239716" y="4341093"/>
            <a:ext cx="4311638" cy="624227"/>
          </a:xfrm>
          <a:prstGeom prst="rect">
            <a:avLst/>
          </a:prstGeom>
          <a:solidFill>
            <a:srgbClr val="808082"/>
          </a:solidFill>
          <a:ln w="9525" cap="flat" cmpd="sng" algn="ctr">
            <a:noFill/>
            <a:prstDash val="solid"/>
          </a:ln>
          <a:effectLst/>
        </p:spPr>
        <p:txBody>
          <a:bodyPr lIns="91444" tIns="45723" rIns="91444" bIns="45723" rtlCol="0" anchor="ctr"/>
          <a:lstStyle/>
          <a:p>
            <a:pPr marL="0" marR="0" lvl="0" indent="0" algn="ctr" defTabSz="4572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Peripherals covered by real</a:t>
            </a:r>
            <a:b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b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CMSIS-Driver or VIO</a:t>
            </a:r>
            <a:r>
              <a:rPr lang="en-US" sz="1600" kern="0">
                <a:solidFill>
                  <a:srgbClr val="FFFFFF"/>
                </a:solidFill>
                <a:latin typeface="+mn-lt"/>
              </a:rPr>
              <a:t> </a:t>
            </a: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(Virtual I/O)</a:t>
            </a:r>
            <a:endParaRPr kumimoji="0" lang="en-GB"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endParaRPr>
          </a:p>
        </p:txBody>
      </p:sp>
      <p:grpSp>
        <p:nvGrpSpPr>
          <p:cNvPr id="6" name="Group 5">
            <a:extLst>
              <a:ext uri="{FF2B5EF4-FFF2-40B4-BE49-F238E27FC236}">
                <a16:creationId xmlns:a16="http://schemas.microsoft.com/office/drawing/2014/main" id="{2FC5C185-53B2-4398-B8AB-B5784808EF2D}"/>
              </a:ext>
            </a:extLst>
          </p:cNvPr>
          <p:cNvGrpSpPr/>
          <p:nvPr/>
        </p:nvGrpSpPr>
        <p:grpSpPr>
          <a:xfrm>
            <a:off x="5722540" y="1366345"/>
            <a:ext cx="3513084" cy="5252164"/>
            <a:chOff x="4858406" y="1366345"/>
            <a:chExt cx="3513084" cy="5252164"/>
          </a:xfrm>
        </p:grpSpPr>
        <p:sp>
          <p:nvSpPr>
            <p:cNvPr id="26" name="Rectangle 25">
              <a:extLst>
                <a:ext uri="{FF2B5EF4-FFF2-40B4-BE49-F238E27FC236}">
                  <a16:creationId xmlns:a16="http://schemas.microsoft.com/office/drawing/2014/main" id="{66B4BDEB-A29A-43AB-BCB8-160B10478CB6}"/>
                </a:ext>
              </a:extLst>
            </p:cNvPr>
            <p:cNvSpPr/>
            <p:nvPr/>
          </p:nvSpPr>
          <p:spPr>
            <a:xfrm>
              <a:off x="4885928" y="5451181"/>
              <a:ext cx="1645920" cy="1167328"/>
            </a:xfrm>
            <a:prstGeom prst="rect">
              <a:avLst/>
            </a:prstGeom>
            <a:solidFill>
              <a:srgbClr val="58595B"/>
            </a:solidFill>
            <a:ln w="9525" cap="flat" cmpd="sng" algn="ctr">
              <a:noFill/>
              <a:prstDash val="solid"/>
            </a:ln>
            <a:effectLst/>
          </p:spPr>
          <p:txBody>
            <a:bodyPr lIns="91444" tIns="45723" rIns="91444" bIns="45723" rtlCol="0" anchor="t"/>
            <a:lstStyle/>
            <a:p>
              <a:pPr marL="114304" marR="0" lvl="0" indent="-114304" algn="l" defTabSz="45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Timers</a:t>
              </a:r>
            </a:p>
            <a:p>
              <a:pPr marL="114304" marR="0" lvl="0" indent="-114304" algn="l" defTabSz="45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Analog</a:t>
              </a:r>
            </a:p>
            <a:p>
              <a:pPr marL="114304" marR="0" lvl="0" indent="-114304" algn="l" defTabSz="45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a:t>
              </a:r>
            </a:p>
            <a:p>
              <a:pPr marL="114304" marR="0" lvl="0" indent="-114304" algn="l" defTabSz="45721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endParaRPr>
            </a:p>
          </p:txBody>
        </p:sp>
        <p:sp>
          <p:nvSpPr>
            <p:cNvPr id="33" name="Down Arrow 28">
              <a:extLst>
                <a:ext uri="{FF2B5EF4-FFF2-40B4-BE49-F238E27FC236}">
                  <a16:creationId xmlns:a16="http://schemas.microsoft.com/office/drawing/2014/main" id="{0CA77243-2CE9-4FEA-94E0-244BC67E78BD}"/>
                </a:ext>
              </a:extLst>
            </p:cNvPr>
            <p:cNvSpPr/>
            <p:nvPr/>
          </p:nvSpPr>
          <p:spPr>
            <a:xfrm>
              <a:off x="5184209" y="1931276"/>
              <a:ext cx="1160951" cy="3519906"/>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444" tIns="45723" rIns="91444" bIns="45723" rtlCol="0" anchor="ctr"/>
            <a:lstStyle/>
            <a:p>
              <a:pPr marL="0" marR="0" lvl="0" indent="0" algn="ctr" defTabSz="457210" rtl="0" eaLnBrk="1" fontAlgn="auto" latinLnBrk="0" hangingPunct="1">
                <a:lnSpc>
                  <a:spcPct val="100000"/>
                </a:lnSpc>
                <a:spcBef>
                  <a:spcPts val="0"/>
                </a:spcBef>
                <a:spcAft>
                  <a:spcPts val="0"/>
                </a:spcAft>
                <a:buClrTx/>
                <a:buSzTx/>
                <a:buFontTx/>
                <a:buNone/>
                <a:tabLst/>
                <a:defRPr/>
              </a:pPr>
              <a:endParaRPr kumimoji="0" lang="en-GB" sz="1467"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endParaRPr>
            </a:p>
          </p:txBody>
        </p:sp>
        <p:sp>
          <p:nvSpPr>
            <p:cNvPr id="51" name="Down Arrow 28">
              <a:extLst>
                <a:ext uri="{FF2B5EF4-FFF2-40B4-BE49-F238E27FC236}">
                  <a16:creationId xmlns:a16="http://schemas.microsoft.com/office/drawing/2014/main" id="{0229FC88-DE50-4447-A2FA-BD10625282A3}"/>
                </a:ext>
              </a:extLst>
            </p:cNvPr>
            <p:cNvSpPr/>
            <p:nvPr/>
          </p:nvSpPr>
          <p:spPr>
            <a:xfrm>
              <a:off x="6921043" y="1931275"/>
              <a:ext cx="1160951" cy="1079939"/>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444" tIns="45723" rIns="91444" bIns="45723" rtlCol="0" anchor="ctr"/>
            <a:lstStyle/>
            <a:p>
              <a:pPr marL="0" marR="0" lvl="0" indent="0" algn="ctr" defTabSz="457210" rtl="0" eaLnBrk="1" fontAlgn="auto" latinLnBrk="0" hangingPunct="1">
                <a:lnSpc>
                  <a:spcPct val="100000"/>
                </a:lnSpc>
                <a:spcBef>
                  <a:spcPts val="0"/>
                </a:spcBef>
                <a:spcAft>
                  <a:spcPts val="0"/>
                </a:spcAft>
                <a:buClrTx/>
                <a:buSzTx/>
                <a:buFontTx/>
                <a:buNone/>
                <a:tabLst/>
                <a:defRPr/>
              </a:pPr>
              <a:endParaRPr kumimoji="0" lang="en-GB" sz="1467"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endParaRPr>
            </a:p>
          </p:txBody>
        </p:sp>
        <p:sp>
          <p:nvSpPr>
            <p:cNvPr id="50" name="Rectangle 49">
              <a:extLst>
                <a:ext uri="{FF2B5EF4-FFF2-40B4-BE49-F238E27FC236}">
                  <a16:creationId xmlns:a16="http://schemas.microsoft.com/office/drawing/2014/main" id="{C8739E8A-1DB7-4AF4-B4F0-74A10E553C26}"/>
                </a:ext>
              </a:extLst>
            </p:cNvPr>
            <p:cNvSpPr/>
            <p:nvPr/>
          </p:nvSpPr>
          <p:spPr>
            <a:xfrm>
              <a:off x="4858406" y="1366345"/>
              <a:ext cx="3513084" cy="572814"/>
            </a:xfrm>
            <a:prstGeom prst="rect">
              <a:avLst/>
            </a:prstGeom>
            <a:solidFill>
              <a:schemeClr val="accent2">
                <a:lumMod val="10000"/>
                <a:lumOff val="90000"/>
                <a:alpha val="80000"/>
              </a:schemeClr>
            </a:solidFill>
            <a:ln w="28575" cap="flat" cmpd="sng" algn="ctr">
              <a:solidFill>
                <a:schemeClr val="tx1"/>
              </a:solidFill>
              <a:prstDash val="dash"/>
            </a:ln>
            <a:effectLst/>
          </p:spPr>
          <p:txBody>
            <a:bodyPr lIns="91444" tIns="45723" rIns="91444" bIns="45723" rtlCol="0" anchor="ctr"/>
            <a:lstStyle/>
            <a:p>
              <a:pPr marL="0" marR="0" lvl="0" indent="0" algn="ctr" defTabSz="4572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chemeClr val="accent2"/>
                  </a:solidFill>
                  <a:effectLst/>
                  <a:uLnTx/>
                  <a:uFillTx/>
                  <a:latin typeface="+mn-lt"/>
                  <a:ea typeface="ＭＳ Ｐゴシック" panose="020B0600070205080204" pitchFamily="34" charset="-128"/>
                  <a:cs typeface="+mn-cs"/>
                </a:rPr>
                <a:t>User Code</a:t>
              </a:r>
              <a:endParaRPr kumimoji="0" lang="en-GB" sz="1600" b="0" i="0" u="none" strike="noStrike" kern="0" cap="none" spc="0" normalizeH="0" baseline="0" noProof="0">
                <a:ln>
                  <a:noFill/>
                </a:ln>
                <a:solidFill>
                  <a:schemeClr val="accent2"/>
                </a:solidFill>
                <a:effectLst/>
                <a:uLnTx/>
                <a:uFillTx/>
                <a:latin typeface="+mn-lt"/>
                <a:ea typeface="ＭＳ Ｐゴシック" panose="020B0600070205080204" pitchFamily="34" charset="-128"/>
                <a:cs typeface="+mn-cs"/>
              </a:endParaRPr>
            </a:p>
          </p:txBody>
        </p:sp>
        <p:sp>
          <p:nvSpPr>
            <p:cNvPr id="34" name="Rectangle 33">
              <a:extLst>
                <a:ext uri="{FF2B5EF4-FFF2-40B4-BE49-F238E27FC236}">
                  <a16:creationId xmlns:a16="http://schemas.microsoft.com/office/drawing/2014/main" id="{2786D91C-8AE2-4BDE-9464-FC713C07BEF5}"/>
                </a:ext>
              </a:extLst>
            </p:cNvPr>
            <p:cNvSpPr/>
            <p:nvPr/>
          </p:nvSpPr>
          <p:spPr>
            <a:xfrm>
              <a:off x="4895759" y="4341093"/>
              <a:ext cx="1645920" cy="624227"/>
            </a:xfrm>
            <a:prstGeom prst="rect">
              <a:avLst/>
            </a:prstGeom>
            <a:solidFill>
              <a:srgbClr val="808082"/>
            </a:solidFill>
            <a:ln w="9525" cap="flat" cmpd="sng" algn="ctr">
              <a:noFill/>
              <a:prstDash val="solid"/>
            </a:ln>
            <a:effectLst/>
          </p:spPr>
          <p:txBody>
            <a:bodyPr lIns="91444" tIns="45723" rIns="91444" bIns="45723" rtlCol="0" anchor="ctr"/>
            <a:lstStyle/>
            <a:p>
              <a:pPr marL="0" marR="0" lvl="0" indent="0" algn="ctr" defTabSz="4572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Specialized Peripherals</a:t>
              </a:r>
              <a:endParaRPr kumimoji="0" lang="en-GB"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endParaRPr>
            </a:p>
          </p:txBody>
        </p:sp>
      </p:grpSp>
      <p:sp>
        <p:nvSpPr>
          <p:cNvPr id="37" name="Rectangle 36">
            <a:extLst>
              <a:ext uri="{FF2B5EF4-FFF2-40B4-BE49-F238E27FC236}">
                <a16:creationId xmlns:a16="http://schemas.microsoft.com/office/drawing/2014/main" id="{4E0ECBB6-0410-4BC5-8E16-7015795DF03F}"/>
              </a:ext>
            </a:extLst>
          </p:cNvPr>
          <p:cNvSpPr/>
          <p:nvPr/>
        </p:nvSpPr>
        <p:spPr>
          <a:xfrm>
            <a:off x="1239715" y="3592823"/>
            <a:ext cx="4311639" cy="445876"/>
          </a:xfrm>
          <a:prstGeom prst="rect">
            <a:avLst/>
          </a:prstGeom>
          <a:solidFill>
            <a:srgbClr val="F68A33"/>
          </a:solidFill>
          <a:ln w="9525" cap="flat" cmpd="sng" algn="ctr">
            <a:noFill/>
            <a:prstDash val="solid"/>
          </a:ln>
          <a:effectLst/>
        </p:spPr>
        <p:txBody>
          <a:bodyPr lIns="91444" tIns="45723" rIns="91444" bIns="45723" rtlCol="0" anchor="ctr"/>
          <a:lstStyle/>
          <a:p>
            <a:pPr marL="0" marR="0" lvl="0" indent="0" algn="ctr" defTabSz="4572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rPr>
              <a:t>Device SDK </a:t>
            </a:r>
            <a:r>
              <a:rPr lang="en-US" sz="1600" kern="0">
                <a:solidFill>
                  <a:srgbClr val="FFFFFF"/>
                </a:solidFill>
                <a:latin typeface="+mn-lt"/>
              </a:rPr>
              <a:t>with c</a:t>
            </a:r>
            <a:r>
              <a:rPr kumimoji="0" lang="en-US" sz="1600" b="0" i="0" u="none" strike="noStrike" kern="0" cap="none" spc="0" normalizeH="0" baseline="0" noProof="0" err="1">
                <a:ln>
                  <a:noFill/>
                </a:ln>
                <a:solidFill>
                  <a:srgbClr val="FFFFFF"/>
                </a:solidFill>
                <a:effectLst/>
                <a:uLnTx/>
                <a:uFillTx/>
                <a:latin typeface="+mn-lt"/>
                <a:ea typeface="ＭＳ Ｐゴシック" panose="020B0600070205080204" pitchFamily="34" charset="-128"/>
                <a:cs typeface="+mn-cs"/>
              </a:rPr>
              <a:t>onfiguration</a:t>
            </a:r>
            <a:endParaRPr kumimoji="0" lang="en-US" sz="1600" b="0" i="0" u="none" strike="noStrike" kern="0" cap="none" spc="0" normalizeH="0" baseline="0" noProof="0">
              <a:ln>
                <a:noFill/>
              </a:ln>
              <a:solidFill>
                <a:srgbClr val="FFFFFF"/>
              </a:solidFill>
              <a:effectLst/>
              <a:uLnTx/>
              <a:uFillTx/>
              <a:latin typeface="+mn-lt"/>
              <a:ea typeface="ＭＳ Ｐゴシック" panose="020B0600070205080204" pitchFamily="34" charset="-128"/>
              <a:cs typeface="+mn-cs"/>
            </a:endParaRPr>
          </a:p>
        </p:txBody>
      </p:sp>
      <p:sp>
        <p:nvSpPr>
          <p:cNvPr id="49" name="Rectangle 48">
            <a:extLst>
              <a:ext uri="{FF2B5EF4-FFF2-40B4-BE49-F238E27FC236}">
                <a16:creationId xmlns:a16="http://schemas.microsoft.com/office/drawing/2014/main" id="{A013C7E0-2F0B-4D88-A2A8-4BDF55C17047}"/>
              </a:ext>
            </a:extLst>
          </p:cNvPr>
          <p:cNvSpPr/>
          <p:nvPr/>
        </p:nvSpPr>
        <p:spPr>
          <a:xfrm>
            <a:off x="3117945" y="2091913"/>
            <a:ext cx="1284857" cy="743952"/>
          </a:xfrm>
          <a:prstGeom prst="rect">
            <a:avLst/>
          </a:prstGeom>
          <a:solidFill>
            <a:schemeClr val="accent3">
              <a:lumMod val="60000"/>
              <a:lumOff val="40000"/>
              <a:alpha val="20000"/>
            </a:schemeClr>
          </a:solidFill>
          <a:ln w="9525" cap="flat" cmpd="sng" algn="ctr">
            <a:noFill/>
            <a:prstDash val="solid"/>
          </a:ln>
          <a:effectLst/>
        </p:spPr>
        <p:txBody>
          <a:bodyPr vert="vert270" lIns="36003" tIns="45723" rIns="91444" bIns="45723" rtlCol="0" anchor="t"/>
          <a:lstStyle/>
          <a:p>
            <a:pPr marL="0" marR="0" lvl="0" indent="0" algn="ctr" defTabSz="457210" rtl="0" eaLnBrk="1" fontAlgn="auto" latinLnBrk="0" hangingPunct="1">
              <a:lnSpc>
                <a:spcPts val="1700"/>
              </a:lnSpc>
              <a:spcBef>
                <a:spcPts val="0"/>
              </a:spcBef>
              <a:spcAft>
                <a:spcPts val="0"/>
              </a:spcAft>
              <a:buClrTx/>
              <a:buSzTx/>
              <a:buFontTx/>
              <a:buNone/>
              <a:tabLst/>
              <a:defRPr/>
            </a:pPr>
            <a:r>
              <a:rPr lang="en-US" sz="1600" kern="0" dirty="0">
                <a:solidFill>
                  <a:srgbClr val="000000"/>
                </a:solidFill>
                <a:latin typeface="+mn-lt"/>
              </a:rPr>
              <a:t>Module</a:t>
            </a:r>
            <a:br>
              <a:rPr kumimoji="0" lang="en-US" sz="1600" b="0" i="0" u="none" strike="noStrike" kern="0" cap="none" spc="0" normalizeH="0" baseline="0" noProof="0" dirty="0">
                <a:ln>
                  <a:noFill/>
                </a:ln>
                <a:solidFill>
                  <a:srgbClr val="000000"/>
                </a:solidFill>
                <a:effectLst/>
                <a:uLnTx/>
                <a:uFillTx/>
                <a:latin typeface="+mn-lt"/>
                <a:ea typeface="ＭＳ Ｐゴシック" panose="020B0600070205080204" pitchFamily="34" charset="-128"/>
                <a:cs typeface="+mn-cs"/>
              </a:rPr>
            </a:br>
            <a:r>
              <a:rPr kumimoji="0" lang="en-US" sz="1600" b="0" i="0" u="none" strike="noStrike" kern="0" cap="none" spc="0" normalizeH="0" baseline="0" noProof="0" dirty="0">
                <a:ln>
                  <a:noFill/>
                </a:ln>
                <a:solidFill>
                  <a:srgbClr val="000000"/>
                </a:solidFill>
                <a:effectLst/>
                <a:uLnTx/>
                <a:uFillTx/>
                <a:latin typeface="+mn-lt"/>
                <a:ea typeface="ＭＳ Ｐゴシック" panose="020B0600070205080204" pitchFamily="34" charset="-128"/>
                <a:cs typeface="+mn-cs"/>
              </a:rPr>
              <a:t>Layer</a:t>
            </a:r>
            <a:endParaRPr kumimoji="0" lang="en-GB" sz="1600" b="0" i="0" u="none" strike="noStrike" kern="0" cap="none" spc="0" normalizeH="0" baseline="0" noProof="0" dirty="0">
              <a:ln>
                <a:noFill/>
              </a:ln>
              <a:solidFill>
                <a:srgbClr val="000000"/>
              </a:solidFill>
              <a:effectLst/>
              <a:uLnTx/>
              <a:uFillTx/>
              <a:latin typeface="+mn-lt"/>
              <a:ea typeface="ＭＳ Ｐゴシック" panose="020B0600070205080204" pitchFamily="34" charset="-128"/>
              <a:cs typeface="+mn-cs"/>
            </a:endParaRPr>
          </a:p>
        </p:txBody>
      </p:sp>
      <p:sp>
        <p:nvSpPr>
          <p:cNvPr id="52" name="Rectangle 51">
            <a:extLst>
              <a:ext uri="{FF2B5EF4-FFF2-40B4-BE49-F238E27FC236}">
                <a16:creationId xmlns:a16="http://schemas.microsoft.com/office/drawing/2014/main" id="{54FBCC9A-F729-4E91-B396-3090E299CD43}"/>
              </a:ext>
            </a:extLst>
          </p:cNvPr>
          <p:cNvSpPr/>
          <p:nvPr/>
        </p:nvSpPr>
        <p:spPr>
          <a:xfrm>
            <a:off x="3649234" y="2148202"/>
            <a:ext cx="588998" cy="624227"/>
          </a:xfrm>
          <a:prstGeom prst="rect">
            <a:avLst/>
          </a:prstGeom>
          <a:solidFill>
            <a:srgbClr val="7030A0"/>
          </a:solidFill>
          <a:ln w="9525" cap="flat" cmpd="sng" algn="ctr">
            <a:noFill/>
            <a:prstDash val="solid"/>
          </a:ln>
          <a:effectLst/>
        </p:spPr>
        <p:txBody>
          <a:bodyPr lIns="91444" tIns="45723" rIns="91444" bIns="45723" rtlCol="0" anchor="ctr"/>
          <a:lstStyle/>
          <a:p>
            <a:pPr marL="0" marR="0" lvl="0" indent="0" algn="ctr" defTabSz="45721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err="1">
                <a:ln>
                  <a:noFill/>
                </a:ln>
                <a:solidFill>
                  <a:srgbClr val="FFFFFF"/>
                </a:solidFill>
                <a:effectLst/>
                <a:uLnTx/>
                <a:uFillTx/>
                <a:latin typeface="+mn-lt"/>
                <a:ea typeface="ＭＳ Ｐゴシック" panose="020B0600070205080204" pitchFamily="34" charset="-128"/>
                <a:cs typeface="+mn-cs"/>
              </a:rPr>
              <a:t>WiFi</a:t>
            </a:r>
            <a:endParaRPr kumimoji="0" lang="en-US" sz="1400" b="0" i="0" u="none" strike="noStrike" kern="0" cap="none" spc="0" normalizeH="0" baseline="0" noProof="0" dirty="0">
              <a:ln>
                <a:noFill/>
              </a:ln>
              <a:solidFill>
                <a:srgbClr val="FFFFFF"/>
              </a:solidFill>
              <a:effectLst/>
              <a:uLnTx/>
              <a:uFillTx/>
              <a:latin typeface="+mn-lt"/>
              <a:ea typeface="ＭＳ Ｐゴシック" panose="020B0600070205080204" pitchFamily="34" charset="-128"/>
              <a:cs typeface="+mn-cs"/>
            </a:endParaRPr>
          </a:p>
        </p:txBody>
      </p:sp>
    </p:spTree>
    <p:extLst>
      <p:ext uri="{BB962C8B-B14F-4D97-AF65-F5344CB8AC3E}">
        <p14:creationId xmlns:p14="http://schemas.microsoft.com/office/powerpoint/2010/main" val="1259605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CA863CB-7832-E89C-0865-3A21BB3332A0}"/>
              </a:ext>
            </a:extLst>
          </p:cNvPr>
          <p:cNvSpPr>
            <a:spLocks noGrp="1"/>
          </p:cNvSpPr>
          <p:nvPr>
            <p:ph type="title"/>
          </p:nvPr>
        </p:nvSpPr>
        <p:spPr/>
        <p:txBody>
          <a:bodyPr/>
          <a:lstStyle/>
          <a:p>
            <a:r>
              <a:rPr lang="en-US"/>
              <a:t>Scenarios to consider</a:t>
            </a:r>
          </a:p>
        </p:txBody>
      </p:sp>
      <p:sp>
        <p:nvSpPr>
          <p:cNvPr id="11" name="Rectangle 10">
            <a:extLst>
              <a:ext uri="{FF2B5EF4-FFF2-40B4-BE49-F238E27FC236}">
                <a16:creationId xmlns:a16="http://schemas.microsoft.com/office/drawing/2014/main" id="{2BC58C0F-F38A-2EB2-2611-EF0B80962B97}"/>
              </a:ext>
            </a:extLst>
          </p:cNvPr>
          <p:cNvSpPr/>
          <p:nvPr/>
        </p:nvSpPr>
        <p:spPr>
          <a:xfrm>
            <a:off x="1761067" y="1460149"/>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t>csolution</a:t>
            </a:r>
            <a:endParaRPr lang="en-US"/>
          </a:p>
        </p:txBody>
      </p:sp>
      <p:sp>
        <p:nvSpPr>
          <p:cNvPr id="12" name="Rectangle 11">
            <a:extLst>
              <a:ext uri="{FF2B5EF4-FFF2-40B4-BE49-F238E27FC236}">
                <a16:creationId xmlns:a16="http://schemas.microsoft.com/office/drawing/2014/main" id="{7DF78642-AE75-765A-CF34-4DF99872E766}"/>
              </a:ext>
            </a:extLst>
          </p:cNvPr>
          <p:cNvSpPr/>
          <p:nvPr/>
        </p:nvSpPr>
        <p:spPr>
          <a:xfrm>
            <a:off x="750711" y="2703689"/>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t>cproject</a:t>
            </a:r>
            <a:r>
              <a:rPr lang="en-US"/>
              <a:t> #1</a:t>
            </a:r>
          </a:p>
        </p:txBody>
      </p:sp>
      <p:sp>
        <p:nvSpPr>
          <p:cNvPr id="13" name="Rectangle 12">
            <a:extLst>
              <a:ext uri="{FF2B5EF4-FFF2-40B4-BE49-F238E27FC236}">
                <a16:creationId xmlns:a16="http://schemas.microsoft.com/office/drawing/2014/main" id="{8EC70404-4537-EB17-004E-D66D9F282F62}"/>
              </a:ext>
            </a:extLst>
          </p:cNvPr>
          <p:cNvSpPr/>
          <p:nvPr/>
        </p:nvSpPr>
        <p:spPr>
          <a:xfrm>
            <a:off x="2844800" y="2703689"/>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t>cproject</a:t>
            </a:r>
            <a:r>
              <a:rPr lang="en-US"/>
              <a:t> #2</a:t>
            </a:r>
          </a:p>
        </p:txBody>
      </p:sp>
      <p:sp>
        <p:nvSpPr>
          <p:cNvPr id="15" name="Rectangle 14">
            <a:extLst>
              <a:ext uri="{FF2B5EF4-FFF2-40B4-BE49-F238E27FC236}">
                <a16:creationId xmlns:a16="http://schemas.microsoft.com/office/drawing/2014/main" id="{26FC6503-7A48-4F40-7DCA-2D6AB68F3C70}"/>
              </a:ext>
            </a:extLst>
          </p:cNvPr>
          <p:cNvSpPr/>
          <p:nvPr/>
        </p:nvSpPr>
        <p:spPr>
          <a:xfrm>
            <a:off x="1868311" y="3952873"/>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t>clayer</a:t>
            </a:r>
            <a:r>
              <a:rPr lang="en-US"/>
              <a:t> for common board </a:t>
            </a:r>
            <a:br>
              <a:rPr lang="en-US"/>
            </a:br>
            <a:r>
              <a:rPr lang="en-US"/>
              <a:t>settings</a:t>
            </a:r>
          </a:p>
        </p:txBody>
      </p:sp>
      <p:cxnSp>
        <p:nvCxnSpPr>
          <p:cNvPr id="17" name="Straight Arrow Connector 16">
            <a:extLst>
              <a:ext uri="{FF2B5EF4-FFF2-40B4-BE49-F238E27FC236}">
                <a16:creationId xmlns:a16="http://schemas.microsoft.com/office/drawing/2014/main" id="{31E26F31-A295-054C-E9E5-7B415F77544A}"/>
              </a:ext>
            </a:extLst>
          </p:cNvPr>
          <p:cNvCxnSpPr>
            <a:endCxn id="12" idx="0"/>
          </p:cNvCxnSpPr>
          <p:nvPr/>
        </p:nvCxnSpPr>
        <p:spPr>
          <a:xfrm flipH="1">
            <a:off x="1636889" y="2374549"/>
            <a:ext cx="462844" cy="32914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3F4496C-D9DF-E6A4-6608-D908DF77C3F8}"/>
              </a:ext>
            </a:extLst>
          </p:cNvPr>
          <p:cNvCxnSpPr>
            <a:cxnSpLocks/>
          </p:cNvCxnSpPr>
          <p:nvPr/>
        </p:nvCxnSpPr>
        <p:spPr>
          <a:xfrm>
            <a:off x="3093156" y="2374549"/>
            <a:ext cx="637822" cy="32914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7AB71AB-5E23-E18B-32AD-1A1F14294722}"/>
              </a:ext>
            </a:extLst>
          </p:cNvPr>
          <p:cNvCxnSpPr>
            <a:cxnSpLocks/>
          </p:cNvCxnSpPr>
          <p:nvPr/>
        </p:nvCxnSpPr>
        <p:spPr>
          <a:xfrm>
            <a:off x="1636889" y="3618088"/>
            <a:ext cx="637822" cy="32914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B05C521-00CD-603D-B310-D7840FB7BB13}"/>
              </a:ext>
            </a:extLst>
          </p:cNvPr>
          <p:cNvCxnSpPr>
            <a:cxnSpLocks/>
          </p:cNvCxnSpPr>
          <p:nvPr/>
        </p:nvCxnSpPr>
        <p:spPr>
          <a:xfrm flipH="1">
            <a:off x="3160889" y="3571172"/>
            <a:ext cx="541867" cy="37605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2F5388A8-7372-04D8-FA60-5D11D7623F36}"/>
              </a:ext>
            </a:extLst>
          </p:cNvPr>
          <p:cNvSpPr/>
          <p:nvPr/>
        </p:nvSpPr>
        <p:spPr>
          <a:xfrm>
            <a:off x="6903155" y="1460149"/>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t>csolution</a:t>
            </a:r>
            <a:endParaRPr lang="en-US"/>
          </a:p>
        </p:txBody>
      </p:sp>
      <p:sp>
        <p:nvSpPr>
          <p:cNvPr id="24" name="Rectangle 23">
            <a:extLst>
              <a:ext uri="{FF2B5EF4-FFF2-40B4-BE49-F238E27FC236}">
                <a16:creationId xmlns:a16="http://schemas.microsoft.com/office/drawing/2014/main" id="{EBE7277C-5745-C4A7-FB8C-8678DCF41C65}"/>
              </a:ext>
            </a:extLst>
          </p:cNvPr>
          <p:cNvSpPr/>
          <p:nvPr/>
        </p:nvSpPr>
        <p:spPr>
          <a:xfrm>
            <a:off x="5892799" y="2703689"/>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t>cproject</a:t>
            </a:r>
            <a:r>
              <a:rPr lang="en-US"/>
              <a:t> #1</a:t>
            </a:r>
            <a:br>
              <a:rPr lang="en-US"/>
            </a:br>
            <a:r>
              <a:rPr lang="en-US"/>
              <a:t>runs on CPU #1</a:t>
            </a:r>
          </a:p>
        </p:txBody>
      </p:sp>
      <p:sp>
        <p:nvSpPr>
          <p:cNvPr id="25" name="Rectangle 24">
            <a:extLst>
              <a:ext uri="{FF2B5EF4-FFF2-40B4-BE49-F238E27FC236}">
                <a16:creationId xmlns:a16="http://schemas.microsoft.com/office/drawing/2014/main" id="{8D3B439C-7B82-E4F9-28BB-4B38CC6D016A}"/>
              </a:ext>
            </a:extLst>
          </p:cNvPr>
          <p:cNvSpPr/>
          <p:nvPr/>
        </p:nvSpPr>
        <p:spPr>
          <a:xfrm>
            <a:off x="7986888" y="2703689"/>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cproject</a:t>
            </a:r>
            <a:r>
              <a:rPr lang="en-US" dirty="0"/>
              <a:t> #2</a:t>
            </a:r>
            <a:br>
              <a:rPr lang="en-US" dirty="0"/>
            </a:br>
            <a:r>
              <a:rPr lang="en-US" dirty="0"/>
              <a:t>runs on CPU </a:t>
            </a:r>
            <a:r>
              <a:rPr lang="en-US"/>
              <a:t>#2</a:t>
            </a:r>
            <a:endParaRPr lang="en-US" dirty="0"/>
          </a:p>
        </p:txBody>
      </p:sp>
      <p:sp>
        <p:nvSpPr>
          <p:cNvPr id="26" name="Rectangle 25">
            <a:extLst>
              <a:ext uri="{FF2B5EF4-FFF2-40B4-BE49-F238E27FC236}">
                <a16:creationId xmlns:a16="http://schemas.microsoft.com/office/drawing/2014/main" id="{C24B9DDD-DFA4-FB73-CAD6-767EF0CE30B3}"/>
              </a:ext>
            </a:extLst>
          </p:cNvPr>
          <p:cNvSpPr/>
          <p:nvPr/>
        </p:nvSpPr>
        <p:spPr>
          <a:xfrm>
            <a:off x="5892799" y="3940527"/>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clayer</a:t>
            </a:r>
            <a:r>
              <a:rPr lang="en-US" dirty="0"/>
              <a:t> #1</a:t>
            </a:r>
            <a:br>
              <a:rPr lang="en-US" dirty="0"/>
            </a:br>
            <a:r>
              <a:rPr lang="en-US" dirty="0"/>
              <a:t>for board API</a:t>
            </a:r>
          </a:p>
        </p:txBody>
      </p:sp>
      <p:cxnSp>
        <p:nvCxnSpPr>
          <p:cNvPr id="27" name="Straight Arrow Connector 26">
            <a:extLst>
              <a:ext uri="{FF2B5EF4-FFF2-40B4-BE49-F238E27FC236}">
                <a16:creationId xmlns:a16="http://schemas.microsoft.com/office/drawing/2014/main" id="{C929DF7C-4F9E-9450-718B-2E273821F24B}"/>
              </a:ext>
            </a:extLst>
          </p:cNvPr>
          <p:cNvCxnSpPr>
            <a:endCxn id="24" idx="0"/>
          </p:cNvCxnSpPr>
          <p:nvPr/>
        </p:nvCxnSpPr>
        <p:spPr>
          <a:xfrm flipH="1">
            <a:off x="6778977" y="2374549"/>
            <a:ext cx="462844" cy="32914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C608764-09E7-D90F-9998-F6230659F644}"/>
              </a:ext>
            </a:extLst>
          </p:cNvPr>
          <p:cNvCxnSpPr>
            <a:cxnSpLocks/>
          </p:cNvCxnSpPr>
          <p:nvPr/>
        </p:nvCxnSpPr>
        <p:spPr>
          <a:xfrm>
            <a:off x="8235244" y="2374549"/>
            <a:ext cx="637822" cy="32914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546EA52-2A88-C2C2-E168-593790C98773}"/>
              </a:ext>
            </a:extLst>
          </p:cNvPr>
          <p:cNvCxnSpPr>
            <a:cxnSpLocks/>
            <a:endCxn id="26" idx="0"/>
          </p:cNvCxnSpPr>
          <p:nvPr/>
        </p:nvCxnSpPr>
        <p:spPr>
          <a:xfrm>
            <a:off x="6778977" y="3532363"/>
            <a:ext cx="0" cy="40816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770535F7-B1E7-42A3-678A-DFA608721B45}"/>
              </a:ext>
            </a:extLst>
          </p:cNvPr>
          <p:cNvSpPr/>
          <p:nvPr/>
        </p:nvSpPr>
        <p:spPr>
          <a:xfrm>
            <a:off x="7986888" y="3940527"/>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t>clayer</a:t>
            </a:r>
            <a:r>
              <a:rPr lang="en-US"/>
              <a:t> #2</a:t>
            </a:r>
            <a:br>
              <a:rPr lang="en-US"/>
            </a:br>
            <a:r>
              <a:rPr lang="en-US"/>
              <a:t>for board API</a:t>
            </a:r>
          </a:p>
        </p:txBody>
      </p:sp>
      <p:cxnSp>
        <p:nvCxnSpPr>
          <p:cNvPr id="33" name="Straight Arrow Connector 32">
            <a:extLst>
              <a:ext uri="{FF2B5EF4-FFF2-40B4-BE49-F238E27FC236}">
                <a16:creationId xmlns:a16="http://schemas.microsoft.com/office/drawing/2014/main" id="{B4BB0689-89A4-8073-737C-9C6E8BE45ABE}"/>
              </a:ext>
            </a:extLst>
          </p:cNvPr>
          <p:cNvCxnSpPr>
            <a:cxnSpLocks/>
            <a:endCxn id="32" idx="0"/>
          </p:cNvCxnSpPr>
          <p:nvPr/>
        </p:nvCxnSpPr>
        <p:spPr>
          <a:xfrm>
            <a:off x="8873066" y="3532363"/>
            <a:ext cx="0" cy="40816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7FAC6027-4362-A08A-1B8C-EA60F6C8633E}"/>
              </a:ext>
            </a:extLst>
          </p:cNvPr>
          <p:cNvSpPr/>
          <p:nvPr/>
        </p:nvSpPr>
        <p:spPr>
          <a:xfrm>
            <a:off x="7016044" y="5174538"/>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common RTE settings (includes generator files)</a:t>
            </a:r>
          </a:p>
        </p:txBody>
      </p:sp>
      <p:cxnSp>
        <p:nvCxnSpPr>
          <p:cNvPr id="35" name="Straight Arrow Connector 34">
            <a:extLst>
              <a:ext uri="{FF2B5EF4-FFF2-40B4-BE49-F238E27FC236}">
                <a16:creationId xmlns:a16="http://schemas.microsoft.com/office/drawing/2014/main" id="{6533B992-4EB1-90C9-FCB1-BF6F3FECFDB5}"/>
              </a:ext>
            </a:extLst>
          </p:cNvPr>
          <p:cNvCxnSpPr>
            <a:cxnSpLocks/>
          </p:cNvCxnSpPr>
          <p:nvPr/>
        </p:nvCxnSpPr>
        <p:spPr>
          <a:xfrm>
            <a:off x="6784622" y="4828464"/>
            <a:ext cx="637822" cy="32914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6E14F70-D086-0C3C-F566-B9C2A04A580E}"/>
              </a:ext>
            </a:extLst>
          </p:cNvPr>
          <p:cNvCxnSpPr>
            <a:cxnSpLocks/>
          </p:cNvCxnSpPr>
          <p:nvPr/>
        </p:nvCxnSpPr>
        <p:spPr>
          <a:xfrm flipH="1">
            <a:off x="8308622" y="4781548"/>
            <a:ext cx="541867" cy="37605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A4383F05-C184-E3B5-91A5-F0555A2D2A59}"/>
              </a:ext>
            </a:extLst>
          </p:cNvPr>
          <p:cNvSpPr txBox="1"/>
          <p:nvPr/>
        </p:nvSpPr>
        <p:spPr>
          <a:xfrm>
            <a:off x="571499" y="1044833"/>
            <a:ext cx="4848331" cy="2215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600" kern="1200" dirty="0">
                <a:solidFill>
                  <a:schemeClr val="tx2"/>
                </a:solidFill>
                <a:latin typeface="+mn-lt"/>
                <a:ea typeface="+mn-ea"/>
                <a:cs typeface="+mn-cs"/>
              </a:rPr>
              <a:t>Projects that share a layer </a:t>
            </a:r>
            <a:r>
              <a:rPr lang="en-US" sz="1600" dirty="0">
                <a:solidFill>
                  <a:schemeClr val="tx2"/>
                </a:solidFill>
                <a:latin typeface="+mn-lt"/>
                <a:ea typeface="+mn-ea"/>
              </a:rPr>
              <a:t>with </a:t>
            </a:r>
            <a:r>
              <a:rPr lang="en-US" sz="1600" kern="1200" dirty="0">
                <a:solidFill>
                  <a:schemeClr val="tx2"/>
                </a:solidFill>
                <a:latin typeface="+mn-lt"/>
                <a:ea typeface="+mn-ea"/>
                <a:cs typeface="+mn-cs"/>
              </a:rPr>
              <a:t>common configuration</a:t>
            </a:r>
          </a:p>
        </p:txBody>
      </p:sp>
      <p:sp>
        <p:nvSpPr>
          <p:cNvPr id="38" name="TextBox 37">
            <a:extLst>
              <a:ext uri="{FF2B5EF4-FFF2-40B4-BE49-F238E27FC236}">
                <a16:creationId xmlns:a16="http://schemas.microsoft.com/office/drawing/2014/main" id="{525975B3-F763-DD33-6F30-F6A156F1482D}"/>
              </a:ext>
            </a:extLst>
          </p:cNvPr>
          <p:cNvSpPr txBox="1"/>
          <p:nvPr/>
        </p:nvSpPr>
        <p:spPr>
          <a:xfrm>
            <a:off x="5842351" y="1060749"/>
            <a:ext cx="4175126" cy="2215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600" kern="1200" dirty="0">
                <a:solidFill>
                  <a:schemeClr val="tx2"/>
                </a:solidFill>
                <a:latin typeface="+mn-lt"/>
                <a:ea typeface="+mn-ea"/>
                <a:cs typeface="+mn-cs"/>
              </a:rPr>
              <a:t>Layers that partly share a common configuration</a:t>
            </a:r>
          </a:p>
        </p:txBody>
      </p:sp>
      <p:sp>
        <p:nvSpPr>
          <p:cNvPr id="2" name="Rectangle 1">
            <a:extLst>
              <a:ext uri="{FF2B5EF4-FFF2-40B4-BE49-F238E27FC236}">
                <a16:creationId xmlns:a16="http://schemas.microsoft.com/office/drawing/2014/main" id="{F3C443B9-D60B-737B-C186-A3526082F4F4}"/>
              </a:ext>
            </a:extLst>
          </p:cNvPr>
          <p:cNvSpPr/>
          <p:nvPr/>
        </p:nvSpPr>
        <p:spPr>
          <a:xfrm>
            <a:off x="1868310" y="5196413"/>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RTE settings</a:t>
            </a:r>
            <a:br>
              <a:rPr lang="en-US" dirty="0"/>
            </a:br>
            <a:r>
              <a:rPr lang="en-US" sz="1600" dirty="0"/>
              <a:t>(includes generator files)</a:t>
            </a:r>
            <a:endParaRPr lang="en-US" dirty="0"/>
          </a:p>
        </p:txBody>
      </p:sp>
      <p:cxnSp>
        <p:nvCxnSpPr>
          <p:cNvPr id="3" name="Straight Arrow Connector 2">
            <a:extLst>
              <a:ext uri="{FF2B5EF4-FFF2-40B4-BE49-F238E27FC236}">
                <a16:creationId xmlns:a16="http://schemas.microsoft.com/office/drawing/2014/main" id="{4A5C4F78-5E2B-1021-0CB6-9A4B805325B2}"/>
              </a:ext>
            </a:extLst>
          </p:cNvPr>
          <p:cNvCxnSpPr>
            <a:cxnSpLocks/>
          </p:cNvCxnSpPr>
          <p:nvPr/>
        </p:nvCxnSpPr>
        <p:spPr>
          <a:xfrm>
            <a:off x="2741214" y="4778201"/>
            <a:ext cx="0" cy="40816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07088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CA863CB-7832-E89C-0865-3A21BB3332A0}"/>
              </a:ext>
            </a:extLst>
          </p:cNvPr>
          <p:cNvSpPr>
            <a:spLocks noGrp="1"/>
          </p:cNvSpPr>
          <p:nvPr>
            <p:ph type="title"/>
          </p:nvPr>
        </p:nvSpPr>
        <p:spPr>
          <a:xfrm>
            <a:off x="296545" y="458660"/>
            <a:ext cx="11233150" cy="654760"/>
          </a:xfrm>
        </p:spPr>
        <p:txBody>
          <a:bodyPr/>
          <a:lstStyle/>
          <a:p>
            <a:r>
              <a:rPr lang="en-US" dirty="0" err="1"/>
              <a:t>CubeMX</a:t>
            </a:r>
            <a:r>
              <a:rPr lang="en-US" dirty="0"/>
              <a:t> location of generated files</a:t>
            </a:r>
          </a:p>
        </p:txBody>
      </p:sp>
      <p:sp>
        <p:nvSpPr>
          <p:cNvPr id="11" name="Rectangle 10">
            <a:extLst>
              <a:ext uri="{FF2B5EF4-FFF2-40B4-BE49-F238E27FC236}">
                <a16:creationId xmlns:a16="http://schemas.microsoft.com/office/drawing/2014/main" id="{2BC58C0F-F38A-2EB2-2611-EF0B80962B97}"/>
              </a:ext>
            </a:extLst>
          </p:cNvPr>
          <p:cNvSpPr/>
          <p:nvPr/>
        </p:nvSpPr>
        <p:spPr>
          <a:xfrm>
            <a:off x="2609566" y="2174618"/>
            <a:ext cx="1493238" cy="4492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csolution</a:t>
            </a:r>
            <a:endParaRPr lang="en-US" dirty="0"/>
          </a:p>
        </p:txBody>
      </p:sp>
      <p:sp>
        <p:nvSpPr>
          <p:cNvPr id="12" name="Rectangle 11">
            <a:extLst>
              <a:ext uri="{FF2B5EF4-FFF2-40B4-BE49-F238E27FC236}">
                <a16:creationId xmlns:a16="http://schemas.microsoft.com/office/drawing/2014/main" id="{7DF78642-AE75-765A-CF34-4DF99872E766}"/>
              </a:ext>
            </a:extLst>
          </p:cNvPr>
          <p:cNvSpPr/>
          <p:nvPr/>
        </p:nvSpPr>
        <p:spPr>
          <a:xfrm>
            <a:off x="2627018" y="2892257"/>
            <a:ext cx="1471765" cy="5238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cproject</a:t>
            </a:r>
            <a:r>
              <a:rPr lang="en-US" dirty="0"/>
              <a:t> #1</a:t>
            </a:r>
          </a:p>
        </p:txBody>
      </p:sp>
      <p:sp>
        <p:nvSpPr>
          <p:cNvPr id="13" name="Rectangle 12">
            <a:extLst>
              <a:ext uri="{FF2B5EF4-FFF2-40B4-BE49-F238E27FC236}">
                <a16:creationId xmlns:a16="http://schemas.microsoft.com/office/drawing/2014/main" id="{8EC70404-4537-EB17-004E-D66D9F282F62}"/>
              </a:ext>
            </a:extLst>
          </p:cNvPr>
          <p:cNvSpPr/>
          <p:nvPr/>
        </p:nvSpPr>
        <p:spPr>
          <a:xfrm>
            <a:off x="4426091" y="2861671"/>
            <a:ext cx="1286792" cy="5238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t>cproject</a:t>
            </a:r>
            <a:r>
              <a:rPr lang="en-US"/>
              <a:t> #2</a:t>
            </a:r>
          </a:p>
        </p:txBody>
      </p:sp>
      <p:sp>
        <p:nvSpPr>
          <p:cNvPr id="15" name="Rectangle 14">
            <a:extLst>
              <a:ext uri="{FF2B5EF4-FFF2-40B4-BE49-F238E27FC236}">
                <a16:creationId xmlns:a16="http://schemas.microsoft.com/office/drawing/2014/main" id="{26FC6503-7A48-4F40-7DCA-2D6AB68F3C70}"/>
              </a:ext>
            </a:extLst>
          </p:cNvPr>
          <p:cNvSpPr/>
          <p:nvPr/>
        </p:nvSpPr>
        <p:spPr>
          <a:xfrm>
            <a:off x="3449602" y="3720309"/>
            <a:ext cx="1772356" cy="5182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clayer</a:t>
            </a:r>
            <a:r>
              <a:rPr lang="en-US" dirty="0"/>
              <a:t> directory</a:t>
            </a:r>
          </a:p>
        </p:txBody>
      </p:sp>
      <p:cxnSp>
        <p:nvCxnSpPr>
          <p:cNvPr id="17" name="Straight Arrow Connector 16">
            <a:extLst>
              <a:ext uri="{FF2B5EF4-FFF2-40B4-BE49-F238E27FC236}">
                <a16:creationId xmlns:a16="http://schemas.microsoft.com/office/drawing/2014/main" id="{31E26F31-A295-054C-E9E5-7B415F77544A}"/>
              </a:ext>
            </a:extLst>
          </p:cNvPr>
          <p:cNvCxnSpPr>
            <a:cxnSpLocks/>
            <a:stCxn id="11" idx="2"/>
            <a:endCxn id="12" idx="0"/>
          </p:cNvCxnSpPr>
          <p:nvPr/>
        </p:nvCxnSpPr>
        <p:spPr>
          <a:xfrm>
            <a:off x="3356185" y="2623890"/>
            <a:ext cx="6716" cy="26836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7AB71AB-5E23-E18B-32AD-1A1F14294722}"/>
              </a:ext>
            </a:extLst>
          </p:cNvPr>
          <p:cNvCxnSpPr>
            <a:cxnSpLocks/>
          </p:cNvCxnSpPr>
          <p:nvPr/>
        </p:nvCxnSpPr>
        <p:spPr>
          <a:xfrm>
            <a:off x="3218180" y="3385524"/>
            <a:ext cx="637822" cy="32914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B05C521-00CD-603D-B310-D7840FB7BB13}"/>
              </a:ext>
            </a:extLst>
          </p:cNvPr>
          <p:cNvCxnSpPr>
            <a:cxnSpLocks/>
            <a:stCxn id="13" idx="2"/>
          </p:cNvCxnSpPr>
          <p:nvPr/>
        </p:nvCxnSpPr>
        <p:spPr>
          <a:xfrm flipH="1">
            <a:off x="4742180" y="3385525"/>
            <a:ext cx="327307" cy="32913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2F5388A8-7372-04D8-FA60-5D11D7623F36}"/>
              </a:ext>
            </a:extLst>
          </p:cNvPr>
          <p:cNvSpPr/>
          <p:nvPr/>
        </p:nvSpPr>
        <p:spPr>
          <a:xfrm>
            <a:off x="7890086" y="1836563"/>
            <a:ext cx="1772356" cy="4492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t>csolution</a:t>
            </a:r>
            <a:endParaRPr lang="en-US"/>
          </a:p>
        </p:txBody>
      </p:sp>
      <p:sp>
        <p:nvSpPr>
          <p:cNvPr id="24" name="Rectangle 23">
            <a:extLst>
              <a:ext uri="{FF2B5EF4-FFF2-40B4-BE49-F238E27FC236}">
                <a16:creationId xmlns:a16="http://schemas.microsoft.com/office/drawing/2014/main" id="{EBE7277C-5745-C4A7-FB8C-8678DCF41C65}"/>
              </a:ext>
            </a:extLst>
          </p:cNvPr>
          <p:cNvSpPr/>
          <p:nvPr/>
        </p:nvSpPr>
        <p:spPr>
          <a:xfrm>
            <a:off x="6879730" y="2614975"/>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t>cproject</a:t>
            </a:r>
            <a:r>
              <a:rPr lang="en-US"/>
              <a:t> #1</a:t>
            </a:r>
            <a:br>
              <a:rPr lang="en-US"/>
            </a:br>
            <a:r>
              <a:rPr lang="en-US"/>
              <a:t>runs on CPU #1</a:t>
            </a:r>
          </a:p>
        </p:txBody>
      </p:sp>
      <p:sp>
        <p:nvSpPr>
          <p:cNvPr id="25" name="Rectangle 24">
            <a:extLst>
              <a:ext uri="{FF2B5EF4-FFF2-40B4-BE49-F238E27FC236}">
                <a16:creationId xmlns:a16="http://schemas.microsoft.com/office/drawing/2014/main" id="{8D3B439C-7B82-E4F9-28BB-4B38CC6D016A}"/>
              </a:ext>
            </a:extLst>
          </p:cNvPr>
          <p:cNvSpPr/>
          <p:nvPr/>
        </p:nvSpPr>
        <p:spPr>
          <a:xfrm>
            <a:off x="8973819" y="2614975"/>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cproject</a:t>
            </a:r>
            <a:r>
              <a:rPr lang="en-US" dirty="0"/>
              <a:t> #2</a:t>
            </a:r>
            <a:br>
              <a:rPr lang="en-US" dirty="0"/>
            </a:br>
            <a:r>
              <a:rPr lang="en-US" dirty="0"/>
              <a:t>runs on CPU #2</a:t>
            </a:r>
          </a:p>
        </p:txBody>
      </p:sp>
      <p:cxnSp>
        <p:nvCxnSpPr>
          <p:cNvPr id="27" name="Straight Arrow Connector 26">
            <a:extLst>
              <a:ext uri="{FF2B5EF4-FFF2-40B4-BE49-F238E27FC236}">
                <a16:creationId xmlns:a16="http://schemas.microsoft.com/office/drawing/2014/main" id="{C929DF7C-4F9E-9450-718B-2E273821F24B}"/>
              </a:ext>
            </a:extLst>
          </p:cNvPr>
          <p:cNvCxnSpPr>
            <a:endCxn id="24" idx="0"/>
          </p:cNvCxnSpPr>
          <p:nvPr/>
        </p:nvCxnSpPr>
        <p:spPr>
          <a:xfrm flipH="1">
            <a:off x="7765908" y="2285835"/>
            <a:ext cx="462844" cy="32914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C608764-09E7-D90F-9998-F6230659F644}"/>
              </a:ext>
            </a:extLst>
          </p:cNvPr>
          <p:cNvCxnSpPr>
            <a:cxnSpLocks/>
          </p:cNvCxnSpPr>
          <p:nvPr/>
        </p:nvCxnSpPr>
        <p:spPr>
          <a:xfrm>
            <a:off x="9222175" y="2285835"/>
            <a:ext cx="637822" cy="32914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7FAC6027-4362-A08A-1B8C-EA60F6C8633E}"/>
              </a:ext>
            </a:extLst>
          </p:cNvPr>
          <p:cNvSpPr/>
          <p:nvPr/>
        </p:nvSpPr>
        <p:spPr>
          <a:xfrm>
            <a:off x="7979267" y="3858514"/>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Require common directory for </a:t>
            </a:r>
          </a:p>
          <a:p>
            <a:pPr algn="ctr"/>
            <a:r>
              <a:rPr lang="en-US" sz="1600" dirty="0"/>
              <a:t>generated files</a:t>
            </a:r>
          </a:p>
        </p:txBody>
      </p:sp>
      <p:cxnSp>
        <p:nvCxnSpPr>
          <p:cNvPr id="35" name="Straight Arrow Connector 34">
            <a:extLst>
              <a:ext uri="{FF2B5EF4-FFF2-40B4-BE49-F238E27FC236}">
                <a16:creationId xmlns:a16="http://schemas.microsoft.com/office/drawing/2014/main" id="{6533B992-4EB1-90C9-FCB1-BF6F3FECFDB5}"/>
              </a:ext>
            </a:extLst>
          </p:cNvPr>
          <p:cNvCxnSpPr>
            <a:cxnSpLocks/>
          </p:cNvCxnSpPr>
          <p:nvPr/>
        </p:nvCxnSpPr>
        <p:spPr>
          <a:xfrm>
            <a:off x="7747845" y="3512440"/>
            <a:ext cx="637822" cy="32914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6E14F70-D086-0C3C-F566-B9C2A04A580E}"/>
              </a:ext>
            </a:extLst>
          </p:cNvPr>
          <p:cNvCxnSpPr>
            <a:cxnSpLocks/>
          </p:cNvCxnSpPr>
          <p:nvPr/>
        </p:nvCxnSpPr>
        <p:spPr>
          <a:xfrm flipH="1">
            <a:off x="9271845" y="3465524"/>
            <a:ext cx="541867" cy="37605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A4383F05-C184-E3B5-91A5-F0555A2D2A59}"/>
              </a:ext>
            </a:extLst>
          </p:cNvPr>
          <p:cNvSpPr txBox="1"/>
          <p:nvPr/>
        </p:nvSpPr>
        <p:spPr>
          <a:xfrm>
            <a:off x="403014" y="1430288"/>
            <a:ext cx="5309869" cy="2215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600" dirty="0">
                <a:solidFill>
                  <a:schemeClr val="tx2"/>
                </a:solidFill>
              </a:rPr>
              <a:t>“Simple” </a:t>
            </a:r>
            <a:r>
              <a:rPr lang="en-US" sz="1600" kern="1200" dirty="0">
                <a:solidFill>
                  <a:schemeClr val="tx2"/>
                </a:solidFill>
                <a:latin typeface="+mn-lt"/>
                <a:ea typeface="+mn-ea"/>
                <a:cs typeface="+mn-cs"/>
              </a:rPr>
              <a:t>Projects that share a layer </a:t>
            </a:r>
            <a:r>
              <a:rPr lang="en-US" sz="1600" dirty="0">
                <a:solidFill>
                  <a:schemeClr val="tx2"/>
                </a:solidFill>
                <a:latin typeface="+mn-lt"/>
                <a:ea typeface="+mn-ea"/>
              </a:rPr>
              <a:t>with </a:t>
            </a:r>
            <a:r>
              <a:rPr lang="en-US" sz="1600" kern="1200" dirty="0">
                <a:solidFill>
                  <a:schemeClr val="tx2"/>
                </a:solidFill>
                <a:latin typeface="+mn-lt"/>
                <a:ea typeface="+mn-ea"/>
                <a:cs typeface="+mn-cs"/>
              </a:rPr>
              <a:t>common configuration</a:t>
            </a:r>
          </a:p>
        </p:txBody>
      </p:sp>
      <p:sp>
        <p:nvSpPr>
          <p:cNvPr id="38" name="TextBox 37">
            <a:extLst>
              <a:ext uri="{FF2B5EF4-FFF2-40B4-BE49-F238E27FC236}">
                <a16:creationId xmlns:a16="http://schemas.microsoft.com/office/drawing/2014/main" id="{525975B3-F763-DD33-6F30-F6A156F1482D}"/>
              </a:ext>
            </a:extLst>
          </p:cNvPr>
          <p:cNvSpPr txBox="1"/>
          <p:nvPr/>
        </p:nvSpPr>
        <p:spPr>
          <a:xfrm>
            <a:off x="7266162" y="1491568"/>
            <a:ext cx="4175126" cy="2215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600" kern="1200" dirty="0" err="1">
                <a:solidFill>
                  <a:schemeClr val="tx2"/>
                </a:solidFill>
                <a:latin typeface="+mn-lt"/>
                <a:ea typeface="+mn-ea"/>
                <a:cs typeface="+mn-cs"/>
              </a:rPr>
              <a:t>TrustZone</a:t>
            </a:r>
            <a:r>
              <a:rPr lang="en-US" sz="1600" kern="1200" dirty="0">
                <a:solidFill>
                  <a:schemeClr val="tx2"/>
                </a:solidFill>
                <a:latin typeface="+mn-lt"/>
                <a:ea typeface="+mn-ea"/>
                <a:cs typeface="+mn-cs"/>
              </a:rPr>
              <a:t> or Multicore projects</a:t>
            </a:r>
          </a:p>
        </p:txBody>
      </p:sp>
      <p:sp>
        <p:nvSpPr>
          <p:cNvPr id="2" name="Rectangle 1">
            <a:extLst>
              <a:ext uri="{FF2B5EF4-FFF2-40B4-BE49-F238E27FC236}">
                <a16:creationId xmlns:a16="http://schemas.microsoft.com/office/drawing/2014/main" id="{F3C443B9-D60B-737B-C186-A3526082F4F4}"/>
              </a:ext>
            </a:extLst>
          </p:cNvPr>
          <p:cNvSpPr/>
          <p:nvPr/>
        </p:nvSpPr>
        <p:spPr>
          <a:xfrm>
            <a:off x="219005" y="3815190"/>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./RTE/Device/$D </a:t>
            </a:r>
            <a:r>
              <a:rPr lang="en-US" sz="1600" dirty="0"/>
              <a:t>contains generated files</a:t>
            </a:r>
            <a:endParaRPr lang="en-US" dirty="0"/>
          </a:p>
        </p:txBody>
      </p:sp>
      <p:cxnSp>
        <p:nvCxnSpPr>
          <p:cNvPr id="3" name="Straight Arrow Connector 2">
            <a:extLst>
              <a:ext uri="{FF2B5EF4-FFF2-40B4-BE49-F238E27FC236}">
                <a16:creationId xmlns:a16="http://schemas.microsoft.com/office/drawing/2014/main" id="{4A5C4F78-5E2B-1021-0CB6-9A4B805325B2}"/>
              </a:ext>
            </a:extLst>
          </p:cNvPr>
          <p:cNvCxnSpPr>
            <a:cxnSpLocks/>
          </p:cNvCxnSpPr>
          <p:nvPr/>
        </p:nvCxnSpPr>
        <p:spPr>
          <a:xfrm>
            <a:off x="4322505" y="4238517"/>
            <a:ext cx="0" cy="40816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AB71F978-F722-EE2C-49DA-168FE2E55A17}"/>
              </a:ext>
            </a:extLst>
          </p:cNvPr>
          <p:cNvSpPr/>
          <p:nvPr/>
        </p:nvSpPr>
        <p:spPr>
          <a:xfrm>
            <a:off x="4459958" y="2136339"/>
            <a:ext cx="1286792" cy="4492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csolution</a:t>
            </a:r>
            <a:endParaRPr lang="en-US" dirty="0"/>
          </a:p>
        </p:txBody>
      </p:sp>
      <p:cxnSp>
        <p:nvCxnSpPr>
          <p:cNvPr id="7" name="Straight Arrow Connector 6">
            <a:extLst>
              <a:ext uri="{FF2B5EF4-FFF2-40B4-BE49-F238E27FC236}">
                <a16:creationId xmlns:a16="http://schemas.microsoft.com/office/drawing/2014/main" id="{FF689344-C962-D101-6E5B-D20574065F7B}"/>
              </a:ext>
            </a:extLst>
          </p:cNvPr>
          <p:cNvCxnSpPr>
            <a:cxnSpLocks/>
          </p:cNvCxnSpPr>
          <p:nvPr/>
        </p:nvCxnSpPr>
        <p:spPr>
          <a:xfrm>
            <a:off x="5346134" y="2147631"/>
            <a:ext cx="0" cy="71404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8DB798A0-6359-E839-65AD-5BAEBB58E3C1}"/>
              </a:ext>
            </a:extLst>
          </p:cNvPr>
          <p:cNvSpPr/>
          <p:nvPr/>
        </p:nvSpPr>
        <p:spPr>
          <a:xfrm>
            <a:off x="219006" y="2136339"/>
            <a:ext cx="1772355" cy="4492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csolution</a:t>
            </a:r>
            <a:endParaRPr lang="en-US" dirty="0"/>
          </a:p>
        </p:txBody>
      </p:sp>
      <p:sp>
        <p:nvSpPr>
          <p:cNvPr id="10" name="Rectangle 9">
            <a:extLst>
              <a:ext uri="{FF2B5EF4-FFF2-40B4-BE49-F238E27FC236}">
                <a16:creationId xmlns:a16="http://schemas.microsoft.com/office/drawing/2014/main" id="{29CE3EC1-EC8C-FFB1-648F-E98454C803DD}"/>
              </a:ext>
            </a:extLst>
          </p:cNvPr>
          <p:cNvSpPr/>
          <p:nvPr/>
        </p:nvSpPr>
        <p:spPr>
          <a:xfrm>
            <a:off x="219005" y="2861671"/>
            <a:ext cx="1772356" cy="5238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cproject</a:t>
            </a:r>
            <a:br>
              <a:rPr lang="en-US" dirty="0"/>
            </a:br>
            <a:r>
              <a:rPr lang="en-US" dirty="0"/>
              <a:t>directory</a:t>
            </a:r>
          </a:p>
        </p:txBody>
      </p:sp>
      <p:cxnSp>
        <p:nvCxnSpPr>
          <p:cNvPr id="19" name="Straight Arrow Connector 18">
            <a:extLst>
              <a:ext uri="{FF2B5EF4-FFF2-40B4-BE49-F238E27FC236}">
                <a16:creationId xmlns:a16="http://schemas.microsoft.com/office/drawing/2014/main" id="{6DB60111-09C8-B794-8816-178C131E32D5}"/>
              </a:ext>
            </a:extLst>
          </p:cNvPr>
          <p:cNvCxnSpPr>
            <a:cxnSpLocks/>
          </p:cNvCxnSpPr>
          <p:nvPr/>
        </p:nvCxnSpPr>
        <p:spPr>
          <a:xfrm>
            <a:off x="1093423" y="3407026"/>
            <a:ext cx="0" cy="40816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7C0F7453-2BB3-1963-6F43-C026A85A4D6C}"/>
              </a:ext>
            </a:extLst>
          </p:cNvPr>
          <p:cNvSpPr/>
          <p:nvPr/>
        </p:nvSpPr>
        <p:spPr>
          <a:xfrm>
            <a:off x="3460191" y="4646681"/>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./RTE/Device/$D </a:t>
            </a:r>
            <a:r>
              <a:rPr lang="en-US" sz="1600" dirty="0"/>
              <a:t>contains generated files</a:t>
            </a:r>
            <a:endParaRPr lang="en-US" dirty="0"/>
          </a:p>
        </p:txBody>
      </p:sp>
    </p:spTree>
    <p:extLst>
      <p:ext uri="{BB962C8B-B14F-4D97-AF65-F5344CB8AC3E}">
        <p14:creationId xmlns:p14="http://schemas.microsoft.com/office/powerpoint/2010/main" val="1607110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CA863CB-7832-E89C-0865-3A21BB3332A0}"/>
              </a:ext>
            </a:extLst>
          </p:cNvPr>
          <p:cNvSpPr>
            <a:spLocks noGrp="1"/>
          </p:cNvSpPr>
          <p:nvPr>
            <p:ph type="title"/>
          </p:nvPr>
        </p:nvSpPr>
        <p:spPr>
          <a:xfrm>
            <a:off x="296545" y="458660"/>
            <a:ext cx="11233150" cy="654760"/>
          </a:xfrm>
        </p:spPr>
        <p:txBody>
          <a:bodyPr/>
          <a:lstStyle/>
          <a:p>
            <a:r>
              <a:rPr lang="en-US" dirty="0" err="1"/>
              <a:t>CubeMX</a:t>
            </a:r>
            <a:r>
              <a:rPr lang="en-US" dirty="0"/>
              <a:t> location of generated files</a:t>
            </a:r>
          </a:p>
        </p:txBody>
      </p:sp>
      <p:sp>
        <p:nvSpPr>
          <p:cNvPr id="15" name="Rectangle 14">
            <a:extLst>
              <a:ext uri="{FF2B5EF4-FFF2-40B4-BE49-F238E27FC236}">
                <a16:creationId xmlns:a16="http://schemas.microsoft.com/office/drawing/2014/main" id="{26FC6503-7A48-4F40-7DCA-2D6AB68F3C70}"/>
              </a:ext>
            </a:extLst>
          </p:cNvPr>
          <p:cNvSpPr/>
          <p:nvPr/>
        </p:nvSpPr>
        <p:spPr>
          <a:xfrm>
            <a:off x="3059571" y="3657915"/>
            <a:ext cx="3866444" cy="4081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clayer</a:t>
            </a:r>
            <a:r>
              <a:rPr lang="en-US" dirty="0"/>
              <a:t> directory</a:t>
            </a:r>
          </a:p>
        </p:txBody>
      </p:sp>
      <p:sp>
        <p:nvSpPr>
          <p:cNvPr id="23" name="Rectangle 22">
            <a:extLst>
              <a:ext uri="{FF2B5EF4-FFF2-40B4-BE49-F238E27FC236}">
                <a16:creationId xmlns:a16="http://schemas.microsoft.com/office/drawing/2014/main" id="{2F5388A8-7372-04D8-FA60-5D11D7623F36}"/>
              </a:ext>
            </a:extLst>
          </p:cNvPr>
          <p:cNvSpPr/>
          <p:nvPr/>
        </p:nvSpPr>
        <p:spPr>
          <a:xfrm>
            <a:off x="4069926" y="1736188"/>
            <a:ext cx="1772356" cy="4492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t>csolution</a:t>
            </a:r>
            <a:endParaRPr lang="en-US"/>
          </a:p>
        </p:txBody>
      </p:sp>
      <p:sp>
        <p:nvSpPr>
          <p:cNvPr id="24" name="Rectangle 23">
            <a:extLst>
              <a:ext uri="{FF2B5EF4-FFF2-40B4-BE49-F238E27FC236}">
                <a16:creationId xmlns:a16="http://schemas.microsoft.com/office/drawing/2014/main" id="{EBE7277C-5745-C4A7-FB8C-8678DCF41C65}"/>
              </a:ext>
            </a:extLst>
          </p:cNvPr>
          <p:cNvSpPr/>
          <p:nvPr/>
        </p:nvSpPr>
        <p:spPr>
          <a:xfrm>
            <a:off x="3059570" y="2514600"/>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t>cproject</a:t>
            </a:r>
            <a:r>
              <a:rPr lang="en-US"/>
              <a:t> #1</a:t>
            </a:r>
            <a:br>
              <a:rPr lang="en-US"/>
            </a:br>
            <a:r>
              <a:rPr lang="en-US"/>
              <a:t>runs on CPU #1</a:t>
            </a:r>
          </a:p>
        </p:txBody>
      </p:sp>
      <p:sp>
        <p:nvSpPr>
          <p:cNvPr id="25" name="Rectangle 24">
            <a:extLst>
              <a:ext uri="{FF2B5EF4-FFF2-40B4-BE49-F238E27FC236}">
                <a16:creationId xmlns:a16="http://schemas.microsoft.com/office/drawing/2014/main" id="{8D3B439C-7B82-E4F9-28BB-4B38CC6D016A}"/>
              </a:ext>
            </a:extLst>
          </p:cNvPr>
          <p:cNvSpPr/>
          <p:nvPr/>
        </p:nvSpPr>
        <p:spPr>
          <a:xfrm>
            <a:off x="5153659" y="2514600"/>
            <a:ext cx="177235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cproject</a:t>
            </a:r>
            <a:r>
              <a:rPr lang="en-US" dirty="0"/>
              <a:t> #2</a:t>
            </a:r>
            <a:br>
              <a:rPr lang="en-US" dirty="0"/>
            </a:br>
            <a:r>
              <a:rPr lang="en-US" dirty="0"/>
              <a:t>runs on CPU #2</a:t>
            </a:r>
          </a:p>
        </p:txBody>
      </p:sp>
      <p:cxnSp>
        <p:nvCxnSpPr>
          <p:cNvPr id="27" name="Straight Arrow Connector 26">
            <a:extLst>
              <a:ext uri="{FF2B5EF4-FFF2-40B4-BE49-F238E27FC236}">
                <a16:creationId xmlns:a16="http://schemas.microsoft.com/office/drawing/2014/main" id="{C929DF7C-4F9E-9450-718B-2E273821F24B}"/>
              </a:ext>
            </a:extLst>
          </p:cNvPr>
          <p:cNvCxnSpPr>
            <a:endCxn id="24" idx="0"/>
          </p:cNvCxnSpPr>
          <p:nvPr/>
        </p:nvCxnSpPr>
        <p:spPr>
          <a:xfrm flipH="1">
            <a:off x="3945748" y="2185460"/>
            <a:ext cx="462844" cy="32914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C608764-09E7-D90F-9998-F6230659F644}"/>
              </a:ext>
            </a:extLst>
          </p:cNvPr>
          <p:cNvCxnSpPr>
            <a:cxnSpLocks/>
          </p:cNvCxnSpPr>
          <p:nvPr/>
        </p:nvCxnSpPr>
        <p:spPr>
          <a:xfrm>
            <a:off x="5402015" y="2185460"/>
            <a:ext cx="637822" cy="32914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7FAC6027-4362-A08A-1B8C-EA60F6C8633E}"/>
              </a:ext>
            </a:extLst>
          </p:cNvPr>
          <p:cNvSpPr/>
          <p:nvPr/>
        </p:nvSpPr>
        <p:spPr>
          <a:xfrm>
            <a:off x="4177170" y="5166829"/>
            <a:ext cx="1772356" cy="7434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Require common directory for </a:t>
            </a:r>
          </a:p>
          <a:p>
            <a:pPr algn="ctr"/>
            <a:r>
              <a:rPr lang="en-US" sz="1600" dirty="0"/>
              <a:t>generated files</a:t>
            </a:r>
          </a:p>
        </p:txBody>
      </p:sp>
      <p:cxnSp>
        <p:nvCxnSpPr>
          <p:cNvPr id="35" name="Straight Arrow Connector 34">
            <a:extLst>
              <a:ext uri="{FF2B5EF4-FFF2-40B4-BE49-F238E27FC236}">
                <a16:creationId xmlns:a16="http://schemas.microsoft.com/office/drawing/2014/main" id="{6533B992-4EB1-90C9-FCB1-BF6F3FECFDB5}"/>
              </a:ext>
            </a:extLst>
          </p:cNvPr>
          <p:cNvCxnSpPr>
            <a:cxnSpLocks/>
            <a:stCxn id="24" idx="2"/>
            <a:endCxn id="22" idx="0"/>
          </p:cNvCxnSpPr>
          <p:nvPr/>
        </p:nvCxnSpPr>
        <p:spPr>
          <a:xfrm>
            <a:off x="3945748" y="3429000"/>
            <a:ext cx="0" cy="85537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6E14F70-D086-0C3C-F566-B9C2A04A580E}"/>
              </a:ext>
            </a:extLst>
          </p:cNvPr>
          <p:cNvCxnSpPr>
            <a:cxnSpLocks/>
          </p:cNvCxnSpPr>
          <p:nvPr/>
        </p:nvCxnSpPr>
        <p:spPr>
          <a:xfrm>
            <a:off x="5993552" y="3365149"/>
            <a:ext cx="0" cy="91923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525975B3-F763-DD33-6F30-F6A156F1482D}"/>
              </a:ext>
            </a:extLst>
          </p:cNvPr>
          <p:cNvSpPr txBox="1"/>
          <p:nvPr/>
        </p:nvSpPr>
        <p:spPr>
          <a:xfrm>
            <a:off x="3446002" y="1391193"/>
            <a:ext cx="4175126" cy="2215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600" kern="1200" dirty="0" err="1">
                <a:solidFill>
                  <a:schemeClr val="tx2"/>
                </a:solidFill>
                <a:latin typeface="+mn-lt"/>
                <a:ea typeface="+mn-ea"/>
                <a:cs typeface="+mn-cs"/>
              </a:rPr>
              <a:t>TrustZone</a:t>
            </a:r>
            <a:r>
              <a:rPr lang="en-US" sz="1600" kern="1200" dirty="0">
                <a:solidFill>
                  <a:schemeClr val="tx2"/>
                </a:solidFill>
                <a:latin typeface="+mn-lt"/>
                <a:ea typeface="+mn-ea"/>
                <a:cs typeface="+mn-cs"/>
              </a:rPr>
              <a:t> or Multicore projects</a:t>
            </a:r>
          </a:p>
        </p:txBody>
      </p:sp>
      <p:sp>
        <p:nvSpPr>
          <p:cNvPr id="22" name="Rectangle 21">
            <a:extLst>
              <a:ext uri="{FF2B5EF4-FFF2-40B4-BE49-F238E27FC236}">
                <a16:creationId xmlns:a16="http://schemas.microsoft.com/office/drawing/2014/main" id="{EC4DE961-7305-38C5-B6BA-5886E141634F}"/>
              </a:ext>
            </a:extLst>
          </p:cNvPr>
          <p:cNvSpPr/>
          <p:nvPr/>
        </p:nvSpPr>
        <p:spPr>
          <a:xfrm>
            <a:off x="3059570" y="4284379"/>
            <a:ext cx="1772356" cy="5238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clayer</a:t>
            </a:r>
            <a:r>
              <a:rPr lang="en-US" dirty="0"/>
              <a:t> CPU #1</a:t>
            </a:r>
          </a:p>
        </p:txBody>
      </p:sp>
      <p:sp>
        <p:nvSpPr>
          <p:cNvPr id="31" name="Rectangle 30">
            <a:extLst>
              <a:ext uri="{FF2B5EF4-FFF2-40B4-BE49-F238E27FC236}">
                <a16:creationId xmlns:a16="http://schemas.microsoft.com/office/drawing/2014/main" id="{655A7DF7-64E6-D586-71FD-CE75A1E63DD5}"/>
              </a:ext>
            </a:extLst>
          </p:cNvPr>
          <p:cNvSpPr/>
          <p:nvPr/>
        </p:nvSpPr>
        <p:spPr>
          <a:xfrm>
            <a:off x="5153659" y="4300333"/>
            <a:ext cx="1772356" cy="5238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clayer</a:t>
            </a:r>
            <a:r>
              <a:rPr lang="en-US" dirty="0"/>
              <a:t> CPU #2</a:t>
            </a:r>
          </a:p>
        </p:txBody>
      </p:sp>
      <p:cxnSp>
        <p:nvCxnSpPr>
          <p:cNvPr id="33" name="Straight Arrow Connector 32">
            <a:extLst>
              <a:ext uri="{FF2B5EF4-FFF2-40B4-BE49-F238E27FC236}">
                <a16:creationId xmlns:a16="http://schemas.microsoft.com/office/drawing/2014/main" id="{BBC26367-0536-A3AF-8401-C30AFD85C2FC}"/>
              </a:ext>
            </a:extLst>
          </p:cNvPr>
          <p:cNvCxnSpPr>
            <a:cxnSpLocks/>
          </p:cNvCxnSpPr>
          <p:nvPr/>
        </p:nvCxnSpPr>
        <p:spPr>
          <a:xfrm>
            <a:off x="3945748" y="4797632"/>
            <a:ext cx="727852" cy="36919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8FB82BFE-8592-5CA9-C1AC-1F3C7F936FAB}"/>
              </a:ext>
            </a:extLst>
          </p:cNvPr>
          <p:cNvCxnSpPr>
            <a:cxnSpLocks/>
            <a:stCxn id="31" idx="2"/>
          </p:cNvCxnSpPr>
          <p:nvPr/>
        </p:nvCxnSpPr>
        <p:spPr>
          <a:xfrm flipH="1">
            <a:off x="5533565" y="4824186"/>
            <a:ext cx="506272" cy="342643"/>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2706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8A928-9849-483F-9B17-9696AA336CD6}"/>
              </a:ext>
            </a:extLst>
          </p:cNvPr>
          <p:cNvSpPr>
            <a:spLocks noGrp="1"/>
          </p:cNvSpPr>
          <p:nvPr>
            <p:ph type="title"/>
          </p:nvPr>
        </p:nvSpPr>
        <p:spPr/>
        <p:txBody>
          <a:bodyPr/>
          <a:lstStyle/>
          <a:p>
            <a:r>
              <a:rPr lang="en-US" dirty="0" err="1"/>
              <a:t>CSolution</a:t>
            </a:r>
            <a:r>
              <a:rPr lang="en-US" dirty="0"/>
              <a:t> / </a:t>
            </a:r>
            <a:r>
              <a:rPr lang="en-US" dirty="0" err="1"/>
              <a:t>CBuild</a:t>
            </a:r>
            <a:r>
              <a:rPr lang="en-US" dirty="0"/>
              <a:t>: Generator Workflow</a:t>
            </a:r>
            <a:endParaRPr lang="en-GB" dirty="0"/>
          </a:p>
        </p:txBody>
      </p:sp>
      <p:sp>
        <p:nvSpPr>
          <p:cNvPr id="3" name="Text Placeholder 2">
            <a:extLst>
              <a:ext uri="{FF2B5EF4-FFF2-40B4-BE49-F238E27FC236}">
                <a16:creationId xmlns:a16="http://schemas.microsoft.com/office/drawing/2014/main" id="{76F78A7D-CC93-4178-85CA-9C6EFB99AFDF}"/>
              </a:ext>
            </a:extLst>
          </p:cNvPr>
          <p:cNvSpPr>
            <a:spLocks noGrp="1"/>
          </p:cNvSpPr>
          <p:nvPr>
            <p:ph type="body" sz="quarter" idx="13"/>
          </p:nvPr>
        </p:nvSpPr>
        <p:spPr/>
        <p:txBody>
          <a:bodyPr/>
          <a:lstStyle/>
          <a:p>
            <a:r>
              <a:rPr lang="en-US" dirty="0"/>
              <a:t>Steps for component selection and configuration</a:t>
            </a:r>
            <a:endParaRPr lang="en-GB" dirty="0"/>
          </a:p>
        </p:txBody>
      </p:sp>
      <p:sp>
        <p:nvSpPr>
          <p:cNvPr id="4" name="Content Placeholder 3">
            <a:extLst>
              <a:ext uri="{FF2B5EF4-FFF2-40B4-BE49-F238E27FC236}">
                <a16:creationId xmlns:a16="http://schemas.microsoft.com/office/drawing/2014/main" id="{C04B1D94-F87A-4D2F-92EF-A90619EB7EB0}"/>
              </a:ext>
            </a:extLst>
          </p:cNvPr>
          <p:cNvSpPr>
            <a:spLocks noGrp="1"/>
          </p:cNvSpPr>
          <p:nvPr>
            <p:ph idx="1"/>
          </p:nvPr>
        </p:nvSpPr>
        <p:spPr>
          <a:xfrm>
            <a:off x="479425" y="1554489"/>
            <a:ext cx="2414915" cy="2715230"/>
          </a:xfrm>
        </p:spPr>
        <p:txBody>
          <a:bodyPr/>
          <a:lstStyle/>
          <a:p>
            <a:pPr marL="287338" indent="-287338">
              <a:buFont typeface="+mj-lt"/>
              <a:buAutoNum type="arabicPeriod"/>
            </a:pPr>
            <a:r>
              <a:rPr lang="en-US" sz="1600" dirty="0"/>
              <a:t>User selects components</a:t>
            </a:r>
          </a:p>
          <a:p>
            <a:pPr indent="-169863"/>
            <a:r>
              <a:rPr lang="en-US" sz="1200" dirty="0"/>
              <a:t>in </a:t>
            </a:r>
            <a:r>
              <a:rPr lang="en-US" sz="1050" dirty="0">
                <a:solidFill>
                  <a:srgbClr val="800000"/>
                </a:solidFill>
                <a:latin typeface="Consolas" panose="020B0609020204030204" pitchFamily="49" charset="0"/>
              </a:rPr>
              <a:t>`*.</a:t>
            </a:r>
            <a:r>
              <a:rPr lang="en-US" sz="1050" dirty="0" err="1">
                <a:solidFill>
                  <a:srgbClr val="800000"/>
                </a:solidFill>
                <a:latin typeface="Consolas" panose="020B0609020204030204" pitchFamily="49" charset="0"/>
              </a:rPr>
              <a:t>cproject.yml</a:t>
            </a:r>
            <a:r>
              <a:rPr lang="en-US" sz="1050" dirty="0">
                <a:solidFill>
                  <a:srgbClr val="800000"/>
                </a:solidFill>
                <a:latin typeface="Consolas" panose="020B0609020204030204" pitchFamily="49" charset="0"/>
              </a:rPr>
              <a:t>`</a:t>
            </a:r>
            <a:r>
              <a:rPr lang="en-US" sz="1200" dirty="0"/>
              <a:t> under </a:t>
            </a:r>
            <a:r>
              <a:rPr lang="en-US" sz="1050" dirty="0">
                <a:solidFill>
                  <a:srgbClr val="800000"/>
                </a:solidFill>
                <a:latin typeface="Consolas" panose="020B0609020204030204" pitchFamily="49" charset="0"/>
              </a:rPr>
              <a:t>`components:`</a:t>
            </a:r>
          </a:p>
          <a:p>
            <a:pPr indent="-169863"/>
            <a:r>
              <a:rPr lang="en-GB" sz="1050" dirty="0"/>
              <a:t>When this are components that require generation, </a:t>
            </a:r>
            <a:r>
              <a:rPr lang="en-GB" sz="1050" b="1" dirty="0"/>
              <a:t>user is notified about the requirement to run </a:t>
            </a:r>
            <a:r>
              <a:rPr lang="en-GB" sz="1050" dirty="0"/>
              <a:t>a generator and users the </a:t>
            </a:r>
            <a:r>
              <a:rPr lang="en-GB" sz="1050" dirty="0" err="1"/>
              <a:t>CSolution</a:t>
            </a:r>
            <a:r>
              <a:rPr lang="en-GB" sz="1050" dirty="0"/>
              <a:t> Run command.</a:t>
            </a:r>
          </a:p>
          <a:p>
            <a:pPr indent="-169863"/>
            <a:r>
              <a:rPr lang="en-US" sz="1200" dirty="0"/>
              <a:t>Run a “Generator” for a list of components.</a:t>
            </a:r>
          </a:p>
          <a:p>
            <a:pPr indent="-169863"/>
            <a:r>
              <a:rPr lang="en-US" sz="1200" dirty="0" err="1"/>
              <a:t>CSolution</a:t>
            </a:r>
            <a:r>
              <a:rPr lang="en-US" sz="1200" dirty="0"/>
              <a:t> generates </a:t>
            </a:r>
            <a:r>
              <a:rPr lang="en-GB" sz="1050" b="0" dirty="0">
                <a:solidFill>
                  <a:srgbClr val="800000"/>
                </a:solidFill>
                <a:effectLst/>
                <a:latin typeface="Consolas" panose="020B0609020204030204" pitchFamily="49" charset="0"/>
              </a:rPr>
              <a:t>`*.</a:t>
            </a:r>
            <a:r>
              <a:rPr lang="en-GB" sz="1050" b="0" dirty="0" err="1">
                <a:solidFill>
                  <a:srgbClr val="800000"/>
                </a:solidFill>
                <a:effectLst/>
                <a:latin typeface="Consolas" panose="020B0609020204030204" pitchFamily="49" charset="0"/>
              </a:rPr>
              <a:t>cgen.yml</a:t>
            </a:r>
            <a:r>
              <a:rPr lang="en-GB" sz="1050" b="0" dirty="0">
                <a:solidFill>
                  <a:srgbClr val="800000"/>
                </a:solidFill>
                <a:effectLst/>
                <a:latin typeface="Consolas" panose="020B0609020204030204" pitchFamily="49" charset="0"/>
              </a:rPr>
              <a:t>`</a:t>
            </a:r>
            <a:r>
              <a:rPr lang="en-US" sz="1050" dirty="0"/>
              <a:t> that provides the list of user-selected components.</a:t>
            </a:r>
          </a:p>
          <a:p>
            <a:pPr indent="-169863"/>
            <a:endParaRPr lang="en-GB" sz="1050" b="1" dirty="0">
              <a:solidFill>
                <a:srgbClr val="800000"/>
              </a:solidFill>
              <a:latin typeface="Consolas" panose="020B0609020204030204" pitchFamily="49" charset="0"/>
            </a:endParaRPr>
          </a:p>
          <a:p>
            <a:pPr marL="173037" indent="0">
              <a:buNone/>
            </a:pPr>
            <a:endParaRPr lang="en-GB" sz="1050" b="1" dirty="0">
              <a:solidFill>
                <a:srgbClr val="800000"/>
              </a:solidFill>
              <a:latin typeface="Consolas" panose="020B0609020204030204" pitchFamily="49" charset="0"/>
            </a:endParaRPr>
          </a:p>
        </p:txBody>
      </p:sp>
      <p:sp>
        <p:nvSpPr>
          <p:cNvPr id="5" name="Content Placeholder 3">
            <a:extLst>
              <a:ext uri="{FF2B5EF4-FFF2-40B4-BE49-F238E27FC236}">
                <a16:creationId xmlns:a16="http://schemas.microsoft.com/office/drawing/2014/main" id="{5D4F432B-1207-4793-880F-63AFC41CD96E}"/>
              </a:ext>
            </a:extLst>
          </p:cNvPr>
          <p:cNvSpPr txBox="1">
            <a:spLocks/>
          </p:cNvSpPr>
          <p:nvPr/>
        </p:nvSpPr>
        <p:spPr>
          <a:xfrm>
            <a:off x="3276783" y="1555748"/>
            <a:ext cx="2414915" cy="2715230"/>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 typeface="Arial" charset="0"/>
              <a:buChar char="•"/>
              <a:defRPr sz="24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 typeface="Calibri" charset="0"/>
              <a:buChar char="–"/>
              <a:defRPr kern="1200">
                <a:solidFill>
                  <a:schemeClr val="tx2"/>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chemeClr val="tx2"/>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 typeface="Calibri" charset="0"/>
              <a:buChar char="–"/>
              <a:defRPr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a:lstStyle>
          <a:p>
            <a:pPr>
              <a:buFont typeface="+mj-lt"/>
              <a:buAutoNum type="arabicPeriod" startAt="2"/>
            </a:pPr>
            <a:r>
              <a:rPr lang="en-US" sz="1600" dirty="0"/>
              <a:t>User runs Generator</a:t>
            </a:r>
          </a:p>
          <a:p>
            <a:pPr indent="-169863"/>
            <a:r>
              <a:rPr lang="en-GB" sz="1050" dirty="0">
                <a:solidFill>
                  <a:srgbClr val="800000"/>
                </a:solidFill>
                <a:latin typeface="Consolas" panose="020B0609020204030204" pitchFamily="49" charset="0"/>
              </a:rPr>
              <a:t>`*.</a:t>
            </a:r>
            <a:r>
              <a:rPr lang="en-GB" sz="1050" dirty="0" err="1">
                <a:solidFill>
                  <a:srgbClr val="800000"/>
                </a:solidFill>
                <a:latin typeface="Consolas" panose="020B0609020204030204" pitchFamily="49" charset="0"/>
              </a:rPr>
              <a:t>cgen.yml</a:t>
            </a:r>
            <a:r>
              <a:rPr lang="en-GB" sz="1050" dirty="0">
                <a:solidFill>
                  <a:srgbClr val="800000"/>
                </a:solidFill>
                <a:latin typeface="Consolas" panose="020B0609020204030204" pitchFamily="49" charset="0"/>
              </a:rPr>
              <a:t>`</a:t>
            </a:r>
            <a:r>
              <a:rPr lang="en-US" sz="1050" dirty="0"/>
              <a:t> provides the input to the Generator with a list of selected components</a:t>
            </a:r>
          </a:p>
          <a:p>
            <a:pPr indent="-169863"/>
            <a:r>
              <a:rPr lang="en-US" sz="1050" dirty="0"/>
              <a:t>Configuration is done.  </a:t>
            </a:r>
          </a:p>
          <a:p>
            <a:pPr lvl="1" indent="-169863"/>
            <a:r>
              <a:rPr lang="en-US" sz="650" dirty="0"/>
              <a:t>Interactive mode (where a settings file is generated)</a:t>
            </a:r>
          </a:p>
          <a:p>
            <a:pPr lvl="1" indent="-169863"/>
            <a:r>
              <a:rPr lang="en-US" sz="650" dirty="0"/>
              <a:t>Remote mode (where a settings file is an input)</a:t>
            </a:r>
          </a:p>
          <a:p>
            <a:pPr indent="-169863"/>
            <a:r>
              <a:rPr lang="en-US" sz="1050" dirty="0">
                <a:solidFill>
                  <a:srgbClr val="000000"/>
                </a:solidFill>
                <a:latin typeface="Consolas" panose="020B0609020204030204" pitchFamily="49" charset="0"/>
              </a:rPr>
              <a:t>Generator creates the “</a:t>
            </a:r>
            <a:r>
              <a:rPr lang="en-GB" sz="900" b="0" dirty="0" err="1">
                <a:solidFill>
                  <a:srgbClr val="0000FF"/>
                </a:solidFill>
                <a:effectLst/>
                <a:latin typeface="Consolas" panose="020B0609020204030204" pitchFamily="49" charset="0"/>
              </a:rPr>
              <a:t>myGen.gpdsc</a:t>
            </a:r>
            <a:r>
              <a:rPr lang="en-GB" sz="900" b="0" dirty="0">
                <a:solidFill>
                  <a:srgbClr val="0000FF"/>
                </a:solidFill>
                <a:effectLst/>
                <a:latin typeface="Consolas" panose="020B0609020204030204" pitchFamily="49" charset="0"/>
              </a:rPr>
              <a:t>” </a:t>
            </a:r>
            <a:r>
              <a:rPr lang="en-US" sz="1050" dirty="0"/>
              <a:t>that informs the </a:t>
            </a:r>
            <a:r>
              <a:rPr lang="en-US" sz="1050" dirty="0" err="1"/>
              <a:t>CSolution</a:t>
            </a:r>
            <a:r>
              <a:rPr lang="en-US" sz="1050" dirty="0"/>
              <a:t> tool about (a) the fact that a component is configured and has generated code, (b) additional components that are the result of some user configuration.</a:t>
            </a:r>
          </a:p>
          <a:p>
            <a:pPr marL="173037" indent="0">
              <a:buNone/>
            </a:pPr>
            <a:r>
              <a:rPr lang="en-GB" sz="1050" b="1" dirty="0">
                <a:solidFill>
                  <a:srgbClr val="800000"/>
                </a:solidFill>
                <a:latin typeface="Consolas" panose="020B0609020204030204" pitchFamily="49" charset="0"/>
              </a:rPr>
              <a:t>Discussion: is a component list or a dependency list</a:t>
            </a:r>
          </a:p>
          <a:p>
            <a:pPr marL="173037" indent="0">
              <a:buNone/>
            </a:pPr>
            <a:endParaRPr lang="en-GB" sz="1050" b="1" dirty="0">
              <a:solidFill>
                <a:srgbClr val="800000"/>
              </a:solidFill>
              <a:latin typeface="Consolas" panose="020B0609020204030204" pitchFamily="49" charset="0"/>
            </a:endParaRPr>
          </a:p>
          <a:p>
            <a:pPr marL="173037" indent="0">
              <a:buNone/>
            </a:pPr>
            <a:r>
              <a:rPr lang="en-GB" sz="1050" b="1" dirty="0">
                <a:solidFill>
                  <a:srgbClr val="800000"/>
                </a:solidFill>
                <a:latin typeface="Consolas" panose="020B0609020204030204" pitchFamily="49" charset="0"/>
              </a:rPr>
              <a:t>Generator might be VS Code plugin or web based.</a:t>
            </a:r>
          </a:p>
          <a:p>
            <a:pPr marL="173037" indent="0">
              <a:buFont typeface="Arial" charset="0"/>
              <a:buNone/>
            </a:pPr>
            <a:endParaRPr lang="en-GB" sz="1050" b="1" dirty="0">
              <a:solidFill>
                <a:srgbClr val="800000"/>
              </a:solidFill>
              <a:latin typeface="Consolas" panose="020B0609020204030204" pitchFamily="49" charset="0"/>
            </a:endParaRPr>
          </a:p>
        </p:txBody>
      </p:sp>
      <p:sp>
        <p:nvSpPr>
          <p:cNvPr id="6" name="Content Placeholder 3">
            <a:extLst>
              <a:ext uri="{FF2B5EF4-FFF2-40B4-BE49-F238E27FC236}">
                <a16:creationId xmlns:a16="http://schemas.microsoft.com/office/drawing/2014/main" id="{8D75BAFB-756B-47FC-AA7B-9A1A5A976E21}"/>
              </a:ext>
            </a:extLst>
          </p:cNvPr>
          <p:cNvSpPr txBox="1">
            <a:spLocks/>
          </p:cNvSpPr>
          <p:nvPr/>
        </p:nvSpPr>
        <p:spPr>
          <a:xfrm>
            <a:off x="6164826" y="1534335"/>
            <a:ext cx="2414915" cy="3460857"/>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 typeface="Arial" charset="0"/>
              <a:buChar char="•"/>
              <a:defRPr sz="24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 typeface="Calibri" charset="0"/>
              <a:buChar char="–"/>
              <a:defRPr kern="1200">
                <a:solidFill>
                  <a:schemeClr val="tx2"/>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chemeClr val="tx2"/>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 typeface="Calibri" charset="0"/>
              <a:buChar char="–"/>
              <a:defRPr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a:lstStyle>
          <a:p>
            <a:pPr>
              <a:buFont typeface="+mj-lt"/>
              <a:buAutoNum type="arabicPeriod" startAt="3"/>
            </a:pPr>
            <a:r>
              <a:rPr lang="en-US" sz="1600" dirty="0"/>
              <a:t>User creates </a:t>
            </a:r>
            <a:r>
              <a:rPr lang="en-US" sz="1600" dirty="0" err="1"/>
              <a:t>CBuild</a:t>
            </a:r>
            <a:r>
              <a:rPr lang="en-US" sz="1600" dirty="0"/>
              <a:t> output with </a:t>
            </a:r>
            <a:r>
              <a:rPr lang="en-US" sz="1600" dirty="0" err="1"/>
              <a:t>CSolution</a:t>
            </a:r>
            <a:endParaRPr lang="en-US" sz="1600" dirty="0"/>
          </a:p>
          <a:p>
            <a:pPr indent="-169863"/>
            <a:r>
              <a:rPr lang="en-US" sz="1050" dirty="0"/>
              <a:t>Both </a:t>
            </a:r>
            <a:r>
              <a:rPr lang="en-US" sz="1050" dirty="0">
                <a:solidFill>
                  <a:srgbClr val="800000"/>
                </a:solidFill>
                <a:latin typeface="Consolas" panose="020B0609020204030204" pitchFamily="49" charset="0"/>
              </a:rPr>
              <a:t>`*.</a:t>
            </a:r>
            <a:r>
              <a:rPr lang="en-US" sz="1050" dirty="0" err="1">
                <a:solidFill>
                  <a:srgbClr val="800000"/>
                </a:solidFill>
                <a:latin typeface="Consolas" panose="020B0609020204030204" pitchFamily="49" charset="0"/>
              </a:rPr>
              <a:t>cproject.yml</a:t>
            </a:r>
            <a:r>
              <a:rPr lang="en-US" sz="1050" dirty="0">
                <a:solidFill>
                  <a:srgbClr val="800000"/>
                </a:solidFill>
                <a:latin typeface="Consolas" panose="020B0609020204030204" pitchFamily="49" charset="0"/>
              </a:rPr>
              <a:t>` “</a:t>
            </a:r>
            <a:r>
              <a:rPr lang="en-GB" sz="1050" dirty="0" err="1">
                <a:solidFill>
                  <a:srgbClr val="800000"/>
                </a:solidFill>
                <a:latin typeface="Consolas" panose="020B0609020204030204" pitchFamily="49" charset="0"/>
              </a:rPr>
              <a:t>myGen.gpdsc</a:t>
            </a:r>
            <a:r>
              <a:rPr lang="en-GB" sz="1050" dirty="0">
                <a:solidFill>
                  <a:srgbClr val="800000"/>
                </a:solidFill>
                <a:latin typeface="Consolas" panose="020B0609020204030204" pitchFamily="49" charset="0"/>
              </a:rPr>
              <a:t>” </a:t>
            </a:r>
            <a:r>
              <a:rPr lang="en-GB" sz="1050" dirty="0"/>
              <a:t>and read by </a:t>
            </a:r>
            <a:r>
              <a:rPr lang="en-GB" sz="1050" dirty="0" err="1"/>
              <a:t>Csolution</a:t>
            </a:r>
            <a:r>
              <a:rPr lang="en-GB" sz="1050" dirty="0"/>
              <a:t> and create the complete list of selected components.</a:t>
            </a:r>
          </a:p>
          <a:p>
            <a:pPr indent="-169863"/>
            <a:r>
              <a:rPr lang="en-GB" sz="1050" dirty="0"/>
              <a:t>If </a:t>
            </a:r>
            <a:r>
              <a:rPr lang="en-US" sz="1050" dirty="0">
                <a:solidFill>
                  <a:srgbClr val="800000"/>
                </a:solidFill>
                <a:latin typeface="Consolas" panose="020B0609020204030204" pitchFamily="49" charset="0"/>
              </a:rPr>
              <a:t>“</a:t>
            </a:r>
            <a:r>
              <a:rPr lang="en-GB" sz="1050" dirty="0" err="1">
                <a:solidFill>
                  <a:srgbClr val="800000"/>
                </a:solidFill>
                <a:latin typeface="Consolas" panose="020B0609020204030204" pitchFamily="49" charset="0"/>
              </a:rPr>
              <a:t>myGen.gpdsc</a:t>
            </a:r>
            <a:r>
              <a:rPr lang="en-GB" sz="1050" dirty="0">
                <a:solidFill>
                  <a:srgbClr val="800000"/>
                </a:solidFill>
                <a:latin typeface="Consolas" panose="020B0609020204030204" pitchFamily="49" charset="0"/>
              </a:rPr>
              <a:t>” </a:t>
            </a:r>
            <a:r>
              <a:rPr lang="en-GB" sz="1050" dirty="0"/>
              <a:t>does not contain component information about a component with `</a:t>
            </a:r>
            <a:r>
              <a:rPr lang="en-GB" sz="1050" dirty="0" err="1"/>
              <a:t>genId</a:t>
            </a:r>
            <a:r>
              <a:rPr lang="en-GB" sz="1050" dirty="0"/>
              <a:t>` that is selected in </a:t>
            </a:r>
            <a:r>
              <a:rPr lang="en-US" sz="1050" dirty="0">
                <a:solidFill>
                  <a:srgbClr val="800000"/>
                </a:solidFill>
                <a:latin typeface="Consolas" panose="020B0609020204030204" pitchFamily="49" charset="0"/>
              </a:rPr>
              <a:t>`*.</a:t>
            </a:r>
            <a:r>
              <a:rPr lang="en-US" sz="1050" dirty="0" err="1">
                <a:solidFill>
                  <a:srgbClr val="800000"/>
                </a:solidFill>
                <a:latin typeface="Consolas" panose="020B0609020204030204" pitchFamily="49" charset="0"/>
              </a:rPr>
              <a:t>cproject.yml</a:t>
            </a:r>
            <a:r>
              <a:rPr lang="en-US" sz="1050" dirty="0">
                <a:solidFill>
                  <a:srgbClr val="800000"/>
                </a:solidFill>
                <a:latin typeface="Consolas" panose="020B0609020204030204" pitchFamily="49" charset="0"/>
              </a:rPr>
              <a:t>` </a:t>
            </a:r>
            <a:r>
              <a:rPr lang="en-US" sz="1050" dirty="0"/>
              <a:t>the generator configuration is incomplete. This can happen when a component is added at a later step.</a:t>
            </a:r>
          </a:p>
          <a:p>
            <a:pPr indent="-169863"/>
            <a:r>
              <a:rPr lang="en-US" sz="1050" dirty="0"/>
              <a:t>Likewise the Generator should remove components that are no longer required. An indicator is needed.  </a:t>
            </a:r>
            <a:r>
              <a:rPr lang="en-US" sz="1050"/>
              <a:t>(NOT SOLVED YET)</a:t>
            </a:r>
            <a:endParaRPr lang="en-US" sz="1050" dirty="0"/>
          </a:p>
          <a:p>
            <a:pPr marL="173037" indent="0">
              <a:buNone/>
            </a:pPr>
            <a:endParaRPr lang="en-US" sz="1050" dirty="0"/>
          </a:p>
          <a:p>
            <a:pPr indent="-169863"/>
            <a:endParaRPr lang="en-GB" sz="1050" dirty="0"/>
          </a:p>
          <a:p>
            <a:pPr marL="173037" indent="0">
              <a:buFont typeface="Arial" charset="0"/>
              <a:buNone/>
            </a:pPr>
            <a:endParaRPr lang="en-GB" sz="1050" b="1" dirty="0">
              <a:solidFill>
                <a:srgbClr val="800000"/>
              </a:solidFill>
              <a:latin typeface="Consolas" panose="020B0609020204030204" pitchFamily="49" charset="0"/>
            </a:endParaRPr>
          </a:p>
        </p:txBody>
      </p:sp>
    </p:spTree>
    <p:extLst>
      <p:ext uri="{BB962C8B-B14F-4D97-AF65-F5344CB8AC3E}">
        <p14:creationId xmlns:p14="http://schemas.microsoft.com/office/powerpoint/2010/main" val="40690763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Arrow: Down 9">
            <a:extLst>
              <a:ext uri="{FF2B5EF4-FFF2-40B4-BE49-F238E27FC236}">
                <a16:creationId xmlns:a16="http://schemas.microsoft.com/office/drawing/2014/main" id="{897862CB-172A-F93A-B805-F3193B8EAE5D}"/>
              </a:ext>
            </a:extLst>
          </p:cNvPr>
          <p:cNvSpPr/>
          <p:nvPr/>
        </p:nvSpPr>
        <p:spPr>
          <a:xfrm rot="5400000">
            <a:off x="941215" y="2580518"/>
            <a:ext cx="1113445" cy="308196"/>
          </a:xfrm>
          <a:prstGeom prst="downArrow">
            <a:avLst>
              <a:gd name="adj1" fmla="val 49815"/>
              <a:gd name="adj2" fmla="val 5121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Down 8">
            <a:extLst>
              <a:ext uri="{FF2B5EF4-FFF2-40B4-BE49-F238E27FC236}">
                <a16:creationId xmlns:a16="http://schemas.microsoft.com/office/drawing/2014/main" id="{88D8AFAE-9F83-A1A3-2C81-5987FFD53E0B}"/>
              </a:ext>
            </a:extLst>
          </p:cNvPr>
          <p:cNvSpPr/>
          <p:nvPr/>
        </p:nvSpPr>
        <p:spPr>
          <a:xfrm>
            <a:off x="2303694" y="2111750"/>
            <a:ext cx="959476" cy="1061345"/>
          </a:xfrm>
          <a:prstGeom prst="downArrow">
            <a:avLst>
              <a:gd name="adj1" fmla="val 50000"/>
              <a:gd name="adj2" fmla="val 1778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C70444-14E9-4412-920E-BE212187115D}"/>
              </a:ext>
            </a:extLst>
          </p:cNvPr>
          <p:cNvSpPr>
            <a:spLocks noGrp="1"/>
          </p:cNvSpPr>
          <p:nvPr>
            <p:ph type="title"/>
          </p:nvPr>
        </p:nvSpPr>
        <p:spPr/>
        <p:txBody>
          <a:bodyPr/>
          <a:lstStyle/>
          <a:p>
            <a:r>
              <a:rPr lang="en-US" sz="3200"/>
              <a:t>IoT Workshop Example - Structure</a:t>
            </a:r>
            <a:endParaRPr lang="en-GB" sz="3200"/>
          </a:p>
        </p:txBody>
      </p:sp>
      <p:sp>
        <p:nvSpPr>
          <p:cNvPr id="7" name="Text Placeholder 6">
            <a:extLst>
              <a:ext uri="{FF2B5EF4-FFF2-40B4-BE49-F238E27FC236}">
                <a16:creationId xmlns:a16="http://schemas.microsoft.com/office/drawing/2014/main" id="{B990FECA-AC6C-BF5C-3709-1986769FAAAC}"/>
              </a:ext>
            </a:extLst>
          </p:cNvPr>
          <p:cNvSpPr>
            <a:spLocks noGrp="1"/>
          </p:cNvSpPr>
          <p:nvPr>
            <p:ph type="body" sz="quarter" idx="13"/>
          </p:nvPr>
        </p:nvSpPr>
        <p:spPr/>
        <p:txBody>
          <a:bodyPr/>
          <a:lstStyle/>
          <a:p>
            <a:r>
              <a:rPr lang="en-US"/>
              <a:t>Reference Application Framework: map many applications to many boards</a:t>
            </a:r>
          </a:p>
        </p:txBody>
      </p:sp>
      <p:sp>
        <p:nvSpPr>
          <p:cNvPr id="6" name="Rectangle 5">
            <a:extLst>
              <a:ext uri="{FF2B5EF4-FFF2-40B4-BE49-F238E27FC236}">
                <a16:creationId xmlns:a16="http://schemas.microsoft.com/office/drawing/2014/main" id="{5B91937D-F19D-B446-238D-9B3F5079E5AE}"/>
              </a:ext>
            </a:extLst>
          </p:cNvPr>
          <p:cNvSpPr/>
          <p:nvPr/>
        </p:nvSpPr>
        <p:spPr>
          <a:xfrm>
            <a:off x="1652036" y="1638300"/>
            <a:ext cx="2266950" cy="473559"/>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IoT Reference Application</a:t>
            </a:r>
            <a:br>
              <a:rPr lang="en-US" sz="1400"/>
            </a:br>
            <a:r>
              <a:rPr lang="en-US" sz="1400"/>
              <a:t>using RTOS Kernel</a:t>
            </a:r>
          </a:p>
        </p:txBody>
      </p:sp>
      <p:sp>
        <p:nvSpPr>
          <p:cNvPr id="8" name="Rectangle 7">
            <a:extLst>
              <a:ext uri="{FF2B5EF4-FFF2-40B4-BE49-F238E27FC236}">
                <a16:creationId xmlns:a16="http://schemas.microsoft.com/office/drawing/2014/main" id="{766B0585-F98B-6B33-3F69-3561A6AAB479}"/>
              </a:ext>
            </a:extLst>
          </p:cNvPr>
          <p:cNvSpPr/>
          <p:nvPr/>
        </p:nvSpPr>
        <p:spPr>
          <a:xfrm rot="16200000">
            <a:off x="113042" y="2604913"/>
            <a:ext cx="2197417" cy="264183"/>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 PSA Interface</a:t>
            </a:r>
          </a:p>
        </p:txBody>
      </p:sp>
      <p:sp>
        <p:nvSpPr>
          <p:cNvPr id="11" name="Rectangle 10">
            <a:extLst>
              <a:ext uri="{FF2B5EF4-FFF2-40B4-BE49-F238E27FC236}">
                <a16:creationId xmlns:a16="http://schemas.microsoft.com/office/drawing/2014/main" id="{D635B518-621D-69AE-09B7-61BA9EBE0C2C}"/>
              </a:ext>
            </a:extLst>
          </p:cNvPr>
          <p:cNvSpPr/>
          <p:nvPr/>
        </p:nvSpPr>
        <p:spPr>
          <a:xfrm>
            <a:off x="1652036" y="3432995"/>
            <a:ext cx="2266950" cy="473558"/>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Device/Board Abstraction</a:t>
            </a:r>
            <a:br>
              <a:rPr lang="en-US" sz="1400"/>
            </a:br>
            <a:r>
              <a:rPr lang="en-US" sz="1400"/>
              <a:t>Layer</a:t>
            </a:r>
          </a:p>
        </p:txBody>
      </p:sp>
      <p:sp>
        <p:nvSpPr>
          <p:cNvPr id="22" name="Rectangle 21">
            <a:extLst>
              <a:ext uri="{FF2B5EF4-FFF2-40B4-BE49-F238E27FC236}">
                <a16:creationId xmlns:a16="http://schemas.microsoft.com/office/drawing/2014/main" id="{0288E664-AE4E-8D7F-1ACA-9FB48F183C42}"/>
              </a:ext>
            </a:extLst>
          </p:cNvPr>
          <p:cNvSpPr/>
          <p:nvPr/>
        </p:nvSpPr>
        <p:spPr>
          <a:xfrm rot="16200000">
            <a:off x="-319168" y="2436893"/>
            <a:ext cx="2197420" cy="6002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 Security Firmware </a:t>
            </a:r>
          </a:p>
        </p:txBody>
      </p:sp>
      <p:sp>
        <p:nvSpPr>
          <p:cNvPr id="26" name="TextBox 25">
            <a:extLst>
              <a:ext uri="{FF2B5EF4-FFF2-40B4-BE49-F238E27FC236}">
                <a16:creationId xmlns:a16="http://schemas.microsoft.com/office/drawing/2014/main" id="{611E4331-4D6F-87B8-2B8F-6D1EB902F7DB}"/>
              </a:ext>
            </a:extLst>
          </p:cNvPr>
          <p:cNvSpPr txBox="1"/>
          <p:nvPr/>
        </p:nvSpPr>
        <p:spPr>
          <a:xfrm>
            <a:off x="4382569" y="1638296"/>
            <a:ext cx="7544824" cy="7542065"/>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600">
                <a:solidFill>
                  <a:schemeClr val="accent1"/>
                </a:solidFill>
                <a:latin typeface="+mn-lt"/>
                <a:ea typeface="+mn-ea"/>
              </a:rPr>
              <a:t>SW Building Blocks </a:t>
            </a:r>
          </a:p>
          <a:p>
            <a:pPr marL="171450" indent="-171450" eaLnBrk="1" hangingPunct="1">
              <a:lnSpc>
                <a:spcPct val="90000"/>
              </a:lnSpc>
              <a:spcBef>
                <a:spcPts val="0"/>
              </a:spcBef>
              <a:spcAft>
                <a:spcPts val="600"/>
              </a:spcAft>
              <a:buFont typeface="Arial" panose="020B0604020202020204" pitchFamily="34" charset="0"/>
              <a:buChar char="•"/>
            </a:pPr>
            <a:r>
              <a:rPr lang="en-US" sz="1200">
                <a:solidFill>
                  <a:schemeClr val="tx2"/>
                </a:solidFill>
              </a:rPr>
              <a:t>Should come from multiple vendors. </a:t>
            </a:r>
            <a:r>
              <a:rPr lang="en-US" sz="1200">
                <a:solidFill>
                  <a:schemeClr val="tx2"/>
                </a:solidFill>
                <a:latin typeface="+mn-lt"/>
                <a:ea typeface="+mn-ea"/>
              </a:rPr>
              <a:t>Requirement for standardized interface between the components (Open-CMSIS-CDI)</a:t>
            </a: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Reference Application: should be tested with a CI system against a standardized CDI framework</a:t>
            </a: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Should run (within reason) on many different existing v8M and v7M devices (</a:t>
            </a:r>
            <a:r>
              <a:rPr lang="en-US" sz="1200" err="1">
                <a:solidFill>
                  <a:schemeClr val="tx2"/>
                </a:solidFill>
                <a:latin typeface="+mn-lt"/>
                <a:ea typeface="+mn-ea"/>
              </a:rPr>
              <a:t>TrustZone</a:t>
            </a:r>
            <a:r>
              <a:rPr lang="en-US" sz="1200">
                <a:solidFill>
                  <a:schemeClr val="tx2"/>
                </a:solidFill>
                <a:latin typeface="+mn-lt"/>
                <a:ea typeface="+mn-ea"/>
              </a:rPr>
              <a:t> optional)</a:t>
            </a: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Should include OTA services with standardize interfaces</a:t>
            </a: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Future variants of the Framework should also support other application types (DSP, ML, Graphics)</a:t>
            </a: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endParaRPr lang="en-US" sz="1200">
              <a:solidFill>
                <a:schemeClr val="tx2"/>
              </a:solidFill>
              <a:latin typeface="+mn-lt"/>
              <a:ea typeface="+mn-ea"/>
            </a:endParaRPr>
          </a:p>
          <a:p>
            <a:pPr eaLnBrk="1" hangingPunct="1">
              <a:lnSpc>
                <a:spcPct val="90000"/>
              </a:lnSpc>
              <a:spcBef>
                <a:spcPts val="0"/>
              </a:spcBef>
              <a:spcAft>
                <a:spcPts val="600"/>
              </a:spcAft>
            </a:pPr>
            <a:r>
              <a:rPr lang="en-US" sz="1600">
                <a:solidFill>
                  <a:schemeClr val="accent1"/>
                </a:solidFill>
                <a:latin typeface="+mn-lt"/>
                <a:ea typeface="+mn-ea"/>
              </a:rPr>
              <a:t>Designed for `</a:t>
            </a:r>
            <a:r>
              <a:rPr lang="en-US" sz="1600" err="1">
                <a:solidFill>
                  <a:schemeClr val="accent1"/>
                </a:solidFill>
                <a:latin typeface="+mn-lt"/>
                <a:ea typeface="+mn-ea"/>
              </a:rPr>
              <a:t>csolution</a:t>
            </a:r>
            <a:r>
              <a:rPr lang="en-US" sz="1600">
                <a:solidFill>
                  <a:schemeClr val="accent1"/>
                </a:solidFill>
                <a:latin typeface="+mn-lt"/>
                <a:ea typeface="+mn-ea"/>
              </a:rPr>
              <a:t>` tool</a:t>
            </a:r>
          </a:p>
          <a:p>
            <a:pPr marL="171450" indent="-171450" eaLnBrk="1" hangingPunct="1">
              <a:lnSpc>
                <a:spcPct val="90000"/>
              </a:lnSpc>
              <a:spcBef>
                <a:spcPts val="0"/>
              </a:spcBef>
              <a:spcAft>
                <a:spcPts val="600"/>
              </a:spcAft>
              <a:buFont typeface="Arial" panose="020B0604020202020204" pitchFamily="34" charset="0"/>
              <a:buChar char="•"/>
            </a:pPr>
            <a:r>
              <a:rPr lang="en-US" sz="1200">
                <a:solidFill>
                  <a:schemeClr val="tx2"/>
                </a:solidFill>
              </a:rPr>
              <a:t>Examples use Open-CMSIS-Pack and the </a:t>
            </a:r>
            <a:r>
              <a:rPr lang="en-US" sz="1200" err="1">
                <a:solidFill>
                  <a:schemeClr val="tx2"/>
                </a:solidFill>
              </a:rPr>
              <a:t>csolution</a:t>
            </a:r>
            <a:r>
              <a:rPr lang="en-US" sz="1200">
                <a:solidFill>
                  <a:schemeClr val="tx2"/>
                </a:solidFill>
              </a:rPr>
              <a:t> workflow with layers</a:t>
            </a:r>
          </a:p>
          <a:p>
            <a:pPr marL="171450" indent="-171450" eaLnBrk="1" hangingPunct="1">
              <a:lnSpc>
                <a:spcPct val="90000"/>
              </a:lnSpc>
              <a:spcBef>
                <a:spcPts val="0"/>
              </a:spcBef>
              <a:spcAft>
                <a:spcPts val="600"/>
              </a:spcAft>
              <a:buFont typeface="Arial" panose="020B0604020202020204" pitchFamily="34" charset="0"/>
              <a:buChar char="•"/>
            </a:pPr>
            <a:r>
              <a:rPr lang="en-US" sz="1200">
                <a:solidFill>
                  <a:schemeClr val="tx2"/>
                </a:solidFill>
              </a:rPr>
              <a:t>Layer type names should be descriptive, i.e. board, socket, security</a:t>
            </a:r>
          </a:p>
          <a:p>
            <a:pPr marL="171450" indent="-171450" eaLnBrk="1" hangingPunct="1">
              <a:lnSpc>
                <a:spcPct val="90000"/>
              </a:lnSpc>
              <a:spcBef>
                <a:spcPts val="0"/>
              </a:spcBef>
              <a:spcAft>
                <a:spcPts val="600"/>
              </a:spcAft>
              <a:buFont typeface="Arial" panose="020B0604020202020204" pitchFamily="34" charset="0"/>
              <a:buChar char="•"/>
            </a:pPr>
            <a:r>
              <a:rPr lang="en-US" sz="1200">
                <a:solidFill>
                  <a:schemeClr val="tx2"/>
                </a:solidFill>
              </a:rPr>
              <a:t>Examples are used to fine-tune the </a:t>
            </a:r>
            <a:r>
              <a:rPr lang="en-US" sz="1200" err="1">
                <a:solidFill>
                  <a:schemeClr val="tx2"/>
                </a:solidFill>
              </a:rPr>
              <a:t>csolution</a:t>
            </a:r>
            <a:r>
              <a:rPr lang="en-US" sz="1200">
                <a:solidFill>
                  <a:schemeClr val="tx2"/>
                </a:solidFill>
              </a:rPr>
              <a:t> workflow (see next slide)</a:t>
            </a:r>
          </a:p>
          <a:p>
            <a:pPr marL="171450" indent="-171450" eaLnBrk="1" hangingPunct="1">
              <a:lnSpc>
                <a:spcPct val="90000"/>
              </a:lnSpc>
              <a:spcBef>
                <a:spcPts val="0"/>
              </a:spcBef>
              <a:spcAft>
                <a:spcPts val="600"/>
              </a:spcAft>
              <a:buFont typeface="Arial" panose="020B0604020202020204" pitchFamily="34" charset="0"/>
              <a:buChar char="•"/>
            </a:pPr>
            <a:r>
              <a:rPr lang="en-US" sz="1200">
                <a:solidFill>
                  <a:schemeClr val="tx2"/>
                </a:solidFill>
              </a:rPr>
              <a:t>Interface requirements between </a:t>
            </a:r>
            <a:r>
              <a:rPr lang="en-US" sz="1200" err="1">
                <a:solidFill>
                  <a:schemeClr val="tx2"/>
                </a:solidFill>
              </a:rPr>
              <a:t>cproject</a:t>
            </a:r>
            <a:r>
              <a:rPr lang="en-US" sz="1200">
                <a:solidFill>
                  <a:schemeClr val="tx2"/>
                </a:solidFill>
              </a:rPr>
              <a:t>/</a:t>
            </a:r>
            <a:r>
              <a:rPr lang="en-US" sz="1200" err="1">
                <a:solidFill>
                  <a:schemeClr val="tx2"/>
                </a:solidFill>
              </a:rPr>
              <a:t>clayer</a:t>
            </a:r>
            <a:r>
              <a:rPr lang="en-US" sz="1200">
                <a:solidFill>
                  <a:schemeClr val="tx2"/>
                </a:solidFill>
              </a:rPr>
              <a:t> files should be described</a:t>
            </a:r>
          </a:p>
          <a:p>
            <a:pPr marL="171450" indent="-171450" eaLnBrk="1" hangingPunct="1">
              <a:lnSpc>
                <a:spcPct val="90000"/>
              </a:lnSpc>
              <a:spcBef>
                <a:spcPts val="0"/>
              </a:spcBef>
              <a:spcAft>
                <a:spcPts val="600"/>
              </a:spcAft>
              <a:buFont typeface="Arial" panose="020B0604020202020204" pitchFamily="34" charset="0"/>
              <a:buChar char="•"/>
            </a:pPr>
            <a:r>
              <a:rPr lang="en-US" sz="1200">
                <a:solidFill>
                  <a:schemeClr val="tx2"/>
                </a:solidFill>
              </a:rPr>
              <a:t>Final design is that layers are provided by software packs</a:t>
            </a:r>
          </a:p>
          <a:p>
            <a:pPr marL="285750" indent="-285750" eaLnBrk="1" hangingPunct="1">
              <a:lnSpc>
                <a:spcPct val="90000"/>
              </a:lnSpc>
              <a:spcBef>
                <a:spcPts val="0"/>
              </a:spcBef>
              <a:spcAft>
                <a:spcPts val="600"/>
              </a:spcAft>
              <a:buFont typeface="Arial" panose="020B0604020202020204" pitchFamily="34" charset="0"/>
              <a:buChar char="•"/>
            </a:pPr>
            <a:endParaRPr lang="en-US" sz="1200">
              <a:solidFill>
                <a:schemeClr val="tx2"/>
              </a:solidFill>
            </a:endParaRPr>
          </a:p>
          <a:p>
            <a:pPr eaLnBrk="1" hangingPunct="1">
              <a:lnSpc>
                <a:spcPct val="90000"/>
              </a:lnSpc>
              <a:spcBef>
                <a:spcPts val="0"/>
              </a:spcBef>
              <a:spcAft>
                <a:spcPts val="600"/>
              </a:spcAft>
            </a:pPr>
            <a:r>
              <a:rPr lang="en-US" sz="1600">
                <a:solidFill>
                  <a:schemeClr val="accent1"/>
                </a:solidFill>
                <a:latin typeface="+mn-lt"/>
                <a:ea typeface="+mn-ea"/>
              </a:rPr>
              <a:t>Other Requirements:</a:t>
            </a:r>
          </a:p>
          <a:p>
            <a:pPr eaLnBrk="1" hangingPunct="1">
              <a:lnSpc>
                <a:spcPct val="90000"/>
              </a:lnSpc>
              <a:spcBef>
                <a:spcPts val="0"/>
              </a:spcBef>
              <a:spcAft>
                <a:spcPts val="600"/>
              </a:spcAft>
            </a:pPr>
            <a:r>
              <a:rPr lang="en-US" sz="1400" b="1">
                <a:solidFill>
                  <a:schemeClr val="tx2"/>
                </a:solidFill>
                <a:latin typeface="+mn-lt"/>
                <a:ea typeface="+mn-ea"/>
              </a:rPr>
              <a:t>Defined Startup/Call Sequence</a:t>
            </a:r>
            <a:r>
              <a:rPr lang="en-US" sz="1400" kern="1200">
                <a:solidFill>
                  <a:schemeClr val="tx2"/>
                </a:solidFill>
                <a:latin typeface="+mn-lt"/>
                <a:ea typeface="+mn-ea"/>
                <a:cs typeface="+mn-cs"/>
              </a:rPr>
              <a:t> </a:t>
            </a:r>
            <a:r>
              <a:rPr lang="en-US" sz="1100" kern="1200">
                <a:solidFill>
                  <a:schemeClr val="tx2"/>
                </a:solidFill>
                <a:latin typeface="+mn-lt"/>
                <a:ea typeface="+mn-ea"/>
                <a:cs typeface="+mn-cs"/>
              </a:rPr>
              <a:t>(see </a:t>
            </a:r>
            <a:r>
              <a:rPr lang="en-US" sz="1100" kern="1200">
                <a:solidFill>
                  <a:schemeClr val="tx2"/>
                </a:solidFill>
                <a:latin typeface="+mn-lt"/>
                <a:ea typeface="+mn-ea"/>
                <a:cs typeface="+mn-cs"/>
                <a:hlinkClick r:id="rId3"/>
              </a:rPr>
              <a:t>https://github.com/MDK-Packs/CB_Lab4Layer/tree/master/layer</a:t>
            </a:r>
            <a:r>
              <a:rPr lang="en-US" sz="1100" kern="1200">
                <a:solidFill>
                  <a:schemeClr val="tx2"/>
                </a:solidFill>
                <a:latin typeface="+mn-lt"/>
                <a:ea typeface="+mn-ea"/>
                <a:cs typeface="+mn-cs"/>
              </a:rPr>
              <a:t>)</a:t>
            </a:r>
          </a:p>
          <a:p>
            <a:pPr marL="171450" indent="-171450" eaLnBrk="1" hangingPunct="1">
              <a:lnSpc>
                <a:spcPct val="90000"/>
              </a:lnSpc>
              <a:spcBef>
                <a:spcPts val="0"/>
              </a:spcBef>
              <a:spcAft>
                <a:spcPts val="600"/>
              </a:spcAft>
              <a:buFont typeface="Arial" panose="020B0604020202020204" pitchFamily="34" charset="0"/>
              <a:buChar char="•"/>
            </a:pPr>
            <a:r>
              <a:rPr lang="en-US" sz="1200">
                <a:solidFill>
                  <a:schemeClr val="tx2"/>
                </a:solidFill>
              </a:rPr>
              <a:t>Example: </a:t>
            </a:r>
            <a:r>
              <a:rPr lang="en-US" sz="1200">
                <a:solidFill>
                  <a:schemeClr val="tx2"/>
                </a:solidFill>
                <a:hlinkClick r:id="rId4">
                  <a:extLst>
                    <a:ext uri="{A12FA001-AC4F-418D-AE19-62706E023703}">
                      <ahyp:hlinkClr xmlns:ahyp="http://schemas.microsoft.com/office/drawing/2018/hyperlinkcolor" val="tx"/>
                    </a:ext>
                  </a:extLst>
                </a:hlinkClick>
              </a:rPr>
              <a:t>https://github.com/MDK-Packs/CB_Lab4Layer/blob/master/layer/Board/MIMXRT1064-EVK/main.c</a:t>
            </a:r>
            <a:endParaRPr lang="en-US" sz="1200">
              <a:solidFill>
                <a:schemeClr val="tx2"/>
              </a:solidFill>
            </a:endParaRPr>
          </a:p>
          <a:p>
            <a:pPr eaLnBrk="1" hangingPunct="1">
              <a:lnSpc>
                <a:spcPct val="90000"/>
              </a:lnSpc>
              <a:spcBef>
                <a:spcPts val="0"/>
              </a:spcBef>
              <a:spcAft>
                <a:spcPts val="600"/>
              </a:spcAft>
            </a:pPr>
            <a:endParaRPr lang="en-US" sz="1600" kern="1200">
              <a:solidFill>
                <a:schemeClr val="tx2"/>
              </a:solidFill>
              <a:latin typeface="+mn-lt"/>
              <a:ea typeface="+mn-ea"/>
              <a:cs typeface="+mn-cs"/>
            </a:endParaRPr>
          </a:p>
          <a:p>
            <a:pPr marL="285750" indent="-285750" eaLnBrk="1" hangingPunct="1">
              <a:lnSpc>
                <a:spcPct val="90000"/>
              </a:lnSpc>
              <a:spcBef>
                <a:spcPts val="0"/>
              </a:spcBef>
              <a:spcAft>
                <a:spcPts val="600"/>
              </a:spcAft>
              <a:buFont typeface="Arial" panose="020B0604020202020204" pitchFamily="34" charset="0"/>
              <a:buChar char="•"/>
            </a:pPr>
            <a:endParaRPr lang="en-US" sz="1200">
              <a:solidFill>
                <a:schemeClr val="tx2"/>
              </a:solidFill>
            </a:endParaRPr>
          </a:p>
          <a:p>
            <a:pPr marL="285750" indent="-285750" eaLnBrk="1" hangingPunct="1">
              <a:lnSpc>
                <a:spcPct val="90000"/>
              </a:lnSpc>
              <a:spcBef>
                <a:spcPts val="0"/>
              </a:spcBef>
              <a:spcAft>
                <a:spcPts val="600"/>
              </a:spcAft>
              <a:buFont typeface="Arial" panose="020B0604020202020204" pitchFamily="34" charset="0"/>
              <a:buChar char="•"/>
            </a:pPr>
            <a:endParaRPr lang="en-US" sz="1200">
              <a:solidFill>
                <a:schemeClr val="tx2"/>
              </a:solidFill>
            </a:endParaRP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endParaRPr lang="en-US" sz="1200">
              <a:solidFill>
                <a:schemeClr val="tx2"/>
              </a:solidFill>
              <a:latin typeface="+mn-lt"/>
              <a:ea typeface="+mn-ea"/>
            </a:endParaRPr>
          </a:p>
          <a:p>
            <a:pPr algn="l" defTabSz="914400" rtl="0" eaLnBrk="1" latinLnBrk="0" hangingPunct="1">
              <a:lnSpc>
                <a:spcPct val="90000"/>
              </a:lnSpc>
              <a:spcBef>
                <a:spcPts val="0"/>
              </a:spcBef>
              <a:spcAft>
                <a:spcPts val="600"/>
              </a:spcAft>
            </a:pPr>
            <a:endParaRPr lang="en-US" sz="1200">
              <a:solidFill>
                <a:schemeClr val="tx2"/>
              </a:solidFill>
              <a:latin typeface="+mn-lt"/>
              <a:ea typeface="+mn-ea"/>
            </a:endParaRP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endParaRPr lang="en-US" sz="1200">
              <a:solidFill>
                <a:schemeClr val="tx2"/>
              </a:solidFill>
              <a:latin typeface="+mn-lt"/>
              <a:ea typeface="+mn-ea"/>
            </a:endParaRPr>
          </a:p>
          <a:p>
            <a:pPr algn="l" defTabSz="914400" rtl="0" eaLnBrk="1" latinLnBrk="0" hangingPunct="1">
              <a:lnSpc>
                <a:spcPct val="90000"/>
              </a:lnSpc>
              <a:spcBef>
                <a:spcPts val="0"/>
              </a:spcBef>
              <a:spcAft>
                <a:spcPts val="600"/>
              </a:spcAft>
            </a:pPr>
            <a:endParaRPr lang="en-US" sz="1200">
              <a:solidFill>
                <a:schemeClr val="tx2"/>
              </a:solidFill>
              <a:latin typeface="+mn-lt"/>
              <a:ea typeface="+mn-ea"/>
            </a:endParaRPr>
          </a:p>
          <a:p>
            <a:pPr algn="l" defTabSz="914400" rtl="0" eaLnBrk="1" latinLnBrk="0" hangingPunct="1">
              <a:lnSpc>
                <a:spcPct val="90000"/>
              </a:lnSpc>
              <a:spcBef>
                <a:spcPts val="0"/>
              </a:spcBef>
              <a:spcAft>
                <a:spcPts val="600"/>
              </a:spcAft>
            </a:pPr>
            <a:endParaRPr lang="en-US" sz="1200">
              <a:solidFill>
                <a:schemeClr val="tx2"/>
              </a:solidFill>
              <a:latin typeface="+mn-lt"/>
              <a:ea typeface="+mn-ea"/>
            </a:endParaRP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endParaRPr lang="en-US" sz="1200">
              <a:solidFill>
                <a:schemeClr val="tx2"/>
              </a:solidFill>
              <a:latin typeface="+mn-lt"/>
              <a:ea typeface="+mn-ea"/>
            </a:endParaRP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endParaRPr lang="en-US" sz="1200">
              <a:solidFill>
                <a:schemeClr val="tx2"/>
              </a:solidFill>
              <a:latin typeface="+mn-lt"/>
              <a:ea typeface="+mn-ea"/>
            </a:endParaRPr>
          </a:p>
          <a:p>
            <a:pPr marL="0" indent="0" algn="l" defTabSz="914400" rtl="0" eaLnBrk="1" latinLnBrk="0" hangingPunct="1">
              <a:lnSpc>
                <a:spcPct val="90000"/>
              </a:lnSpc>
              <a:spcBef>
                <a:spcPts val="0"/>
              </a:spcBef>
              <a:spcAft>
                <a:spcPts val="600"/>
              </a:spcAft>
              <a:buFont typeface="Arial" panose="020B0604020202020204" pitchFamily="34" charset="0"/>
              <a:buNone/>
            </a:pPr>
            <a:endParaRPr lang="en-US" sz="1200">
              <a:solidFill>
                <a:schemeClr val="tx2"/>
              </a:solidFill>
              <a:latin typeface="+mn-lt"/>
              <a:ea typeface="+mn-ea"/>
            </a:endParaRPr>
          </a:p>
          <a:p>
            <a:pPr marL="0" indent="0" algn="l" defTabSz="914400" rtl="0" eaLnBrk="1" latinLnBrk="0" hangingPunct="1">
              <a:lnSpc>
                <a:spcPct val="90000"/>
              </a:lnSpc>
              <a:spcBef>
                <a:spcPts val="0"/>
              </a:spcBef>
              <a:spcAft>
                <a:spcPts val="600"/>
              </a:spcAft>
              <a:buFont typeface="Arial" panose="020B0604020202020204" pitchFamily="34" charset="0"/>
              <a:buNone/>
            </a:pPr>
            <a:endParaRPr lang="en-US" sz="2100" kern="1200" err="1">
              <a:solidFill>
                <a:schemeClr val="tx2"/>
              </a:solidFill>
              <a:latin typeface="+mn-lt"/>
              <a:ea typeface="+mn-ea"/>
              <a:cs typeface="+mn-cs"/>
            </a:endParaRPr>
          </a:p>
        </p:txBody>
      </p:sp>
      <p:sp>
        <p:nvSpPr>
          <p:cNvPr id="3" name="Rectangle 2">
            <a:extLst>
              <a:ext uri="{FF2B5EF4-FFF2-40B4-BE49-F238E27FC236}">
                <a16:creationId xmlns:a16="http://schemas.microsoft.com/office/drawing/2014/main" id="{824DA793-7727-3BEF-BCD6-9613B532868A}"/>
              </a:ext>
            </a:extLst>
          </p:cNvPr>
          <p:cNvSpPr/>
          <p:nvPr/>
        </p:nvSpPr>
        <p:spPr>
          <a:xfrm>
            <a:off x="1652036" y="2496612"/>
            <a:ext cx="2266950" cy="473559"/>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Socket Layer</a:t>
            </a:r>
            <a:br>
              <a:rPr lang="en-US" sz="1400"/>
            </a:br>
            <a:r>
              <a:rPr lang="en-US" sz="1400"/>
              <a:t>(</a:t>
            </a:r>
            <a:r>
              <a:rPr lang="en-US" sz="1200"/>
              <a:t>IoT Socket -&gt; </a:t>
            </a:r>
            <a:r>
              <a:rPr lang="en-US" sz="1200" err="1"/>
              <a:t>WiFi</a:t>
            </a:r>
            <a:r>
              <a:rPr lang="en-US" sz="1200"/>
              <a:t> or Ethernet)</a:t>
            </a:r>
          </a:p>
        </p:txBody>
      </p:sp>
      <p:sp>
        <p:nvSpPr>
          <p:cNvPr id="4" name="Rectangle 3">
            <a:extLst>
              <a:ext uri="{FF2B5EF4-FFF2-40B4-BE49-F238E27FC236}">
                <a16:creationId xmlns:a16="http://schemas.microsoft.com/office/drawing/2014/main" id="{3D09EB5A-9FF8-9C03-3E56-2B15AF16267F}"/>
              </a:ext>
            </a:extLst>
          </p:cNvPr>
          <p:cNvSpPr/>
          <p:nvPr/>
        </p:nvSpPr>
        <p:spPr>
          <a:xfrm>
            <a:off x="1652036" y="3173095"/>
            <a:ext cx="2266950" cy="264183"/>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 CMSIS-Driver API</a:t>
            </a:r>
          </a:p>
        </p:txBody>
      </p:sp>
      <p:sp>
        <p:nvSpPr>
          <p:cNvPr id="5" name="Rectangle 4">
            <a:extLst>
              <a:ext uri="{FF2B5EF4-FFF2-40B4-BE49-F238E27FC236}">
                <a16:creationId xmlns:a16="http://schemas.microsoft.com/office/drawing/2014/main" id="{4FC34F42-F15B-DAE4-B3B8-20556915FAD8}"/>
              </a:ext>
            </a:extLst>
          </p:cNvPr>
          <p:cNvSpPr/>
          <p:nvPr/>
        </p:nvSpPr>
        <p:spPr>
          <a:xfrm>
            <a:off x="1652036" y="2232429"/>
            <a:ext cx="2266950" cy="264183"/>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 IoT Socket API</a:t>
            </a:r>
          </a:p>
        </p:txBody>
      </p:sp>
      <p:cxnSp>
        <p:nvCxnSpPr>
          <p:cNvPr id="13" name="Straight Connector 12">
            <a:extLst>
              <a:ext uri="{FF2B5EF4-FFF2-40B4-BE49-F238E27FC236}">
                <a16:creationId xmlns:a16="http://schemas.microsoft.com/office/drawing/2014/main" id="{74DAB65A-9642-D8DA-B478-69F8EB26F680}"/>
              </a:ext>
            </a:extLst>
          </p:cNvPr>
          <p:cNvCxnSpPr>
            <a:cxnSpLocks/>
          </p:cNvCxnSpPr>
          <p:nvPr/>
        </p:nvCxnSpPr>
        <p:spPr>
          <a:xfrm>
            <a:off x="1652036" y="1638296"/>
            <a:ext cx="0" cy="226825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282D39A-69B5-A86A-5FB8-EC25BD166E0A}"/>
              </a:ext>
            </a:extLst>
          </p:cNvPr>
          <p:cNvSpPr txBox="1"/>
          <p:nvPr/>
        </p:nvSpPr>
        <p:spPr>
          <a:xfrm>
            <a:off x="479424" y="4166453"/>
            <a:ext cx="3439560" cy="1923604"/>
          </a:xfrm>
          <a:prstGeom prst="rect">
            <a:avLst/>
          </a:prstGeom>
          <a:solidFill>
            <a:schemeClr val="bg2"/>
          </a:solid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600">
                <a:solidFill>
                  <a:schemeClr val="accent1"/>
                </a:solidFill>
                <a:latin typeface="+mn-lt"/>
                <a:ea typeface="+mn-ea"/>
              </a:rPr>
              <a:t>Objectives</a:t>
            </a:r>
          </a:p>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a:solidFill>
                  <a:schemeClr val="tx2"/>
                </a:solidFill>
              </a:rPr>
              <a:t>Re-use existing packs from AWS and NXP</a:t>
            </a: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rPr>
              <a:t>provide feedback when required</a:t>
            </a:r>
          </a:p>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a:solidFill>
                  <a:schemeClr val="tx2"/>
                </a:solidFill>
              </a:rPr>
              <a:t>Define the overall structure of CMSIS-Packs, i.e. for</a:t>
            </a: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rPr>
              <a:t>TF-M</a:t>
            </a: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r>
              <a:rPr lang="en-US" sz="1200" err="1">
                <a:solidFill>
                  <a:schemeClr val="tx2"/>
                </a:solidFill>
              </a:rPr>
              <a:t>mbedTLS</a:t>
            </a:r>
            <a:endParaRPr lang="en-US" sz="1200">
              <a:solidFill>
                <a:schemeClr val="tx2"/>
              </a:solidFill>
            </a:endParaRP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rPr>
              <a:t>AVH Corstone-300 BSP</a:t>
            </a: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rPr>
              <a:t>Board BSP (exemplified on STM32U5, NXP)</a:t>
            </a:r>
          </a:p>
        </p:txBody>
      </p:sp>
    </p:spTree>
    <p:extLst>
      <p:ext uri="{BB962C8B-B14F-4D97-AF65-F5344CB8AC3E}">
        <p14:creationId xmlns:p14="http://schemas.microsoft.com/office/powerpoint/2010/main" val="4102847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Arrow: Down 19">
            <a:extLst>
              <a:ext uri="{FF2B5EF4-FFF2-40B4-BE49-F238E27FC236}">
                <a16:creationId xmlns:a16="http://schemas.microsoft.com/office/drawing/2014/main" id="{80BDAF89-1BC0-4463-9437-351B5B17AB39}"/>
              </a:ext>
            </a:extLst>
          </p:cNvPr>
          <p:cNvSpPr/>
          <p:nvPr/>
        </p:nvSpPr>
        <p:spPr>
          <a:xfrm>
            <a:off x="3159906" y="2470802"/>
            <a:ext cx="589448" cy="513877"/>
          </a:xfrm>
          <a:prstGeom prst="downArrow">
            <a:avLst>
              <a:gd name="adj1" fmla="val 50000"/>
              <a:gd name="adj2" fmla="val 39744"/>
            </a:avLst>
          </a:prstGeom>
          <a:gradFill flip="none" rotWithShape="1">
            <a:gsLst>
              <a:gs pos="0">
                <a:schemeClr val="bg2">
                  <a:lumMod val="75000"/>
                  <a:tint val="66000"/>
                  <a:satMod val="160000"/>
                </a:schemeClr>
              </a:gs>
              <a:gs pos="50000">
                <a:schemeClr val="bg2">
                  <a:lumMod val="75000"/>
                  <a:tint val="44500"/>
                  <a:satMod val="160000"/>
                </a:schemeClr>
              </a:gs>
              <a:gs pos="100000">
                <a:schemeClr val="bg2">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790B4A0-20AB-408D-9321-20793AF02C77}"/>
              </a:ext>
            </a:extLst>
          </p:cNvPr>
          <p:cNvSpPr>
            <a:spLocks noGrp="1"/>
          </p:cNvSpPr>
          <p:nvPr>
            <p:ph type="title"/>
          </p:nvPr>
        </p:nvSpPr>
        <p:spPr/>
        <p:txBody>
          <a:bodyPr/>
          <a:lstStyle/>
          <a:p>
            <a:r>
              <a:rPr lang="en-US"/>
              <a:t>Opportunity: Packs give flexibility to the SW Eco-system</a:t>
            </a:r>
            <a:endParaRPr lang="en-GB"/>
          </a:p>
        </p:txBody>
      </p:sp>
      <p:sp>
        <p:nvSpPr>
          <p:cNvPr id="4" name="Text Placeholder 3">
            <a:extLst>
              <a:ext uri="{FF2B5EF4-FFF2-40B4-BE49-F238E27FC236}">
                <a16:creationId xmlns:a16="http://schemas.microsoft.com/office/drawing/2014/main" id="{805F1D7C-A14E-4B3A-8769-531EAAF5A703}"/>
              </a:ext>
            </a:extLst>
          </p:cNvPr>
          <p:cNvSpPr>
            <a:spLocks noGrp="1"/>
          </p:cNvSpPr>
          <p:nvPr>
            <p:ph type="body" sz="quarter" idx="13"/>
          </p:nvPr>
        </p:nvSpPr>
        <p:spPr/>
        <p:txBody>
          <a:bodyPr/>
          <a:lstStyle/>
          <a:p>
            <a:r>
              <a:rPr lang="en-US"/>
              <a:t>Flexible Development Workflows with Open-CMSIS-Pack</a:t>
            </a:r>
            <a:endParaRPr lang="en-GB"/>
          </a:p>
        </p:txBody>
      </p:sp>
      <p:sp>
        <p:nvSpPr>
          <p:cNvPr id="26" name="Flowchart: Magnetic Disk 25">
            <a:extLst>
              <a:ext uri="{FF2B5EF4-FFF2-40B4-BE49-F238E27FC236}">
                <a16:creationId xmlns:a16="http://schemas.microsoft.com/office/drawing/2014/main" id="{C7AB5729-705B-43AF-8812-3DE30D397972}"/>
              </a:ext>
            </a:extLst>
          </p:cNvPr>
          <p:cNvSpPr/>
          <p:nvPr/>
        </p:nvSpPr>
        <p:spPr>
          <a:xfrm>
            <a:off x="2830729" y="1647085"/>
            <a:ext cx="1266248" cy="831273"/>
          </a:xfrm>
          <a:prstGeom prst="flowChartMagneticDisk">
            <a:avLst/>
          </a:prstGeom>
          <a:solidFill>
            <a:schemeClr val="accent1">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2"/>
                </a:solidFill>
              </a:rPr>
              <a:t>Catalog of software packs</a:t>
            </a:r>
            <a:endParaRPr lang="en-GB" sz="1400">
              <a:solidFill>
                <a:schemeClr val="tx2"/>
              </a:solidFill>
            </a:endParaRPr>
          </a:p>
        </p:txBody>
      </p:sp>
      <p:sp>
        <p:nvSpPr>
          <p:cNvPr id="69" name="Flowchart: Multidocument 68">
            <a:extLst>
              <a:ext uri="{FF2B5EF4-FFF2-40B4-BE49-F238E27FC236}">
                <a16:creationId xmlns:a16="http://schemas.microsoft.com/office/drawing/2014/main" id="{72664927-6A11-4C03-A728-BDB647ED6D54}"/>
              </a:ext>
            </a:extLst>
          </p:cNvPr>
          <p:cNvSpPr/>
          <p:nvPr/>
        </p:nvSpPr>
        <p:spPr>
          <a:xfrm>
            <a:off x="2830729" y="2986146"/>
            <a:ext cx="1289051" cy="1010653"/>
          </a:xfrm>
          <a:prstGeom prst="flowChartMultidocument">
            <a:avLst/>
          </a:prstGeom>
          <a:solidFill>
            <a:schemeClr val="accent1">
              <a:lumMod val="20000"/>
              <a:lumOff val="80000"/>
            </a:schemeClr>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64008" rtlCol="0" anchor="t" anchorCtr="0"/>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400" err="1">
                <a:solidFill>
                  <a:schemeClr val="bg2">
                    <a:lumMod val="25000"/>
                  </a:schemeClr>
                </a:solidFill>
                <a:latin typeface="Calibri"/>
              </a:rPr>
              <a:t>MyProject</a:t>
            </a:r>
            <a:br>
              <a:rPr lang="en-US" sz="1400">
                <a:solidFill>
                  <a:schemeClr val="bg2">
                    <a:lumMod val="25000"/>
                  </a:schemeClr>
                </a:solidFill>
                <a:latin typeface="Calibri"/>
              </a:rPr>
            </a:br>
            <a:r>
              <a:rPr lang="en-US" sz="1100">
                <a:solidFill>
                  <a:schemeClr val="bg2">
                    <a:lumMod val="25000"/>
                  </a:schemeClr>
                </a:solidFill>
                <a:latin typeface="Calibri"/>
              </a:rPr>
              <a:t>*.</a:t>
            </a:r>
            <a:r>
              <a:rPr lang="en-US" sz="1100" err="1">
                <a:solidFill>
                  <a:schemeClr val="bg2">
                    <a:lumMod val="25000"/>
                  </a:schemeClr>
                </a:solidFill>
                <a:latin typeface="Calibri"/>
              </a:rPr>
              <a:t>csolution.yml</a:t>
            </a:r>
            <a:br>
              <a:rPr lang="en-US" sz="1100">
                <a:solidFill>
                  <a:schemeClr val="bg2">
                    <a:lumMod val="25000"/>
                  </a:schemeClr>
                </a:solidFill>
                <a:latin typeface="Calibri"/>
              </a:rPr>
            </a:br>
            <a:r>
              <a:rPr lang="en-US" sz="1100">
                <a:solidFill>
                  <a:schemeClr val="bg2">
                    <a:lumMod val="25000"/>
                  </a:schemeClr>
                </a:solidFill>
                <a:latin typeface="Calibri"/>
              </a:rPr>
              <a:t>*.</a:t>
            </a:r>
            <a:r>
              <a:rPr lang="en-US" sz="1100" err="1">
                <a:solidFill>
                  <a:schemeClr val="bg2">
                    <a:lumMod val="25000"/>
                  </a:schemeClr>
                </a:solidFill>
                <a:latin typeface="Calibri"/>
              </a:rPr>
              <a:t>cproject.yml</a:t>
            </a:r>
            <a:endParaRPr kumimoji="0" lang="en-GB" sz="1100" b="0" i="0" u="none" strike="noStrike" kern="1200" cap="none" spc="0" normalizeH="0" baseline="0" noProof="0">
              <a:ln>
                <a:noFill/>
              </a:ln>
              <a:solidFill>
                <a:schemeClr val="bg2">
                  <a:lumMod val="25000"/>
                </a:schemeClr>
              </a:solidFill>
              <a:effectLst/>
              <a:uLnTx/>
              <a:uFillTx/>
              <a:latin typeface="Calibri"/>
              <a:ea typeface="+mn-ea"/>
              <a:cs typeface="+mn-cs"/>
            </a:endParaRPr>
          </a:p>
        </p:txBody>
      </p:sp>
      <p:sp>
        <p:nvSpPr>
          <p:cNvPr id="71" name="Rectangle 70">
            <a:extLst>
              <a:ext uri="{FF2B5EF4-FFF2-40B4-BE49-F238E27FC236}">
                <a16:creationId xmlns:a16="http://schemas.microsoft.com/office/drawing/2014/main" id="{DEAFF8DD-9EB6-4881-B108-5767AFABDE61}"/>
              </a:ext>
            </a:extLst>
          </p:cNvPr>
          <p:cNvSpPr/>
          <p:nvPr/>
        </p:nvSpPr>
        <p:spPr>
          <a:xfrm>
            <a:off x="6970048" y="2519500"/>
            <a:ext cx="1346200" cy="692150"/>
          </a:xfrm>
          <a:prstGeom prst="rect">
            <a:avLst/>
          </a:prstGeom>
          <a:solidFill>
            <a:schemeClr val="accent5">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b="1" i="0">
                <a:solidFill>
                  <a:srgbClr val="333333"/>
                </a:solidFill>
                <a:effectLst/>
                <a:latin typeface="-apple-system"/>
              </a:rPr>
              <a:t>Arm Virtual Hardware</a:t>
            </a:r>
            <a:endParaRPr lang="en-GB"/>
          </a:p>
        </p:txBody>
      </p:sp>
      <p:cxnSp>
        <p:nvCxnSpPr>
          <p:cNvPr id="11" name="Straight Arrow Connector 10">
            <a:extLst>
              <a:ext uri="{FF2B5EF4-FFF2-40B4-BE49-F238E27FC236}">
                <a16:creationId xmlns:a16="http://schemas.microsoft.com/office/drawing/2014/main" id="{859C36C7-1CF6-4783-85B8-1128DF1EE267}"/>
              </a:ext>
            </a:extLst>
          </p:cNvPr>
          <p:cNvCxnSpPr>
            <a:cxnSpLocks/>
          </p:cNvCxnSpPr>
          <p:nvPr/>
        </p:nvCxnSpPr>
        <p:spPr>
          <a:xfrm>
            <a:off x="4117234" y="3438574"/>
            <a:ext cx="526105" cy="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000EBAB-E550-4D9D-9C02-69F4CE0D622B}"/>
              </a:ext>
            </a:extLst>
          </p:cNvPr>
          <p:cNvSpPr txBox="1"/>
          <p:nvPr/>
        </p:nvSpPr>
        <p:spPr>
          <a:xfrm>
            <a:off x="3333967" y="2433016"/>
            <a:ext cx="219154" cy="553998"/>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4000" b="1">
                <a:solidFill>
                  <a:schemeClr val="accent1"/>
                </a:solidFill>
                <a:latin typeface="+mn-lt"/>
                <a:ea typeface="+mn-ea"/>
              </a:rPr>
              <a:t>+</a:t>
            </a:r>
            <a:endParaRPr lang="en-GB" sz="2600" b="1" kern="1200">
              <a:solidFill>
                <a:schemeClr val="accent1"/>
              </a:solidFill>
              <a:latin typeface="+mn-lt"/>
              <a:ea typeface="+mn-ea"/>
              <a:cs typeface="+mn-cs"/>
            </a:endParaRPr>
          </a:p>
        </p:txBody>
      </p:sp>
      <p:sp>
        <p:nvSpPr>
          <p:cNvPr id="3" name="Flowchart: Magnetic Disk 2">
            <a:extLst>
              <a:ext uri="{FF2B5EF4-FFF2-40B4-BE49-F238E27FC236}">
                <a16:creationId xmlns:a16="http://schemas.microsoft.com/office/drawing/2014/main" id="{032FDEE0-C6FC-ABA7-99CF-FDF644BF312F}"/>
              </a:ext>
            </a:extLst>
          </p:cNvPr>
          <p:cNvSpPr/>
          <p:nvPr/>
        </p:nvSpPr>
        <p:spPr>
          <a:xfrm>
            <a:off x="2838286" y="4433887"/>
            <a:ext cx="1266248" cy="831273"/>
          </a:xfrm>
          <a:prstGeom prst="flowChartMagneticDisk">
            <a:avLst/>
          </a:prstGeom>
          <a:solidFill>
            <a:schemeClr val="accent1">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2"/>
                </a:solidFill>
              </a:rPr>
              <a:t>Private</a:t>
            </a:r>
            <a:br>
              <a:rPr lang="en-US" sz="1400">
                <a:solidFill>
                  <a:schemeClr val="tx2"/>
                </a:solidFill>
              </a:rPr>
            </a:br>
            <a:r>
              <a:rPr lang="en-US" sz="1400">
                <a:solidFill>
                  <a:schemeClr val="tx2"/>
                </a:solidFill>
              </a:rPr>
              <a:t>software packs</a:t>
            </a:r>
            <a:endParaRPr lang="en-GB" sz="1400">
              <a:solidFill>
                <a:schemeClr val="tx2"/>
              </a:solidFill>
            </a:endParaRPr>
          </a:p>
        </p:txBody>
      </p:sp>
      <p:sp>
        <p:nvSpPr>
          <p:cNvPr id="6" name="Arrow: Down 5">
            <a:extLst>
              <a:ext uri="{FF2B5EF4-FFF2-40B4-BE49-F238E27FC236}">
                <a16:creationId xmlns:a16="http://schemas.microsoft.com/office/drawing/2014/main" id="{4CF8C771-727C-7650-1064-9CADCDA7D391}"/>
              </a:ext>
            </a:extLst>
          </p:cNvPr>
          <p:cNvSpPr/>
          <p:nvPr/>
        </p:nvSpPr>
        <p:spPr>
          <a:xfrm rot="10800000">
            <a:off x="3169129" y="3913994"/>
            <a:ext cx="589448" cy="513877"/>
          </a:xfrm>
          <a:prstGeom prst="downArrow">
            <a:avLst>
              <a:gd name="adj1" fmla="val 50000"/>
              <a:gd name="adj2" fmla="val 39744"/>
            </a:avLst>
          </a:prstGeom>
          <a:gradFill flip="none" rotWithShape="1">
            <a:gsLst>
              <a:gs pos="0">
                <a:schemeClr val="bg2">
                  <a:lumMod val="75000"/>
                  <a:tint val="66000"/>
                  <a:satMod val="160000"/>
                </a:schemeClr>
              </a:gs>
              <a:gs pos="50000">
                <a:schemeClr val="bg2">
                  <a:lumMod val="75000"/>
                  <a:tint val="44500"/>
                  <a:satMod val="160000"/>
                </a:schemeClr>
              </a:gs>
              <a:gs pos="100000">
                <a:schemeClr val="bg2">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3BECDC9A-E32E-DB77-05A8-0D8E2DC974DF}"/>
              </a:ext>
            </a:extLst>
          </p:cNvPr>
          <p:cNvSpPr txBox="1"/>
          <p:nvPr/>
        </p:nvSpPr>
        <p:spPr>
          <a:xfrm>
            <a:off x="3333967" y="3954240"/>
            <a:ext cx="219154" cy="553998"/>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4000" b="1">
                <a:solidFill>
                  <a:schemeClr val="accent1"/>
                </a:solidFill>
                <a:latin typeface="+mn-lt"/>
                <a:ea typeface="+mn-ea"/>
              </a:rPr>
              <a:t>+</a:t>
            </a:r>
            <a:endParaRPr lang="en-GB" sz="2600" b="1" kern="1200">
              <a:solidFill>
                <a:schemeClr val="accent1"/>
              </a:solidFill>
              <a:latin typeface="+mn-lt"/>
              <a:ea typeface="+mn-ea"/>
              <a:cs typeface="+mn-cs"/>
            </a:endParaRPr>
          </a:p>
        </p:txBody>
      </p:sp>
      <p:sp>
        <p:nvSpPr>
          <p:cNvPr id="8" name="TextBox 7">
            <a:extLst>
              <a:ext uri="{FF2B5EF4-FFF2-40B4-BE49-F238E27FC236}">
                <a16:creationId xmlns:a16="http://schemas.microsoft.com/office/drawing/2014/main" id="{066A2871-FEE7-E2CD-9467-0973C214614D}"/>
              </a:ext>
            </a:extLst>
          </p:cNvPr>
          <p:cNvSpPr txBox="1"/>
          <p:nvPr/>
        </p:nvSpPr>
        <p:spPr>
          <a:xfrm>
            <a:off x="4553104" y="1618693"/>
            <a:ext cx="1562100" cy="1363450"/>
          </a:xfrm>
          <a:prstGeom prst="rect">
            <a:avLst/>
          </a:prstGeom>
          <a:solidFill>
            <a:schemeClr val="accent6">
              <a:lumMod val="20000"/>
              <a:lumOff val="80000"/>
            </a:schemeClr>
          </a:solidFill>
        </p:spPr>
        <p:txBody>
          <a:bodyPr wrap="square" lIns="91440" tIns="91440" rIns="91440" bIns="91440" rtlCol="0">
            <a:spAutoFit/>
          </a:bodyPr>
          <a:lstStyle/>
          <a:p>
            <a:pPr algn="l" defTabSz="914400" rtl="0" eaLnBrk="1" latinLnBrk="0" hangingPunct="1">
              <a:lnSpc>
                <a:spcPct val="90000"/>
              </a:lnSpc>
              <a:spcBef>
                <a:spcPts val="0"/>
              </a:spcBef>
              <a:spcAft>
                <a:spcPts val="600"/>
              </a:spcAft>
            </a:pPr>
            <a:r>
              <a:rPr lang="en-US" sz="1400">
                <a:solidFill>
                  <a:schemeClr val="tx2"/>
                </a:solidFill>
                <a:latin typeface="+mn-lt"/>
                <a:ea typeface="+mn-ea"/>
              </a:rPr>
              <a:t>CLI Tools </a:t>
            </a: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Support: Win/Linux/Mac </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Integrate with:</a:t>
            </a:r>
            <a:br>
              <a:rPr lang="en-US" sz="1200">
                <a:solidFill>
                  <a:schemeClr val="tx2"/>
                </a:solidFill>
                <a:latin typeface="+mn-lt"/>
                <a:ea typeface="+mn-ea"/>
              </a:rPr>
            </a:br>
            <a:r>
              <a:rPr lang="en-US" sz="1200">
                <a:solidFill>
                  <a:schemeClr val="tx2"/>
                </a:solidFill>
                <a:latin typeface="+mn-lt"/>
                <a:ea typeface="+mn-ea"/>
              </a:rPr>
              <a:t>VS Code, Keil Studio Cloud</a:t>
            </a:r>
            <a:endParaRPr lang="en-US" sz="2000" kern="1200">
              <a:solidFill>
                <a:schemeClr val="tx2"/>
              </a:solidFill>
              <a:latin typeface="+mn-lt"/>
              <a:ea typeface="+mn-ea"/>
              <a:cs typeface="+mn-cs"/>
            </a:endParaRPr>
          </a:p>
        </p:txBody>
      </p:sp>
      <p:sp>
        <p:nvSpPr>
          <p:cNvPr id="9" name="TextBox 8">
            <a:extLst>
              <a:ext uri="{FF2B5EF4-FFF2-40B4-BE49-F238E27FC236}">
                <a16:creationId xmlns:a16="http://schemas.microsoft.com/office/drawing/2014/main" id="{51EFE36F-B3B7-2F26-A756-53DC713FEC45}"/>
              </a:ext>
            </a:extLst>
          </p:cNvPr>
          <p:cNvSpPr txBox="1"/>
          <p:nvPr/>
        </p:nvSpPr>
        <p:spPr>
          <a:xfrm>
            <a:off x="4553104" y="5540943"/>
            <a:ext cx="3794896" cy="1107996"/>
          </a:xfrm>
          <a:prstGeom prst="rect">
            <a:avLst/>
          </a:prstGeom>
          <a:solidFill>
            <a:schemeClr val="accent6">
              <a:lumMod val="20000"/>
              <a:lumOff val="80000"/>
            </a:schemeClr>
          </a:solidFill>
        </p:spPr>
        <p:txBody>
          <a:bodyPr wrap="square" lIns="91440" tIns="91440" rIns="91440" bIns="91440" rtlCol="0">
            <a:spAutoFit/>
          </a:bodyPr>
          <a:lstStyle/>
          <a:p>
            <a:pPr algn="l" defTabSz="914400" rtl="0" eaLnBrk="1" latinLnBrk="0" hangingPunct="1">
              <a:lnSpc>
                <a:spcPct val="90000"/>
              </a:lnSpc>
              <a:spcBef>
                <a:spcPts val="0"/>
              </a:spcBef>
              <a:spcAft>
                <a:spcPts val="600"/>
              </a:spcAft>
            </a:pPr>
            <a:r>
              <a:rPr lang="en-US" sz="1400">
                <a:solidFill>
                  <a:schemeClr val="tx2"/>
                </a:solidFill>
                <a:latin typeface="+mn-lt"/>
                <a:ea typeface="+mn-ea"/>
              </a:rPr>
              <a:t>Other tool integrations:</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Arm DS, Keil MDK, IAR EW-Arm, Eclipse</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200" kern="1200">
                <a:solidFill>
                  <a:schemeClr val="tx2"/>
                </a:solidFill>
                <a:latin typeface="+mn-lt"/>
                <a:ea typeface="+mn-ea"/>
                <a:cs typeface="+mn-cs"/>
              </a:rPr>
              <a:t>NXP?</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ST?</a:t>
            </a:r>
            <a:endParaRPr lang="en-US" sz="2000" kern="1200">
              <a:solidFill>
                <a:schemeClr val="tx2"/>
              </a:solidFill>
              <a:latin typeface="+mn-lt"/>
              <a:ea typeface="+mn-ea"/>
              <a:cs typeface="+mn-cs"/>
            </a:endParaRPr>
          </a:p>
        </p:txBody>
      </p:sp>
      <p:cxnSp>
        <p:nvCxnSpPr>
          <p:cNvPr id="10" name="Straight Arrow Connector 9">
            <a:extLst>
              <a:ext uri="{FF2B5EF4-FFF2-40B4-BE49-F238E27FC236}">
                <a16:creationId xmlns:a16="http://schemas.microsoft.com/office/drawing/2014/main" id="{86CEF58B-C304-ED04-B1DA-42203EF4D0C1}"/>
              </a:ext>
            </a:extLst>
          </p:cNvPr>
          <p:cNvCxnSpPr>
            <a:cxnSpLocks/>
            <a:endCxn id="71" idx="1"/>
          </p:cNvCxnSpPr>
          <p:nvPr/>
        </p:nvCxnSpPr>
        <p:spPr>
          <a:xfrm flipV="1">
            <a:off x="5836842" y="2865575"/>
            <a:ext cx="1133206" cy="420599"/>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3D459EE8-9E69-C65F-9135-CCB8ED0B2AF6}"/>
              </a:ext>
            </a:extLst>
          </p:cNvPr>
          <p:cNvSpPr/>
          <p:nvPr/>
        </p:nvSpPr>
        <p:spPr>
          <a:xfrm>
            <a:off x="6976528" y="4049615"/>
            <a:ext cx="1346200" cy="692150"/>
          </a:xfrm>
          <a:prstGeom prst="rect">
            <a:avLst/>
          </a:prstGeom>
          <a:solidFill>
            <a:schemeClr val="accent5">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b="1" i="0">
                <a:solidFill>
                  <a:srgbClr val="333333"/>
                </a:solidFill>
                <a:effectLst/>
                <a:latin typeface="-apple-system"/>
              </a:rPr>
              <a:t>Boards or Devices</a:t>
            </a:r>
            <a:endParaRPr lang="en-GB"/>
          </a:p>
        </p:txBody>
      </p:sp>
      <p:cxnSp>
        <p:nvCxnSpPr>
          <p:cNvPr id="14" name="Straight Arrow Connector 13">
            <a:extLst>
              <a:ext uri="{FF2B5EF4-FFF2-40B4-BE49-F238E27FC236}">
                <a16:creationId xmlns:a16="http://schemas.microsoft.com/office/drawing/2014/main" id="{20E2D393-E6D2-BD64-746C-E26C7CF2D0BF}"/>
              </a:ext>
            </a:extLst>
          </p:cNvPr>
          <p:cNvCxnSpPr>
            <a:cxnSpLocks/>
            <a:endCxn id="13" idx="1"/>
          </p:cNvCxnSpPr>
          <p:nvPr/>
        </p:nvCxnSpPr>
        <p:spPr>
          <a:xfrm>
            <a:off x="5900057" y="3646351"/>
            <a:ext cx="1076471" cy="749339"/>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7D077B0-BEB1-EBD6-BBA0-2F9DD2969E9F}"/>
              </a:ext>
            </a:extLst>
          </p:cNvPr>
          <p:cNvSpPr txBox="1"/>
          <p:nvPr/>
        </p:nvSpPr>
        <p:spPr>
          <a:xfrm>
            <a:off x="8844096" y="1486140"/>
            <a:ext cx="2818122" cy="2066720"/>
          </a:xfrm>
          <a:prstGeom prst="rect">
            <a:avLst/>
          </a:prstGeom>
          <a:solidFill>
            <a:schemeClr val="accent6">
              <a:lumMod val="20000"/>
              <a:lumOff val="80000"/>
            </a:schemeClr>
          </a:solidFill>
        </p:spPr>
        <p:txBody>
          <a:bodyPr wrap="square" lIns="91440" tIns="91440" rIns="91440" bIns="91440" rtlCol="0">
            <a:spAutoFit/>
          </a:bodyPr>
          <a:lstStyle/>
          <a:p>
            <a:pPr algn="l" defTabSz="914400" rtl="0" eaLnBrk="1" latinLnBrk="0" hangingPunct="1">
              <a:lnSpc>
                <a:spcPct val="90000"/>
              </a:lnSpc>
              <a:spcBef>
                <a:spcPts val="0"/>
              </a:spcBef>
              <a:spcAft>
                <a:spcPts val="600"/>
              </a:spcAft>
            </a:pPr>
            <a:r>
              <a:rPr lang="en-US" sz="1400">
                <a:solidFill>
                  <a:schemeClr val="tx2"/>
                </a:solidFill>
                <a:latin typeface="+mn-lt"/>
                <a:ea typeface="+mn-ea"/>
              </a:rPr>
              <a:t>AVH Integrates into:</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100">
                <a:solidFill>
                  <a:schemeClr val="tx2"/>
                </a:solidFill>
                <a:latin typeface="+mn-lt"/>
                <a:ea typeface="+mn-ea"/>
              </a:rPr>
              <a:t>CI, DevOps, </a:t>
            </a:r>
            <a:r>
              <a:rPr lang="en-US" sz="1100" err="1">
                <a:solidFill>
                  <a:schemeClr val="tx2"/>
                </a:solidFill>
                <a:latin typeface="+mn-lt"/>
                <a:ea typeface="+mn-ea"/>
              </a:rPr>
              <a:t>MLOps</a:t>
            </a:r>
            <a:r>
              <a:rPr lang="en-US" sz="1100">
                <a:solidFill>
                  <a:schemeClr val="tx2"/>
                </a:solidFill>
                <a:latin typeface="+mn-lt"/>
                <a:ea typeface="+mn-ea"/>
              </a:rPr>
              <a:t> systems (i.e. GitHub)</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100">
                <a:solidFill>
                  <a:schemeClr val="tx2"/>
                </a:solidFill>
                <a:latin typeface="+mn-lt"/>
                <a:ea typeface="+mn-ea"/>
              </a:rPr>
              <a:t>Keil MDK, Arm DS, IAR EW-Arm</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100">
                <a:solidFill>
                  <a:schemeClr val="tx2"/>
                </a:solidFill>
                <a:latin typeface="+mn-lt"/>
                <a:ea typeface="+mn-ea"/>
              </a:rPr>
              <a:t>Keil Studio Cloud</a:t>
            </a:r>
            <a:endParaRPr lang="en-US" sz="1400">
              <a:solidFill>
                <a:schemeClr val="tx2"/>
              </a:solidFill>
              <a:latin typeface="+mn-lt"/>
              <a:ea typeface="+mn-ea"/>
            </a:endParaRPr>
          </a:p>
          <a:p>
            <a:pPr algn="l" defTabSz="914400" rtl="0" eaLnBrk="1" latinLnBrk="0" hangingPunct="1">
              <a:lnSpc>
                <a:spcPct val="90000"/>
              </a:lnSpc>
              <a:spcBef>
                <a:spcPts val="0"/>
              </a:spcBef>
              <a:spcAft>
                <a:spcPts val="600"/>
              </a:spcAft>
            </a:pPr>
            <a:r>
              <a:rPr lang="en-US" sz="1400">
                <a:solidFill>
                  <a:schemeClr val="tx2"/>
                </a:solidFill>
                <a:latin typeface="+mn-lt"/>
                <a:ea typeface="+mn-ea"/>
              </a:rPr>
              <a:t>AVH Supports:</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CI Validation</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200" kern="1200">
                <a:solidFill>
                  <a:schemeClr val="tx2"/>
                </a:solidFill>
                <a:latin typeface="+mn-lt"/>
                <a:ea typeface="+mn-ea"/>
                <a:cs typeface="+mn-cs"/>
              </a:rPr>
              <a:t>Evaluation</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Training</a:t>
            </a:r>
            <a:endParaRPr lang="en-US" sz="2000" kern="1200">
              <a:solidFill>
                <a:schemeClr val="tx2"/>
              </a:solidFill>
              <a:latin typeface="+mn-lt"/>
              <a:ea typeface="+mn-ea"/>
              <a:cs typeface="+mn-cs"/>
            </a:endParaRPr>
          </a:p>
        </p:txBody>
      </p:sp>
      <p:sp>
        <p:nvSpPr>
          <p:cNvPr id="17" name="TextBox 16">
            <a:extLst>
              <a:ext uri="{FF2B5EF4-FFF2-40B4-BE49-F238E27FC236}">
                <a16:creationId xmlns:a16="http://schemas.microsoft.com/office/drawing/2014/main" id="{16BE2079-DB30-31B0-9E28-43465633EACC}"/>
              </a:ext>
            </a:extLst>
          </p:cNvPr>
          <p:cNvSpPr txBox="1"/>
          <p:nvPr/>
        </p:nvSpPr>
        <p:spPr>
          <a:xfrm>
            <a:off x="8844096" y="3997149"/>
            <a:ext cx="2818122" cy="607859"/>
          </a:xfrm>
          <a:prstGeom prst="rect">
            <a:avLst/>
          </a:prstGeom>
          <a:solidFill>
            <a:schemeClr val="accent6">
              <a:lumMod val="20000"/>
              <a:lumOff val="80000"/>
            </a:schemeClr>
          </a:solidFill>
        </p:spPr>
        <p:txBody>
          <a:bodyPr wrap="square" lIns="91440" tIns="91440" rIns="91440" bIns="91440" rtlCol="0">
            <a:spAutoFit/>
          </a:bodyPr>
          <a:lstStyle/>
          <a:p>
            <a:pPr algn="l" defTabSz="914400" rtl="0" eaLnBrk="1" latinLnBrk="0" hangingPunct="1">
              <a:lnSpc>
                <a:spcPct val="90000"/>
              </a:lnSpc>
              <a:spcBef>
                <a:spcPts val="0"/>
              </a:spcBef>
              <a:spcAft>
                <a:spcPts val="600"/>
              </a:spcAft>
            </a:pPr>
            <a:r>
              <a:rPr lang="en-US" sz="1400">
                <a:solidFill>
                  <a:schemeClr val="tx2"/>
                </a:solidFill>
                <a:latin typeface="+mn-lt"/>
                <a:ea typeface="+mn-ea"/>
              </a:rPr>
              <a:t>Platform for Reference Applications:</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100">
                <a:solidFill>
                  <a:schemeClr val="tx2"/>
                </a:solidFill>
                <a:latin typeface="+mn-lt"/>
                <a:ea typeface="+mn-ea"/>
              </a:rPr>
              <a:t>Many different boards???</a:t>
            </a:r>
            <a:endParaRPr lang="en-US" sz="2000" kern="1200">
              <a:solidFill>
                <a:schemeClr val="tx2"/>
              </a:solidFill>
              <a:latin typeface="+mn-lt"/>
              <a:ea typeface="+mn-ea"/>
              <a:cs typeface="+mn-cs"/>
            </a:endParaRPr>
          </a:p>
        </p:txBody>
      </p:sp>
      <p:sp>
        <p:nvSpPr>
          <p:cNvPr id="22" name="TextBox 21">
            <a:extLst>
              <a:ext uri="{FF2B5EF4-FFF2-40B4-BE49-F238E27FC236}">
                <a16:creationId xmlns:a16="http://schemas.microsoft.com/office/drawing/2014/main" id="{A80F83E1-6D66-89BE-9EDC-38DC1B44563B}"/>
              </a:ext>
            </a:extLst>
          </p:cNvPr>
          <p:cNvSpPr txBox="1"/>
          <p:nvPr/>
        </p:nvSpPr>
        <p:spPr>
          <a:xfrm>
            <a:off x="493483" y="1618693"/>
            <a:ext cx="1865239" cy="1058751"/>
          </a:xfrm>
          <a:prstGeom prst="rect">
            <a:avLst/>
          </a:prstGeom>
          <a:solidFill>
            <a:schemeClr val="accent6">
              <a:lumMod val="20000"/>
              <a:lumOff val="80000"/>
            </a:schemeClr>
          </a:solidFill>
        </p:spPr>
        <p:txBody>
          <a:bodyPr wrap="square" lIns="91440" tIns="91440" rIns="91440" bIns="91440" rtlCol="0">
            <a:spAutoFit/>
          </a:bodyPr>
          <a:lstStyle/>
          <a:p>
            <a:pPr algn="l" defTabSz="914400" rtl="0" eaLnBrk="1" latinLnBrk="0" hangingPunct="1">
              <a:lnSpc>
                <a:spcPct val="90000"/>
              </a:lnSpc>
              <a:spcBef>
                <a:spcPts val="0"/>
              </a:spcBef>
              <a:spcAft>
                <a:spcPts val="600"/>
              </a:spcAft>
            </a:pPr>
            <a:r>
              <a:rPr lang="en-US" sz="1400">
                <a:solidFill>
                  <a:schemeClr val="tx2"/>
                </a:solidFill>
                <a:latin typeface="+mn-lt"/>
                <a:ea typeface="+mn-ea"/>
              </a:rPr>
              <a:t>Standard Software exposed to developers:</a:t>
            </a: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Web portals</a:t>
            </a: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Inside IDEs</a:t>
            </a:r>
          </a:p>
        </p:txBody>
      </p:sp>
      <p:sp>
        <p:nvSpPr>
          <p:cNvPr id="23" name="TextBox 22">
            <a:extLst>
              <a:ext uri="{FF2B5EF4-FFF2-40B4-BE49-F238E27FC236}">
                <a16:creationId xmlns:a16="http://schemas.microsoft.com/office/drawing/2014/main" id="{7728E741-DB59-87AE-3C25-71D3905DDDAF}"/>
              </a:ext>
            </a:extLst>
          </p:cNvPr>
          <p:cNvSpPr txBox="1"/>
          <p:nvPr/>
        </p:nvSpPr>
        <p:spPr>
          <a:xfrm>
            <a:off x="493484" y="4395690"/>
            <a:ext cx="1836060" cy="1197251"/>
          </a:xfrm>
          <a:prstGeom prst="rect">
            <a:avLst/>
          </a:prstGeom>
          <a:solidFill>
            <a:schemeClr val="accent6">
              <a:lumMod val="20000"/>
              <a:lumOff val="80000"/>
            </a:schemeClr>
          </a:solidFill>
        </p:spPr>
        <p:txBody>
          <a:bodyPr wrap="square" lIns="91440" tIns="91440" rIns="91440" bIns="91440" rtlCol="0">
            <a:spAutoFit/>
          </a:bodyPr>
          <a:lstStyle/>
          <a:p>
            <a:pPr algn="l" defTabSz="914400" rtl="0" eaLnBrk="1" latinLnBrk="0" hangingPunct="1">
              <a:lnSpc>
                <a:spcPct val="90000"/>
              </a:lnSpc>
              <a:spcBef>
                <a:spcPts val="0"/>
              </a:spcBef>
              <a:spcAft>
                <a:spcPts val="600"/>
              </a:spcAft>
            </a:pPr>
            <a:r>
              <a:rPr lang="en-US" sz="1400">
                <a:solidFill>
                  <a:schemeClr val="tx2"/>
                </a:solidFill>
                <a:latin typeface="+mn-lt"/>
                <a:ea typeface="+mn-ea"/>
              </a:rPr>
              <a:t>Confidential software</a:t>
            </a: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Git repo for development</a:t>
            </a:r>
          </a:p>
          <a:p>
            <a:pPr marL="171450" indent="-171450"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Released software with versioning</a:t>
            </a:r>
          </a:p>
        </p:txBody>
      </p:sp>
      <p:sp>
        <p:nvSpPr>
          <p:cNvPr id="62" name="Rectangle 61">
            <a:extLst>
              <a:ext uri="{FF2B5EF4-FFF2-40B4-BE49-F238E27FC236}">
                <a16:creationId xmlns:a16="http://schemas.microsoft.com/office/drawing/2014/main" id="{4E3BAA80-A54D-4D1B-BEE4-A7DD4ABF8CA6}"/>
              </a:ext>
            </a:extLst>
          </p:cNvPr>
          <p:cNvSpPr/>
          <p:nvPr/>
        </p:nvSpPr>
        <p:spPr>
          <a:xfrm>
            <a:off x="4635782" y="3115170"/>
            <a:ext cx="1346200" cy="692150"/>
          </a:xfrm>
          <a:prstGeom prst="rect">
            <a:avLst/>
          </a:prstGeom>
          <a:solidFill>
            <a:schemeClr val="accent5">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b="1" i="0">
                <a:solidFill>
                  <a:srgbClr val="333333"/>
                </a:solidFill>
                <a:effectLst/>
                <a:latin typeface="-apple-system"/>
              </a:rPr>
              <a:t>CMSIS Toolbox</a:t>
            </a:r>
            <a:endParaRPr lang="en-GB" sz="1200"/>
          </a:p>
        </p:txBody>
      </p:sp>
      <p:sp>
        <p:nvSpPr>
          <p:cNvPr id="25" name="TextBox 24">
            <a:extLst>
              <a:ext uri="{FF2B5EF4-FFF2-40B4-BE49-F238E27FC236}">
                <a16:creationId xmlns:a16="http://schemas.microsoft.com/office/drawing/2014/main" id="{C488FD96-723A-552A-06C2-67491ED17E54}"/>
              </a:ext>
            </a:extLst>
          </p:cNvPr>
          <p:cNvSpPr txBox="1"/>
          <p:nvPr/>
        </p:nvSpPr>
        <p:spPr>
          <a:xfrm>
            <a:off x="4531309" y="3969104"/>
            <a:ext cx="1562100" cy="1107996"/>
          </a:xfrm>
          <a:prstGeom prst="rect">
            <a:avLst/>
          </a:prstGeom>
          <a:solidFill>
            <a:schemeClr val="accent6">
              <a:lumMod val="20000"/>
              <a:lumOff val="80000"/>
            </a:schemeClr>
          </a:solidFill>
        </p:spPr>
        <p:txBody>
          <a:bodyPr wrap="square" lIns="91440" tIns="91440" rIns="91440" bIns="91440" rtlCol="0">
            <a:spAutoFit/>
          </a:bodyPr>
          <a:lstStyle/>
          <a:p>
            <a:pPr algn="l" defTabSz="914400" rtl="0" eaLnBrk="1" latinLnBrk="0" hangingPunct="1">
              <a:lnSpc>
                <a:spcPct val="90000"/>
              </a:lnSpc>
              <a:spcBef>
                <a:spcPts val="0"/>
              </a:spcBef>
              <a:spcAft>
                <a:spcPts val="600"/>
              </a:spcAft>
            </a:pPr>
            <a:r>
              <a:rPr lang="en-US" sz="1400">
                <a:solidFill>
                  <a:schemeClr val="tx2"/>
                </a:solidFill>
                <a:latin typeface="+mn-lt"/>
                <a:ea typeface="+mn-ea"/>
              </a:rPr>
              <a:t>Compiler support</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GCC</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Arm Compiler</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200">
                <a:solidFill>
                  <a:schemeClr val="tx2"/>
                </a:solidFill>
                <a:latin typeface="+mn-lt"/>
                <a:ea typeface="+mn-ea"/>
              </a:rPr>
              <a:t>IAR Compiler</a:t>
            </a:r>
          </a:p>
        </p:txBody>
      </p:sp>
      <p:sp>
        <p:nvSpPr>
          <p:cNvPr id="28" name="TextBox 27">
            <a:extLst>
              <a:ext uri="{FF2B5EF4-FFF2-40B4-BE49-F238E27FC236}">
                <a16:creationId xmlns:a16="http://schemas.microsoft.com/office/drawing/2014/main" id="{9F16D658-B373-5D5C-9514-60CE90D5DE73}"/>
              </a:ext>
            </a:extLst>
          </p:cNvPr>
          <p:cNvSpPr txBox="1"/>
          <p:nvPr/>
        </p:nvSpPr>
        <p:spPr>
          <a:xfrm>
            <a:off x="406630" y="5910275"/>
            <a:ext cx="6096000" cy="369332"/>
          </a:xfrm>
          <a:prstGeom prst="rect">
            <a:avLst/>
          </a:prstGeom>
          <a:noFill/>
        </p:spPr>
        <p:txBody>
          <a:bodyPr wrap="square">
            <a:spAutoFit/>
          </a:bodyPr>
          <a:lstStyle/>
          <a:p>
            <a:r>
              <a:rPr lang="en-GB">
                <a:hlinkClick r:id="rId3"/>
              </a:rPr>
              <a:t>github.com/Open-CMSIS-Pack</a:t>
            </a:r>
            <a:endParaRPr lang="en-GB"/>
          </a:p>
        </p:txBody>
      </p:sp>
    </p:spTree>
    <p:extLst>
      <p:ext uri="{BB962C8B-B14F-4D97-AF65-F5344CB8AC3E}">
        <p14:creationId xmlns:p14="http://schemas.microsoft.com/office/powerpoint/2010/main" val="1531031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Straight Arrow Connector 33">
            <a:extLst>
              <a:ext uri="{FF2B5EF4-FFF2-40B4-BE49-F238E27FC236}">
                <a16:creationId xmlns:a16="http://schemas.microsoft.com/office/drawing/2014/main" id="{0EAFB0EC-0BEB-61AF-ED8E-AB8E9E397245}"/>
              </a:ext>
            </a:extLst>
          </p:cNvPr>
          <p:cNvCxnSpPr>
            <a:cxnSpLocks/>
          </p:cNvCxnSpPr>
          <p:nvPr/>
        </p:nvCxnSpPr>
        <p:spPr>
          <a:xfrm>
            <a:off x="6003604" y="3097646"/>
            <a:ext cx="340046" cy="274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10B08567-B8E6-CD03-A712-283B6BED095C}"/>
              </a:ext>
            </a:extLst>
          </p:cNvPr>
          <p:cNvSpPr/>
          <p:nvPr/>
        </p:nvSpPr>
        <p:spPr>
          <a:xfrm>
            <a:off x="557409" y="1283722"/>
            <a:ext cx="5538592" cy="1052187"/>
          </a:xfrm>
          <a:prstGeom prst="rect">
            <a:avLst/>
          </a:prstGeom>
          <a:solidFill>
            <a:srgbClr val="0091BD">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2CA143BC-8541-DCE0-E095-BFFE5926D485}"/>
              </a:ext>
            </a:extLst>
          </p:cNvPr>
          <p:cNvSpPr/>
          <p:nvPr/>
        </p:nvSpPr>
        <p:spPr>
          <a:xfrm>
            <a:off x="557408" y="2542783"/>
            <a:ext cx="3864280" cy="1052187"/>
          </a:xfrm>
          <a:prstGeom prst="rect">
            <a:avLst/>
          </a:prstGeom>
          <a:solidFill>
            <a:srgbClr val="0091BD">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722964-CE8F-0F0D-18F3-3DACB5D1E81A}"/>
              </a:ext>
            </a:extLst>
          </p:cNvPr>
          <p:cNvSpPr>
            <a:spLocks noGrp="1"/>
          </p:cNvSpPr>
          <p:nvPr>
            <p:ph type="title"/>
          </p:nvPr>
        </p:nvSpPr>
        <p:spPr/>
        <p:txBody>
          <a:bodyPr/>
          <a:lstStyle/>
          <a:p>
            <a:r>
              <a:rPr lang="en-US" dirty="0"/>
              <a:t>Linker Script File and Startup Code (Toolchain independent)</a:t>
            </a:r>
          </a:p>
        </p:txBody>
      </p:sp>
      <p:cxnSp>
        <p:nvCxnSpPr>
          <p:cNvPr id="21" name="Straight Arrow Connector 20">
            <a:extLst>
              <a:ext uri="{FF2B5EF4-FFF2-40B4-BE49-F238E27FC236}">
                <a16:creationId xmlns:a16="http://schemas.microsoft.com/office/drawing/2014/main" id="{9327AEEF-F1DE-BBFE-F62F-A23F7E25CAB5}"/>
              </a:ext>
            </a:extLst>
          </p:cNvPr>
          <p:cNvCxnSpPr>
            <a:cxnSpLocks/>
          </p:cNvCxnSpPr>
          <p:nvPr/>
        </p:nvCxnSpPr>
        <p:spPr>
          <a:xfrm>
            <a:off x="5334032" y="2206285"/>
            <a:ext cx="11026" cy="45194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0" name="Flowchart: Document 29">
            <a:extLst>
              <a:ext uri="{FF2B5EF4-FFF2-40B4-BE49-F238E27FC236}">
                <a16:creationId xmlns:a16="http://schemas.microsoft.com/office/drawing/2014/main" id="{680DA59D-4A81-7D47-2085-D8DB1D856722}"/>
              </a:ext>
            </a:extLst>
          </p:cNvPr>
          <p:cNvSpPr/>
          <p:nvPr/>
        </p:nvSpPr>
        <p:spPr>
          <a:xfrm>
            <a:off x="4662617" y="1404869"/>
            <a:ext cx="1333416" cy="87331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a:ea typeface="+mn-ea"/>
                <a:cs typeface="+mn-cs"/>
              </a:rPr>
              <a:t>Linker Script </a:t>
            </a:r>
            <a:br>
              <a:rPr kumimoji="0" lang="en-US" sz="1200" b="1" i="0" u="none" strike="noStrike" kern="1200" cap="none" spc="0" normalizeH="0" baseline="0" noProof="0" dirty="0">
                <a:ln>
                  <a:noFill/>
                </a:ln>
                <a:solidFill>
                  <a:srgbClr val="FFFFFF"/>
                </a:solidFill>
                <a:effectLst/>
                <a:uLnTx/>
                <a:uFillTx/>
                <a:latin typeface="Calibri"/>
                <a:ea typeface="+mn-ea"/>
                <a:cs typeface="+mn-cs"/>
              </a:rPr>
            </a:br>
            <a:r>
              <a:rPr kumimoji="0" lang="en-US" sz="1200" b="1" i="0" u="none" strike="noStrike" kern="1200" cap="none" spc="0" normalizeH="0" baseline="0" noProof="0" dirty="0">
                <a:ln>
                  <a:noFill/>
                </a:ln>
                <a:solidFill>
                  <a:srgbClr val="FFFFFF"/>
                </a:solidFill>
                <a:effectLst/>
                <a:uLnTx/>
                <a:uFillTx/>
                <a:latin typeface="Calibri"/>
                <a:ea typeface="+mn-ea"/>
                <a:cs typeface="+mn-cs"/>
              </a:rPr>
              <a:t>File</a:t>
            </a:r>
            <a:endParaRPr kumimoji="0" lang="en-GB" sz="1000" b="1" i="0" u="none" strike="noStrike" kern="1200" cap="none" spc="0" normalizeH="0" baseline="0" noProof="0" dirty="0">
              <a:ln>
                <a:noFill/>
              </a:ln>
              <a:solidFill>
                <a:srgbClr val="FFFFFF"/>
              </a:solidFill>
              <a:effectLst/>
              <a:uLnTx/>
              <a:uFillTx/>
              <a:latin typeface="Calibri"/>
              <a:ea typeface="+mn-ea"/>
              <a:cs typeface="+mn-cs"/>
            </a:endParaRPr>
          </a:p>
        </p:txBody>
      </p:sp>
      <p:sp>
        <p:nvSpPr>
          <p:cNvPr id="32" name="Rectangle 31">
            <a:extLst>
              <a:ext uri="{FF2B5EF4-FFF2-40B4-BE49-F238E27FC236}">
                <a16:creationId xmlns:a16="http://schemas.microsoft.com/office/drawing/2014/main" id="{0956729D-4D1E-4789-E4C3-8C27991A93F0}"/>
              </a:ext>
            </a:extLst>
          </p:cNvPr>
          <p:cNvSpPr/>
          <p:nvPr/>
        </p:nvSpPr>
        <p:spPr>
          <a:xfrm>
            <a:off x="4662617" y="2641449"/>
            <a:ext cx="1340987" cy="884321"/>
          </a:xfrm>
          <a:prstGeom prst="rect">
            <a:avLst/>
          </a:prstGeom>
          <a:solidFill>
            <a:srgbClr val="92D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Calibri"/>
                <a:ea typeface="+mn-ea"/>
                <a:cs typeface="+mn-cs"/>
              </a:rPr>
              <a:t>C </a:t>
            </a:r>
            <a:r>
              <a:rPr lang="en-US" sz="1400" dirty="0">
                <a:solidFill>
                  <a:srgbClr val="FFFFFF"/>
                </a:solidFill>
                <a:latin typeface="Calibri"/>
              </a:rPr>
              <a:t>Preprocessor</a:t>
            </a:r>
            <a:endParaRPr kumimoji="0" lang="en-GB" sz="1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33" name="Flowchart: Document 32">
            <a:extLst>
              <a:ext uri="{FF2B5EF4-FFF2-40B4-BE49-F238E27FC236}">
                <a16:creationId xmlns:a16="http://schemas.microsoft.com/office/drawing/2014/main" id="{6AB1847D-DC39-C2FC-ACB8-7546D31C5F51}"/>
              </a:ext>
            </a:extLst>
          </p:cNvPr>
          <p:cNvSpPr/>
          <p:nvPr/>
        </p:nvSpPr>
        <p:spPr>
          <a:xfrm>
            <a:off x="6343650" y="2658233"/>
            <a:ext cx="1340986" cy="862526"/>
          </a:xfrm>
          <a:prstGeom prst="flowChartDocument">
            <a:avLst/>
          </a:prstGeom>
          <a:solidFill>
            <a:schemeClr val="accent5">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b="1" dirty="0">
                <a:solidFill>
                  <a:srgbClr val="FFFFFF"/>
                </a:solidFill>
                <a:latin typeface="Calibri"/>
              </a:rPr>
              <a:t>Final </a:t>
            </a:r>
            <a:br>
              <a:rPr lang="en-US" sz="1200" b="1" dirty="0">
                <a:solidFill>
                  <a:srgbClr val="FFFFFF"/>
                </a:solidFill>
                <a:latin typeface="Calibri"/>
              </a:rPr>
            </a:br>
            <a:r>
              <a:rPr lang="en-US" sz="1200" b="1" dirty="0">
                <a:solidFill>
                  <a:srgbClr val="FFFFFF"/>
                </a:solidFill>
                <a:latin typeface="Calibri"/>
              </a:rPr>
              <a:t>Linker Input</a:t>
            </a:r>
            <a:br>
              <a:rPr lang="en-US" sz="1200" b="1" dirty="0">
                <a:solidFill>
                  <a:srgbClr val="FFFFFF"/>
                </a:solidFill>
                <a:latin typeface="Calibri"/>
              </a:rPr>
            </a:br>
            <a:r>
              <a:rPr lang="en-US" sz="1200" b="1" dirty="0">
                <a:solidFill>
                  <a:srgbClr val="FFFFFF"/>
                </a:solidFill>
                <a:latin typeface="Calibri"/>
              </a:rPr>
              <a:t>Script</a:t>
            </a:r>
            <a:endParaRPr lang="en-US" sz="1100" dirty="0">
              <a:solidFill>
                <a:srgbClr val="FFFFFF"/>
              </a:solidFill>
              <a:latin typeface="Calibri"/>
            </a:endParaRPr>
          </a:p>
        </p:txBody>
      </p:sp>
      <p:sp>
        <p:nvSpPr>
          <p:cNvPr id="38" name="TextBox 37">
            <a:extLst>
              <a:ext uri="{FF2B5EF4-FFF2-40B4-BE49-F238E27FC236}">
                <a16:creationId xmlns:a16="http://schemas.microsoft.com/office/drawing/2014/main" id="{6F9E6868-CA06-CBDB-87B1-29216E1BC75D}"/>
              </a:ext>
            </a:extLst>
          </p:cNvPr>
          <p:cNvSpPr txBox="1"/>
          <p:nvPr/>
        </p:nvSpPr>
        <p:spPr>
          <a:xfrm>
            <a:off x="715763" y="2625380"/>
            <a:ext cx="2179233" cy="1151084"/>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dirty="0">
                <a:solidFill>
                  <a:schemeClr val="tx2"/>
                </a:solidFill>
              </a:rPr>
              <a:t>A </a:t>
            </a:r>
            <a:r>
              <a:rPr lang="en-US" sz="1200" b="1" dirty="0">
                <a:solidFill>
                  <a:schemeClr val="tx2"/>
                </a:solidFill>
              </a:rPr>
              <a:t>&lt;regions&gt;.h</a:t>
            </a:r>
            <a:r>
              <a:rPr lang="en-US" sz="1200" dirty="0">
                <a:solidFill>
                  <a:schemeClr val="tx2"/>
                </a:solidFill>
              </a:rPr>
              <a:t> file specifies the available memory.</a:t>
            </a:r>
          </a:p>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dirty="0">
                <a:solidFill>
                  <a:schemeClr val="tx2"/>
                </a:solidFill>
              </a:rPr>
              <a:t>If this file does not exist, it is generated based on information</a:t>
            </a:r>
            <a:br>
              <a:rPr lang="en-US" sz="1200" dirty="0">
                <a:solidFill>
                  <a:schemeClr val="tx2"/>
                </a:solidFill>
              </a:rPr>
            </a:br>
            <a:r>
              <a:rPr lang="en-US" sz="1200" dirty="0">
                <a:solidFill>
                  <a:schemeClr val="tx2"/>
                </a:solidFill>
              </a:rPr>
              <a:t>in the software packs.</a:t>
            </a:r>
          </a:p>
          <a:p>
            <a:pPr marL="0" indent="0" algn="l" defTabSz="914400" rtl="0" eaLnBrk="1" latinLnBrk="0" hangingPunct="1">
              <a:lnSpc>
                <a:spcPct val="90000"/>
              </a:lnSpc>
              <a:spcBef>
                <a:spcPts val="0"/>
              </a:spcBef>
              <a:spcAft>
                <a:spcPts val="600"/>
              </a:spcAft>
              <a:buFont typeface="Arial" panose="020B0604020202020204" pitchFamily="34" charset="0"/>
              <a:buNone/>
            </a:pPr>
            <a:endParaRPr lang="en-US" sz="1200" kern="1200" dirty="0">
              <a:solidFill>
                <a:schemeClr val="tx2"/>
              </a:solidFill>
              <a:latin typeface="+mn-lt"/>
              <a:ea typeface="+mn-ea"/>
              <a:cs typeface="+mn-cs"/>
            </a:endParaRPr>
          </a:p>
        </p:txBody>
      </p:sp>
      <p:sp>
        <p:nvSpPr>
          <p:cNvPr id="40" name="TextBox 39">
            <a:extLst>
              <a:ext uri="{FF2B5EF4-FFF2-40B4-BE49-F238E27FC236}">
                <a16:creationId xmlns:a16="http://schemas.microsoft.com/office/drawing/2014/main" id="{00523719-9ACA-9C05-94F0-52BDFABE951A}"/>
              </a:ext>
            </a:extLst>
          </p:cNvPr>
          <p:cNvSpPr txBox="1"/>
          <p:nvPr/>
        </p:nvSpPr>
        <p:spPr>
          <a:xfrm>
            <a:off x="703766" y="1375288"/>
            <a:ext cx="3914946" cy="575542"/>
          </a:xfrm>
          <a:prstGeom prst="rect">
            <a:avLst/>
          </a:prstGeom>
          <a:noFill/>
        </p:spPr>
        <p:txBody>
          <a:bodyPr wrap="square" lIns="0" tIns="0" rIns="0" bIns="0" rtlCol="0">
            <a:spAutoFit/>
          </a:bodyPr>
          <a:lstStyle/>
          <a:p>
            <a:pPr>
              <a:lnSpc>
                <a:spcPct val="90000"/>
              </a:lnSpc>
              <a:spcAft>
                <a:spcPts val="600"/>
              </a:spcAft>
            </a:pPr>
            <a:r>
              <a:rPr lang="en-US" sz="1200" dirty="0">
                <a:solidFill>
                  <a:schemeClr val="tx2"/>
                </a:solidFill>
              </a:rPr>
              <a:t>A </a:t>
            </a:r>
            <a:r>
              <a:rPr lang="en-US" sz="1200" b="1" dirty="0">
                <a:solidFill>
                  <a:schemeClr val="tx2"/>
                </a:solidFill>
              </a:rPr>
              <a:t>Linker Script File</a:t>
            </a:r>
            <a:r>
              <a:rPr lang="en-US" sz="1200" dirty="0">
                <a:solidFill>
                  <a:schemeClr val="tx2"/>
                </a:solidFill>
              </a:rPr>
              <a:t> can be provided using the `linker:` node.</a:t>
            </a:r>
          </a:p>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dirty="0">
                <a:solidFill>
                  <a:schemeClr val="tx2"/>
                </a:solidFill>
              </a:rPr>
              <a:t>If no </a:t>
            </a:r>
            <a:r>
              <a:rPr lang="en-US" sz="1200" b="1" dirty="0">
                <a:solidFill>
                  <a:schemeClr val="tx2"/>
                </a:solidFill>
              </a:rPr>
              <a:t>Linker Script File</a:t>
            </a:r>
            <a:r>
              <a:rPr lang="en-US" sz="1200" dirty="0">
                <a:solidFill>
                  <a:schemeClr val="tx2"/>
                </a:solidFill>
              </a:rPr>
              <a:t> is provided, </a:t>
            </a:r>
            <a:r>
              <a:rPr lang="en-US" sz="1200" b="1" dirty="0">
                <a:solidFill>
                  <a:schemeClr val="tx2"/>
                </a:solidFill>
              </a:rPr>
              <a:t>compiler specific script file templates</a:t>
            </a:r>
            <a:r>
              <a:rPr lang="en-US" sz="1200" dirty="0">
                <a:solidFill>
                  <a:schemeClr val="tx2"/>
                </a:solidFill>
              </a:rPr>
              <a:t> from </a:t>
            </a:r>
            <a:r>
              <a:rPr lang="en-US" sz="1200" b="1" dirty="0">
                <a:solidFill>
                  <a:schemeClr val="tx2"/>
                </a:solidFill>
              </a:rPr>
              <a:t>.\</a:t>
            </a:r>
            <a:r>
              <a:rPr lang="en-US" sz="1200" b="1" dirty="0" err="1">
                <a:solidFill>
                  <a:schemeClr val="tx2"/>
                </a:solidFill>
              </a:rPr>
              <a:t>ect</a:t>
            </a:r>
            <a:r>
              <a:rPr lang="en-US" sz="1200" dirty="0">
                <a:solidFill>
                  <a:schemeClr val="tx2"/>
                </a:solidFill>
              </a:rPr>
              <a:t> directory of CMSIS-Toolbox are used.</a:t>
            </a:r>
            <a:endParaRPr lang="en-US" sz="1200" kern="1200" dirty="0">
              <a:solidFill>
                <a:schemeClr val="tx2"/>
              </a:solidFill>
              <a:latin typeface="+mn-lt"/>
              <a:ea typeface="+mn-ea"/>
              <a:cs typeface="+mn-cs"/>
            </a:endParaRPr>
          </a:p>
        </p:txBody>
      </p:sp>
      <p:cxnSp>
        <p:nvCxnSpPr>
          <p:cNvPr id="4" name="Straight Arrow Connector 3">
            <a:extLst>
              <a:ext uri="{FF2B5EF4-FFF2-40B4-BE49-F238E27FC236}">
                <a16:creationId xmlns:a16="http://schemas.microsoft.com/office/drawing/2014/main" id="{8B1FE01B-391C-E01A-40DC-D31263CB0315}"/>
              </a:ext>
            </a:extLst>
          </p:cNvPr>
          <p:cNvCxnSpPr>
            <a:cxnSpLocks/>
          </p:cNvCxnSpPr>
          <p:nvPr/>
        </p:nvCxnSpPr>
        <p:spPr>
          <a:xfrm>
            <a:off x="4324349" y="3093004"/>
            <a:ext cx="340046" cy="274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2" name="Flowchart: Document 21">
            <a:extLst>
              <a:ext uri="{FF2B5EF4-FFF2-40B4-BE49-F238E27FC236}">
                <a16:creationId xmlns:a16="http://schemas.microsoft.com/office/drawing/2014/main" id="{D65D5CB0-09C8-062E-4206-1CF43BB42330}"/>
              </a:ext>
            </a:extLst>
          </p:cNvPr>
          <p:cNvSpPr/>
          <p:nvPr/>
        </p:nvSpPr>
        <p:spPr>
          <a:xfrm>
            <a:off x="2998201" y="2655485"/>
            <a:ext cx="1333416" cy="884321"/>
          </a:xfrm>
          <a:prstGeom prst="flowChartDocument">
            <a:avLst/>
          </a:prstGeom>
          <a:solidFill>
            <a:srgbClr val="7030A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b="1" dirty="0">
                <a:solidFill>
                  <a:srgbClr val="FFFFFF"/>
                </a:solidFill>
                <a:latin typeface="Calibri"/>
              </a:rPr>
              <a:t>&lt;regions&gt;.h</a:t>
            </a:r>
            <a:r>
              <a:rPr kumimoji="0" lang="en-US" sz="1200" b="1" i="0" u="none" strike="noStrike" kern="1200" cap="none" spc="0" normalizeH="0" baseline="0" noProof="0" dirty="0">
                <a:ln>
                  <a:noFill/>
                </a:ln>
                <a:solidFill>
                  <a:srgbClr val="FFFFFF"/>
                </a:solidFill>
                <a:effectLst/>
                <a:uLnTx/>
                <a:uFillTx/>
                <a:latin typeface="Calibri"/>
                <a:ea typeface="+mn-ea"/>
                <a:cs typeface="+mn-cs"/>
              </a:rPr>
              <a:t> </a:t>
            </a:r>
            <a:br>
              <a:rPr kumimoji="0" lang="en-US" sz="1200" b="1" i="0" u="none" strike="noStrike" kern="1200" cap="none" spc="0" normalizeH="0" baseline="0" noProof="0" dirty="0">
                <a:ln>
                  <a:noFill/>
                </a:ln>
                <a:solidFill>
                  <a:srgbClr val="FFFFFF"/>
                </a:solidFill>
                <a:effectLst/>
                <a:uLnTx/>
                <a:uFillTx/>
                <a:latin typeface="Calibri"/>
                <a:ea typeface="+mn-ea"/>
                <a:cs typeface="+mn-cs"/>
              </a:rPr>
            </a:br>
            <a:r>
              <a:rPr kumimoji="0" lang="en-US" sz="1100" b="0" i="0" u="none" strike="noStrike" kern="1200" cap="none" spc="0" normalizeH="0" baseline="0" noProof="0" dirty="0">
                <a:ln>
                  <a:noFill/>
                </a:ln>
                <a:solidFill>
                  <a:srgbClr val="FFFFFF"/>
                </a:solidFill>
                <a:effectLst/>
                <a:uLnTx/>
                <a:uFillTx/>
                <a:latin typeface="Calibri"/>
                <a:ea typeface="+mn-ea"/>
                <a:cs typeface="+mn-cs"/>
              </a:rPr>
              <a:t>Device (and Board)</a:t>
            </a:r>
            <a:br>
              <a:rPr kumimoji="0" lang="en-US" sz="1100" b="0" i="0" u="none" strike="noStrike" kern="1200" cap="none" spc="0" normalizeH="0" baseline="0" noProof="0" dirty="0">
                <a:ln>
                  <a:noFill/>
                </a:ln>
                <a:solidFill>
                  <a:srgbClr val="FFFFFF"/>
                </a:solidFill>
                <a:effectLst/>
                <a:uLnTx/>
                <a:uFillTx/>
                <a:latin typeface="Calibri"/>
                <a:ea typeface="+mn-ea"/>
                <a:cs typeface="+mn-cs"/>
              </a:rPr>
            </a:br>
            <a:r>
              <a:rPr kumimoji="0" lang="en-US" sz="1100" b="0" i="0" u="none" strike="noStrike" kern="1200" cap="none" spc="0" normalizeH="0" baseline="0" noProof="0" dirty="0">
                <a:ln>
                  <a:noFill/>
                </a:ln>
                <a:solidFill>
                  <a:srgbClr val="FFFFFF"/>
                </a:solidFill>
                <a:effectLst/>
                <a:uLnTx/>
                <a:uFillTx/>
                <a:latin typeface="Calibri"/>
                <a:ea typeface="+mn-ea"/>
                <a:cs typeface="+mn-cs"/>
              </a:rPr>
              <a:t>Memory Definitions</a:t>
            </a:r>
            <a:endParaRPr lang="en-US" sz="1100" dirty="0">
              <a:solidFill>
                <a:srgbClr val="FFFFFF"/>
              </a:solidFill>
              <a:latin typeface="Calibri"/>
            </a:endParaRPr>
          </a:p>
        </p:txBody>
      </p:sp>
    </p:spTree>
    <p:extLst>
      <p:ext uri="{BB962C8B-B14F-4D97-AF65-F5344CB8AC3E}">
        <p14:creationId xmlns:p14="http://schemas.microsoft.com/office/powerpoint/2010/main" val="17409761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0B08567-B8E6-CD03-A712-283B6BED095C}"/>
              </a:ext>
            </a:extLst>
          </p:cNvPr>
          <p:cNvSpPr/>
          <p:nvPr/>
        </p:nvSpPr>
        <p:spPr>
          <a:xfrm>
            <a:off x="5361140" y="1158658"/>
            <a:ext cx="3977411" cy="2768253"/>
          </a:xfrm>
          <a:prstGeom prst="rect">
            <a:avLst/>
          </a:prstGeom>
          <a:solidFill>
            <a:srgbClr val="0091BD">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2CA143BC-8541-DCE0-E095-BFFE5926D485}"/>
              </a:ext>
            </a:extLst>
          </p:cNvPr>
          <p:cNvSpPr/>
          <p:nvPr/>
        </p:nvSpPr>
        <p:spPr>
          <a:xfrm>
            <a:off x="460068" y="4019957"/>
            <a:ext cx="4744496" cy="1151084"/>
          </a:xfrm>
          <a:prstGeom prst="rect">
            <a:avLst/>
          </a:prstGeom>
          <a:solidFill>
            <a:srgbClr val="0091BD">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722964-CE8F-0F0D-18F3-3DACB5D1E81A}"/>
              </a:ext>
            </a:extLst>
          </p:cNvPr>
          <p:cNvSpPr>
            <a:spLocks noGrp="1"/>
          </p:cNvSpPr>
          <p:nvPr>
            <p:ph type="title"/>
          </p:nvPr>
        </p:nvSpPr>
        <p:spPr/>
        <p:txBody>
          <a:bodyPr/>
          <a:lstStyle/>
          <a:p>
            <a:r>
              <a:rPr lang="en-US" dirty="0"/>
              <a:t>Linker Script Management for Multi-Project Applications</a:t>
            </a:r>
          </a:p>
        </p:txBody>
      </p:sp>
      <p:sp>
        <p:nvSpPr>
          <p:cNvPr id="30" name="Flowchart: Document 29">
            <a:extLst>
              <a:ext uri="{FF2B5EF4-FFF2-40B4-BE49-F238E27FC236}">
                <a16:creationId xmlns:a16="http://schemas.microsoft.com/office/drawing/2014/main" id="{680DA59D-4A81-7D47-2085-D8DB1D856722}"/>
              </a:ext>
            </a:extLst>
          </p:cNvPr>
          <p:cNvSpPr/>
          <p:nvPr/>
        </p:nvSpPr>
        <p:spPr>
          <a:xfrm>
            <a:off x="5591963" y="4109396"/>
            <a:ext cx="1333416" cy="873311"/>
          </a:xfrm>
          <a:prstGeom prst="flowChartDocumen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a:ea typeface="+mn-ea"/>
                <a:cs typeface="+mn-cs"/>
              </a:rPr>
              <a:t>Template</a:t>
            </a:r>
            <a:br>
              <a:rPr kumimoji="0" lang="en-US" sz="1200" b="1" i="0" u="none" strike="noStrike" kern="1200" cap="none" spc="0" normalizeH="0" baseline="0" noProof="0" dirty="0">
                <a:ln>
                  <a:noFill/>
                </a:ln>
                <a:solidFill>
                  <a:srgbClr val="FFFFFF"/>
                </a:solidFill>
                <a:effectLst/>
                <a:uLnTx/>
                <a:uFillTx/>
                <a:latin typeface="Calibri"/>
                <a:ea typeface="+mn-ea"/>
                <a:cs typeface="+mn-cs"/>
              </a:rPr>
            </a:br>
            <a:r>
              <a:rPr kumimoji="0" lang="en-US" sz="1200" b="1" i="0" u="none" strike="noStrike" kern="1200" cap="none" spc="0" normalizeH="0" baseline="0" noProof="0" dirty="0">
                <a:ln>
                  <a:noFill/>
                </a:ln>
                <a:solidFill>
                  <a:srgbClr val="FFFFFF"/>
                </a:solidFill>
                <a:effectLst/>
                <a:uLnTx/>
                <a:uFillTx/>
                <a:latin typeface="Calibri"/>
                <a:ea typeface="+mn-ea"/>
                <a:cs typeface="+mn-cs"/>
              </a:rPr>
              <a:t>Linker Script </a:t>
            </a:r>
            <a:endParaRPr kumimoji="0" lang="en-GB" sz="1000" b="1" i="0" u="none" strike="noStrike" kern="1200" cap="none" spc="0" normalizeH="0" baseline="0" noProof="0" dirty="0">
              <a:ln>
                <a:noFill/>
              </a:ln>
              <a:solidFill>
                <a:srgbClr val="FFFFFF"/>
              </a:solidFill>
              <a:effectLst/>
              <a:uLnTx/>
              <a:uFillTx/>
              <a:latin typeface="Calibri"/>
              <a:ea typeface="+mn-ea"/>
              <a:cs typeface="+mn-cs"/>
            </a:endParaRPr>
          </a:p>
        </p:txBody>
      </p:sp>
      <p:sp>
        <p:nvSpPr>
          <p:cNvPr id="33" name="Flowchart: Document 32">
            <a:extLst>
              <a:ext uri="{FF2B5EF4-FFF2-40B4-BE49-F238E27FC236}">
                <a16:creationId xmlns:a16="http://schemas.microsoft.com/office/drawing/2014/main" id="{6AB1847D-DC39-C2FC-ACB8-7546D31C5F51}"/>
              </a:ext>
            </a:extLst>
          </p:cNvPr>
          <p:cNvSpPr/>
          <p:nvPr/>
        </p:nvSpPr>
        <p:spPr>
          <a:xfrm>
            <a:off x="7765354" y="1673449"/>
            <a:ext cx="1340986" cy="862526"/>
          </a:xfrm>
          <a:prstGeom prst="flowChartDocument">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br>
              <a:rPr lang="en-US" sz="1200" b="1" dirty="0">
                <a:solidFill>
                  <a:srgbClr val="FFFFFF"/>
                </a:solidFill>
                <a:latin typeface="Calibri"/>
              </a:rPr>
            </a:br>
            <a:r>
              <a:rPr lang="en-US" sz="1200" b="1" dirty="0">
                <a:solidFill>
                  <a:srgbClr val="FFFFFF"/>
                </a:solidFill>
                <a:latin typeface="Calibri"/>
              </a:rPr>
              <a:t>Final</a:t>
            </a:r>
            <a:br>
              <a:rPr lang="en-US" sz="1200" b="1" dirty="0">
                <a:solidFill>
                  <a:srgbClr val="FFFFFF"/>
                </a:solidFill>
                <a:latin typeface="Calibri"/>
              </a:rPr>
            </a:br>
            <a:r>
              <a:rPr lang="en-US" sz="1200" b="1" dirty="0">
                <a:solidFill>
                  <a:srgbClr val="FFFFFF"/>
                </a:solidFill>
                <a:latin typeface="Calibri"/>
              </a:rPr>
              <a:t>Linker Script</a:t>
            </a:r>
            <a:br>
              <a:rPr lang="en-US" sz="1200" b="1" dirty="0">
                <a:solidFill>
                  <a:srgbClr val="FFFFFF"/>
                </a:solidFill>
                <a:latin typeface="Calibri"/>
              </a:rPr>
            </a:br>
            <a:r>
              <a:rPr lang="en-US" sz="1200" b="1" dirty="0">
                <a:solidFill>
                  <a:srgbClr val="FFFFFF"/>
                </a:solidFill>
                <a:latin typeface="Calibri"/>
              </a:rPr>
              <a:t>for Project A</a:t>
            </a:r>
            <a:br>
              <a:rPr lang="en-US" sz="1200" b="1" dirty="0">
                <a:solidFill>
                  <a:srgbClr val="FFFFFF"/>
                </a:solidFill>
                <a:latin typeface="Calibri"/>
              </a:rPr>
            </a:br>
            <a:endParaRPr lang="en-US" sz="1100" dirty="0">
              <a:solidFill>
                <a:srgbClr val="FFFFFF"/>
              </a:solidFill>
              <a:latin typeface="Calibri"/>
            </a:endParaRPr>
          </a:p>
        </p:txBody>
      </p:sp>
      <p:sp>
        <p:nvSpPr>
          <p:cNvPr id="38" name="TextBox 37">
            <a:extLst>
              <a:ext uri="{FF2B5EF4-FFF2-40B4-BE49-F238E27FC236}">
                <a16:creationId xmlns:a16="http://schemas.microsoft.com/office/drawing/2014/main" id="{6F9E6868-CA06-CBDB-87B1-29216E1BC75D}"/>
              </a:ext>
            </a:extLst>
          </p:cNvPr>
          <p:cNvSpPr txBox="1"/>
          <p:nvPr/>
        </p:nvSpPr>
        <p:spPr>
          <a:xfrm>
            <a:off x="603028" y="4107515"/>
            <a:ext cx="2841105" cy="907941"/>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b="1" dirty="0">
                <a:solidFill>
                  <a:schemeClr val="tx2"/>
                </a:solidFill>
              </a:rPr>
              <a:t>&lt;solution-name&gt;+&lt;target-name&gt;.</a:t>
            </a:r>
            <a:r>
              <a:rPr lang="en-US" sz="1200" b="1" dirty="0" err="1">
                <a:solidFill>
                  <a:schemeClr val="tx2"/>
                </a:solidFill>
              </a:rPr>
              <a:t>regions.h</a:t>
            </a:r>
            <a:r>
              <a:rPr lang="en-US" sz="1200" dirty="0">
                <a:solidFill>
                  <a:schemeClr val="tx2"/>
                </a:solidFill>
              </a:rPr>
              <a:t> defines the memory layout for a complete solution. The file is in the folder </a:t>
            </a:r>
            <a:r>
              <a:rPr lang="en-US" sz="1200" b="1" dirty="0">
                <a:solidFill>
                  <a:schemeClr val="tx2"/>
                </a:solidFill>
              </a:rPr>
              <a:t>.</a:t>
            </a:r>
            <a:r>
              <a:rPr lang="en-US" sz="1200" b="1" dirty="0" err="1">
                <a:solidFill>
                  <a:schemeClr val="tx2"/>
                </a:solidFill>
              </a:rPr>
              <a:t>cmsis</a:t>
            </a:r>
            <a:endParaRPr lang="en-US" sz="1200" b="1" dirty="0">
              <a:solidFill>
                <a:schemeClr val="tx2"/>
              </a:solidFill>
            </a:endParaRPr>
          </a:p>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dirty="0">
                <a:solidFill>
                  <a:schemeClr val="tx2"/>
                </a:solidFill>
              </a:rPr>
              <a:t>This is a multi-project application specified in one </a:t>
            </a:r>
            <a:r>
              <a:rPr lang="en-US" sz="1200" b="1" dirty="0">
                <a:solidFill>
                  <a:schemeClr val="tx2"/>
                </a:solidFill>
              </a:rPr>
              <a:t>*.</a:t>
            </a:r>
            <a:r>
              <a:rPr lang="en-US" sz="1200" b="1" dirty="0" err="1">
                <a:solidFill>
                  <a:schemeClr val="tx2"/>
                </a:solidFill>
              </a:rPr>
              <a:t>csolution.yml</a:t>
            </a:r>
            <a:r>
              <a:rPr lang="en-US" sz="1200" dirty="0">
                <a:solidFill>
                  <a:schemeClr val="tx2"/>
                </a:solidFill>
              </a:rPr>
              <a:t> file.</a:t>
            </a:r>
          </a:p>
        </p:txBody>
      </p:sp>
      <p:sp>
        <p:nvSpPr>
          <p:cNvPr id="40" name="TextBox 39">
            <a:extLst>
              <a:ext uri="{FF2B5EF4-FFF2-40B4-BE49-F238E27FC236}">
                <a16:creationId xmlns:a16="http://schemas.microsoft.com/office/drawing/2014/main" id="{00523719-9ACA-9C05-94F0-52BDFABE951A}"/>
              </a:ext>
            </a:extLst>
          </p:cNvPr>
          <p:cNvSpPr txBox="1"/>
          <p:nvPr/>
        </p:nvSpPr>
        <p:spPr>
          <a:xfrm>
            <a:off x="5591963" y="1229189"/>
            <a:ext cx="3914946" cy="332399"/>
          </a:xfrm>
          <a:prstGeom prst="rect">
            <a:avLst/>
          </a:prstGeom>
          <a:noFill/>
        </p:spPr>
        <p:txBody>
          <a:bodyPr wrap="square" lIns="0" tIns="0" rIns="0" bIns="0" rtlCol="0">
            <a:spAutoFit/>
          </a:bodyPr>
          <a:lstStyle/>
          <a:p>
            <a:pPr>
              <a:lnSpc>
                <a:spcPct val="90000"/>
              </a:lnSpc>
              <a:spcAft>
                <a:spcPts val="600"/>
              </a:spcAft>
            </a:pPr>
            <a:r>
              <a:rPr lang="en-US" sz="1200" kern="1200" dirty="0">
                <a:solidFill>
                  <a:schemeClr val="tx2"/>
                </a:solidFill>
                <a:latin typeface="+mn-lt"/>
                <a:ea typeface="+mn-ea"/>
                <a:cs typeface="+mn-cs"/>
              </a:rPr>
              <a:t>The template </a:t>
            </a:r>
            <a:r>
              <a:rPr lang="en-US" sz="1200" dirty="0">
                <a:solidFill>
                  <a:schemeClr val="tx2"/>
                </a:solidFill>
              </a:rPr>
              <a:t>l</a:t>
            </a:r>
            <a:r>
              <a:rPr lang="en-US" sz="1200" kern="1200" dirty="0">
                <a:solidFill>
                  <a:schemeClr val="tx2"/>
                </a:solidFill>
                <a:latin typeface="+mn-lt"/>
                <a:ea typeface="+mn-ea"/>
                <a:cs typeface="+mn-cs"/>
              </a:rPr>
              <a:t>inker scripts are pre-processed to </a:t>
            </a:r>
            <a:br>
              <a:rPr lang="en-US" sz="1200" dirty="0">
                <a:solidFill>
                  <a:schemeClr val="tx2"/>
                </a:solidFill>
              </a:rPr>
            </a:br>
            <a:r>
              <a:rPr lang="en-US" sz="1200" dirty="0">
                <a:solidFill>
                  <a:schemeClr val="tx2"/>
                </a:solidFill>
              </a:rPr>
              <a:t>represent the final memory layout for each project.</a:t>
            </a:r>
            <a:endParaRPr lang="en-US" sz="1200" kern="1200" dirty="0">
              <a:solidFill>
                <a:schemeClr val="tx2"/>
              </a:solidFill>
              <a:latin typeface="+mn-lt"/>
              <a:ea typeface="+mn-ea"/>
              <a:cs typeface="+mn-cs"/>
            </a:endParaRPr>
          </a:p>
        </p:txBody>
      </p:sp>
      <p:sp>
        <p:nvSpPr>
          <p:cNvPr id="22" name="Flowchart: Document 21">
            <a:extLst>
              <a:ext uri="{FF2B5EF4-FFF2-40B4-BE49-F238E27FC236}">
                <a16:creationId xmlns:a16="http://schemas.microsoft.com/office/drawing/2014/main" id="{D65D5CB0-09C8-062E-4206-1CF43BB42330}"/>
              </a:ext>
            </a:extLst>
          </p:cNvPr>
          <p:cNvSpPr/>
          <p:nvPr/>
        </p:nvSpPr>
        <p:spPr>
          <a:xfrm>
            <a:off x="3602709" y="4109396"/>
            <a:ext cx="1443279" cy="933764"/>
          </a:xfrm>
          <a:prstGeom prst="flowChartDocument">
            <a:avLst/>
          </a:prstGeom>
          <a:solidFill>
            <a:srgbClr val="7030A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eaLnBrk="0" fontAlgn="base" hangingPunct="0">
              <a:spcBef>
                <a:spcPct val="0"/>
              </a:spcBef>
              <a:spcAft>
                <a:spcPct val="0"/>
              </a:spcAft>
              <a:defRPr/>
            </a:pPr>
            <a:r>
              <a:rPr lang="en-US" sz="1200" b="1" dirty="0">
                <a:solidFill>
                  <a:srgbClr val="FFFFFF"/>
                </a:solidFill>
                <a:latin typeface="Calibri"/>
              </a:rPr>
              <a:t>&lt;solution-name&gt;+</a:t>
            </a:r>
            <a:br>
              <a:rPr lang="en-US" sz="1200" b="1" dirty="0">
                <a:solidFill>
                  <a:srgbClr val="FFFFFF"/>
                </a:solidFill>
                <a:latin typeface="Calibri"/>
              </a:rPr>
            </a:br>
            <a:r>
              <a:rPr lang="en-US" sz="1200" b="1" dirty="0">
                <a:solidFill>
                  <a:srgbClr val="FFFFFF"/>
                </a:solidFill>
                <a:latin typeface="Calibri"/>
              </a:rPr>
              <a:t>&lt;target&gt;.</a:t>
            </a:r>
            <a:r>
              <a:rPr lang="en-US" sz="1200" b="1" dirty="0" err="1">
                <a:solidFill>
                  <a:srgbClr val="FFFFFF"/>
                </a:solidFill>
                <a:latin typeface="Calibri"/>
              </a:rPr>
              <a:t>regions.h</a:t>
            </a:r>
            <a:endParaRPr lang="en-US" sz="1200" b="1" dirty="0">
              <a:solidFill>
                <a:srgbClr val="FFFFFF"/>
              </a:solidFill>
              <a:latin typeface="Calibri"/>
            </a:endParaRPr>
          </a:p>
          <a:p>
            <a:pPr marL="0" marR="0" lvl="0" indent="0" algn="ctr" defTabSz="914400" rtl="0" eaLnBrk="0" fontAlgn="base" latinLnBrk="0" hangingPunct="0">
              <a:lnSpc>
                <a:spcPct val="100000"/>
              </a:lnSpc>
              <a:spcBef>
                <a:spcPct val="0"/>
              </a:spcBef>
              <a:spcAft>
                <a:spcPct val="0"/>
              </a:spcAft>
              <a:buClrTx/>
              <a:buSzTx/>
              <a:buFontTx/>
              <a:buNone/>
              <a:tabLst/>
              <a:defRPr/>
            </a:pPr>
            <a:r>
              <a:rPr lang="en-US" sz="1100" dirty="0">
                <a:solidFill>
                  <a:srgbClr val="FFFFFF"/>
                </a:solidFill>
                <a:latin typeface="Calibri"/>
              </a:rPr>
              <a:t>Global M</a:t>
            </a:r>
            <a:r>
              <a:rPr kumimoji="0" lang="en-US" sz="1100" b="0" i="0" u="none" strike="noStrike" kern="1200" cap="none" spc="0" normalizeH="0" baseline="0" noProof="0" dirty="0" err="1">
                <a:ln>
                  <a:noFill/>
                </a:ln>
                <a:solidFill>
                  <a:srgbClr val="FFFFFF"/>
                </a:solidFill>
                <a:effectLst/>
                <a:uLnTx/>
                <a:uFillTx/>
                <a:latin typeface="Calibri"/>
                <a:ea typeface="+mn-ea"/>
                <a:cs typeface="+mn-cs"/>
              </a:rPr>
              <a:t>emory</a:t>
            </a:r>
            <a:r>
              <a:rPr kumimoji="0" lang="en-US" sz="1100" b="0" i="0" u="none" strike="noStrike" kern="1200" cap="none" spc="0" normalizeH="0" baseline="0" noProof="0" dirty="0">
                <a:ln>
                  <a:noFill/>
                </a:ln>
                <a:solidFill>
                  <a:srgbClr val="FFFFFF"/>
                </a:solidFill>
                <a:effectLst/>
                <a:uLnTx/>
                <a:uFillTx/>
                <a:latin typeface="Calibri"/>
                <a:ea typeface="+mn-ea"/>
                <a:cs typeface="+mn-cs"/>
              </a:rPr>
              <a:t> Definitions</a:t>
            </a:r>
            <a:endParaRPr lang="en-US" sz="1100" dirty="0">
              <a:solidFill>
                <a:srgbClr val="FFFFFF"/>
              </a:solidFill>
              <a:latin typeface="Calibri"/>
            </a:endParaRPr>
          </a:p>
        </p:txBody>
      </p:sp>
      <p:sp>
        <p:nvSpPr>
          <p:cNvPr id="3" name="Rectangle 2">
            <a:extLst>
              <a:ext uri="{FF2B5EF4-FFF2-40B4-BE49-F238E27FC236}">
                <a16:creationId xmlns:a16="http://schemas.microsoft.com/office/drawing/2014/main" id="{428F0900-AB83-D4A2-30C4-D4286CFCD68C}"/>
              </a:ext>
            </a:extLst>
          </p:cNvPr>
          <p:cNvSpPr/>
          <p:nvPr/>
        </p:nvSpPr>
        <p:spPr>
          <a:xfrm>
            <a:off x="5361140" y="4019957"/>
            <a:ext cx="3977411" cy="1151084"/>
          </a:xfrm>
          <a:prstGeom prst="rect">
            <a:avLst/>
          </a:prstGeom>
          <a:solidFill>
            <a:srgbClr val="0091BD">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lowchart: Document 4">
            <a:extLst>
              <a:ext uri="{FF2B5EF4-FFF2-40B4-BE49-F238E27FC236}">
                <a16:creationId xmlns:a16="http://schemas.microsoft.com/office/drawing/2014/main" id="{4E0F70CD-4638-1E5F-EA36-44414FEF735E}"/>
              </a:ext>
            </a:extLst>
          </p:cNvPr>
          <p:cNvSpPr/>
          <p:nvPr/>
        </p:nvSpPr>
        <p:spPr>
          <a:xfrm>
            <a:off x="7762352" y="2810302"/>
            <a:ext cx="1340986" cy="862526"/>
          </a:xfrm>
          <a:prstGeom prst="flowChartDocument">
            <a:avLst/>
          </a:prstGeom>
          <a:solidFill>
            <a:schemeClr val="accent3">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br>
              <a:rPr lang="en-US" sz="1200" b="1" dirty="0">
                <a:solidFill>
                  <a:srgbClr val="FFFFFF"/>
                </a:solidFill>
                <a:latin typeface="Calibri"/>
              </a:rPr>
            </a:br>
            <a:r>
              <a:rPr lang="en-US" sz="1200" b="1" dirty="0">
                <a:solidFill>
                  <a:srgbClr val="FFFFFF"/>
                </a:solidFill>
                <a:latin typeface="Calibri"/>
              </a:rPr>
              <a:t>Final </a:t>
            </a:r>
            <a:br>
              <a:rPr lang="en-US" sz="1200" b="1" dirty="0">
                <a:solidFill>
                  <a:srgbClr val="FFFFFF"/>
                </a:solidFill>
                <a:latin typeface="Calibri"/>
              </a:rPr>
            </a:br>
            <a:r>
              <a:rPr lang="en-US" sz="1200" b="1" dirty="0">
                <a:solidFill>
                  <a:srgbClr val="FFFFFF"/>
                </a:solidFill>
                <a:latin typeface="Calibri"/>
              </a:rPr>
              <a:t>Linker Script</a:t>
            </a:r>
            <a:br>
              <a:rPr lang="en-US" sz="1200" b="1" dirty="0">
                <a:solidFill>
                  <a:srgbClr val="FFFFFF"/>
                </a:solidFill>
                <a:latin typeface="Calibri"/>
              </a:rPr>
            </a:br>
            <a:r>
              <a:rPr lang="en-US" sz="1200" b="1" dirty="0">
                <a:solidFill>
                  <a:srgbClr val="FFFFFF"/>
                </a:solidFill>
                <a:latin typeface="Calibri"/>
              </a:rPr>
              <a:t>for Project B</a:t>
            </a:r>
            <a:br>
              <a:rPr lang="en-US" sz="1200" b="1" dirty="0">
                <a:solidFill>
                  <a:srgbClr val="FFFFFF"/>
                </a:solidFill>
                <a:latin typeface="Calibri"/>
              </a:rPr>
            </a:br>
            <a:endParaRPr lang="en-US" sz="1100" dirty="0">
              <a:solidFill>
                <a:srgbClr val="FFFFFF"/>
              </a:solidFill>
              <a:latin typeface="Calibri"/>
            </a:endParaRPr>
          </a:p>
        </p:txBody>
      </p:sp>
      <p:sp>
        <p:nvSpPr>
          <p:cNvPr id="6" name="TextBox 5">
            <a:extLst>
              <a:ext uri="{FF2B5EF4-FFF2-40B4-BE49-F238E27FC236}">
                <a16:creationId xmlns:a16="http://schemas.microsoft.com/office/drawing/2014/main" id="{C925208C-1C2D-2483-516B-8FAE140AD8D2}"/>
              </a:ext>
            </a:extLst>
          </p:cNvPr>
          <p:cNvSpPr txBox="1"/>
          <p:nvPr/>
        </p:nvSpPr>
        <p:spPr>
          <a:xfrm>
            <a:off x="7081955" y="4209162"/>
            <a:ext cx="2174381" cy="83099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dirty="0">
                <a:solidFill>
                  <a:schemeClr val="tx2"/>
                </a:solidFill>
              </a:rPr>
              <a:t>A toolchain specific linker script</a:t>
            </a:r>
            <a:br>
              <a:rPr lang="en-US" sz="1200" dirty="0">
                <a:solidFill>
                  <a:schemeClr val="tx2"/>
                </a:solidFill>
              </a:rPr>
            </a:br>
            <a:r>
              <a:rPr lang="en-US" sz="1200" dirty="0">
                <a:solidFill>
                  <a:schemeClr val="tx2"/>
                </a:solidFill>
              </a:rPr>
              <a:t>template is initially copied into</a:t>
            </a:r>
            <a:br>
              <a:rPr lang="en-US" sz="1200" dirty="0">
                <a:solidFill>
                  <a:schemeClr val="tx2"/>
                </a:solidFill>
              </a:rPr>
            </a:br>
            <a:r>
              <a:rPr lang="en-US" sz="1200" dirty="0">
                <a:solidFill>
                  <a:schemeClr val="tx2"/>
                </a:solidFill>
              </a:rPr>
              <a:t>the project .\RTE directory.</a:t>
            </a:r>
            <a:br>
              <a:rPr lang="en-US" sz="1200" dirty="0">
                <a:solidFill>
                  <a:schemeClr val="tx2"/>
                </a:solidFill>
              </a:rPr>
            </a:br>
            <a:r>
              <a:rPr lang="en-US" sz="1200" dirty="0">
                <a:solidFill>
                  <a:schemeClr val="tx2"/>
                </a:solidFill>
              </a:rPr>
              <a:t>The copy allows project-specific customization.</a:t>
            </a:r>
          </a:p>
        </p:txBody>
      </p:sp>
      <p:sp>
        <p:nvSpPr>
          <p:cNvPr id="11" name="Flowchart: Document 10">
            <a:extLst>
              <a:ext uri="{FF2B5EF4-FFF2-40B4-BE49-F238E27FC236}">
                <a16:creationId xmlns:a16="http://schemas.microsoft.com/office/drawing/2014/main" id="{6E1D2C66-85C8-A3CF-C4E4-C19E6A53D891}"/>
              </a:ext>
            </a:extLst>
          </p:cNvPr>
          <p:cNvSpPr/>
          <p:nvPr/>
        </p:nvSpPr>
        <p:spPr>
          <a:xfrm>
            <a:off x="5591963" y="1662469"/>
            <a:ext cx="1333416" cy="873311"/>
          </a:xfrm>
          <a:prstGeom prst="flowChartDocument">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a:ea typeface="+mn-ea"/>
                <a:cs typeface="+mn-cs"/>
              </a:rPr>
              <a:t>Template</a:t>
            </a:r>
            <a:br>
              <a:rPr kumimoji="0" lang="en-US" sz="1200" b="1" i="0" u="none" strike="noStrike" kern="1200" cap="none" spc="0" normalizeH="0" baseline="0" noProof="0" dirty="0">
                <a:ln>
                  <a:noFill/>
                </a:ln>
                <a:solidFill>
                  <a:srgbClr val="FFFFFF"/>
                </a:solidFill>
                <a:effectLst/>
                <a:uLnTx/>
                <a:uFillTx/>
                <a:latin typeface="Calibri"/>
                <a:ea typeface="+mn-ea"/>
                <a:cs typeface="+mn-cs"/>
              </a:rPr>
            </a:br>
            <a:r>
              <a:rPr kumimoji="0" lang="en-US" sz="1200" b="1" i="0" u="none" strike="noStrike" kern="1200" cap="none" spc="0" normalizeH="0" baseline="0" noProof="0" dirty="0">
                <a:ln>
                  <a:noFill/>
                </a:ln>
                <a:solidFill>
                  <a:srgbClr val="FFFFFF"/>
                </a:solidFill>
                <a:effectLst/>
                <a:uLnTx/>
                <a:uFillTx/>
                <a:latin typeface="Calibri"/>
                <a:ea typeface="+mn-ea"/>
                <a:cs typeface="+mn-cs"/>
              </a:rPr>
              <a:t>Linker Script </a:t>
            </a:r>
            <a:br>
              <a:rPr kumimoji="0" lang="en-US" sz="1200" b="1" i="0" u="none" strike="noStrike" kern="1200" cap="none" spc="0" normalizeH="0" baseline="0" noProof="0" dirty="0">
                <a:ln>
                  <a:noFill/>
                </a:ln>
                <a:solidFill>
                  <a:srgbClr val="FFFFFF"/>
                </a:solidFill>
                <a:effectLst/>
                <a:uLnTx/>
                <a:uFillTx/>
                <a:latin typeface="Calibri"/>
                <a:ea typeface="+mn-ea"/>
                <a:cs typeface="+mn-cs"/>
              </a:rPr>
            </a:br>
            <a:r>
              <a:rPr lang="en-US" sz="1200" b="1" dirty="0">
                <a:solidFill>
                  <a:srgbClr val="FFFFFF"/>
                </a:solidFill>
                <a:latin typeface="Calibri"/>
              </a:rPr>
              <a:t>for Project A</a:t>
            </a:r>
            <a:endParaRPr kumimoji="0" lang="en-GB" sz="1000" b="1" i="0" u="none" strike="noStrike" kern="1200" cap="none" spc="0" normalizeH="0" baseline="0" noProof="0" dirty="0">
              <a:ln>
                <a:noFill/>
              </a:ln>
              <a:solidFill>
                <a:srgbClr val="FFFFFF"/>
              </a:solidFill>
              <a:effectLst/>
              <a:uLnTx/>
              <a:uFillTx/>
              <a:latin typeface="Calibri"/>
              <a:ea typeface="+mn-ea"/>
              <a:cs typeface="+mn-cs"/>
            </a:endParaRPr>
          </a:p>
        </p:txBody>
      </p:sp>
      <p:sp>
        <p:nvSpPr>
          <p:cNvPr id="14" name="Arrow: Bent 13">
            <a:extLst>
              <a:ext uri="{FF2B5EF4-FFF2-40B4-BE49-F238E27FC236}">
                <a16:creationId xmlns:a16="http://schemas.microsoft.com/office/drawing/2014/main" id="{54BFE0A9-47E7-35C9-64CD-3A74EFDA1CDC}"/>
              </a:ext>
            </a:extLst>
          </p:cNvPr>
          <p:cNvSpPr/>
          <p:nvPr/>
        </p:nvSpPr>
        <p:spPr>
          <a:xfrm>
            <a:off x="4206656" y="1942907"/>
            <a:ext cx="1385307" cy="2164607"/>
          </a:xfrm>
          <a:prstGeom prst="bentArrow">
            <a:avLst>
              <a:gd name="adj1" fmla="val 8751"/>
              <a:gd name="adj2" fmla="val 11053"/>
              <a:gd name="adj3" fmla="val 10622"/>
              <a:gd name="adj4" fmla="val 486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Arrow: Right 14">
            <a:extLst>
              <a:ext uri="{FF2B5EF4-FFF2-40B4-BE49-F238E27FC236}">
                <a16:creationId xmlns:a16="http://schemas.microsoft.com/office/drawing/2014/main" id="{1E85DDD5-A04C-6A38-8084-A98043CE508C}"/>
              </a:ext>
            </a:extLst>
          </p:cNvPr>
          <p:cNvSpPr/>
          <p:nvPr/>
        </p:nvSpPr>
        <p:spPr>
          <a:xfrm>
            <a:off x="4274510" y="3115101"/>
            <a:ext cx="1317453" cy="295622"/>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CDC3638-3395-32DB-661D-27A3577BF72F}"/>
              </a:ext>
            </a:extLst>
          </p:cNvPr>
          <p:cNvSpPr txBox="1"/>
          <p:nvPr/>
        </p:nvSpPr>
        <p:spPr>
          <a:xfrm>
            <a:off x="4326598" y="1861350"/>
            <a:ext cx="1003401" cy="138499"/>
          </a:xfrm>
          <a:prstGeom prst="rect">
            <a:avLst/>
          </a:prstGeom>
          <a:solidFill>
            <a:schemeClr val="bg1">
              <a:lumMod val="95000"/>
            </a:schemeClr>
          </a:solidFill>
        </p:spPr>
        <p:txBody>
          <a:bodyPr wrap="square" lIns="0" tIns="0" rIns="0" bIns="0" rtlCol="0">
            <a:spAutoFit/>
          </a:bodyPr>
          <a:lstStyle/>
          <a:p>
            <a:pPr>
              <a:lnSpc>
                <a:spcPct val="90000"/>
              </a:lnSpc>
              <a:spcAft>
                <a:spcPts val="600"/>
              </a:spcAft>
            </a:pPr>
            <a:r>
              <a:rPr lang="en-US" sz="1000" dirty="0">
                <a:solidFill>
                  <a:schemeClr val="tx2"/>
                </a:solidFill>
              </a:rPr>
              <a:t>#define A_cproject</a:t>
            </a:r>
            <a:endParaRPr lang="en-US" sz="1000" kern="1200" dirty="0">
              <a:solidFill>
                <a:schemeClr val="tx2"/>
              </a:solidFill>
              <a:latin typeface="+mn-lt"/>
              <a:ea typeface="+mn-ea"/>
              <a:cs typeface="+mn-cs"/>
            </a:endParaRPr>
          </a:p>
        </p:txBody>
      </p:sp>
      <p:sp>
        <p:nvSpPr>
          <p:cNvPr id="17" name="TextBox 16">
            <a:extLst>
              <a:ext uri="{FF2B5EF4-FFF2-40B4-BE49-F238E27FC236}">
                <a16:creationId xmlns:a16="http://schemas.microsoft.com/office/drawing/2014/main" id="{F0EE3A9C-97D3-C5F3-D97E-CCF32BAF3180}"/>
              </a:ext>
            </a:extLst>
          </p:cNvPr>
          <p:cNvSpPr txBox="1"/>
          <p:nvPr/>
        </p:nvSpPr>
        <p:spPr>
          <a:xfrm>
            <a:off x="4352563" y="3006116"/>
            <a:ext cx="987920" cy="138499"/>
          </a:xfrm>
          <a:prstGeom prst="rect">
            <a:avLst/>
          </a:prstGeom>
          <a:solidFill>
            <a:schemeClr val="bg1">
              <a:lumMod val="95000"/>
            </a:schemeClr>
          </a:solidFill>
        </p:spPr>
        <p:txBody>
          <a:bodyPr wrap="square" lIns="0" tIns="0" rIns="0" bIns="0" rtlCol="0">
            <a:spAutoFit/>
          </a:bodyPr>
          <a:lstStyle/>
          <a:p>
            <a:pPr>
              <a:lnSpc>
                <a:spcPct val="90000"/>
              </a:lnSpc>
              <a:spcAft>
                <a:spcPts val="600"/>
              </a:spcAft>
            </a:pPr>
            <a:r>
              <a:rPr lang="en-US" sz="1000" dirty="0">
                <a:solidFill>
                  <a:schemeClr val="tx2"/>
                </a:solidFill>
              </a:rPr>
              <a:t>#define </a:t>
            </a:r>
            <a:r>
              <a:rPr lang="en-US" sz="1000" dirty="0" err="1">
                <a:solidFill>
                  <a:schemeClr val="tx2"/>
                </a:solidFill>
              </a:rPr>
              <a:t>B_cproject</a:t>
            </a:r>
            <a:endParaRPr lang="en-US" sz="1000" kern="1200" dirty="0">
              <a:solidFill>
                <a:schemeClr val="tx2"/>
              </a:solidFill>
              <a:latin typeface="+mn-lt"/>
              <a:ea typeface="+mn-ea"/>
              <a:cs typeface="+mn-cs"/>
            </a:endParaRPr>
          </a:p>
        </p:txBody>
      </p:sp>
      <p:sp>
        <p:nvSpPr>
          <p:cNvPr id="19" name="Arrow: Right 18">
            <a:extLst>
              <a:ext uri="{FF2B5EF4-FFF2-40B4-BE49-F238E27FC236}">
                <a16:creationId xmlns:a16="http://schemas.microsoft.com/office/drawing/2014/main" id="{541652BB-7800-9F43-5B0E-5DD8ADD8A29E}"/>
              </a:ext>
            </a:extLst>
          </p:cNvPr>
          <p:cNvSpPr/>
          <p:nvPr/>
        </p:nvSpPr>
        <p:spPr>
          <a:xfrm rot="16200000">
            <a:off x="5671698" y="3105314"/>
            <a:ext cx="1708779" cy="295622"/>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Document 9">
            <a:extLst>
              <a:ext uri="{FF2B5EF4-FFF2-40B4-BE49-F238E27FC236}">
                <a16:creationId xmlns:a16="http://schemas.microsoft.com/office/drawing/2014/main" id="{86438D90-C416-3994-AB89-9AD542F8E2E8}"/>
              </a:ext>
            </a:extLst>
          </p:cNvPr>
          <p:cNvSpPr/>
          <p:nvPr/>
        </p:nvSpPr>
        <p:spPr>
          <a:xfrm>
            <a:off x="5591963" y="2810302"/>
            <a:ext cx="1333416" cy="873311"/>
          </a:xfrm>
          <a:prstGeom prst="flowChartDocument">
            <a:avLst/>
          </a:prstGeom>
          <a:solidFill>
            <a:schemeClr val="accent3">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a:ea typeface="+mn-ea"/>
                <a:cs typeface="+mn-cs"/>
              </a:rPr>
              <a:t>Template</a:t>
            </a:r>
            <a:br>
              <a:rPr kumimoji="0" lang="en-US" sz="1200" b="1" i="0" u="none" strike="noStrike" kern="1200" cap="none" spc="0" normalizeH="0" baseline="0" noProof="0" dirty="0">
                <a:ln>
                  <a:noFill/>
                </a:ln>
                <a:solidFill>
                  <a:srgbClr val="FFFFFF"/>
                </a:solidFill>
                <a:effectLst/>
                <a:uLnTx/>
                <a:uFillTx/>
                <a:latin typeface="Calibri"/>
                <a:ea typeface="+mn-ea"/>
                <a:cs typeface="+mn-cs"/>
              </a:rPr>
            </a:br>
            <a:r>
              <a:rPr kumimoji="0" lang="en-US" sz="1200" b="1" i="0" u="none" strike="noStrike" kern="1200" cap="none" spc="0" normalizeH="0" baseline="0" noProof="0" dirty="0">
                <a:ln>
                  <a:noFill/>
                </a:ln>
                <a:solidFill>
                  <a:srgbClr val="FFFFFF"/>
                </a:solidFill>
                <a:effectLst/>
                <a:uLnTx/>
                <a:uFillTx/>
                <a:latin typeface="Calibri"/>
                <a:ea typeface="+mn-ea"/>
                <a:cs typeface="+mn-cs"/>
              </a:rPr>
              <a:t>Linker Script </a:t>
            </a:r>
            <a:br>
              <a:rPr kumimoji="0" lang="en-US" sz="1200" b="1" i="0" u="none" strike="noStrike" kern="1200" cap="none" spc="0" normalizeH="0" baseline="0" noProof="0" dirty="0">
                <a:ln>
                  <a:noFill/>
                </a:ln>
                <a:solidFill>
                  <a:srgbClr val="FFFFFF"/>
                </a:solidFill>
                <a:effectLst/>
                <a:uLnTx/>
                <a:uFillTx/>
                <a:latin typeface="Calibri"/>
                <a:ea typeface="+mn-ea"/>
                <a:cs typeface="+mn-cs"/>
              </a:rPr>
            </a:br>
            <a:r>
              <a:rPr kumimoji="0" lang="en-US" sz="1200" b="1" i="0" u="none" strike="noStrike" kern="1200" cap="none" spc="0" normalizeH="0" baseline="0" noProof="0" dirty="0">
                <a:ln>
                  <a:noFill/>
                </a:ln>
                <a:solidFill>
                  <a:srgbClr val="FFFFFF"/>
                </a:solidFill>
                <a:effectLst/>
                <a:uLnTx/>
                <a:uFillTx/>
                <a:latin typeface="Calibri"/>
                <a:ea typeface="+mn-ea"/>
                <a:cs typeface="+mn-cs"/>
              </a:rPr>
              <a:t>for Project B</a:t>
            </a:r>
            <a:endParaRPr kumimoji="0" lang="en-GB" sz="1000" b="1" i="0" u="none" strike="noStrike" kern="1200" cap="none" spc="0" normalizeH="0" baseline="0" noProof="0" dirty="0">
              <a:ln>
                <a:noFill/>
              </a:ln>
              <a:solidFill>
                <a:srgbClr val="FFFFFF"/>
              </a:solidFill>
              <a:effectLst/>
              <a:uLnTx/>
              <a:uFillTx/>
              <a:latin typeface="Calibri"/>
              <a:ea typeface="+mn-ea"/>
              <a:cs typeface="+mn-cs"/>
            </a:endParaRPr>
          </a:p>
        </p:txBody>
      </p:sp>
      <p:sp>
        <p:nvSpPr>
          <p:cNvPr id="23" name="Arrow: Right 22">
            <a:extLst>
              <a:ext uri="{FF2B5EF4-FFF2-40B4-BE49-F238E27FC236}">
                <a16:creationId xmlns:a16="http://schemas.microsoft.com/office/drawing/2014/main" id="{45877805-4ACB-A5D0-5128-1E8609B508D9}"/>
              </a:ext>
            </a:extLst>
          </p:cNvPr>
          <p:cNvSpPr/>
          <p:nvPr/>
        </p:nvSpPr>
        <p:spPr>
          <a:xfrm rot="16200000">
            <a:off x="5795468" y="3740733"/>
            <a:ext cx="437941" cy="295622"/>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Right 23">
            <a:extLst>
              <a:ext uri="{FF2B5EF4-FFF2-40B4-BE49-F238E27FC236}">
                <a16:creationId xmlns:a16="http://schemas.microsoft.com/office/drawing/2014/main" id="{CC9DCF66-0FA2-9F1A-6551-CF839ACA35E8}"/>
              </a:ext>
            </a:extLst>
          </p:cNvPr>
          <p:cNvSpPr/>
          <p:nvPr/>
        </p:nvSpPr>
        <p:spPr>
          <a:xfrm>
            <a:off x="6935268" y="3043326"/>
            <a:ext cx="825262" cy="295622"/>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row: Right 24">
            <a:extLst>
              <a:ext uri="{FF2B5EF4-FFF2-40B4-BE49-F238E27FC236}">
                <a16:creationId xmlns:a16="http://schemas.microsoft.com/office/drawing/2014/main" id="{72E6ADF4-72B8-C4EA-2A79-BDE3FE8CBC30}"/>
              </a:ext>
            </a:extLst>
          </p:cNvPr>
          <p:cNvSpPr/>
          <p:nvPr/>
        </p:nvSpPr>
        <p:spPr>
          <a:xfrm>
            <a:off x="6935268" y="1907081"/>
            <a:ext cx="825262" cy="295622"/>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70243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4E55E7A5-FF5E-1670-F99E-33CA83B72311}"/>
              </a:ext>
            </a:extLst>
          </p:cNvPr>
          <p:cNvCxnSpPr>
            <a:cxnSpLocks/>
          </p:cNvCxnSpPr>
          <p:nvPr/>
        </p:nvCxnSpPr>
        <p:spPr>
          <a:xfrm flipV="1">
            <a:off x="4595984" y="1026512"/>
            <a:ext cx="19642" cy="986826"/>
          </a:xfrm>
          <a:prstGeom prst="straightConnector1">
            <a:avLst/>
          </a:prstGeom>
          <a:ln w="34925">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Arrow: Right 30">
            <a:extLst>
              <a:ext uri="{FF2B5EF4-FFF2-40B4-BE49-F238E27FC236}">
                <a16:creationId xmlns:a16="http://schemas.microsoft.com/office/drawing/2014/main" id="{1F9E4950-7682-4A97-95D2-18A9AEA2F368}"/>
              </a:ext>
            </a:extLst>
          </p:cNvPr>
          <p:cNvSpPr/>
          <p:nvPr/>
        </p:nvSpPr>
        <p:spPr>
          <a:xfrm>
            <a:off x="5489439" y="2096918"/>
            <a:ext cx="508607"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47" name="Arrow: Right 46">
            <a:extLst>
              <a:ext uri="{FF2B5EF4-FFF2-40B4-BE49-F238E27FC236}">
                <a16:creationId xmlns:a16="http://schemas.microsoft.com/office/drawing/2014/main" id="{B0DA7E1C-8C5B-ABCB-BF99-C1ABD775EFFE}"/>
              </a:ext>
            </a:extLst>
          </p:cNvPr>
          <p:cNvSpPr/>
          <p:nvPr/>
        </p:nvSpPr>
        <p:spPr>
          <a:xfrm>
            <a:off x="5495702" y="2762483"/>
            <a:ext cx="508607"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43" name="Rectangle 42">
            <a:extLst>
              <a:ext uri="{FF2B5EF4-FFF2-40B4-BE49-F238E27FC236}">
                <a16:creationId xmlns:a16="http://schemas.microsoft.com/office/drawing/2014/main" id="{D5BD7878-59AF-C11D-7F30-AAA32AA06DD1}"/>
              </a:ext>
            </a:extLst>
          </p:cNvPr>
          <p:cNvSpPr/>
          <p:nvPr/>
        </p:nvSpPr>
        <p:spPr>
          <a:xfrm>
            <a:off x="5998046" y="2575290"/>
            <a:ext cx="1537948" cy="3106455"/>
          </a:xfrm>
          <a:prstGeom prst="rect">
            <a:avLst/>
          </a:prstGeom>
          <a:solidFill>
            <a:schemeClr val="accent5">
              <a:lumMod val="40000"/>
              <a:lumOff val="6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6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RTE Directory</a:t>
            </a:r>
          </a:p>
        </p:txBody>
      </p:sp>
      <p:sp>
        <p:nvSpPr>
          <p:cNvPr id="29" name="Rectangle 28">
            <a:extLst>
              <a:ext uri="{FF2B5EF4-FFF2-40B4-BE49-F238E27FC236}">
                <a16:creationId xmlns:a16="http://schemas.microsoft.com/office/drawing/2014/main" id="{EC3CC268-843C-42DC-9FAB-259824F90297}"/>
              </a:ext>
            </a:extLst>
          </p:cNvPr>
          <p:cNvSpPr/>
          <p:nvPr/>
        </p:nvSpPr>
        <p:spPr>
          <a:xfrm>
            <a:off x="5998046" y="313152"/>
            <a:ext cx="1537948" cy="2141950"/>
          </a:xfrm>
          <a:prstGeom prst="rect">
            <a:avLst/>
          </a:prstGeom>
          <a:solidFill>
            <a:schemeClr val="accent5">
              <a:lumMod val="40000"/>
              <a:lumOff val="6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6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Project Area</a:t>
            </a:r>
          </a:p>
        </p:txBody>
      </p:sp>
      <p:sp>
        <p:nvSpPr>
          <p:cNvPr id="26" name="Arrow: Right 25">
            <a:extLst>
              <a:ext uri="{FF2B5EF4-FFF2-40B4-BE49-F238E27FC236}">
                <a16:creationId xmlns:a16="http://schemas.microsoft.com/office/drawing/2014/main" id="{553DF65A-F969-41EF-89B5-09CAFF0CC328}"/>
              </a:ext>
            </a:extLst>
          </p:cNvPr>
          <p:cNvSpPr/>
          <p:nvPr/>
        </p:nvSpPr>
        <p:spPr>
          <a:xfrm>
            <a:off x="3900982" y="4148998"/>
            <a:ext cx="266656"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2" name="Rectangle 21">
            <a:extLst>
              <a:ext uri="{FF2B5EF4-FFF2-40B4-BE49-F238E27FC236}">
                <a16:creationId xmlns:a16="http://schemas.microsoft.com/office/drawing/2014/main" id="{5487FEAB-7D2D-4E65-8BF8-9C55DAECCD8A}"/>
              </a:ext>
            </a:extLst>
          </p:cNvPr>
          <p:cNvSpPr/>
          <p:nvPr/>
        </p:nvSpPr>
        <p:spPr>
          <a:xfrm>
            <a:off x="2114292" y="313151"/>
            <a:ext cx="1786690" cy="5368594"/>
          </a:xfrm>
          <a:prstGeom prst="rect">
            <a:avLst/>
          </a:prstGeom>
          <a:solidFill>
            <a:schemeClr val="accent3">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lang="en-US" sz="1600" b="1" dirty="0" err="1">
                <a:solidFill>
                  <a:srgbClr val="333E48"/>
                </a:solidFill>
                <a:latin typeface="Calibri"/>
                <a:ea typeface="ＭＳ Ｐゴシック" panose="020B0600070205080204" pitchFamily="34" charset="-128"/>
              </a:rPr>
              <a:t>csolution</a:t>
            </a:r>
            <a:r>
              <a:rPr lang="en-US" sz="1600" b="1" dirty="0">
                <a:solidFill>
                  <a:srgbClr val="333E48"/>
                </a:solidFill>
                <a:latin typeface="Calibri"/>
                <a:ea typeface="ＭＳ Ｐゴシック" panose="020B0600070205080204" pitchFamily="34" charset="-128"/>
              </a:rPr>
              <a:t> project</a:t>
            </a:r>
            <a:endParaRPr kumimoji="0" lang="en-US" sz="16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endParaRPr>
          </a:p>
        </p:txBody>
      </p:sp>
      <p:sp>
        <p:nvSpPr>
          <p:cNvPr id="21" name="Rectangle 20">
            <a:extLst>
              <a:ext uri="{FF2B5EF4-FFF2-40B4-BE49-F238E27FC236}">
                <a16:creationId xmlns:a16="http://schemas.microsoft.com/office/drawing/2014/main" id="{0F8F6D10-7E91-4D68-8F46-4EF0F023AF1B}"/>
              </a:ext>
            </a:extLst>
          </p:cNvPr>
          <p:cNvSpPr/>
          <p:nvPr/>
        </p:nvSpPr>
        <p:spPr>
          <a:xfrm>
            <a:off x="4162933" y="3434052"/>
            <a:ext cx="1551974" cy="224769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6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Software Packs</a:t>
            </a:r>
          </a:p>
        </p:txBody>
      </p:sp>
      <p:sp>
        <p:nvSpPr>
          <p:cNvPr id="6" name="Flowchart: Document 5">
            <a:extLst>
              <a:ext uri="{FF2B5EF4-FFF2-40B4-BE49-F238E27FC236}">
                <a16:creationId xmlns:a16="http://schemas.microsoft.com/office/drawing/2014/main" id="{05CB531E-7400-4A1A-9853-81AF2D7E5608}"/>
              </a:ext>
            </a:extLst>
          </p:cNvPr>
          <p:cNvSpPr/>
          <p:nvPr/>
        </p:nvSpPr>
        <p:spPr>
          <a:xfrm>
            <a:off x="2320920" y="1989028"/>
            <a:ext cx="1333416" cy="884321"/>
          </a:xfrm>
          <a:prstGeom prst="flowChartDocumen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csolution.yml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Target (Device, Board) Build (Debug, Release) </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7" name="Flowchart: Multidocument 6">
            <a:extLst>
              <a:ext uri="{FF2B5EF4-FFF2-40B4-BE49-F238E27FC236}">
                <a16:creationId xmlns:a16="http://schemas.microsoft.com/office/drawing/2014/main" id="{0FCC1B91-99A1-4E45-AE23-2D8F8B8DFEBE}"/>
              </a:ext>
            </a:extLst>
          </p:cNvPr>
          <p:cNvSpPr/>
          <p:nvPr/>
        </p:nvSpPr>
        <p:spPr>
          <a:xfrm>
            <a:off x="2278322" y="3105955"/>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cproject.yml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Manages </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independent</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projects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14" name="Straight Arrow Connector 13">
            <a:extLst>
              <a:ext uri="{FF2B5EF4-FFF2-40B4-BE49-F238E27FC236}">
                <a16:creationId xmlns:a16="http://schemas.microsoft.com/office/drawing/2014/main" id="{0CA20441-F3C2-440A-892E-1359E8990DC5}"/>
              </a:ext>
            </a:extLst>
          </p:cNvPr>
          <p:cNvCxnSpPr>
            <a:cxnSpLocks/>
          </p:cNvCxnSpPr>
          <p:nvPr/>
        </p:nvCxnSpPr>
        <p:spPr>
          <a:xfrm>
            <a:off x="2968620" y="2829234"/>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700C784-4ABC-4B94-A393-C72FD280887C}"/>
              </a:ext>
            </a:extLst>
          </p:cNvPr>
          <p:cNvCxnSpPr>
            <a:cxnSpLocks/>
          </p:cNvCxnSpPr>
          <p:nvPr/>
        </p:nvCxnSpPr>
        <p:spPr>
          <a:xfrm>
            <a:off x="2988673" y="4046429"/>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 name="Flowchart: Multidocument 17">
            <a:extLst>
              <a:ext uri="{FF2B5EF4-FFF2-40B4-BE49-F238E27FC236}">
                <a16:creationId xmlns:a16="http://schemas.microsoft.com/office/drawing/2014/main" id="{F193B99D-00C8-43D5-A8CC-0E46D2AFFC10}"/>
              </a:ext>
            </a:extLst>
          </p:cNvPr>
          <p:cNvSpPr/>
          <p:nvPr/>
        </p:nvSpPr>
        <p:spPr>
          <a:xfrm>
            <a:off x="2328453" y="4317134"/>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clayer.yml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Defines re-usable project parts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23" name="Rectangle 22">
            <a:extLst>
              <a:ext uri="{FF2B5EF4-FFF2-40B4-BE49-F238E27FC236}">
                <a16:creationId xmlns:a16="http://schemas.microsoft.com/office/drawing/2014/main" id="{8119DA75-D395-4806-9923-A60C1658B62A}"/>
              </a:ext>
            </a:extLst>
          </p:cNvPr>
          <p:cNvSpPr/>
          <p:nvPr/>
        </p:nvSpPr>
        <p:spPr>
          <a:xfrm>
            <a:off x="4176959" y="2013338"/>
            <a:ext cx="1540042" cy="1022685"/>
          </a:xfrm>
          <a:prstGeom prst="rect">
            <a:avLst/>
          </a:prstGeom>
          <a:solidFill>
            <a:srgbClr val="92D050"/>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a:solidFill>
                  <a:srgbClr val="FFFFFF"/>
                </a:solidFill>
                <a:latin typeface="Calibri"/>
              </a:rPr>
              <a:t>c</a:t>
            </a:r>
            <a:r>
              <a:rPr kumimoji="0" lang="en-US" sz="1800" b="1" i="0" u="none" strike="noStrike" kern="1200" cap="none" spc="0" normalizeH="0" baseline="0" noProof="0" dirty="0">
                <a:ln>
                  <a:noFill/>
                </a:ln>
                <a:solidFill>
                  <a:srgbClr val="FFFFFF"/>
                </a:solidFill>
                <a:effectLst/>
                <a:uLnTx/>
                <a:uFillTx/>
                <a:latin typeface="Calibri"/>
                <a:ea typeface="+mn-ea"/>
                <a:cs typeface="+mn-cs"/>
              </a:rPr>
              <a:t>solution</a:t>
            </a:r>
            <a:br>
              <a:rPr kumimoji="0" lang="en-US" sz="1800" b="1" i="0" u="none" strike="noStrike" kern="1200" cap="none" spc="0" normalizeH="0" baseline="0" noProof="0" dirty="0">
                <a:ln>
                  <a:noFill/>
                </a:ln>
                <a:solidFill>
                  <a:srgbClr val="FFFFFF"/>
                </a:solidFill>
                <a:effectLst/>
                <a:uLnTx/>
                <a:uFillTx/>
                <a:latin typeface="Calibri"/>
                <a:ea typeface="+mn-ea"/>
                <a:cs typeface="+mn-cs"/>
              </a:rPr>
            </a:br>
            <a:r>
              <a:rPr kumimoji="0" lang="en-US" sz="1800" b="0" i="0" u="none" strike="noStrike" kern="1200" cap="none" spc="0" normalizeH="0" baseline="0" noProof="0" dirty="0">
                <a:ln>
                  <a:noFill/>
                </a:ln>
                <a:solidFill>
                  <a:srgbClr val="FFFFFF"/>
                </a:solidFill>
                <a:effectLst/>
                <a:uLnTx/>
                <a:uFillTx/>
                <a:latin typeface="Calibri"/>
                <a:ea typeface="+mn-ea"/>
                <a:cs typeface="+mn-cs"/>
              </a:rPr>
              <a:t>tool</a:t>
            </a: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32" name="Arrow: Right 31">
            <a:extLst>
              <a:ext uri="{FF2B5EF4-FFF2-40B4-BE49-F238E27FC236}">
                <a16:creationId xmlns:a16="http://schemas.microsoft.com/office/drawing/2014/main" id="{8DCE06D2-5B11-472B-8D45-3B327EA1669E}"/>
              </a:ext>
            </a:extLst>
          </p:cNvPr>
          <p:cNvSpPr/>
          <p:nvPr/>
        </p:nvSpPr>
        <p:spPr>
          <a:xfrm>
            <a:off x="3900982" y="2435845"/>
            <a:ext cx="279911"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cxnSp>
        <p:nvCxnSpPr>
          <p:cNvPr id="25" name="Straight Arrow Connector 24">
            <a:extLst>
              <a:ext uri="{FF2B5EF4-FFF2-40B4-BE49-F238E27FC236}">
                <a16:creationId xmlns:a16="http://schemas.microsoft.com/office/drawing/2014/main" id="{AE60EF65-4A79-4DC7-4A62-B477FD9D9B32}"/>
              </a:ext>
            </a:extLst>
          </p:cNvPr>
          <p:cNvCxnSpPr>
            <a:cxnSpLocks/>
            <a:endCxn id="44" idx="1"/>
          </p:cNvCxnSpPr>
          <p:nvPr/>
        </p:nvCxnSpPr>
        <p:spPr>
          <a:xfrm>
            <a:off x="5327580" y="5151924"/>
            <a:ext cx="827334" cy="1"/>
          </a:xfrm>
          <a:prstGeom prst="straightConnector1">
            <a:avLst/>
          </a:prstGeom>
          <a:ln w="38100">
            <a:prstDash val="sysDot"/>
            <a:tailEnd type="triangle"/>
          </a:ln>
        </p:spPr>
        <p:style>
          <a:lnRef idx="1">
            <a:schemeClr val="accent1"/>
          </a:lnRef>
          <a:fillRef idx="0">
            <a:schemeClr val="accent1"/>
          </a:fillRef>
          <a:effectRef idx="0">
            <a:schemeClr val="accent1"/>
          </a:effectRef>
          <a:fontRef idx="minor">
            <a:schemeClr val="tx1"/>
          </a:fontRef>
        </p:style>
      </p:cxnSp>
      <p:sp>
        <p:nvSpPr>
          <p:cNvPr id="9" name="Flowchart: Multidocument 8">
            <a:extLst>
              <a:ext uri="{FF2B5EF4-FFF2-40B4-BE49-F238E27FC236}">
                <a16:creationId xmlns:a16="http://schemas.microsoft.com/office/drawing/2014/main" id="{46B1B0E7-09EF-7B33-5FA6-E22971CFFA8B}"/>
              </a:ext>
            </a:extLst>
          </p:cNvPr>
          <p:cNvSpPr/>
          <p:nvPr/>
        </p:nvSpPr>
        <p:spPr>
          <a:xfrm>
            <a:off x="4290166" y="3857303"/>
            <a:ext cx="1309094" cy="787928"/>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pdsc</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Pack </a:t>
            </a: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Meta</a:t>
            </a:r>
            <a:r>
              <a:rPr lang="en-US" sz="1000" dirty="0">
                <a:solidFill>
                  <a:schemeClr val="bg2">
                    <a:lumMod val="25000"/>
                  </a:schemeClr>
                </a:solidFill>
                <a:latin typeface="Calibri"/>
              </a:rPr>
              <a:t>data</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37" name="Flowchart: Multidocument 36">
            <a:extLst>
              <a:ext uri="{FF2B5EF4-FFF2-40B4-BE49-F238E27FC236}">
                <a16:creationId xmlns:a16="http://schemas.microsoft.com/office/drawing/2014/main" id="{509747E3-F920-D0CB-4726-6A19B9C67D57}"/>
              </a:ext>
            </a:extLst>
          </p:cNvPr>
          <p:cNvSpPr/>
          <p:nvPr/>
        </p:nvSpPr>
        <p:spPr>
          <a:xfrm>
            <a:off x="6156834" y="1525163"/>
            <a:ext cx="1285400" cy="781691"/>
          </a:xfrm>
          <a:prstGeom prst="flowChartMulti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cbuild.yml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Build Information</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42" name="Flowchart: Document 41">
            <a:extLst>
              <a:ext uri="{FF2B5EF4-FFF2-40B4-BE49-F238E27FC236}">
                <a16:creationId xmlns:a16="http://schemas.microsoft.com/office/drawing/2014/main" id="{6B4565B0-8E87-5806-0BF7-AE85E075808D}"/>
              </a:ext>
            </a:extLst>
          </p:cNvPr>
          <p:cNvSpPr/>
          <p:nvPr/>
        </p:nvSpPr>
        <p:spPr>
          <a:xfrm>
            <a:off x="6156834" y="635666"/>
            <a:ext cx="1285400" cy="781692"/>
          </a:xfrm>
          <a:prstGeom prst="flowChart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en-US" sz="1200" dirty="0">
                <a:solidFill>
                  <a:schemeClr val="bg2">
                    <a:lumMod val="25000"/>
                  </a:schemeClr>
                </a:solidFill>
                <a:latin typeface="Calibri"/>
              </a:rPr>
              <a:t>*.</a:t>
            </a:r>
            <a:r>
              <a:rPr lang="en-US" sz="1200" dirty="0" err="1">
                <a:solidFill>
                  <a:schemeClr val="bg2">
                    <a:lumMod val="25000"/>
                  </a:schemeClr>
                </a:solidFill>
                <a:latin typeface="Calibri"/>
              </a:rPr>
              <a:t>cbuild-idx.yml</a:t>
            </a:r>
            <a:br>
              <a:rPr lang="en-US" sz="1200" dirty="0">
                <a:solidFill>
                  <a:schemeClr val="bg2">
                    <a:lumMod val="25000"/>
                  </a:schemeClr>
                </a:solidFill>
                <a:latin typeface="Calibri"/>
              </a:rPr>
            </a:br>
            <a:r>
              <a:rPr lang="en-US" sz="1000" dirty="0">
                <a:solidFill>
                  <a:schemeClr val="bg2">
                    <a:lumMod val="25000"/>
                  </a:schemeClr>
                </a:solidFill>
                <a:latin typeface="Calibri"/>
              </a:rPr>
              <a:t>Overall description </a:t>
            </a:r>
            <a:br>
              <a:rPr lang="en-US" sz="1000" dirty="0">
                <a:solidFill>
                  <a:schemeClr val="bg2">
                    <a:lumMod val="25000"/>
                  </a:schemeClr>
                </a:solidFill>
                <a:latin typeface="Calibri"/>
              </a:rPr>
            </a:br>
            <a:r>
              <a:rPr lang="en-US" sz="1000" dirty="0">
                <a:solidFill>
                  <a:schemeClr val="bg2">
                    <a:lumMod val="25000"/>
                  </a:schemeClr>
                </a:solidFill>
                <a:latin typeface="Calibri"/>
              </a:rPr>
              <a:t>with project index</a:t>
            </a:r>
            <a:endParaRPr lang="en-GB" sz="1000" dirty="0">
              <a:solidFill>
                <a:schemeClr val="bg2">
                  <a:lumMod val="25000"/>
                </a:schemeClr>
              </a:solidFill>
              <a:latin typeface="Calibri"/>
            </a:endParaRPr>
          </a:p>
        </p:txBody>
      </p:sp>
      <p:sp>
        <p:nvSpPr>
          <p:cNvPr id="44" name="Flowchart: Multidocument 43">
            <a:extLst>
              <a:ext uri="{FF2B5EF4-FFF2-40B4-BE49-F238E27FC236}">
                <a16:creationId xmlns:a16="http://schemas.microsoft.com/office/drawing/2014/main" id="{DE1205A3-0CDC-3648-D603-621349F0F6B7}"/>
              </a:ext>
            </a:extLst>
          </p:cNvPr>
          <p:cNvSpPr/>
          <p:nvPr/>
        </p:nvSpPr>
        <p:spPr>
          <a:xfrm>
            <a:off x="6154914" y="4761079"/>
            <a:ext cx="1285400" cy="781691"/>
          </a:xfrm>
          <a:prstGeom prst="flowChartMulti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Component</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Config Files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45" name="Flowchart: Multidocument 44">
            <a:extLst>
              <a:ext uri="{FF2B5EF4-FFF2-40B4-BE49-F238E27FC236}">
                <a16:creationId xmlns:a16="http://schemas.microsoft.com/office/drawing/2014/main" id="{4592997C-81E8-2096-11F2-A301979AC2BF}"/>
              </a:ext>
            </a:extLst>
          </p:cNvPr>
          <p:cNvSpPr/>
          <p:nvPr/>
        </p:nvSpPr>
        <p:spPr>
          <a:xfrm>
            <a:off x="6154914" y="2946296"/>
            <a:ext cx="1285400" cy="781691"/>
          </a:xfrm>
          <a:prstGeom prst="flowChartMulti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RTE_</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components.h</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48" name="Flowchart: Multidocument 47">
            <a:extLst>
              <a:ext uri="{FF2B5EF4-FFF2-40B4-BE49-F238E27FC236}">
                <a16:creationId xmlns:a16="http://schemas.microsoft.com/office/drawing/2014/main" id="{4AFF4F7C-8E60-F604-D682-1CAD021FF6AE}"/>
              </a:ext>
            </a:extLst>
          </p:cNvPr>
          <p:cNvSpPr/>
          <p:nvPr/>
        </p:nvSpPr>
        <p:spPr>
          <a:xfrm>
            <a:off x="6154914" y="3863540"/>
            <a:ext cx="1285400" cy="781691"/>
          </a:xfrm>
          <a:prstGeom prst="flowChartMulti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Pre-include </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Files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49" name="Flowchart: Multidocument 48">
            <a:extLst>
              <a:ext uri="{FF2B5EF4-FFF2-40B4-BE49-F238E27FC236}">
                <a16:creationId xmlns:a16="http://schemas.microsoft.com/office/drawing/2014/main" id="{94F6C09C-110C-7C2E-9C31-5970D150646B}"/>
              </a:ext>
            </a:extLst>
          </p:cNvPr>
          <p:cNvSpPr/>
          <p:nvPr/>
        </p:nvSpPr>
        <p:spPr>
          <a:xfrm>
            <a:off x="4313255" y="4782749"/>
            <a:ext cx="1309094" cy="787928"/>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Component</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Config Files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51" name="Arrow: Right 50">
            <a:extLst>
              <a:ext uri="{FF2B5EF4-FFF2-40B4-BE49-F238E27FC236}">
                <a16:creationId xmlns:a16="http://schemas.microsoft.com/office/drawing/2014/main" id="{8374547F-BFF4-AFF4-F6FF-B40CC60806A6}"/>
              </a:ext>
            </a:extLst>
          </p:cNvPr>
          <p:cNvSpPr/>
          <p:nvPr/>
        </p:nvSpPr>
        <p:spPr>
          <a:xfrm rot="16200000">
            <a:off x="4791741" y="3130668"/>
            <a:ext cx="402228"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 name="Flowchart: Document 1">
            <a:extLst>
              <a:ext uri="{FF2B5EF4-FFF2-40B4-BE49-F238E27FC236}">
                <a16:creationId xmlns:a16="http://schemas.microsoft.com/office/drawing/2014/main" id="{2C904DF2-1E61-C437-7335-7DF5A8702FB2}"/>
              </a:ext>
            </a:extLst>
          </p:cNvPr>
          <p:cNvSpPr/>
          <p:nvPr/>
        </p:nvSpPr>
        <p:spPr>
          <a:xfrm>
            <a:off x="2328453" y="872101"/>
            <a:ext cx="1333416" cy="884321"/>
          </a:xfrm>
          <a:prstGeom prst="flowChartDocumen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default.yml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lang="en-US" sz="1000" dirty="0">
                <a:solidFill>
                  <a:schemeClr val="bg2">
                    <a:lumMod val="25000"/>
                  </a:schemeClr>
                </a:solidFill>
                <a:latin typeface="Calibri"/>
              </a:rPr>
              <a:t>Compiler selection</a:t>
            </a:r>
            <a:br>
              <a:rPr lang="en-US" sz="1000" dirty="0">
                <a:solidFill>
                  <a:schemeClr val="bg2">
                    <a:lumMod val="25000"/>
                  </a:schemeClr>
                </a:solidFill>
                <a:latin typeface="Calibri"/>
              </a:rPr>
            </a:br>
            <a:r>
              <a:rPr lang="en-US" sz="1000" dirty="0">
                <a:solidFill>
                  <a:schemeClr val="bg2">
                    <a:lumMod val="25000"/>
                  </a:schemeClr>
                </a:solidFill>
                <a:latin typeface="Calibri"/>
              </a:rPr>
              <a:t>and toolchain</a:t>
            </a:r>
            <a:br>
              <a:rPr lang="en-US" sz="1000" dirty="0">
                <a:solidFill>
                  <a:schemeClr val="bg2">
                    <a:lumMod val="25000"/>
                  </a:schemeClr>
                </a:solidFill>
                <a:latin typeface="Calibri"/>
              </a:rPr>
            </a:br>
            <a:r>
              <a:rPr lang="en-US" sz="1000" dirty="0">
                <a:solidFill>
                  <a:schemeClr val="bg2">
                    <a:lumMod val="25000"/>
                  </a:schemeClr>
                </a:solidFill>
                <a:latin typeface="Calibri"/>
              </a:rPr>
              <a:t>default settings</a:t>
            </a: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 </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3" name="Straight Arrow Connector 2">
            <a:extLst>
              <a:ext uri="{FF2B5EF4-FFF2-40B4-BE49-F238E27FC236}">
                <a16:creationId xmlns:a16="http://schemas.microsoft.com/office/drawing/2014/main" id="{7BEDF19A-8010-562A-2D8D-D3A98217E938}"/>
              </a:ext>
            </a:extLst>
          </p:cNvPr>
          <p:cNvCxnSpPr>
            <a:cxnSpLocks/>
          </p:cNvCxnSpPr>
          <p:nvPr/>
        </p:nvCxnSpPr>
        <p:spPr>
          <a:xfrm>
            <a:off x="2968620" y="1709553"/>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A6C150E6-04FE-0A3A-122D-808B507EB9C9}"/>
              </a:ext>
            </a:extLst>
          </p:cNvPr>
          <p:cNvSpPr/>
          <p:nvPr/>
        </p:nvSpPr>
        <p:spPr>
          <a:xfrm>
            <a:off x="7814065" y="874845"/>
            <a:ext cx="1540042" cy="1022685"/>
          </a:xfrm>
          <a:prstGeom prst="rect">
            <a:avLst/>
          </a:prstGeom>
          <a:solidFill>
            <a:srgbClr val="92D050"/>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a:solidFill>
                  <a:srgbClr val="FFFFFF"/>
                </a:solidFill>
                <a:latin typeface="Calibri"/>
              </a:rPr>
              <a:t>cbuild2cmake</a:t>
            </a:r>
            <a:br>
              <a:rPr lang="en-US" dirty="0">
                <a:solidFill>
                  <a:srgbClr val="FFFFFF"/>
                </a:solidFill>
                <a:latin typeface="Calibri"/>
              </a:rPr>
            </a:br>
            <a:r>
              <a:rPr kumimoji="0" lang="en-US" sz="1400" i="1" u="none" strike="noStrike" kern="1200" cap="none" spc="0" normalizeH="0" baseline="0" noProof="0" dirty="0">
                <a:ln>
                  <a:noFill/>
                </a:ln>
                <a:solidFill>
                  <a:srgbClr val="FFFFFF"/>
                </a:solidFill>
                <a:effectLst/>
                <a:uLnTx/>
                <a:uFillTx/>
                <a:latin typeface="Calibri"/>
                <a:ea typeface="+mn-ea"/>
                <a:cs typeface="+mn-cs"/>
              </a:rPr>
              <a:t>tool</a:t>
            </a:r>
            <a:r>
              <a:rPr lang="en-US" sz="1400" i="1" dirty="0">
                <a:solidFill>
                  <a:srgbClr val="FFFFFF"/>
                </a:solidFill>
                <a:latin typeface="Calibri"/>
              </a:rPr>
              <a:t> called by </a:t>
            </a:r>
            <a:r>
              <a:rPr lang="en-US" sz="1400" i="1" dirty="0" err="1">
                <a:solidFill>
                  <a:srgbClr val="FFFFFF"/>
                </a:solidFill>
                <a:latin typeface="Calibri"/>
              </a:rPr>
              <a:t>cbuild</a:t>
            </a:r>
            <a:endParaRPr kumimoji="0" lang="en-GB" sz="1400" i="1" u="none" strike="noStrike" kern="1200" cap="none" spc="0" normalizeH="0" baseline="0" noProof="0" dirty="0">
              <a:ln>
                <a:noFill/>
              </a:ln>
              <a:solidFill>
                <a:srgbClr val="FFFFFF"/>
              </a:solidFill>
              <a:effectLst/>
              <a:uLnTx/>
              <a:uFillTx/>
              <a:latin typeface="Calibri"/>
              <a:ea typeface="+mn-ea"/>
              <a:cs typeface="+mn-cs"/>
            </a:endParaRPr>
          </a:p>
        </p:txBody>
      </p:sp>
      <p:sp>
        <p:nvSpPr>
          <p:cNvPr id="5" name="Arrow: Right 4">
            <a:extLst>
              <a:ext uri="{FF2B5EF4-FFF2-40B4-BE49-F238E27FC236}">
                <a16:creationId xmlns:a16="http://schemas.microsoft.com/office/drawing/2014/main" id="{A03F1624-9776-F6B2-5938-509033A07431}"/>
              </a:ext>
            </a:extLst>
          </p:cNvPr>
          <p:cNvSpPr/>
          <p:nvPr/>
        </p:nvSpPr>
        <p:spPr>
          <a:xfrm>
            <a:off x="7535994" y="1302706"/>
            <a:ext cx="278071"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10" name="Flowchart: Document 9">
            <a:extLst>
              <a:ext uri="{FF2B5EF4-FFF2-40B4-BE49-F238E27FC236}">
                <a16:creationId xmlns:a16="http://schemas.microsoft.com/office/drawing/2014/main" id="{C5DC4692-E9BF-1C95-75FB-40AC13CB6438}"/>
              </a:ext>
            </a:extLst>
          </p:cNvPr>
          <p:cNvSpPr/>
          <p:nvPr/>
        </p:nvSpPr>
        <p:spPr>
          <a:xfrm>
            <a:off x="4302649" y="428108"/>
            <a:ext cx="1285400" cy="615109"/>
          </a:xfrm>
          <a:prstGeom prst="flowChart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eaLnBrk="0" fontAlgn="base" hangingPunct="0">
              <a:spcBef>
                <a:spcPct val="0"/>
              </a:spcBef>
              <a:spcAft>
                <a:spcPct val="0"/>
              </a:spcAft>
            </a:pPr>
            <a:r>
              <a:rPr lang="en-US" sz="1200" dirty="0">
                <a:solidFill>
                  <a:schemeClr val="bg2">
                    <a:lumMod val="25000"/>
                  </a:schemeClr>
                </a:solidFill>
                <a:latin typeface="Calibri"/>
              </a:rPr>
              <a:t>*.</a:t>
            </a:r>
            <a:r>
              <a:rPr lang="en-US" sz="1200" dirty="0" err="1">
                <a:solidFill>
                  <a:schemeClr val="bg2">
                    <a:lumMod val="25000"/>
                  </a:schemeClr>
                </a:solidFill>
                <a:latin typeface="Calibri"/>
              </a:rPr>
              <a:t>cbuild-set.yml</a:t>
            </a:r>
            <a:br>
              <a:rPr lang="en-US" sz="1200" dirty="0">
                <a:solidFill>
                  <a:schemeClr val="bg2">
                    <a:lumMod val="25000"/>
                  </a:schemeClr>
                </a:solidFill>
                <a:latin typeface="Calibri"/>
              </a:rPr>
            </a:br>
            <a:r>
              <a:rPr lang="en-US" sz="1000" dirty="0">
                <a:solidFill>
                  <a:schemeClr val="bg2">
                    <a:lumMod val="25000"/>
                  </a:schemeClr>
                </a:solidFill>
                <a:latin typeface="Calibri"/>
              </a:rPr>
              <a:t>context configuration</a:t>
            </a:r>
            <a:endParaRPr lang="en-GB" sz="1000" dirty="0">
              <a:solidFill>
                <a:schemeClr val="bg2">
                  <a:lumMod val="25000"/>
                </a:schemeClr>
              </a:solidFill>
              <a:latin typeface="Calibri"/>
            </a:endParaRPr>
          </a:p>
        </p:txBody>
      </p:sp>
      <p:sp>
        <p:nvSpPr>
          <p:cNvPr id="11" name="Flowchart: Document 10">
            <a:extLst>
              <a:ext uri="{FF2B5EF4-FFF2-40B4-BE49-F238E27FC236}">
                <a16:creationId xmlns:a16="http://schemas.microsoft.com/office/drawing/2014/main" id="{C464216D-E8C9-E47A-4D2D-41AF1964F99D}"/>
              </a:ext>
            </a:extLst>
          </p:cNvPr>
          <p:cNvSpPr/>
          <p:nvPr/>
        </p:nvSpPr>
        <p:spPr>
          <a:xfrm>
            <a:off x="4290166" y="1183390"/>
            <a:ext cx="1285400" cy="637811"/>
          </a:xfrm>
          <a:prstGeom prst="flowChart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eaLnBrk="0" fontAlgn="base" hangingPunct="0">
              <a:spcBef>
                <a:spcPct val="0"/>
              </a:spcBef>
              <a:spcAft>
                <a:spcPct val="0"/>
              </a:spcAft>
            </a:pPr>
            <a:r>
              <a:rPr lang="en-US" sz="1200" dirty="0">
                <a:solidFill>
                  <a:schemeClr val="bg2">
                    <a:lumMod val="25000"/>
                  </a:schemeClr>
                </a:solidFill>
                <a:latin typeface="Calibri"/>
              </a:rPr>
              <a:t>*.</a:t>
            </a:r>
            <a:r>
              <a:rPr lang="en-US" sz="1200" dirty="0" err="1">
                <a:solidFill>
                  <a:schemeClr val="bg2">
                    <a:lumMod val="25000"/>
                  </a:schemeClr>
                </a:solidFill>
                <a:latin typeface="Calibri"/>
              </a:rPr>
              <a:t>cbuild-pack.yml</a:t>
            </a:r>
            <a:br>
              <a:rPr lang="en-US" sz="1200" dirty="0">
                <a:solidFill>
                  <a:schemeClr val="bg2">
                    <a:lumMod val="25000"/>
                  </a:schemeClr>
                </a:solidFill>
                <a:latin typeface="Calibri"/>
              </a:rPr>
            </a:br>
            <a:r>
              <a:rPr lang="en-US" sz="1000" dirty="0">
                <a:solidFill>
                  <a:schemeClr val="bg2">
                    <a:lumMod val="25000"/>
                  </a:schemeClr>
                </a:solidFill>
                <a:latin typeface="Calibri"/>
              </a:rPr>
              <a:t>pack journal / lock</a:t>
            </a:r>
            <a:endParaRPr lang="en-GB" sz="1000" dirty="0">
              <a:solidFill>
                <a:schemeClr val="bg2">
                  <a:lumMod val="25000"/>
                </a:schemeClr>
              </a:solidFill>
              <a:latin typeface="Calibri"/>
            </a:endParaRPr>
          </a:p>
        </p:txBody>
      </p:sp>
      <p:cxnSp>
        <p:nvCxnSpPr>
          <p:cNvPr id="19" name="Straight Arrow Connector 18">
            <a:extLst>
              <a:ext uri="{FF2B5EF4-FFF2-40B4-BE49-F238E27FC236}">
                <a16:creationId xmlns:a16="http://schemas.microsoft.com/office/drawing/2014/main" id="{E383FE34-9A97-D6DE-B031-88FE85A5522B}"/>
              </a:ext>
            </a:extLst>
          </p:cNvPr>
          <p:cNvCxnSpPr>
            <a:cxnSpLocks/>
          </p:cNvCxnSpPr>
          <p:nvPr/>
        </p:nvCxnSpPr>
        <p:spPr>
          <a:xfrm flipV="1">
            <a:off x="5238307" y="1709553"/>
            <a:ext cx="0" cy="317324"/>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41327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Document 5">
            <a:extLst>
              <a:ext uri="{FF2B5EF4-FFF2-40B4-BE49-F238E27FC236}">
                <a16:creationId xmlns:a16="http://schemas.microsoft.com/office/drawing/2014/main" id="{05CB531E-7400-4A1A-9853-81AF2D7E5608}"/>
              </a:ext>
            </a:extLst>
          </p:cNvPr>
          <p:cNvSpPr/>
          <p:nvPr/>
        </p:nvSpPr>
        <p:spPr>
          <a:xfrm>
            <a:off x="548488" y="1926398"/>
            <a:ext cx="1333416" cy="884321"/>
          </a:xfrm>
          <a:prstGeom prst="flowChartDocument">
            <a:avLst/>
          </a:prstGeom>
          <a:solidFill>
            <a:schemeClr val="accent5">
              <a:lumMod val="20000"/>
              <a:lumOff val="80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cprj</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Build Information</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14" name="Straight Arrow Connector 13">
            <a:extLst>
              <a:ext uri="{FF2B5EF4-FFF2-40B4-BE49-F238E27FC236}">
                <a16:creationId xmlns:a16="http://schemas.microsoft.com/office/drawing/2014/main" id="{0CA20441-F3C2-440A-892E-1359E8990DC5}"/>
              </a:ext>
            </a:extLst>
          </p:cNvPr>
          <p:cNvCxnSpPr>
            <a:cxnSpLocks/>
            <a:stCxn id="6" idx="3"/>
          </p:cNvCxnSpPr>
          <p:nvPr/>
        </p:nvCxnSpPr>
        <p:spPr>
          <a:xfrm flipV="1">
            <a:off x="1881904" y="2368558"/>
            <a:ext cx="321798"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 name="Flowchart: Document 4">
            <a:extLst>
              <a:ext uri="{FF2B5EF4-FFF2-40B4-BE49-F238E27FC236}">
                <a16:creationId xmlns:a16="http://schemas.microsoft.com/office/drawing/2014/main" id="{0C11656B-9672-03E7-FDF0-84E57FB03BB5}"/>
              </a:ext>
            </a:extLst>
          </p:cNvPr>
          <p:cNvSpPr/>
          <p:nvPr/>
        </p:nvSpPr>
        <p:spPr>
          <a:xfrm>
            <a:off x="3861697" y="1926398"/>
            <a:ext cx="1333416" cy="884321"/>
          </a:xfrm>
          <a:prstGeom prst="flowChartDocument">
            <a:avLst/>
          </a:prstGeom>
          <a:solidFill>
            <a:schemeClr val="accent5">
              <a:lumMod val="20000"/>
              <a:lumOff val="80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cmakeLists.txt</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8" name="Straight Arrow Connector 7">
            <a:extLst>
              <a:ext uri="{FF2B5EF4-FFF2-40B4-BE49-F238E27FC236}">
                <a16:creationId xmlns:a16="http://schemas.microsoft.com/office/drawing/2014/main" id="{81500B25-99C7-2763-DC98-7F487ACB22AE}"/>
              </a:ext>
            </a:extLst>
          </p:cNvPr>
          <p:cNvCxnSpPr>
            <a:cxnSpLocks/>
          </p:cNvCxnSpPr>
          <p:nvPr/>
        </p:nvCxnSpPr>
        <p:spPr>
          <a:xfrm flipV="1">
            <a:off x="3539899" y="2368557"/>
            <a:ext cx="321798"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Flowchart: Document 9">
            <a:extLst>
              <a:ext uri="{FF2B5EF4-FFF2-40B4-BE49-F238E27FC236}">
                <a16:creationId xmlns:a16="http://schemas.microsoft.com/office/drawing/2014/main" id="{68C3B83C-D107-7EBC-2A47-7E6486506688}"/>
              </a:ext>
            </a:extLst>
          </p:cNvPr>
          <p:cNvSpPr/>
          <p:nvPr/>
        </p:nvSpPr>
        <p:spPr>
          <a:xfrm>
            <a:off x="3861697" y="3162961"/>
            <a:ext cx="1333416" cy="884321"/>
          </a:xfrm>
          <a:prstGeom prst="flowChartDocument">
            <a:avLst/>
          </a:prstGeom>
          <a:solidFill>
            <a:schemeClr val="accent5">
              <a:lumMod val="20000"/>
              <a:lumOff val="80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compiler_name</a:t>
            </a:r>
            <a:r>
              <a:rPr lang="en-US" sz="1200" dirty="0">
                <a:solidFill>
                  <a:schemeClr val="bg2">
                    <a:lumMod val="25000"/>
                  </a:schemeClr>
                </a:solidFill>
                <a:latin typeface="Calibri"/>
              </a:rPr>
              <a:t>.</a:t>
            </a:r>
            <a:br>
              <a:rPr lang="en-US" sz="1200" dirty="0">
                <a:solidFill>
                  <a:schemeClr val="bg2">
                    <a:lumMod val="25000"/>
                  </a:schemeClr>
                </a:solidFill>
                <a:latin typeface="Calibri"/>
              </a:rPr>
            </a:br>
            <a:r>
              <a:rPr lang="en-US" sz="1200" dirty="0">
                <a:solidFill>
                  <a:schemeClr val="bg2">
                    <a:lumMod val="25000"/>
                  </a:schemeClr>
                </a:solidFill>
                <a:latin typeface="Calibri"/>
              </a:rPr>
              <a:t>&lt;version&gt;.</a:t>
            </a:r>
            <a:r>
              <a:rPr lang="en-US" sz="1200" dirty="0" err="1">
                <a:solidFill>
                  <a:schemeClr val="bg2">
                    <a:lumMod val="25000"/>
                  </a:schemeClr>
                </a:solidFill>
                <a:latin typeface="Calibri"/>
              </a:rPr>
              <a:t>cmake</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11" name="Straight Arrow Connector 10">
            <a:extLst>
              <a:ext uri="{FF2B5EF4-FFF2-40B4-BE49-F238E27FC236}">
                <a16:creationId xmlns:a16="http://schemas.microsoft.com/office/drawing/2014/main" id="{731A56F5-55E9-4785-866B-EB12D236F169}"/>
              </a:ext>
            </a:extLst>
          </p:cNvPr>
          <p:cNvCxnSpPr>
            <a:cxnSpLocks/>
          </p:cNvCxnSpPr>
          <p:nvPr/>
        </p:nvCxnSpPr>
        <p:spPr>
          <a:xfrm flipV="1">
            <a:off x="4528405" y="2752829"/>
            <a:ext cx="0" cy="41013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306AF35-1F98-E958-EB85-5B8517BA09C3}"/>
              </a:ext>
            </a:extLst>
          </p:cNvPr>
          <p:cNvCxnSpPr>
            <a:cxnSpLocks/>
            <a:endCxn id="16" idx="1"/>
          </p:cNvCxnSpPr>
          <p:nvPr/>
        </p:nvCxnSpPr>
        <p:spPr>
          <a:xfrm flipV="1">
            <a:off x="5193722" y="2368558"/>
            <a:ext cx="321798"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4FF1D290-6BB2-718C-BD61-599B552CCA30}"/>
              </a:ext>
            </a:extLst>
          </p:cNvPr>
          <p:cNvSpPr/>
          <p:nvPr/>
        </p:nvSpPr>
        <p:spPr>
          <a:xfrm>
            <a:off x="5515520" y="1924690"/>
            <a:ext cx="1336197" cy="887736"/>
          </a:xfrm>
          <a:prstGeom prst="rect">
            <a:avLst/>
          </a:prstGeom>
          <a:solidFill>
            <a:srgbClr val="92D050"/>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err="1">
                <a:solidFill>
                  <a:srgbClr val="FFFFFF"/>
                </a:solidFill>
                <a:latin typeface="Calibri"/>
              </a:rPr>
              <a:t>CMake</a:t>
            </a: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cxnSp>
        <p:nvCxnSpPr>
          <p:cNvPr id="19" name="Straight Arrow Connector 18">
            <a:extLst>
              <a:ext uri="{FF2B5EF4-FFF2-40B4-BE49-F238E27FC236}">
                <a16:creationId xmlns:a16="http://schemas.microsoft.com/office/drawing/2014/main" id="{92E530E1-F733-F274-052E-3BCBD2B41870}"/>
              </a:ext>
            </a:extLst>
          </p:cNvPr>
          <p:cNvCxnSpPr>
            <a:cxnSpLocks/>
          </p:cNvCxnSpPr>
          <p:nvPr/>
        </p:nvCxnSpPr>
        <p:spPr>
          <a:xfrm flipV="1">
            <a:off x="6851717" y="2368557"/>
            <a:ext cx="321798"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0" name="Flowchart: Document 19">
            <a:extLst>
              <a:ext uri="{FF2B5EF4-FFF2-40B4-BE49-F238E27FC236}">
                <a16:creationId xmlns:a16="http://schemas.microsoft.com/office/drawing/2014/main" id="{19A265DF-EAC6-0336-A1D3-CBB5A8DA01AD}"/>
              </a:ext>
            </a:extLst>
          </p:cNvPr>
          <p:cNvSpPr/>
          <p:nvPr/>
        </p:nvSpPr>
        <p:spPr>
          <a:xfrm>
            <a:off x="7176296" y="1926398"/>
            <a:ext cx="1333416" cy="884321"/>
          </a:xfrm>
          <a:prstGeom prst="flowChartDocument">
            <a:avLst/>
          </a:prstGeom>
          <a:solidFill>
            <a:schemeClr val="accent5">
              <a:lumMod val="20000"/>
              <a:lumOff val="80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err="1">
                <a:solidFill>
                  <a:schemeClr val="bg2">
                    <a:lumMod val="25000"/>
                  </a:schemeClr>
                </a:solidFill>
                <a:latin typeface="Calibri"/>
              </a:rPr>
              <a:t>build.ninja</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27" name="Straight Arrow Connector 26">
            <a:extLst>
              <a:ext uri="{FF2B5EF4-FFF2-40B4-BE49-F238E27FC236}">
                <a16:creationId xmlns:a16="http://schemas.microsoft.com/office/drawing/2014/main" id="{5ADB63A9-73A9-E3BE-9069-FFFB56E5F373}"/>
              </a:ext>
            </a:extLst>
          </p:cNvPr>
          <p:cNvCxnSpPr>
            <a:cxnSpLocks/>
            <a:endCxn id="28" idx="1"/>
          </p:cNvCxnSpPr>
          <p:nvPr/>
        </p:nvCxnSpPr>
        <p:spPr>
          <a:xfrm flipV="1">
            <a:off x="8505540" y="2368558"/>
            <a:ext cx="321798"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0E1DEE49-C821-C90B-A93E-DD33C4029A95}"/>
              </a:ext>
            </a:extLst>
          </p:cNvPr>
          <p:cNvSpPr/>
          <p:nvPr/>
        </p:nvSpPr>
        <p:spPr>
          <a:xfrm>
            <a:off x="8827338" y="1924690"/>
            <a:ext cx="1336197" cy="887736"/>
          </a:xfrm>
          <a:prstGeom prst="rect">
            <a:avLst/>
          </a:prstGeom>
          <a:solidFill>
            <a:srgbClr val="92D050"/>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a:solidFill>
                  <a:srgbClr val="FFFFFF"/>
                </a:solidFill>
                <a:latin typeface="Calibri"/>
              </a:rPr>
              <a:t>Ninja</a:t>
            </a: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 name="Rectangle 1">
            <a:extLst>
              <a:ext uri="{FF2B5EF4-FFF2-40B4-BE49-F238E27FC236}">
                <a16:creationId xmlns:a16="http://schemas.microsoft.com/office/drawing/2014/main" id="{5D4E55D1-8945-8FF2-B6E2-7611F5F95BDB}"/>
              </a:ext>
            </a:extLst>
          </p:cNvPr>
          <p:cNvSpPr/>
          <p:nvPr/>
        </p:nvSpPr>
        <p:spPr>
          <a:xfrm>
            <a:off x="2206481" y="1906152"/>
            <a:ext cx="1333416" cy="904565"/>
          </a:xfrm>
          <a:prstGeom prst="rect">
            <a:avLst/>
          </a:prstGeom>
          <a:solidFill>
            <a:srgbClr val="92D050"/>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defRPr/>
            </a:pPr>
            <a:r>
              <a:rPr lang="en-US" b="1" dirty="0" err="1">
                <a:solidFill>
                  <a:srgbClr val="FFFFFF"/>
                </a:solidFill>
                <a:latin typeface="Calibri"/>
              </a:rPr>
              <a:t>cbuildgen</a:t>
            </a:r>
            <a:endParaRPr kumimoji="0" lang="en-GB" sz="1400" i="1" u="none" strike="noStrike" kern="1200" cap="none" spc="0" normalizeH="0" baseline="0" noProof="0" dirty="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183722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4DC2E64-B24A-84EB-89D2-C83C408FA354}"/>
              </a:ext>
            </a:extLst>
          </p:cNvPr>
          <p:cNvSpPr/>
          <p:nvPr/>
        </p:nvSpPr>
        <p:spPr>
          <a:xfrm>
            <a:off x="3340072" y="639399"/>
            <a:ext cx="1953491" cy="47552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b="1" dirty="0" err="1"/>
              <a:t>cbuild</a:t>
            </a:r>
            <a:endParaRPr lang="en-US" b="1" dirty="0"/>
          </a:p>
        </p:txBody>
      </p:sp>
      <p:sp>
        <p:nvSpPr>
          <p:cNvPr id="5" name="Rectangle 4">
            <a:extLst>
              <a:ext uri="{FF2B5EF4-FFF2-40B4-BE49-F238E27FC236}">
                <a16:creationId xmlns:a16="http://schemas.microsoft.com/office/drawing/2014/main" id="{9D3520FF-C23A-1C0D-E5CC-E5B2AEE3F3C2}"/>
              </a:ext>
            </a:extLst>
          </p:cNvPr>
          <p:cNvSpPr/>
          <p:nvPr/>
        </p:nvSpPr>
        <p:spPr>
          <a:xfrm>
            <a:off x="3576798" y="1107380"/>
            <a:ext cx="1540042" cy="60472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err="1">
                <a:solidFill>
                  <a:srgbClr val="FFFFFF"/>
                </a:solidFill>
                <a:latin typeface="Calibri"/>
              </a:rPr>
              <a:t>cpackget</a:t>
            </a: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1430FCAC-EBDF-54CD-826B-3D7C859D4B18}"/>
              </a:ext>
            </a:extLst>
          </p:cNvPr>
          <p:cNvSpPr/>
          <p:nvPr/>
        </p:nvSpPr>
        <p:spPr>
          <a:xfrm>
            <a:off x="3576798" y="1941423"/>
            <a:ext cx="1540042" cy="60472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err="1">
                <a:solidFill>
                  <a:srgbClr val="FFFFFF"/>
                </a:solidFill>
                <a:latin typeface="Calibri"/>
              </a:rPr>
              <a:t>csolution</a:t>
            </a: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65610416-1B86-46A7-D1AD-C60C88D0E741}"/>
              </a:ext>
            </a:extLst>
          </p:cNvPr>
          <p:cNvSpPr/>
          <p:nvPr/>
        </p:nvSpPr>
        <p:spPr>
          <a:xfrm>
            <a:off x="3576798" y="2775466"/>
            <a:ext cx="1540042" cy="60472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a:solidFill>
                  <a:srgbClr val="FFFFFF"/>
                </a:solidFill>
                <a:latin typeface="Calibri"/>
              </a:rPr>
              <a:t>cbuild2cmake</a:t>
            </a: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8" name="Rectangle 7">
            <a:extLst>
              <a:ext uri="{FF2B5EF4-FFF2-40B4-BE49-F238E27FC236}">
                <a16:creationId xmlns:a16="http://schemas.microsoft.com/office/drawing/2014/main" id="{26639AF6-37A1-09D2-B10F-9C8D714F62E0}"/>
              </a:ext>
            </a:extLst>
          </p:cNvPr>
          <p:cNvSpPr/>
          <p:nvPr/>
        </p:nvSpPr>
        <p:spPr>
          <a:xfrm>
            <a:off x="3576798" y="3609509"/>
            <a:ext cx="1540042" cy="604727"/>
          </a:xfrm>
          <a:prstGeom prst="rect">
            <a:avLst/>
          </a:prstGeom>
          <a:solidFill>
            <a:srgbClr val="92D050"/>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err="1">
                <a:solidFill>
                  <a:srgbClr val="FFFFFF"/>
                </a:solidFill>
                <a:latin typeface="Calibri"/>
              </a:rPr>
              <a:t>CMake</a:t>
            </a: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9" name="Rectangle 8">
            <a:extLst>
              <a:ext uri="{FF2B5EF4-FFF2-40B4-BE49-F238E27FC236}">
                <a16:creationId xmlns:a16="http://schemas.microsoft.com/office/drawing/2014/main" id="{691F808B-48E5-7DAB-76B5-18AACBB542AF}"/>
              </a:ext>
            </a:extLst>
          </p:cNvPr>
          <p:cNvSpPr/>
          <p:nvPr/>
        </p:nvSpPr>
        <p:spPr>
          <a:xfrm>
            <a:off x="3576798" y="4443552"/>
            <a:ext cx="1540042" cy="604727"/>
          </a:xfrm>
          <a:prstGeom prst="rect">
            <a:avLst/>
          </a:prstGeom>
          <a:solidFill>
            <a:srgbClr val="92D050"/>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a:solidFill>
                  <a:srgbClr val="FFFFFF"/>
                </a:solidFill>
                <a:latin typeface="Calibri"/>
              </a:rPr>
              <a:t>Ninja</a:t>
            </a: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1" name="Flowchart: Multidocument 10">
            <a:extLst>
              <a:ext uri="{FF2B5EF4-FFF2-40B4-BE49-F238E27FC236}">
                <a16:creationId xmlns:a16="http://schemas.microsoft.com/office/drawing/2014/main" id="{A9383D4A-87C1-9363-A10D-DF8F1DA1B44D}"/>
              </a:ext>
            </a:extLst>
          </p:cNvPr>
          <p:cNvSpPr/>
          <p:nvPr/>
        </p:nvSpPr>
        <p:spPr>
          <a:xfrm>
            <a:off x="1076133" y="930770"/>
            <a:ext cx="1775717" cy="1179384"/>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b="1" dirty="0">
                <a:solidFill>
                  <a:schemeClr val="bg2">
                    <a:lumMod val="25000"/>
                  </a:schemeClr>
                </a:solidFill>
                <a:latin typeface="Calibri"/>
              </a:rPr>
              <a:t>c</a:t>
            </a:r>
            <a:r>
              <a:rPr kumimoji="0" lang="en-US" sz="1200" b="1" i="0" u="none" strike="noStrike" kern="1200" cap="none" spc="0" normalizeH="0" baseline="0" noProof="0" dirty="0">
                <a:ln>
                  <a:noFill/>
                </a:ln>
                <a:solidFill>
                  <a:schemeClr val="bg2">
                    <a:lumMod val="25000"/>
                  </a:schemeClr>
                </a:solidFill>
                <a:effectLst/>
                <a:uLnTx/>
                <a:uFillTx/>
                <a:latin typeface="Calibri"/>
                <a:ea typeface="+mn-ea"/>
                <a:cs typeface="+mn-cs"/>
              </a:rPr>
              <a:t>solution project </a:t>
            </a: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csolution.yml</a:t>
            </a:r>
            <a:endPar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endParaRPr>
          </a:p>
          <a:p>
            <a:pPr algn="ctr" eaLnBrk="0" fontAlgn="base" hangingPunct="0">
              <a:spcBef>
                <a:spcPct val="0"/>
              </a:spcBef>
              <a:spcAft>
                <a:spcPct val="0"/>
              </a:spcAf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cproject.yml</a:t>
            </a:r>
            <a:endPar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endParaRPr>
          </a:p>
          <a:p>
            <a:pPr algn="ctr" eaLnBrk="0" fontAlgn="base" hangingPunct="0">
              <a:spcBef>
                <a:spcPct val="0"/>
              </a:spcBef>
              <a:spcAft>
                <a:spcPct val="0"/>
              </a:spcAf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clayer.yml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endParaRPr kumimoji="0" lang="en-US" sz="8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2" name="Arrow: Right 11">
            <a:extLst>
              <a:ext uri="{FF2B5EF4-FFF2-40B4-BE49-F238E27FC236}">
                <a16:creationId xmlns:a16="http://schemas.microsoft.com/office/drawing/2014/main" id="{72A17A82-4F8D-7CA3-884C-3DD9C86D674E}"/>
              </a:ext>
            </a:extLst>
          </p:cNvPr>
          <p:cNvSpPr/>
          <p:nvPr/>
        </p:nvSpPr>
        <p:spPr>
          <a:xfrm>
            <a:off x="2850891" y="1162163"/>
            <a:ext cx="489181" cy="358299"/>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13" name="Flowchart: Multidocument 12">
            <a:extLst>
              <a:ext uri="{FF2B5EF4-FFF2-40B4-BE49-F238E27FC236}">
                <a16:creationId xmlns:a16="http://schemas.microsoft.com/office/drawing/2014/main" id="{7FDF61FD-2A25-1CB9-DA85-9DBA03BC21E0}"/>
              </a:ext>
            </a:extLst>
          </p:cNvPr>
          <p:cNvSpPr/>
          <p:nvPr/>
        </p:nvSpPr>
        <p:spPr>
          <a:xfrm>
            <a:off x="1075174" y="2284768"/>
            <a:ext cx="1775717" cy="1179384"/>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b="1" dirty="0">
                <a:solidFill>
                  <a:schemeClr val="bg2">
                    <a:lumMod val="25000"/>
                  </a:schemeClr>
                </a:solidFill>
                <a:latin typeface="Calibri"/>
              </a:rPr>
              <a:t>Software Packs</a:t>
            </a:r>
            <a:br>
              <a:rPr kumimoji="0" lang="en-US" sz="1200" b="1"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Device Family Pack</a:t>
            </a:r>
          </a:p>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a:solidFill>
                  <a:schemeClr val="bg2">
                    <a:lumMod val="25000"/>
                  </a:schemeClr>
                </a:solidFill>
                <a:latin typeface="Calibri"/>
              </a:rPr>
              <a:t>Board Support Pack</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Generic Software Packs</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4" name="Arrow: Right 13">
            <a:extLst>
              <a:ext uri="{FF2B5EF4-FFF2-40B4-BE49-F238E27FC236}">
                <a16:creationId xmlns:a16="http://schemas.microsoft.com/office/drawing/2014/main" id="{D1FF8718-403C-DC60-2AE6-5830AAB885F9}"/>
              </a:ext>
            </a:extLst>
          </p:cNvPr>
          <p:cNvSpPr/>
          <p:nvPr/>
        </p:nvSpPr>
        <p:spPr>
          <a:xfrm>
            <a:off x="2849932" y="2516161"/>
            <a:ext cx="489181" cy="358299"/>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15" name="Flowchart: Multidocument 14">
            <a:extLst>
              <a:ext uri="{FF2B5EF4-FFF2-40B4-BE49-F238E27FC236}">
                <a16:creationId xmlns:a16="http://schemas.microsoft.com/office/drawing/2014/main" id="{EC5B3458-B211-C30D-37F6-BEC962B88339}"/>
              </a:ext>
            </a:extLst>
          </p:cNvPr>
          <p:cNvSpPr/>
          <p:nvPr/>
        </p:nvSpPr>
        <p:spPr>
          <a:xfrm>
            <a:off x="5716624" y="1264983"/>
            <a:ext cx="1775717" cy="1179384"/>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b="1" dirty="0">
                <a:solidFill>
                  <a:schemeClr val="bg2">
                    <a:lumMod val="25000"/>
                  </a:schemeClr>
                </a:solidFill>
                <a:latin typeface="Calibri"/>
              </a:rPr>
              <a:t>Build Information</a:t>
            </a:r>
            <a:br>
              <a:rPr kumimoji="0" lang="en-US" sz="1200" b="1" i="0" u="none" strike="noStrike" kern="1200" cap="none" spc="0" normalizeH="0" baseline="0" noProof="0" dirty="0">
                <a:ln>
                  <a:noFill/>
                </a:ln>
                <a:solidFill>
                  <a:schemeClr val="bg2">
                    <a:lumMod val="25000"/>
                  </a:schemeClr>
                </a:solidFill>
                <a:effectLst/>
                <a:uLnTx/>
                <a:uFillTx/>
                <a:latin typeface="Calibri"/>
                <a:ea typeface="+mn-ea"/>
                <a:cs typeface="+mn-cs"/>
              </a:rPr>
            </a:br>
            <a:r>
              <a:rPr lang="en-US" sz="1200" dirty="0">
                <a:solidFill>
                  <a:schemeClr val="bg2">
                    <a:lumMod val="25000"/>
                  </a:schemeClr>
                </a:solidFill>
                <a:latin typeface="Calibri"/>
              </a:rPr>
              <a:t>list of source files,</a:t>
            </a:r>
            <a:br>
              <a:rPr lang="en-US" sz="1200" dirty="0">
                <a:solidFill>
                  <a:schemeClr val="bg2">
                    <a:lumMod val="25000"/>
                  </a:schemeClr>
                </a:solidFill>
                <a:latin typeface="Calibri"/>
              </a:rPr>
            </a:br>
            <a:r>
              <a:rPr lang="en-US" sz="1200" dirty="0">
                <a:solidFill>
                  <a:schemeClr val="bg2">
                    <a:lumMod val="25000"/>
                  </a:schemeClr>
                </a:solidFill>
                <a:latin typeface="Calibri"/>
              </a:rPr>
              <a:t>packs, tool options,</a:t>
            </a:r>
            <a:br>
              <a:rPr lang="en-US" sz="1200" dirty="0">
                <a:solidFill>
                  <a:schemeClr val="bg2">
                    <a:lumMod val="25000"/>
                  </a:schemeClr>
                </a:solidFill>
                <a:latin typeface="Calibri"/>
              </a:rPr>
            </a:br>
            <a:r>
              <a:rPr lang="en-US" sz="1200" dirty="0">
                <a:solidFill>
                  <a:schemeClr val="bg2">
                    <a:lumMod val="25000"/>
                  </a:schemeClr>
                </a:solidFill>
                <a:latin typeface="Calibri"/>
              </a:rPr>
              <a:t>etc.</a:t>
            </a:r>
          </a:p>
        </p:txBody>
      </p:sp>
      <p:sp>
        <p:nvSpPr>
          <p:cNvPr id="16" name="Arrow: Right 15">
            <a:extLst>
              <a:ext uri="{FF2B5EF4-FFF2-40B4-BE49-F238E27FC236}">
                <a16:creationId xmlns:a16="http://schemas.microsoft.com/office/drawing/2014/main" id="{5823443A-B1FE-CE65-0169-37F0A7F43E13}"/>
              </a:ext>
            </a:extLst>
          </p:cNvPr>
          <p:cNvSpPr/>
          <p:nvPr/>
        </p:nvSpPr>
        <p:spPr>
          <a:xfrm>
            <a:off x="5236440" y="1762902"/>
            <a:ext cx="480183" cy="358299"/>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18" name="Flowchart: Multidocument 17">
            <a:extLst>
              <a:ext uri="{FF2B5EF4-FFF2-40B4-BE49-F238E27FC236}">
                <a16:creationId xmlns:a16="http://schemas.microsoft.com/office/drawing/2014/main" id="{8B01F5FF-C068-13EE-ACB7-A5F210DB70C9}"/>
              </a:ext>
            </a:extLst>
          </p:cNvPr>
          <p:cNvSpPr/>
          <p:nvPr/>
        </p:nvSpPr>
        <p:spPr>
          <a:xfrm>
            <a:off x="1075174" y="3695545"/>
            <a:ext cx="1775717" cy="1179384"/>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b="1" dirty="0">
                <a:solidFill>
                  <a:schemeClr val="bg2">
                    <a:lumMod val="25000"/>
                  </a:schemeClr>
                </a:solidFill>
                <a:latin typeface="Calibri"/>
              </a:rPr>
              <a:t>User source code</a:t>
            </a:r>
            <a:br>
              <a:rPr lang="en-US" sz="1200" b="1" dirty="0">
                <a:solidFill>
                  <a:schemeClr val="bg2">
                    <a:lumMod val="25000"/>
                  </a:schemeClr>
                </a:solidFill>
                <a:latin typeface="Calibri"/>
              </a:rPr>
            </a:br>
            <a:r>
              <a:rPr lang="en-US" sz="1200" b="1" dirty="0">
                <a:solidFill>
                  <a:schemeClr val="bg2">
                    <a:lumMod val="25000"/>
                  </a:schemeClr>
                </a:solidFill>
                <a:latin typeface="Calibri"/>
              </a:rPr>
              <a:t>Configuration files</a:t>
            </a:r>
            <a:br>
              <a:rPr lang="en-US" sz="1200" b="1" dirty="0">
                <a:solidFill>
                  <a:schemeClr val="bg2">
                    <a:lumMod val="25000"/>
                  </a:schemeClr>
                </a:solidFill>
                <a:latin typeface="Calibri"/>
              </a:rPr>
            </a:br>
            <a:r>
              <a:rPr lang="en-US" sz="1200" b="1" dirty="0">
                <a:solidFill>
                  <a:schemeClr val="bg2">
                    <a:lumMod val="25000"/>
                  </a:schemeClr>
                </a:solidFill>
                <a:latin typeface="Calibri"/>
              </a:rPr>
              <a:t>Linker Scripts</a:t>
            </a:r>
            <a:br>
              <a:rPr lang="en-US" sz="1200" b="1" dirty="0">
                <a:solidFill>
                  <a:schemeClr val="bg2">
                    <a:lumMod val="25000"/>
                  </a:schemeClr>
                </a:solidFill>
                <a:latin typeface="Calibri"/>
              </a:rPr>
            </a:br>
            <a:endParaRPr kumimoji="0" lang="en-US" sz="8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9" name="Arrow: Right 18">
            <a:extLst>
              <a:ext uri="{FF2B5EF4-FFF2-40B4-BE49-F238E27FC236}">
                <a16:creationId xmlns:a16="http://schemas.microsoft.com/office/drawing/2014/main" id="{E8B1B8DB-B43A-7FFB-646F-722580E856CD}"/>
              </a:ext>
            </a:extLst>
          </p:cNvPr>
          <p:cNvSpPr/>
          <p:nvPr/>
        </p:nvSpPr>
        <p:spPr>
          <a:xfrm>
            <a:off x="2849931" y="3911872"/>
            <a:ext cx="489181" cy="358299"/>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20" name="Flowchart: Multidocument 19">
            <a:extLst>
              <a:ext uri="{FF2B5EF4-FFF2-40B4-BE49-F238E27FC236}">
                <a16:creationId xmlns:a16="http://schemas.microsoft.com/office/drawing/2014/main" id="{64B7E417-3377-6130-D450-C394F3F8458C}"/>
              </a:ext>
            </a:extLst>
          </p:cNvPr>
          <p:cNvSpPr/>
          <p:nvPr/>
        </p:nvSpPr>
        <p:spPr>
          <a:xfrm>
            <a:off x="5716623" y="4091021"/>
            <a:ext cx="1775717" cy="1179384"/>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b="1" dirty="0">
                <a:solidFill>
                  <a:schemeClr val="bg2">
                    <a:lumMod val="25000"/>
                  </a:schemeClr>
                </a:solidFill>
                <a:latin typeface="Calibri"/>
              </a:rPr>
              <a:t>Build Output</a:t>
            </a:r>
            <a:br>
              <a:rPr lang="en-US" sz="1200" b="1" dirty="0">
                <a:solidFill>
                  <a:schemeClr val="bg2">
                    <a:lumMod val="25000"/>
                  </a:schemeClr>
                </a:solidFill>
                <a:latin typeface="Calibri"/>
              </a:rPr>
            </a:br>
            <a:r>
              <a:rPr lang="en-US" sz="1200" dirty="0">
                <a:solidFill>
                  <a:schemeClr val="bg2">
                    <a:lumMod val="25000"/>
                  </a:schemeClr>
                </a:solidFill>
                <a:latin typeface="Calibri"/>
              </a:rPr>
              <a:t>Elf/Dwarf files</a:t>
            </a:r>
            <a:br>
              <a:rPr lang="en-US" sz="1200" dirty="0">
                <a:solidFill>
                  <a:schemeClr val="bg2">
                    <a:lumMod val="25000"/>
                  </a:schemeClr>
                </a:solidFill>
                <a:latin typeface="Calibri"/>
              </a:rPr>
            </a:br>
            <a:r>
              <a:rPr lang="en-US" sz="1200" dirty="0">
                <a:solidFill>
                  <a:schemeClr val="bg2">
                    <a:lumMod val="25000"/>
                  </a:schemeClr>
                </a:solidFill>
                <a:latin typeface="Calibri"/>
              </a:rPr>
              <a:t>Map files</a:t>
            </a:r>
          </a:p>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a:solidFill>
                  <a:schemeClr val="bg2">
                    <a:lumMod val="25000"/>
                  </a:schemeClr>
                </a:solidFill>
                <a:latin typeface="Calibri"/>
              </a:rPr>
              <a:t>etc.</a:t>
            </a:r>
            <a:br>
              <a:rPr lang="en-US" sz="1200" b="1" dirty="0">
                <a:solidFill>
                  <a:schemeClr val="bg2">
                    <a:lumMod val="25000"/>
                  </a:schemeClr>
                </a:solidFill>
                <a:latin typeface="Calibri"/>
              </a:rPr>
            </a:br>
            <a:endParaRPr kumimoji="0" lang="en-US" sz="8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21" name="Arrow: Right 20">
            <a:extLst>
              <a:ext uri="{FF2B5EF4-FFF2-40B4-BE49-F238E27FC236}">
                <a16:creationId xmlns:a16="http://schemas.microsoft.com/office/drawing/2014/main" id="{A3E2957A-A4E1-F44C-6350-A49EFEFABBF6}"/>
              </a:ext>
            </a:extLst>
          </p:cNvPr>
          <p:cNvSpPr/>
          <p:nvPr/>
        </p:nvSpPr>
        <p:spPr>
          <a:xfrm>
            <a:off x="5236440" y="4566765"/>
            <a:ext cx="480183" cy="358299"/>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3" name="Arrow: Right 2">
            <a:extLst>
              <a:ext uri="{FF2B5EF4-FFF2-40B4-BE49-F238E27FC236}">
                <a16:creationId xmlns:a16="http://schemas.microsoft.com/office/drawing/2014/main" id="{3DA27B6D-518C-82F2-785E-90138A54CF0E}"/>
              </a:ext>
            </a:extLst>
          </p:cNvPr>
          <p:cNvSpPr/>
          <p:nvPr/>
        </p:nvSpPr>
        <p:spPr>
          <a:xfrm>
            <a:off x="5287078" y="2948429"/>
            <a:ext cx="438543" cy="358299"/>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4" name="Flowchart: Document 3">
            <a:extLst>
              <a:ext uri="{FF2B5EF4-FFF2-40B4-BE49-F238E27FC236}">
                <a16:creationId xmlns:a16="http://schemas.microsoft.com/office/drawing/2014/main" id="{6EB8671F-3E3C-B51A-14C4-05946A7B6159}"/>
              </a:ext>
            </a:extLst>
          </p:cNvPr>
          <p:cNvSpPr/>
          <p:nvPr/>
        </p:nvSpPr>
        <p:spPr>
          <a:xfrm>
            <a:off x="5730863" y="2667538"/>
            <a:ext cx="1551911" cy="962356"/>
          </a:xfrm>
          <a:prstGeom prst="flowChart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en-US" sz="1200" b="1" dirty="0">
                <a:solidFill>
                  <a:schemeClr val="bg2">
                    <a:lumMod val="25000"/>
                  </a:schemeClr>
                </a:solidFill>
                <a:latin typeface="Calibri"/>
              </a:rPr>
              <a:t>Run and Debug</a:t>
            </a:r>
            <a:br>
              <a:rPr lang="en-US" sz="1200" b="1" dirty="0">
                <a:solidFill>
                  <a:schemeClr val="bg2">
                    <a:lumMod val="25000"/>
                  </a:schemeClr>
                </a:solidFill>
                <a:latin typeface="Calibri"/>
              </a:rPr>
            </a:br>
            <a:r>
              <a:rPr lang="en-US" sz="1200" b="1" dirty="0">
                <a:solidFill>
                  <a:schemeClr val="bg2">
                    <a:lumMod val="25000"/>
                  </a:schemeClr>
                </a:solidFill>
                <a:latin typeface="Calibri"/>
              </a:rPr>
              <a:t>Configuration</a:t>
            </a:r>
            <a:br>
              <a:rPr lang="en-US" sz="1200" b="1" dirty="0">
                <a:solidFill>
                  <a:schemeClr val="bg2">
                    <a:lumMod val="25000"/>
                  </a:schemeClr>
                </a:solidFill>
                <a:latin typeface="Calibri"/>
              </a:rPr>
            </a:br>
            <a:r>
              <a:rPr lang="en-US" sz="1200" dirty="0">
                <a:solidFill>
                  <a:schemeClr val="bg2">
                    <a:lumMod val="25000"/>
                  </a:schemeClr>
                </a:solidFill>
                <a:latin typeface="Calibri"/>
              </a:rPr>
              <a:t>for a complete</a:t>
            </a:r>
            <a:br>
              <a:rPr lang="en-US" sz="1200" dirty="0">
                <a:solidFill>
                  <a:schemeClr val="bg2">
                    <a:lumMod val="25000"/>
                  </a:schemeClr>
                </a:solidFill>
                <a:latin typeface="Calibri"/>
              </a:rPr>
            </a:br>
            <a:r>
              <a:rPr lang="en-US" sz="1200" dirty="0">
                <a:solidFill>
                  <a:schemeClr val="bg2">
                    <a:lumMod val="25000"/>
                  </a:schemeClr>
                </a:solidFill>
                <a:latin typeface="Calibri"/>
              </a:rPr>
              <a:t>target application</a:t>
            </a:r>
            <a:endParaRPr lang="en-US" sz="1200" b="1" dirty="0">
              <a:solidFill>
                <a:schemeClr val="bg2">
                  <a:lumMod val="25000"/>
                </a:schemeClr>
              </a:solidFill>
              <a:latin typeface="Calibri"/>
            </a:endParaRPr>
          </a:p>
        </p:txBody>
      </p:sp>
    </p:spTree>
    <p:extLst>
      <p:ext uri="{BB962C8B-B14F-4D97-AF65-F5344CB8AC3E}">
        <p14:creationId xmlns:p14="http://schemas.microsoft.com/office/powerpoint/2010/main" val="9305966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95D73-B188-84F8-7D30-44C3C39048B0}"/>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723390D9-D0CC-6362-7209-D80B286C2336}"/>
              </a:ext>
            </a:extLst>
          </p:cNvPr>
          <p:cNvSpPr>
            <a:spLocks noGrp="1"/>
          </p:cNvSpPr>
          <p:nvPr>
            <p:ph type="body" sz="quarter" idx="13"/>
          </p:nvPr>
        </p:nvSpPr>
        <p:spPr/>
        <p:txBody>
          <a:bodyPr/>
          <a:lstStyle/>
          <a:p>
            <a:endParaRPr lang="en-US"/>
          </a:p>
        </p:txBody>
      </p:sp>
      <p:sp>
        <p:nvSpPr>
          <p:cNvPr id="8" name="Rectangle 7">
            <a:extLst>
              <a:ext uri="{FF2B5EF4-FFF2-40B4-BE49-F238E27FC236}">
                <a16:creationId xmlns:a16="http://schemas.microsoft.com/office/drawing/2014/main" id="{D13266ED-BFD0-BC69-13B2-289244316CE2}"/>
              </a:ext>
            </a:extLst>
          </p:cNvPr>
          <p:cNvSpPr/>
          <p:nvPr/>
        </p:nvSpPr>
        <p:spPr>
          <a:xfrm>
            <a:off x="3273424" y="2200275"/>
            <a:ext cx="1830931" cy="26786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Arduino </a:t>
            </a:r>
            <a:br>
              <a:rPr lang="en-US" dirty="0"/>
            </a:br>
            <a:r>
              <a:rPr lang="en-US" dirty="0"/>
              <a:t>Shield</a:t>
            </a:r>
          </a:p>
        </p:txBody>
      </p:sp>
      <p:sp>
        <p:nvSpPr>
          <p:cNvPr id="9" name="Rectangle 8">
            <a:extLst>
              <a:ext uri="{FF2B5EF4-FFF2-40B4-BE49-F238E27FC236}">
                <a16:creationId xmlns:a16="http://schemas.microsoft.com/office/drawing/2014/main" id="{38B0A83D-02D9-022E-A5DB-9A5F91449287}"/>
              </a:ext>
            </a:extLst>
          </p:cNvPr>
          <p:cNvSpPr/>
          <p:nvPr/>
        </p:nvSpPr>
        <p:spPr>
          <a:xfrm>
            <a:off x="4895850" y="2701088"/>
            <a:ext cx="138112" cy="20625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62B680B-C8A0-E07A-FB7D-3C866DF9377B}"/>
              </a:ext>
            </a:extLst>
          </p:cNvPr>
          <p:cNvSpPr/>
          <p:nvPr/>
        </p:nvSpPr>
        <p:spPr>
          <a:xfrm>
            <a:off x="4942039" y="2749761"/>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5AE062E-01E0-7C6B-6098-656CA2213E84}"/>
              </a:ext>
            </a:extLst>
          </p:cNvPr>
          <p:cNvSpPr/>
          <p:nvPr/>
        </p:nvSpPr>
        <p:spPr>
          <a:xfrm>
            <a:off x="4942039" y="2859806"/>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1FA54CA-8ACA-D15D-49E0-5A64EE9DBFC1}"/>
              </a:ext>
            </a:extLst>
          </p:cNvPr>
          <p:cNvSpPr/>
          <p:nvPr/>
        </p:nvSpPr>
        <p:spPr>
          <a:xfrm>
            <a:off x="4942039" y="2969851"/>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6C026A2-301E-94AD-B160-A3CD1C316EA9}"/>
              </a:ext>
            </a:extLst>
          </p:cNvPr>
          <p:cNvSpPr/>
          <p:nvPr/>
        </p:nvSpPr>
        <p:spPr>
          <a:xfrm>
            <a:off x="4942039" y="3079896"/>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F133FA1-84A6-F254-A15C-221CDCD024B2}"/>
              </a:ext>
            </a:extLst>
          </p:cNvPr>
          <p:cNvSpPr/>
          <p:nvPr/>
        </p:nvSpPr>
        <p:spPr>
          <a:xfrm>
            <a:off x="4942039" y="3189941"/>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90357AB-5A13-37BB-56A6-755D4ADD54FB}"/>
              </a:ext>
            </a:extLst>
          </p:cNvPr>
          <p:cNvSpPr/>
          <p:nvPr/>
        </p:nvSpPr>
        <p:spPr>
          <a:xfrm>
            <a:off x="4942039" y="3299986"/>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CBBB82F-6A12-F218-6EF6-20C1612E5B5C}"/>
              </a:ext>
            </a:extLst>
          </p:cNvPr>
          <p:cNvSpPr/>
          <p:nvPr/>
        </p:nvSpPr>
        <p:spPr>
          <a:xfrm>
            <a:off x="4942039" y="3410031"/>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AD66489-911A-AC54-70E9-99874634907D}"/>
              </a:ext>
            </a:extLst>
          </p:cNvPr>
          <p:cNvSpPr/>
          <p:nvPr/>
        </p:nvSpPr>
        <p:spPr>
          <a:xfrm>
            <a:off x="4942039" y="3520076"/>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83EF4C2-2BF6-28AC-BFC2-8DC0D87D1B29}"/>
              </a:ext>
            </a:extLst>
          </p:cNvPr>
          <p:cNvSpPr/>
          <p:nvPr/>
        </p:nvSpPr>
        <p:spPr>
          <a:xfrm>
            <a:off x="4942039" y="3630121"/>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23A13B7-3B08-76A9-435A-694795483982}"/>
              </a:ext>
            </a:extLst>
          </p:cNvPr>
          <p:cNvSpPr/>
          <p:nvPr/>
        </p:nvSpPr>
        <p:spPr>
          <a:xfrm>
            <a:off x="4942039" y="3740169"/>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2D44485-348F-423A-5EBF-7DCC13AAB213}"/>
              </a:ext>
            </a:extLst>
          </p:cNvPr>
          <p:cNvSpPr/>
          <p:nvPr/>
        </p:nvSpPr>
        <p:spPr>
          <a:xfrm>
            <a:off x="4943578" y="3901187"/>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C745D830-C541-7F34-6F91-3789D31DF293}"/>
              </a:ext>
            </a:extLst>
          </p:cNvPr>
          <p:cNvSpPr/>
          <p:nvPr/>
        </p:nvSpPr>
        <p:spPr>
          <a:xfrm>
            <a:off x="4943578" y="4011232"/>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C27C529E-41EE-0F8C-AF05-4EA9C7B533A1}"/>
              </a:ext>
            </a:extLst>
          </p:cNvPr>
          <p:cNvSpPr/>
          <p:nvPr/>
        </p:nvSpPr>
        <p:spPr>
          <a:xfrm>
            <a:off x="4943578" y="4121277"/>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C9348181-5CAA-3AF3-6C72-9911D7106D83}"/>
              </a:ext>
            </a:extLst>
          </p:cNvPr>
          <p:cNvSpPr/>
          <p:nvPr/>
        </p:nvSpPr>
        <p:spPr>
          <a:xfrm>
            <a:off x="4943578" y="4231322"/>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1C945181-B84E-807D-D2FE-45B50DBBFDE5}"/>
              </a:ext>
            </a:extLst>
          </p:cNvPr>
          <p:cNvSpPr/>
          <p:nvPr/>
        </p:nvSpPr>
        <p:spPr>
          <a:xfrm>
            <a:off x="4943578" y="4341367"/>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13BA0CD-4BE8-BF83-15B7-C051166A86AB}"/>
              </a:ext>
            </a:extLst>
          </p:cNvPr>
          <p:cNvSpPr/>
          <p:nvPr/>
        </p:nvSpPr>
        <p:spPr>
          <a:xfrm>
            <a:off x="4943578" y="4451412"/>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E14E4940-0891-4979-8D86-7B7A31A619D8}"/>
              </a:ext>
            </a:extLst>
          </p:cNvPr>
          <p:cNvSpPr/>
          <p:nvPr/>
        </p:nvSpPr>
        <p:spPr>
          <a:xfrm>
            <a:off x="4943578" y="4561457"/>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D11CC2F9-197D-C94A-CB3B-A559B7C3F8FD}"/>
              </a:ext>
            </a:extLst>
          </p:cNvPr>
          <p:cNvSpPr/>
          <p:nvPr/>
        </p:nvSpPr>
        <p:spPr>
          <a:xfrm>
            <a:off x="4943578" y="4671505"/>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6BF57875-9523-E22A-C523-E834C4F9134D}"/>
              </a:ext>
            </a:extLst>
          </p:cNvPr>
          <p:cNvSpPr/>
          <p:nvPr/>
        </p:nvSpPr>
        <p:spPr>
          <a:xfrm>
            <a:off x="3354628" y="3083729"/>
            <a:ext cx="138112" cy="167989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E687F212-F6D0-E952-FE58-165B3118B81C}"/>
              </a:ext>
            </a:extLst>
          </p:cNvPr>
          <p:cNvSpPr/>
          <p:nvPr/>
        </p:nvSpPr>
        <p:spPr>
          <a:xfrm>
            <a:off x="3400817" y="3126753"/>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5566D78A-7A32-EFA8-3DCF-8F42AF087DF2}"/>
              </a:ext>
            </a:extLst>
          </p:cNvPr>
          <p:cNvSpPr/>
          <p:nvPr/>
        </p:nvSpPr>
        <p:spPr>
          <a:xfrm>
            <a:off x="3400817" y="3236798"/>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4CF3FF09-3DE1-DBA0-BF3E-5FAB22A465D0}"/>
              </a:ext>
            </a:extLst>
          </p:cNvPr>
          <p:cNvSpPr/>
          <p:nvPr/>
        </p:nvSpPr>
        <p:spPr>
          <a:xfrm>
            <a:off x="3400817" y="3346843"/>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9918C515-D10E-1C4B-86B0-ECCE018BEA09}"/>
              </a:ext>
            </a:extLst>
          </p:cNvPr>
          <p:cNvSpPr/>
          <p:nvPr/>
        </p:nvSpPr>
        <p:spPr>
          <a:xfrm>
            <a:off x="3400817" y="3456888"/>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6C0D578B-762B-30E9-FCC2-25384E0786EC}"/>
              </a:ext>
            </a:extLst>
          </p:cNvPr>
          <p:cNvSpPr/>
          <p:nvPr/>
        </p:nvSpPr>
        <p:spPr>
          <a:xfrm>
            <a:off x="3400817" y="3566933"/>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78261049-9712-0701-C5FF-078417592DBA}"/>
              </a:ext>
            </a:extLst>
          </p:cNvPr>
          <p:cNvSpPr/>
          <p:nvPr/>
        </p:nvSpPr>
        <p:spPr>
          <a:xfrm>
            <a:off x="3400817" y="3676978"/>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4F3D2E82-9A12-B723-6C03-8A0A658954D0}"/>
              </a:ext>
            </a:extLst>
          </p:cNvPr>
          <p:cNvSpPr/>
          <p:nvPr/>
        </p:nvSpPr>
        <p:spPr>
          <a:xfrm>
            <a:off x="3400817" y="3787023"/>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43E4B777-134F-1F62-995E-9B6916070002}"/>
              </a:ext>
            </a:extLst>
          </p:cNvPr>
          <p:cNvSpPr/>
          <p:nvPr/>
        </p:nvSpPr>
        <p:spPr>
          <a:xfrm>
            <a:off x="3400817" y="3897071"/>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23C247AF-BE2B-7945-61C8-A99C54574C50}"/>
              </a:ext>
            </a:extLst>
          </p:cNvPr>
          <p:cNvSpPr/>
          <p:nvPr/>
        </p:nvSpPr>
        <p:spPr>
          <a:xfrm>
            <a:off x="3402356" y="4108889"/>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F8442E4D-E0CC-69D8-1AE3-13007C7EB04D}"/>
              </a:ext>
            </a:extLst>
          </p:cNvPr>
          <p:cNvSpPr/>
          <p:nvPr/>
        </p:nvSpPr>
        <p:spPr>
          <a:xfrm>
            <a:off x="3402356" y="4218934"/>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4543E64C-2BD6-B818-B46C-E5AC139C22FE}"/>
              </a:ext>
            </a:extLst>
          </p:cNvPr>
          <p:cNvSpPr/>
          <p:nvPr/>
        </p:nvSpPr>
        <p:spPr>
          <a:xfrm>
            <a:off x="3402356" y="4328979"/>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32E21A25-97F6-64D2-DE4E-6A39C4608C71}"/>
              </a:ext>
            </a:extLst>
          </p:cNvPr>
          <p:cNvSpPr/>
          <p:nvPr/>
        </p:nvSpPr>
        <p:spPr>
          <a:xfrm>
            <a:off x="3402356" y="4439024"/>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8ABB2E33-55F5-6F6A-12B9-F1F6235E7BE6}"/>
              </a:ext>
            </a:extLst>
          </p:cNvPr>
          <p:cNvSpPr/>
          <p:nvPr/>
        </p:nvSpPr>
        <p:spPr>
          <a:xfrm>
            <a:off x="3402356" y="4549069"/>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97F52618-BA26-8AF9-7967-F76EBABCA9CF}"/>
              </a:ext>
            </a:extLst>
          </p:cNvPr>
          <p:cNvSpPr/>
          <p:nvPr/>
        </p:nvSpPr>
        <p:spPr>
          <a:xfrm>
            <a:off x="3402356" y="4659114"/>
            <a:ext cx="45719" cy="4571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10BBF964-BB8D-B4F5-8103-F33A6BE21455}"/>
              </a:ext>
            </a:extLst>
          </p:cNvPr>
          <p:cNvSpPr/>
          <p:nvPr/>
        </p:nvSpPr>
        <p:spPr>
          <a:xfrm>
            <a:off x="5185558" y="4642110"/>
            <a:ext cx="365125"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D0</a:t>
            </a:r>
          </a:p>
        </p:txBody>
      </p:sp>
      <p:sp>
        <p:nvSpPr>
          <p:cNvPr id="62" name="Rectangle 61">
            <a:extLst>
              <a:ext uri="{FF2B5EF4-FFF2-40B4-BE49-F238E27FC236}">
                <a16:creationId xmlns:a16="http://schemas.microsoft.com/office/drawing/2014/main" id="{68EBFD87-364E-8FEC-44A0-EE63B3C1CF1D}"/>
              </a:ext>
            </a:extLst>
          </p:cNvPr>
          <p:cNvSpPr/>
          <p:nvPr/>
        </p:nvSpPr>
        <p:spPr>
          <a:xfrm>
            <a:off x="5185558" y="4532062"/>
            <a:ext cx="365125"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D1</a:t>
            </a:r>
          </a:p>
        </p:txBody>
      </p:sp>
      <p:cxnSp>
        <p:nvCxnSpPr>
          <p:cNvPr id="64" name="Straight Connector 63">
            <a:extLst>
              <a:ext uri="{FF2B5EF4-FFF2-40B4-BE49-F238E27FC236}">
                <a16:creationId xmlns:a16="http://schemas.microsoft.com/office/drawing/2014/main" id="{AD671479-2CCC-586F-1C12-BD2EA4B55416}"/>
              </a:ext>
            </a:extLst>
          </p:cNvPr>
          <p:cNvCxnSpPr>
            <a:cxnSpLocks/>
            <a:stCxn id="39" idx="3"/>
            <a:endCxn id="62" idx="1"/>
          </p:cNvCxnSpPr>
          <p:nvPr/>
        </p:nvCxnSpPr>
        <p:spPr>
          <a:xfrm flipV="1">
            <a:off x="4989297" y="4584316"/>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A2198A93-8DDD-0701-C87D-AE89888E975E}"/>
              </a:ext>
            </a:extLst>
          </p:cNvPr>
          <p:cNvCxnSpPr>
            <a:cxnSpLocks/>
          </p:cNvCxnSpPr>
          <p:nvPr/>
        </p:nvCxnSpPr>
        <p:spPr>
          <a:xfrm flipV="1">
            <a:off x="4989297" y="4691250"/>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BCB53F96-B426-A3B4-6F46-6ADE1B860D79}"/>
              </a:ext>
            </a:extLst>
          </p:cNvPr>
          <p:cNvSpPr/>
          <p:nvPr/>
        </p:nvSpPr>
        <p:spPr>
          <a:xfrm>
            <a:off x="5185558" y="4421675"/>
            <a:ext cx="365125"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D2</a:t>
            </a:r>
          </a:p>
        </p:txBody>
      </p:sp>
      <p:sp>
        <p:nvSpPr>
          <p:cNvPr id="72" name="Rectangle 71">
            <a:extLst>
              <a:ext uri="{FF2B5EF4-FFF2-40B4-BE49-F238E27FC236}">
                <a16:creationId xmlns:a16="http://schemas.microsoft.com/office/drawing/2014/main" id="{203C76B6-311E-CCFD-D3DA-B7BDC7FEEC1E}"/>
              </a:ext>
            </a:extLst>
          </p:cNvPr>
          <p:cNvSpPr/>
          <p:nvPr/>
        </p:nvSpPr>
        <p:spPr>
          <a:xfrm>
            <a:off x="5185558" y="4311627"/>
            <a:ext cx="365125"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D3</a:t>
            </a:r>
          </a:p>
        </p:txBody>
      </p:sp>
      <p:cxnSp>
        <p:nvCxnSpPr>
          <p:cNvPr id="73" name="Straight Connector 72">
            <a:extLst>
              <a:ext uri="{FF2B5EF4-FFF2-40B4-BE49-F238E27FC236}">
                <a16:creationId xmlns:a16="http://schemas.microsoft.com/office/drawing/2014/main" id="{508CED75-7A19-4063-88D3-90268D4159B3}"/>
              </a:ext>
            </a:extLst>
          </p:cNvPr>
          <p:cNvCxnSpPr>
            <a:cxnSpLocks/>
            <a:endCxn id="72" idx="1"/>
          </p:cNvCxnSpPr>
          <p:nvPr/>
        </p:nvCxnSpPr>
        <p:spPr>
          <a:xfrm flipV="1">
            <a:off x="4989297" y="4363881"/>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9F9DF7D-9A90-2219-7ACB-AF1FC43B26D1}"/>
              </a:ext>
            </a:extLst>
          </p:cNvPr>
          <p:cNvCxnSpPr>
            <a:cxnSpLocks/>
          </p:cNvCxnSpPr>
          <p:nvPr/>
        </p:nvCxnSpPr>
        <p:spPr>
          <a:xfrm flipV="1">
            <a:off x="4989297" y="4470815"/>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53089D2E-C8BC-8A3D-AB22-F270A7E70A15}"/>
              </a:ext>
            </a:extLst>
          </p:cNvPr>
          <p:cNvSpPr/>
          <p:nvPr/>
        </p:nvSpPr>
        <p:spPr>
          <a:xfrm>
            <a:off x="5185558" y="4201927"/>
            <a:ext cx="365125"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D4</a:t>
            </a:r>
          </a:p>
        </p:txBody>
      </p:sp>
      <p:sp>
        <p:nvSpPr>
          <p:cNvPr id="76" name="Rectangle 75">
            <a:extLst>
              <a:ext uri="{FF2B5EF4-FFF2-40B4-BE49-F238E27FC236}">
                <a16:creationId xmlns:a16="http://schemas.microsoft.com/office/drawing/2014/main" id="{A0B5F4D1-C0E2-C8FB-4A9D-EBF8EC4D22C6}"/>
              </a:ext>
            </a:extLst>
          </p:cNvPr>
          <p:cNvSpPr/>
          <p:nvPr/>
        </p:nvSpPr>
        <p:spPr>
          <a:xfrm>
            <a:off x="5185558" y="4091879"/>
            <a:ext cx="365125"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D5</a:t>
            </a:r>
          </a:p>
        </p:txBody>
      </p:sp>
      <p:cxnSp>
        <p:nvCxnSpPr>
          <p:cNvPr id="77" name="Straight Connector 76">
            <a:extLst>
              <a:ext uri="{FF2B5EF4-FFF2-40B4-BE49-F238E27FC236}">
                <a16:creationId xmlns:a16="http://schemas.microsoft.com/office/drawing/2014/main" id="{EBBFC5F8-1E52-817E-25A3-888FBA6F977C}"/>
              </a:ext>
            </a:extLst>
          </p:cNvPr>
          <p:cNvCxnSpPr>
            <a:cxnSpLocks/>
            <a:endCxn id="76" idx="1"/>
          </p:cNvCxnSpPr>
          <p:nvPr/>
        </p:nvCxnSpPr>
        <p:spPr>
          <a:xfrm flipV="1">
            <a:off x="4989297" y="4144133"/>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3C63315-C19E-6D1B-73B4-E0DA8A3FA0A0}"/>
              </a:ext>
            </a:extLst>
          </p:cNvPr>
          <p:cNvCxnSpPr>
            <a:cxnSpLocks/>
          </p:cNvCxnSpPr>
          <p:nvPr/>
        </p:nvCxnSpPr>
        <p:spPr>
          <a:xfrm flipV="1">
            <a:off x="4989297" y="4251067"/>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9" name="Rectangle 78">
            <a:extLst>
              <a:ext uri="{FF2B5EF4-FFF2-40B4-BE49-F238E27FC236}">
                <a16:creationId xmlns:a16="http://schemas.microsoft.com/office/drawing/2014/main" id="{8070FF39-18BA-89E2-878F-47C1C9A73D4F}"/>
              </a:ext>
            </a:extLst>
          </p:cNvPr>
          <p:cNvSpPr/>
          <p:nvPr/>
        </p:nvSpPr>
        <p:spPr>
          <a:xfrm>
            <a:off x="5185558" y="3981492"/>
            <a:ext cx="365125"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D6</a:t>
            </a:r>
          </a:p>
        </p:txBody>
      </p:sp>
      <p:sp>
        <p:nvSpPr>
          <p:cNvPr id="80" name="Rectangle 79">
            <a:extLst>
              <a:ext uri="{FF2B5EF4-FFF2-40B4-BE49-F238E27FC236}">
                <a16:creationId xmlns:a16="http://schemas.microsoft.com/office/drawing/2014/main" id="{06856F59-A2AC-BC0C-B0C9-BD073E461E1C}"/>
              </a:ext>
            </a:extLst>
          </p:cNvPr>
          <p:cNvSpPr/>
          <p:nvPr/>
        </p:nvSpPr>
        <p:spPr>
          <a:xfrm>
            <a:off x="5185558" y="3871444"/>
            <a:ext cx="365125"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D7</a:t>
            </a:r>
          </a:p>
        </p:txBody>
      </p:sp>
      <p:cxnSp>
        <p:nvCxnSpPr>
          <p:cNvPr id="81" name="Straight Connector 80">
            <a:extLst>
              <a:ext uri="{FF2B5EF4-FFF2-40B4-BE49-F238E27FC236}">
                <a16:creationId xmlns:a16="http://schemas.microsoft.com/office/drawing/2014/main" id="{BC092D19-43DD-837F-B1BB-0EA93344FF00}"/>
              </a:ext>
            </a:extLst>
          </p:cNvPr>
          <p:cNvCxnSpPr>
            <a:cxnSpLocks/>
            <a:endCxn id="80" idx="1"/>
          </p:cNvCxnSpPr>
          <p:nvPr/>
        </p:nvCxnSpPr>
        <p:spPr>
          <a:xfrm flipV="1">
            <a:off x="4989297" y="3923698"/>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AF2A27BE-3334-6BBE-0896-4045D0D85674}"/>
              </a:ext>
            </a:extLst>
          </p:cNvPr>
          <p:cNvCxnSpPr>
            <a:cxnSpLocks/>
          </p:cNvCxnSpPr>
          <p:nvPr/>
        </p:nvCxnSpPr>
        <p:spPr>
          <a:xfrm flipV="1">
            <a:off x="4989297" y="4030632"/>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83" name="Rectangle 82">
            <a:extLst>
              <a:ext uri="{FF2B5EF4-FFF2-40B4-BE49-F238E27FC236}">
                <a16:creationId xmlns:a16="http://schemas.microsoft.com/office/drawing/2014/main" id="{D6907903-F8D8-FD31-49DF-7278C29E6F86}"/>
              </a:ext>
            </a:extLst>
          </p:cNvPr>
          <p:cNvSpPr/>
          <p:nvPr/>
        </p:nvSpPr>
        <p:spPr>
          <a:xfrm>
            <a:off x="5185558" y="3707995"/>
            <a:ext cx="365125"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D8</a:t>
            </a:r>
          </a:p>
        </p:txBody>
      </p:sp>
      <p:sp>
        <p:nvSpPr>
          <p:cNvPr id="84" name="Rectangle 83">
            <a:extLst>
              <a:ext uri="{FF2B5EF4-FFF2-40B4-BE49-F238E27FC236}">
                <a16:creationId xmlns:a16="http://schemas.microsoft.com/office/drawing/2014/main" id="{B4FFAB00-1D73-DF6D-D579-4336EE348454}"/>
              </a:ext>
            </a:extLst>
          </p:cNvPr>
          <p:cNvSpPr/>
          <p:nvPr/>
        </p:nvSpPr>
        <p:spPr>
          <a:xfrm>
            <a:off x="5185558" y="3597947"/>
            <a:ext cx="365125"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D9</a:t>
            </a:r>
          </a:p>
        </p:txBody>
      </p:sp>
      <p:cxnSp>
        <p:nvCxnSpPr>
          <p:cNvPr id="85" name="Straight Connector 84">
            <a:extLst>
              <a:ext uri="{FF2B5EF4-FFF2-40B4-BE49-F238E27FC236}">
                <a16:creationId xmlns:a16="http://schemas.microsoft.com/office/drawing/2014/main" id="{5476A0AE-CFF5-1E23-4F66-28BF12209F57}"/>
              </a:ext>
            </a:extLst>
          </p:cNvPr>
          <p:cNvCxnSpPr>
            <a:cxnSpLocks/>
            <a:endCxn id="84" idx="1"/>
          </p:cNvCxnSpPr>
          <p:nvPr/>
        </p:nvCxnSpPr>
        <p:spPr>
          <a:xfrm flipV="1">
            <a:off x="4989297" y="3650201"/>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832E246A-A160-DA88-6E73-5A1309620674}"/>
              </a:ext>
            </a:extLst>
          </p:cNvPr>
          <p:cNvCxnSpPr>
            <a:cxnSpLocks/>
          </p:cNvCxnSpPr>
          <p:nvPr/>
        </p:nvCxnSpPr>
        <p:spPr>
          <a:xfrm flipV="1">
            <a:off x="4989297" y="3757135"/>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87" name="Rectangle 86">
            <a:extLst>
              <a:ext uri="{FF2B5EF4-FFF2-40B4-BE49-F238E27FC236}">
                <a16:creationId xmlns:a16="http://schemas.microsoft.com/office/drawing/2014/main" id="{405A1BD3-4BBC-FBD4-2442-70088E3BCC52}"/>
              </a:ext>
            </a:extLst>
          </p:cNvPr>
          <p:cNvSpPr/>
          <p:nvPr/>
        </p:nvSpPr>
        <p:spPr>
          <a:xfrm>
            <a:off x="5185558" y="3487560"/>
            <a:ext cx="365125"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D10</a:t>
            </a:r>
          </a:p>
        </p:txBody>
      </p:sp>
      <p:sp>
        <p:nvSpPr>
          <p:cNvPr id="88" name="Rectangle 87">
            <a:extLst>
              <a:ext uri="{FF2B5EF4-FFF2-40B4-BE49-F238E27FC236}">
                <a16:creationId xmlns:a16="http://schemas.microsoft.com/office/drawing/2014/main" id="{48773525-9DCD-AA7F-6334-A00E4DCD4274}"/>
              </a:ext>
            </a:extLst>
          </p:cNvPr>
          <p:cNvSpPr/>
          <p:nvPr/>
        </p:nvSpPr>
        <p:spPr>
          <a:xfrm>
            <a:off x="5185558" y="3377512"/>
            <a:ext cx="365125"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D11</a:t>
            </a:r>
          </a:p>
        </p:txBody>
      </p:sp>
      <p:cxnSp>
        <p:nvCxnSpPr>
          <p:cNvPr id="89" name="Straight Connector 88">
            <a:extLst>
              <a:ext uri="{FF2B5EF4-FFF2-40B4-BE49-F238E27FC236}">
                <a16:creationId xmlns:a16="http://schemas.microsoft.com/office/drawing/2014/main" id="{B28FBE7E-F668-A599-4E3A-C6E084A23F7E}"/>
              </a:ext>
            </a:extLst>
          </p:cNvPr>
          <p:cNvCxnSpPr>
            <a:cxnSpLocks/>
            <a:endCxn id="88" idx="1"/>
          </p:cNvCxnSpPr>
          <p:nvPr/>
        </p:nvCxnSpPr>
        <p:spPr>
          <a:xfrm flipV="1">
            <a:off x="4989297" y="3429766"/>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898F1D82-5869-39C3-A9AB-5F7688C8BF15}"/>
              </a:ext>
            </a:extLst>
          </p:cNvPr>
          <p:cNvCxnSpPr>
            <a:cxnSpLocks/>
          </p:cNvCxnSpPr>
          <p:nvPr/>
        </p:nvCxnSpPr>
        <p:spPr>
          <a:xfrm flipV="1">
            <a:off x="4989297" y="3536700"/>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91" name="Rectangle 90">
            <a:extLst>
              <a:ext uri="{FF2B5EF4-FFF2-40B4-BE49-F238E27FC236}">
                <a16:creationId xmlns:a16="http://schemas.microsoft.com/office/drawing/2014/main" id="{54BCF1D4-4227-BE58-7744-80E011D2F7B5}"/>
              </a:ext>
            </a:extLst>
          </p:cNvPr>
          <p:cNvSpPr/>
          <p:nvPr/>
        </p:nvSpPr>
        <p:spPr>
          <a:xfrm>
            <a:off x="5185558" y="3267812"/>
            <a:ext cx="365125"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D12</a:t>
            </a:r>
          </a:p>
        </p:txBody>
      </p:sp>
      <p:sp>
        <p:nvSpPr>
          <p:cNvPr id="92" name="Rectangle 91">
            <a:extLst>
              <a:ext uri="{FF2B5EF4-FFF2-40B4-BE49-F238E27FC236}">
                <a16:creationId xmlns:a16="http://schemas.microsoft.com/office/drawing/2014/main" id="{03421574-6BEA-3EA7-9306-F4E4A6B73CA7}"/>
              </a:ext>
            </a:extLst>
          </p:cNvPr>
          <p:cNvSpPr/>
          <p:nvPr/>
        </p:nvSpPr>
        <p:spPr>
          <a:xfrm>
            <a:off x="5185558" y="3157764"/>
            <a:ext cx="365125"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D13</a:t>
            </a:r>
          </a:p>
        </p:txBody>
      </p:sp>
      <p:cxnSp>
        <p:nvCxnSpPr>
          <p:cNvPr id="93" name="Straight Connector 92">
            <a:extLst>
              <a:ext uri="{FF2B5EF4-FFF2-40B4-BE49-F238E27FC236}">
                <a16:creationId xmlns:a16="http://schemas.microsoft.com/office/drawing/2014/main" id="{75E37F4A-67DD-DF5F-A6D3-378CFA290977}"/>
              </a:ext>
            </a:extLst>
          </p:cNvPr>
          <p:cNvCxnSpPr>
            <a:cxnSpLocks/>
            <a:endCxn id="92" idx="1"/>
          </p:cNvCxnSpPr>
          <p:nvPr/>
        </p:nvCxnSpPr>
        <p:spPr>
          <a:xfrm flipV="1">
            <a:off x="4989297" y="3210018"/>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1964731-CF42-8D0F-D287-D33067606116}"/>
              </a:ext>
            </a:extLst>
          </p:cNvPr>
          <p:cNvCxnSpPr>
            <a:cxnSpLocks/>
          </p:cNvCxnSpPr>
          <p:nvPr/>
        </p:nvCxnSpPr>
        <p:spPr>
          <a:xfrm flipV="1">
            <a:off x="4989297" y="3316952"/>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95" name="Rectangle 94">
            <a:extLst>
              <a:ext uri="{FF2B5EF4-FFF2-40B4-BE49-F238E27FC236}">
                <a16:creationId xmlns:a16="http://schemas.microsoft.com/office/drawing/2014/main" id="{F5B05CF0-1BB3-2C6D-76CA-74861B43B67E}"/>
              </a:ext>
            </a:extLst>
          </p:cNvPr>
          <p:cNvSpPr/>
          <p:nvPr/>
        </p:nvSpPr>
        <p:spPr>
          <a:xfrm>
            <a:off x="5185558" y="3047377"/>
            <a:ext cx="365125" cy="10450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GND</a:t>
            </a:r>
          </a:p>
        </p:txBody>
      </p:sp>
      <p:sp>
        <p:nvSpPr>
          <p:cNvPr id="96" name="Rectangle 95">
            <a:extLst>
              <a:ext uri="{FF2B5EF4-FFF2-40B4-BE49-F238E27FC236}">
                <a16:creationId xmlns:a16="http://schemas.microsoft.com/office/drawing/2014/main" id="{5C65E29E-C87E-FFD6-6B21-E8CD3BD34B47}"/>
              </a:ext>
            </a:extLst>
          </p:cNvPr>
          <p:cNvSpPr/>
          <p:nvPr/>
        </p:nvSpPr>
        <p:spPr>
          <a:xfrm>
            <a:off x="5185558" y="2937329"/>
            <a:ext cx="365125" cy="104507"/>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AREF</a:t>
            </a:r>
          </a:p>
        </p:txBody>
      </p:sp>
      <p:cxnSp>
        <p:nvCxnSpPr>
          <p:cNvPr id="97" name="Straight Connector 96">
            <a:extLst>
              <a:ext uri="{FF2B5EF4-FFF2-40B4-BE49-F238E27FC236}">
                <a16:creationId xmlns:a16="http://schemas.microsoft.com/office/drawing/2014/main" id="{846BF68E-5315-654A-823D-682E9C15C4D8}"/>
              </a:ext>
            </a:extLst>
          </p:cNvPr>
          <p:cNvCxnSpPr>
            <a:cxnSpLocks/>
            <a:endCxn id="96" idx="1"/>
          </p:cNvCxnSpPr>
          <p:nvPr/>
        </p:nvCxnSpPr>
        <p:spPr>
          <a:xfrm flipV="1">
            <a:off x="4989297" y="2989583"/>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EAA6B61A-774C-ABDD-8406-E8BF1930C523}"/>
              </a:ext>
            </a:extLst>
          </p:cNvPr>
          <p:cNvCxnSpPr>
            <a:cxnSpLocks/>
          </p:cNvCxnSpPr>
          <p:nvPr/>
        </p:nvCxnSpPr>
        <p:spPr>
          <a:xfrm flipV="1">
            <a:off x="4989297" y="3096517"/>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99" name="Rectangle 98">
            <a:extLst>
              <a:ext uri="{FF2B5EF4-FFF2-40B4-BE49-F238E27FC236}">
                <a16:creationId xmlns:a16="http://schemas.microsoft.com/office/drawing/2014/main" id="{B3BB4DE5-F192-AE67-FEAE-883618126581}"/>
              </a:ext>
            </a:extLst>
          </p:cNvPr>
          <p:cNvSpPr/>
          <p:nvPr/>
        </p:nvSpPr>
        <p:spPr>
          <a:xfrm>
            <a:off x="5185558" y="2823369"/>
            <a:ext cx="365125"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D20</a:t>
            </a:r>
          </a:p>
        </p:txBody>
      </p:sp>
      <p:sp>
        <p:nvSpPr>
          <p:cNvPr id="100" name="Rectangle 99">
            <a:extLst>
              <a:ext uri="{FF2B5EF4-FFF2-40B4-BE49-F238E27FC236}">
                <a16:creationId xmlns:a16="http://schemas.microsoft.com/office/drawing/2014/main" id="{BB59D03D-4E89-8228-901B-41AA83F05734}"/>
              </a:ext>
            </a:extLst>
          </p:cNvPr>
          <p:cNvSpPr/>
          <p:nvPr/>
        </p:nvSpPr>
        <p:spPr>
          <a:xfrm>
            <a:off x="5185558" y="2713321"/>
            <a:ext cx="365125"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D21</a:t>
            </a:r>
          </a:p>
        </p:txBody>
      </p:sp>
      <p:cxnSp>
        <p:nvCxnSpPr>
          <p:cNvPr id="101" name="Straight Connector 100">
            <a:extLst>
              <a:ext uri="{FF2B5EF4-FFF2-40B4-BE49-F238E27FC236}">
                <a16:creationId xmlns:a16="http://schemas.microsoft.com/office/drawing/2014/main" id="{58A76208-BCDD-A4D1-44ED-CE1071B25378}"/>
              </a:ext>
            </a:extLst>
          </p:cNvPr>
          <p:cNvCxnSpPr>
            <a:cxnSpLocks/>
            <a:endCxn id="100" idx="1"/>
          </p:cNvCxnSpPr>
          <p:nvPr/>
        </p:nvCxnSpPr>
        <p:spPr>
          <a:xfrm flipV="1">
            <a:off x="4989297" y="2765575"/>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6B1A9895-7B81-9C13-1029-634C0400696C}"/>
              </a:ext>
            </a:extLst>
          </p:cNvPr>
          <p:cNvCxnSpPr>
            <a:cxnSpLocks/>
          </p:cNvCxnSpPr>
          <p:nvPr/>
        </p:nvCxnSpPr>
        <p:spPr>
          <a:xfrm flipV="1">
            <a:off x="4989297" y="2872509"/>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03" name="Rectangle 102">
            <a:extLst>
              <a:ext uri="{FF2B5EF4-FFF2-40B4-BE49-F238E27FC236}">
                <a16:creationId xmlns:a16="http://schemas.microsoft.com/office/drawing/2014/main" id="{6D01ACFA-9FB5-AA32-AF60-A73A10041FC3}"/>
              </a:ext>
            </a:extLst>
          </p:cNvPr>
          <p:cNvSpPr/>
          <p:nvPr/>
        </p:nvSpPr>
        <p:spPr>
          <a:xfrm>
            <a:off x="5564177" y="2823644"/>
            <a:ext cx="365125" cy="104507"/>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SDA</a:t>
            </a:r>
          </a:p>
        </p:txBody>
      </p:sp>
      <p:sp>
        <p:nvSpPr>
          <p:cNvPr id="104" name="Rectangle 103">
            <a:extLst>
              <a:ext uri="{FF2B5EF4-FFF2-40B4-BE49-F238E27FC236}">
                <a16:creationId xmlns:a16="http://schemas.microsoft.com/office/drawing/2014/main" id="{6940DD74-E0BE-B000-840A-97FD2822595E}"/>
              </a:ext>
            </a:extLst>
          </p:cNvPr>
          <p:cNvSpPr/>
          <p:nvPr/>
        </p:nvSpPr>
        <p:spPr>
          <a:xfrm>
            <a:off x="5564177" y="2713596"/>
            <a:ext cx="365125" cy="104507"/>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SCL</a:t>
            </a:r>
          </a:p>
        </p:txBody>
      </p:sp>
      <p:sp>
        <p:nvSpPr>
          <p:cNvPr id="105" name="TextBox 104">
            <a:extLst>
              <a:ext uri="{FF2B5EF4-FFF2-40B4-BE49-F238E27FC236}">
                <a16:creationId xmlns:a16="http://schemas.microsoft.com/office/drawing/2014/main" id="{F5A511ED-CFC1-563B-7E54-A2E25E801985}"/>
              </a:ext>
            </a:extLst>
          </p:cNvPr>
          <p:cNvSpPr txBox="1"/>
          <p:nvPr/>
        </p:nvSpPr>
        <p:spPr>
          <a:xfrm>
            <a:off x="5974557" y="2740523"/>
            <a:ext cx="483394" cy="1661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dirty="0">
                <a:solidFill>
                  <a:schemeClr val="tx2"/>
                </a:solidFill>
              </a:rPr>
              <a:t>I2C</a:t>
            </a:r>
            <a:endParaRPr lang="en-US" sz="1200" kern="1200" dirty="0">
              <a:solidFill>
                <a:schemeClr val="tx2"/>
              </a:solidFill>
              <a:latin typeface="+mn-lt"/>
              <a:ea typeface="+mn-ea"/>
              <a:cs typeface="+mn-cs"/>
            </a:endParaRPr>
          </a:p>
        </p:txBody>
      </p:sp>
      <p:sp>
        <p:nvSpPr>
          <p:cNvPr id="106" name="Rectangle 105">
            <a:extLst>
              <a:ext uri="{FF2B5EF4-FFF2-40B4-BE49-F238E27FC236}">
                <a16:creationId xmlns:a16="http://schemas.microsoft.com/office/drawing/2014/main" id="{17899DF5-102B-C4A3-03DF-06A0AA837249}"/>
              </a:ext>
            </a:extLst>
          </p:cNvPr>
          <p:cNvSpPr/>
          <p:nvPr/>
        </p:nvSpPr>
        <p:spPr>
          <a:xfrm>
            <a:off x="5565200" y="4642110"/>
            <a:ext cx="365125" cy="104507"/>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RXD</a:t>
            </a:r>
          </a:p>
        </p:txBody>
      </p:sp>
      <p:sp>
        <p:nvSpPr>
          <p:cNvPr id="107" name="Rectangle 106">
            <a:extLst>
              <a:ext uri="{FF2B5EF4-FFF2-40B4-BE49-F238E27FC236}">
                <a16:creationId xmlns:a16="http://schemas.microsoft.com/office/drawing/2014/main" id="{51AC4A08-41E1-4B61-6240-922790E649C9}"/>
              </a:ext>
            </a:extLst>
          </p:cNvPr>
          <p:cNvSpPr/>
          <p:nvPr/>
        </p:nvSpPr>
        <p:spPr>
          <a:xfrm>
            <a:off x="5565200" y="4532062"/>
            <a:ext cx="365125" cy="104507"/>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TXD</a:t>
            </a:r>
          </a:p>
        </p:txBody>
      </p:sp>
      <p:sp>
        <p:nvSpPr>
          <p:cNvPr id="108" name="TextBox 107">
            <a:extLst>
              <a:ext uri="{FF2B5EF4-FFF2-40B4-BE49-F238E27FC236}">
                <a16:creationId xmlns:a16="http://schemas.microsoft.com/office/drawing/2014/main" id="{2BC9694A-9EDF-6335-D9E9-D8569251B7DC}"/>
              </a:ext>
            </a:extLst>
          </p:cNvPr>
          <p:cNvSpPr txBox="1"/>
          <p:nvPr/>
        </p:nvSpPr>
        <p:spPr>
          <a:xfrm>
            <a:off x="5975580" y="4558989"/>
            <a:ext cx="483394" cy="1661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dirty="0">
                <a:solidFill>
                  <a:schemeClr val="tx2"/>
                </a:solidFill>
              </a:rPr>
              <a:t>UART</a:t>
            </a:r>
            <a:endParaRPr lang="en-US" sz="1200" kern="1200" dirty="0">
              <a:solidFill>
                <a:schemeClr val="tx2"/>
              </a:solidFill>
              <a:latin typeface="+mn-lt"/>
              <a:ea typeface="+mn-ea"/>
              <a:cs typeface="+mn-cs"/>
            </a:endParaRPr>
          </a:p>
        </p:txBody>
      </p:sp>
      <p:sp>
        <p:nvSpPr>
          <p:cNvPr id="109" name="Rectangle 108">
            <a:extLst>
              <a:ext uri="{FF2B5EF4-FFF2-40B4-BE49-F238E27FC236}">
                <a16:creationId xmlns:a16="http://schemas.microsoft.com/office/drawing/2014/main" id="{1DCC89EE-6A77-2DEA-6C0A-A7349B9E2CF3}"/>
              </a:ext>
            </a:extLst>
          </p:cNvPr>
          <p:cNvSpPr/>
          <p:nvPr/>
        </p:nvSpPr>
        <p:spPr>
          <a:xfrm>
            <a:off x="2945606" y="4635368"/>
            <a:ext cx="260911"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D19</a:t>
            </a:r>
          </a:p>
        </p:txBody>
      </p:sp>
      <p:sp>
        <p:nvSpPr>
          <p:cNvPr id="110" name="Rectangle 109">
            <a:extLst>
              <a:ext uri="{FF2B5EF4-FFF2-40B4-BE49-F238E27FC236}">
                <a16:creationId xmlns:a16="http://schemas.microsoft.com/office/drawing/2014/main" id="{5AD61065-024C-7E72-1731-2C71FB253812}"/>
              </a:ext>
            </a:extLst>
          </p:cNvPr>
          <p:cNvSpPr/>
          <p:nvPr/>
        </p:nvSpPr>
        <p:spPr>
          <a:xfrm>
            <a:off x="2945606" y="4525320"/>
            <a:ext cx="260911"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D18</a:t>
            </a:r>
          </a:p>
        </p:txBody>
      </p:sp>
      <p:sp>
        <p:nvSpPr>
          <p:cNvPr id="111" name="Rectangle 110">
            <a:extLst>
              <a:ext uri="{FF2B5EF4-FFF2-40B4-BE49-F238E27FC236}">
                <a16:creationId xmlns:a16="http://schemas.microsoft.com/office/drawing/2014/main" id="{FCBA2918-E636-E3CF-00AC-6D66233EB242}"/>
              </a:ext>
            </a:extLst>
          </p:cNvPr>
          <p:cNvSpPr/>
          <p:nvPr/>
        </p:nvSpPr>
        <p:spPr>
          <a:xfrm>
            <a:off x="2945606" y="4414933"/>
            <a:ext cx="260911"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D17</a:t>
            </a:r>
          </a:p>
        </p:txBody>
      </p:sp>
      <p:sp>
        <p:nvSpPr>
          <p:cNvPr id="112" name="Rectangle 111">
            <a:extLst>
              <a:ext uri="{FF2B5EF4-FFF2-40B4-BE49-F238E27FC236}">
                <a16:creationId xmlns:a16="http://schemas.microsoft.com/office/drawing/2014/main" id="{B113AC8A-1C2E-A56F-252B-6294106D76B8}"/>
              </a:ext>
            </a:extLst>
          </p:cNvPr>
          <p:cNvSpPr/>
          <p:nvPr/>
        </p:nvSpPr>
        <p:spPr>
          <a:xfrm>
            <a:off x="2945606" y="4304885"/>
            <a:ext cx="260911"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D16</a:t>
            </a:r>
          </a:p>
        </p:txBody>
      </p:sp>
      <p:sp>
        <p:nvSpPr>
          <p:cNvPr id="113" name="Rectangle 112">
            <a:extLst>
              <a:ext uri="{FF2B5EF4-FFF2-40B4-BE49-F238E27FC236}">
                <a16:creationId xmlns:a16="http://schemas.microsoft.com/office/drawing/2014/main" id="{55E6170E-8605-1022-776C-98C2D378C51A}"/>
              </a:ext>
            </a:extLst>
          </p:cNvPr>
          <p:cNvSpPr/>
          <p:nvPr/>
        </p:nvSpPr>
        <p:spPr>
          <a:xfrm>
            <a:off x="2945606" y="4195185"/>
            <a:ext cx="260911"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D15</a:t>
            </a:r>
          </a:p>
        </p:txBody>
      </p:sp>
      <p:sp>
        <p:nvSpPr>
          <p:cNvPr id="114" name="Rectangle 113">
            <a:extLst>
              <a:ext uri="{FF2B5EF4-FFF2-40B4-BE49-F238E27FC236}">
                <a16:creationId xmlns:a16="http://schemas.microsoft.com/office/drawing/2014/main" id="{3214AE12-DAF5-AE8C-7C27-FD8209D4372D}"/>
              </a:ext>
            </a:extLst>
          </p:cNvPr>
          <p:cNvSpPr/>
          <p:nvPr/>
        </p:nvSpPr>
        <p:spPr>
          <a:xfrm>
            <a:off x="2945606" y="4085137"/>
            <a:ext cx="260911" cy="10450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D14</a:t>
            </a:r>
          </a:p>
        </p:txBody>
      </p:sp>
      <p:sp>
        <p:nvSpPr>
          <p:cNvPr id="117" name="Rectangle 116">
            <a:extLst>
              <a:ext uri="{FF2B5EF4-FFF2-40B4-BE49-F238E27FC236}">
                <a16:creationId xmlns:a16="http://schemas.microsoft.com/office/drawing/2014/main" id="{847DDC68-34F3-81F7-2494-2CEAD92DF4F3}"/>
              </a:ext>
            </a:extLst>
          </p:cNvPr>
          <p:cNvSpPr/>
          <p:nvPr/>
        </p:nvSpPr>
        <p:spPr>
          <a:xfrm>
            <a:off x="2838714" y="3868372"/>
            <a:ext cx="365125" cy="1045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VIN</a:t>
            </a:r>
          </a:p>
        </p:txBody>
      </p:sp>
      <p:sp>
        <p:nvSpPr>
          <p:cNvPr id="118" name="Rectangle 117">
            <a:extLst>
              <a:ext uri="{FF2B5EF4-FFF2-40B4-BE49-F238E27FC236}">
                <a16:creationId xmlns:a16="http://schemas.microsoft.com/office/drawing/2014/main" id="{2DCB08B7-6FE0-34D8-71E5-C606EEFB5BA3}"/>
              </a:ext>
            </a:extLst>
          </p:cNvPr>
          <p:cNvSpPr/>
          <p:nvPr/>
        </p:nvSpPr>
        <p:spPr>
          <a:xfrm>
            <a:off x="2838714" y="3758324"/>
            <a:ext cx="365125" cy="10450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GND</a:t>
            </a:r>
          </a:p>
        </p:txBody>
      </p:sp>
      <p:sp>
        <p:nvSpPr>
          <p:cNvPr id="119" name="Rectangle 118">
            <a:extLst>
              <a:ext uri="{FF2B5EF4-FFF2-40B4-BE49-F238E27FC236}">
                <a16:creationId xmlns:a16="http://schemas.microsoft.com/office/drawing/2014/main" id="{7E34DE38-F5B7-0CD8-EC45-25AE6D90AFB3}"/>
              </a:ext>
            </a:extLst>
          </p:cNvPr>
          <p:cNvSpPr/>
          <p:nvPr/>
        </p:nvSpPr>
        <p:spPr>
          <a:xfrm>
            <a:off x="2838714" y="3647937"/>
            <a:ext cx="365125" cy="10450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GND</a:t>
            </a:r>
          </a:p>
        </p:txBody>
      </p:sp>
      <p:sp>
        <p:nvSpPr>
          <p:cNvPr id="120" name="Rectangle 119">
            <a:extLst>
              <a:ext uri="{FF2B5EF4-FFF2-40B4-BE49-F238E27FC236}">
                <a16:creationId xmlns:a16="http://schemas.microsoft.com/office/drawing/2014/main" id="{BB7010D0-0812-1417-7383-C5C8E233CB21}"/>
              </a:ext>
            </a:extLst>
          </p:cNvPr>
          <p:cNvSpPr/>
          <p:nvPr/>
        </p:nvSpPr>
        <p:spPr>
          <a:xfrm>
            <a:off x="2838714" y="3537889"/>
            <a:ext cx="365125" cy="1045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+5V</a:t>
            </a:r>
          </a:p>
        </p:txBody>
      </p:sp>
      <p:sp>
        <p:nvSpPr>
          <p:cNvPr id="121" name="Rectangle 120">
            <a:extLst>
              <a:ext uri="{FF2B5EF4-FFF2-40B4-BE49-F238E27FC236}">
                <a16:creationId xmlns:a16="http://schemas.microsoft.com/office/drawing/2014/main" id="{9DBE02D1-82CB-6CDB-53FF-12196574E0BB}"/>
              </a:ext>
            </a:extLst>
          </p:cNvPr>
          <p:cNvSpPr/>
          <p:nvPr/>
        </p:nvSpPr>
        <p:spPr>
          <a:xfrm>
            <a:off x="2838714" y="3428189"/>
            <a:ext cx="365125" cy="1045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+3V3</a:t>
            </a:r>
          </a:p>
        </p:txBody>
      </p:sp>
      <p:sp>
        <p:nvSpPr>
          <p:cNvPr id="122" name="Rectangle 121">
            <a:extLst>
              <a:ext uri="{FF2B5EF4-FFF2-40B4-BE49-F238E27FC236}">
                <a16:creationId xmlns:a16="http://schemas.microsoft.com/office/drawing/2014/main" id="{92A056A0-D6AD-3143-07B9-8A26BC6F9561}"/>
              </a:ext>
            </a:extLst>
          </p:cNvPr>
          <p:cNvSpPr/>
          <p:nvPr/>
        </p:nvSpPr>
        <p:spPr>
          <a:xfrm>
            <a:off x="2838714" y="3318141"/>
            <a:ext cx="365125" cy="104507"/>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Reset</a:t>
            </a:r>
          </a:p>
        </p:txBody>
      </p:sp>
      <p:sp>
        <p:nvSpPr>
          <p:cNvPr id="123" name="Rectangle 122">
            <a:extLst>
              <a:ext uri="{FF2B5EF4-FFF2-40B4-BE49-F238E27FC236}">
                <a16:creationId xmlns:a16="http://schemas.microsoft.com/office/drawing/2014/main" id="{D12779F3-FE66-816D-DD05-A8F46DB2D56C}"/>
              </a:ext>
            </a:extLst>
          </p:cNvPr>
          <p:cNvSpPr/>
          <p:nvPr/>
        </p:nvSpPr>
        <p:spPr>
          <a:xfrm>
            <a:off x="2838714" y="3207754"/>
            <a:ext cx="365125" cy="104507"/>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IOREF</a:t>
            </a:r>
          </a:p>
        </p:txBody>
      </p:sp>
      <p:sp>
        <p:nvSpPr>
          <p:cNvPr id="124" name="Rectangle 123">
            <a:extLst>
              <a:ext uri="{FF2B5EF4-FFF2-40B4-BE49-F238E27FC236}">
                <a16:creationId xmlns:a16="http://schemas.microsoft.com/office/drawing/2014/main" id="{A97C7492-1C5F-F745-7F5A-C363D193C32F}"/>
              </a:ext>
            </a:extLst>
          </p:cNvPr>
          <p:cNvSpPr/>
          <p:nvPr/>
        </p:nvSpPr>
        <p:spPr>
          <a:xfrm>
            <a:off x="2838714" y="3097706"/>
            <a:ext cx="365125" cy="10450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NC</a:t>
            </a:r>
          </a:p>
        </p:txBody>
      </p:sp>
      <p:cxnSp>
        <p:nvCxnSpPr>
          <p:cNvPr id="127" name="Straight Connector 126">
            <a:extLst>
              <a:ext uri="{FF2B5EF4-FFF2-40B4-BE49-F238E27FC236}">
                <a16:creationId xmlns:a16="http://schemas.microsoft.com/office/drawing/2014/main" id="{9E4F71CB-AA37-683B-FF38-9582D3E65315}"/>
              </a:ext>
            </a:extLst>
          </p:cNvPr>
          <p:cNvCxnSpPr>
            <a:cxnSpLocks/>
          </p:cNvCxnSpPr>
          <p:nvPr/>
        </p:nvCxnSpPr>
        <p:spPr>
          <a:xfrm flipV="1">
            <a:off x="3201758" y="3813368"/>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796CFE5-F6DE-C574-6D95-1B294629C9F8}"/>
              </a:ext>
            </a:extLst>
          </p:cNvPr>
          <p:cNvCxnSpPr>
            <a:cxnSpLocks/>
          </p:cNvCxnSpPr>
          <p:nvPr/>
        </p:nvCxnSpPr>
        <p:spPr>
          <a:xfrm flipV="1">
            <a:off x="3201758" y="3920302"/>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647355A3-6888-8DFA-4BB4-8AB1AEF8F95F}"/>
              </a:ext>
            </a:extLst>
          </p:cNvPr>
          <p:cNvCxnSpPr>
            <a:cxnSpLocks/>
          </p:cNvCxnSpPr>
          <p:nvPr/>
        </p:nvCxnSpPr>
        <p:spPr>
          <a:xfrm flipV="1">
            <a:off x="3201758" y="3592933"/>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2AE203AF-78BB-471E-8A69-75684410D881}"/>
              </a:ext>
            </a:extLst>
          </p:cNvPr>
          <p:cNvCxnSpPr>
            <a:cxnSpLocks/>
          </p:cNvCxnSpPr>
          <p:nvPr/>
        </p:nvCxnSpPr>
        <p:spPr>
          <a:xfrm flipV="1">
            <a:off x="3201758" y="3699867"/>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7E90D094-05A6-A633-AD1D-B00D9F83BD1E}"/>
              </a:ext>
            </a:extLst>
          </p:cNvPr>
          <p:cNvCxnSpPr>
            <a:cxnSpLocks/>
          </p:cNvCxnSpPr>
          <p:nvPr/>
        </p:nvCxnSpPr>
        <p:spPr>
          <a:xfrm flipV="1">
            <a:off x="3201758" y="3373185"/>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C4DBB65E-9B60-CBE7-699B-9BFDF0702659}"/>
              </a:ext>
            </a:extLst>
          </p:cNvPr>
          <p:cNvCxnSpPr>
            <a:cxnSpLocks/>
          </p:cNvCxnSpPr>
          <p:nvPr/>
        </p:nvCxnSpPr>
        <p:spPr>
          <a:xfrm flipV="1">
            <a:off x="3201758" y="3480119"/>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3A82CA1C-B116-6183-D6A7-19644704C28B}"/>
              </a:ext>
            </a:extLst>
          </p:cNvPr>
          <p:cNvCxnSpPr>
            <a:cxnSpLocks/>
          </p:cNvCxnSpPr>
          <p:nvPr/>
        </p:nvCxnSpPr>
        <p:spPr>
          <a:xfrm flipV="1">
            <a:off x="3201758" y="3152750"/>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5427866B-449F-D11B-8D27-4AA27EAA7127}"/>
              </a:ext>
            </a:extLst>
          </p:cNvPr>
          <p:cNvCxnSpPr>
            <a:cxnSpLocks/>
          </p:cNvCxnSpPr>
          <p:nvPr/>
        </p:nvCxnSpPr>
        <p:spPr>
          <a:xfrm flipV="1">
            <a:off x="3201758" y="3259684"/>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E23CE928-9B26-419D-5BB5-7B51595542A8}"/>
              </a:ext>
            </a:extLst>
          </p:cNvPr>
          <p:cNvCxnSpPr>
            <a:cxnSpLocks/>
          </p:cNvCxnSpPr>
          <p:nvPr/>
        </p:nvCxnSpPr>
        <p:spPr>
          <a:xfrm flipV="1">
            <a:off x="3204137" y="4575372"/>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F9049296-465B-AE32-ABC5-3629A0FD25B2}"/>
              </a:ext>
            </a:extLst>
          </p:cNvPr>
          <p:cNvCxnSpPr>
            <a:cxnSpLocks/>
          </p:cNvCxnSpPr>
          <p:nvPr/>
        </p:nvCxnSpPr>
        <p:spPr>
          <a:xfrm flipV="1">
            <a:off x="3204137" y="4682306"/>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A00805DF-8B89-6A87-2CC1-12459A96B840}"/>
              </a:ext>
            </a:extLst>
          </p:cNvPr>
          <p:cNvCxnSpPr>
            <a:cxnSpLocks/>
          </p:cNvCxnSpPr>
          <p:nvPr/>
        </p:nvCxnSpPr>
        <p:spPr>
          <a:xfrm flipV="1">
            <a:off x="3204137" y="4354937"/>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417A400C-5076-D65D-65D6-4894BA27AAE7}"/>
              </a:ext>
            </a:extLst>
          </p:cNvPr>
          <p:cNvCxnSpPr>
            <a:cxnSpLocks/>
          </p:cNvCxnSpPr>
          <p:nvPr/>
        </p:nvCxnSpPr>
        <p:spPr>
          <a:xfrm flipV="1">
            <a:off x="3204137" y="4461871"/>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E1C4CDD1-6915-79F1-F773-DCBB4BF3C24D}"/>
              </a:ext>
            </a:extLst>
          </p:cNvPr>
          <p:cNvCxnSpPr>
            <a:cxnSpLocks/>
          </p:cNvCxnSpPr>
          <p:nvPr/>
        </p:nvCxnSpPr>
        <p:spPr>
          <a:xfrm flipV="1">
            <a:off x="3204137" y="4135189"/>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83ABE065-EED1-ACA9-2BFF-BFE738E5EE35}"/>
              </a:ext>
            </a:extLst>
          </p:cNvPr>
          <p:cNvCxnSpPr>
            <a:cxnSpLocks/>
          </p:cNvCxnSpPr>
          <p:nvPr/>
        </p:nvCxnSpPr>
        <p:spPr>
          <a:xfrm flipV="1">
            <a:off x="3204137" y="4242123"/>
            <a:ext cx="196261" cy="1"/>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41" name="Rectangle 140">
            <a:extLst>
              <a:ext uri="{FF2B5EF4-FFF2-40B4-BE49-F238E27FC236}">
                <a16:creationId xmlns:a16="http://schemas.microsoft.com/office/drawing/2014/main" id="{3B493ABA-AFC8-3829-7B1F-CADBB4A935BF}"/>
              </a:ext>
            </a:extLst>
          </p:cNvPr>
          <p:cNvSpPr/>
          <p:nvPr/>
        </p:nvSpPr>
        <p:spPr>
          <a:xfrm>
            <a:off x="2745673" y="4636485"/>
            <a:ext cx="185173" cy="104507"/>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A5</a:t>
            </a:r>
          </a:p>
        </p:txBody>
      </p:sp>
      <p:sp>
        <p:nvSpPr>
          <p:cNvPr id="142" name="Rectangle 141">
            <a:extLst>
              <a:ext uri="{FF2B5EF4-FFF2-40B4-BE49-F238E27FC236}">
                <a16:creationId xmlns:a16="http://schemas.microsoft.com/office/drawing/2014/main" id="{33298BC1-99E5-D740-9DFF-F860DDE37837}"/>
              </a:ext>
            </a:extLst>
          </p:cNvPr>
          <p:cNvSpPr/>
          <p:nvPr/>
        </p:nvSpPr>
        <p:spPr>
          <a:xfrm>
            <a:off x="2745673" y="4526437"/>
            <a:ext cx="185173" cy="104507"/>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A4</a:t>
            </a:r>
          </a:p>
        </p:txBody>
      </p:sp>
      <p:sp>
        <p:nvSpPr>
          <p:cNvPr id="143" name="Rectangle 142">
            <a:extLst>
              <a:ext uri="{FF2B5EF4-FFF2-40B4-BE49-F238E27FC236}">
                <a16:creationId xmlns:a16="http://schemas.microsoft.com/office/drawing/2014/main" id="{FCAF0AAF-C32B-6FAC-7F05-2D5DFB1CCAFE}"/>
              </a:ext>
            </a:extLst>
          </p:cNvPr>
          <p:cNvSpPr/>
          <p:nvPr/>
        </p:nvSpPr>
        <p:spPr>
          <a:xfrm>
            <a:off x="2745673" y="4416050"/>
            <a:ext cx="185173" cy="104507"/>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A3</a:t>
            </a:r>
          </a:p>
        </p:txBody>
      </p:sp>
      <p:sp>
        <p:nvSpPr>
          <p:cNvPr id="144" name="Rectangle 143">
            <a:extLst>
              <a:ext uri="{FF2B5EF4-FFF2-40B4-BE49-F238E27FC236}">
                <a16:creationId xmlns:a16="http://schemas.microsoft.com/office/drawing/2014/main" id="{F9B906C5-188F-C54D-777F-3CDE3DABD527}"/>
              </a:ext>
            </a:extLst>
          </p:cNvPr>
          <p:cNvSpPr/>
          <p:nvPr/>
        </p:nvSpPr>
        <p:spPr>
          <a:xfrm>
            <a:off x="2745673" y="4306002"/>
            <a:ext cx="185173" cy="104507"/>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A2</a:t>
            </a:r>
          </a:p>
        </p:txBody>
      </p:sp>
      <p:sp>
        <p:nvSpPr>
          <p:cNvPr id="145" name="Rectangle 144">
            <a:extLst>
              <a:ext uri="{FF2B5EF4-FFF2-40B4-BE49-F238E27FC236}">
                <a16:creationId xmlns:a16="http://schemas.microsoft.com/office/drawing/2014/main" id="{6B62467F-2E06-C5BC-5D48-DD03918D10E0}"/>
              </a:ext>
            </a:extLst>
          </p:cNvPr>
          <p:cNvSpPr/>
          <p:nvPr/>
        </p:nvSpPr>
        <p:spPr>
          <a:xfrm>
            <a:off x="2745673" y="4196302"/>
            <a:ext cx="185173" cy="104507"/>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A1</a:t>
            </a:r>
          </a:p>
        </p:txBody>
      </p:sp>
      <p:sp>
        <p:nvSpPr>
          <p:cNvPr id="146" name="Rectangle 145">
            <a:extLst>
              <a:ext uri="{FF2B5EF4-FFF2-40B4-BE49-F238E27FC236}">
                <a16:creationId xmlns:a16="http://schemas.microsoft.com/office/drawing/2014/main" id="{2036F5E3-9E4D-1999-3828-21DD84313EE5}"/>
              </a:ext>
            </a:extLst>
          </p:cNvPr>
          <p:cNvSpPr/>
          <p:nvPr/>
        </p:nvSpPr>
        <p:spPr>
          <a:xfrm>
            <a:off x="2745673" y="4086254"/>
            <a:ext cx="185173" cy="104507"/>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A0</a:t>
            </a:r>
          </a:p>
        </p:txBody>
      </p:sp>
      <p:sp>
        <p:nvSpPr>
          <p:cNvPr id="147" name="Rectangle 146">
            <a:extLst>
              <a:ext uri="{FF2B5EF4-FFF2-40B4-BE49-F238E27FC236}">
                <a16:creationId xmlns:a16="http://schemas.microsoft.com/office/drawing/2014/main" id="{96200376-606A-A0AF-9984-AB7B3ABC397C}"/>
              </a:ext>
            </a:extLst>
          </p:cNvPr>
          <p:cNvSpPr/>
          <p:nvPr/>
        </p:nvSpPr>
        <p:spPr>
          <a:xfrm>
            <a:off x="5564177" y="3264313"/>
            <a:ext cx="365125" cy="104507"/>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CIPO</a:t>
            </a:r>
          </a:p>
        </p:txBody>
      </p:sp>
      <p:sp>
        <p:nvSpPr>
          <p:cNvPr id="148" name="Rectangle 147">
            <a:extLst>
              <a:ext uri="{FF2B5EF4-FFF2-40B4-BE49-F238E27FC236}">
                <a16:creationId xmlns:a16="http://schemas.microsoft.com/office/drawing/2014/main" id="{29552903-E347-8B6B-A940-F179B998E3F0}"/>
              </a:ext>
            </a:extLst>
          </p:cNvPr>
          <p:cNvSpPr/>
          <p:nvPr/>
        </p:nvSpPr>
        <p:spPr>
          <a:xfrm>
            <a:off x="5564177" y="3154265"/>
            <a:ext cx="365125" cy="104507"/>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SCK</a:t>
            </a:r>
          </a:p>
        </p:txBody>
      </p:sp>
      <p:sp>
        <p:nvSpPr>
          <p:cNvPr id="149" name="Rectangle 148">
            <a:extLst>
              <a:ext uri="{FF2B5EF4-FFF2-40B4-BE49-F238E27FC236}">
                <a16:creationId xmlns:a16="http://schemas.microsoft.com/office/drawing/2014/main" id="{DD1DA1ED-2C99-1D5E-3CDE-779E966ECB9E}"/>
              </a:ext>
            </a:extLst>
          </p:cNvPr>
          <p:cNvSpPr/>
          <p:nvPr/>
        </p:nvSpPr>
        <p:spPr>
          <a:xfrm>
            <a:off x="5564177" y="3486321"/>
            <a:ext cx="365125" cy="104507"/>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SS</a:t>
            </a:r>
          </a:p>
        </p:txBody>
      </p:sp>
      <p:sp>
        <p:nvSpPr>
          <p:cNvPr id="150" name="Rectangle 149">
            <a:extLst>
              <a:ext uri="{FF2B5EF4-FFF2-40B4-BE49-F238E27FC236}">
                <a16:creationId xmlns:a16="http://schemas.microsoft.com/office/drawing/2014/main" id="{CAAD02AB-044A-22BF-1493-B705A91F0DC7}"/>
              </a:ext>
            </a:extLst>
          </p:cNvPr>
          <p:cNvSpPr/>
          <p:nvPr/>
        </p:nvSpPr>
        <p:spPr>
          <a:xfrm>
            <a:off x="5564177" y="3376273"/>
            <a:ext cx="365125" cy="104507"/>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COPI</a:t>
            </a:r>
          </a:p>
        </p:txBody>
      </p:sp>
      <p:sp>
        <p:nvSpPr>
          <p:cNvPr id="151" name="TextBox 150">
            <a:extLst>
              <a:ext uri="{FF2B5EF4-FFF2-40B4-BE49-F238E27FC236}">
                <a16:creationId xmlns:a16="http://schemas.microsoft.com/office/drawing/2014/main" id="{B06A5FCB-C985-73B8-7B86-0EF78FC46A9F}"/>
              </a:ext>
            </a:extLst>
          </p:cNvPr>
          <p:cNvSpPr txBox="1"/>
          <p:nvPr/>
        </p:nvSpPr>
        <p:spPr>
          <a:xfrm>
            <a:off x="5974557" y="3299986"/>
            <a:ext cx="483394" cy="1661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dirty="0">
                <a:solidFill>
                  <a:schemeClr val="tx2"/>
                </a:solidFill>
              </a:rPr>
              <a:t>SPI</a:t>
            </a:r>
            <a:endParaRPr lang="en-US" sz="1200" kern="1200" dirty="0">
              <a:solidFill>
                <a:schemeClr val="tx2"/>
              </a:solidFill>
              <a:latin typeface="+mn-lt"/>
              <a:ea typeface="+mn-ea"/>
              <a:cs typeface="+mn-cs"/>
            </a:endParaRPr>
          </a:p>
        </p:txBody>
      </p:sp>
      <p:sp>
        <p:nvSpPr>
          <p:cNvPr id="156" name="Rectangle 155">
            <a:extLst>
              <a:ext uri="{FF2B5EF4-FFF2-40B4-BE49-F238E27FC236}">
                <a16:creationId xmlns:a16="http://schemas.microsoft.com/office/drawing/2014/main" id="{4B6AD198-8BAD-9446-7AFA-73D866E591B8}"/>
              </a:ext>
            </a:extLst>
          </p:cNvPr>
          <p:cNvSpPr/>
          <p:nvPr/>
        </p:nvSpPr>
        <p:spPr>
          <a:xfrm>
            <a:off x="2367687" y="4635009"/>
            <a:ext cx="365125" cy="104507"/>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SCL</a:t>
            </a:r>
          </a:p>
        </p:txBody>
      </p:sp>
      <p:sp>
        <p:nvSpPr>
          <p:cNvPr id="157" name="Rectangle 156">
            <a:extLst>
              <a:ext uri="{FF2B5EF4-FFF2-40B4-BE49-F238E27FC236}">
                <a16:creationId xmlns:a16="http://schemas.microsoft.com/office/drawing/2014/main" id="{8CECE055-B576-4D13-3613-F8DFF7760F87}"/>
              </a:ext>
            </a:extLst>
          </p:cNvPr>
          <p:cNvSpPr/>
          <p:nvPr/>
        </p:nvSpPr>
        <p:spPr>
          <a:xfrm>
            <a:off x="2367687" y="4524961"/>
            <a:ext cx="365125" cy="104507"/>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SDA</a:t>
            </a:r>
          </a:p>
        </p:txBody>
      </p:sp>
      <p:sp>
        <p:nvSpPr>
          <p:cNvPr id="158" name="TextBox 157">
            <a:extLst>
              <a:ext uri="{FF2B5EF4-FFF2-40B4-BE49-F238E27FC236}">
                <a16:creationId xmlns:a16="http://schemas.microsoft.com/office/drawing/2014/main" id="{0C4F18A1-2C4D-40AE-C2B8-196CA3214383}"/>
              </a:ext>
            </a:extLst>
          </p:cNvPr>
          <p:cNvSpPr txBox="1"/>
          <p:nvPr/>
        </p:nvSpPr>
        <p:spPr>
          <a:xfrm>
            <a:off x="1836233" y="4558063"/>
            <a:ext cx="483394" cy="166199"/>
          </a:xfrm>
          <a:prstGeom prst="rect">
            <a:avLst/>
          </a:prstGeom>
          <a:noFill/>
        </p:spPr>
        <p:txBody>
          <a:bodyPr wrap="square" lIns="0" tIns="0" rIns="0" bIns="0" rtlCol="0">
            <a:spAutoFit/>
          </a:bodyPr>
          <a:lstStyle/>
          <a:p>
            <a:pPr marL="0" indent="0" algn="r" defTabSz="914400" rtl="0" eaLnBrk="1" latinLnBrk="0" hangingPunct="1">
              <a:lnSpc>
                <a:spcPct val="90000"/>
              </a:lnSpc>
              <a:spcBef>
                <a:spcPts val="0"/>
              </a:spcBef>
              <a:spcAft>
                <a:spcPts val="600"/>
              </a:spcAft>
              <a:buFont typeface="Arial" panose="020B0604020202020204" pitchFamily="34" charset="0"/>
              <a:buNone/>
            </a:pPr>
            <a:r>
              <a:rPr lang="en-US" sz="1200" dirty="0">
                <a:solidFill>
                  <a:schemeClr val="tx2"/>
                </a:solidFill>
              </a:rPr>
              <a:t>I2C-Alt</a:t>
            </a:r>
            <a:endParaRPr lang="en-US" sz="1200" kern="1200" dirty="0">
              <a:solidFill>
                <a:schemeClr val="tx2"/>
              </a:solidFill>
              <a:latin typeface="+mn-lt"/>
              <a:ea typeface="+mn-ea"/>
              <a:cs typeface="+mn-cs"/>
            </a:endParaRPr>
          </a:p>
        </p:txBody>
      </p:sp>
      <p:sp>
        <p:nvSpPr>
          <p:cNvPr id="159" name="Rectangle 158">
            <a:extLst>
              <a:ext uri="{FF2B5EF4-FFF2-40B4-BE49-F238E27FC236}">
                <a16:creationId xmlns:a16="http://schemas.microsoft.com/office/drawing/2014/main" id="{6016605C-F56A-F325-C020-DA00EA316922}"/>
              </a:ext>
            </a:extLst>
          </p:cNvPr>
          <p:cNvSpPr/>
          <p:nvPr/>
        </p:nvSpPr>
        <p:spPr>
          <a:xfrm>
            <a:off x="2124075" y="2600423"/>
            <a:ext cx="821531" cy="129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Analog</a:t>
            </a:r>
          </a:p>
        </p:txBody>
      </p:sp>
      <p:sp>
        <p:nvSpPr>
          <p:cNvPr id="160" name="Rectangle 159">
            <a:extLst>
              <a:ext uri="{FF2B5EF4-FFF2-40B4-BE49-F238E27FC236}">
                <a16:creationId xmlns:a16="http://schemas.microsoft.com/office/drawing/2014/main" id="{5DA5C1D3-BD25-244E-E647-ED5E4A27248B}"/>
              </a:ext>
            </a:extLst>
          </p:cNvPr>
          <p:cNvSpPr/>
          <p:nvPr/>
        </p:nvSpPr>
        <p:spPr>
          <a:xfrm>
            <a:off x="2124075" y="2458543"/>
            <a:ext cx="821531" cy="12921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Digital</a:t>
            </a:r>
          </a:p>
        </p:txBody>
      </p:sp>
      <p:sp>
        <p:nvSpPr>
          <p:cNvPr id="161" name="Rectangle 160">
            <a:extLst>
              <a:ext uri="{FF2B5EF4-FFF2-40B4-BE49-F238E27FC236}">
                <a16:creationId xmlns:a16="http://schemas.microsoft.com/office/drawing/2014/main" id="{B63866DB-25DF-8C2A-B181-D888012B2D64}"/>
              </a:ext>
            </a:extLst>
          </p:cNvPr>
          <p:cNvSpPr/>
          <p:nvPr/>
        </p:nvSpPr>
        <p:spPr>
          <a:xfrm>
            <a:off x="2124071" y="2743297"/>
            <a:ext cx="821531" cy="129212"/>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900" dirty="0"/>
              <a:t>Communication</a:t>
            </a:r>
          </a:p>
        </p:txBody>
      </p:sp>
    </p:spTree>
    <p:extLst>
      <p:ext uri="{BB962C8B-B14F-4D97-AF65-F5344CB8AC3E}">
        <p14:creationId xmlns:p14="http://schemas.microsoft.com/office/powerpoint/2010/main" val="10017291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9FC7FE9-C280-13C7-8D24-59B0A9956337}"/>
              </a:ext>
            </a:extLst>
          </p:cNvPr>
          <p:cNvSpPr/>
          <p:nvPr/>
        </p:nvSpPr>
        <p:spPr>
          <a:xfrm>
            <a:off x="479426" y="3621748"/>
            <a:ext cx="6317615" cy="2257107"/>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defTabSz="914377"/>
            <a:r>
              <a:rPr lang="en-US">
                <a:solidFill>
                  <a:srgbClr val="000000"/>
                </a:solidFill>
                <a:latin typeface="Calibri"/>
              </a:rPr>
              <a:t>Sensor SDK Pack</a:t>
            </a:r>
          </a:p>
        </p:txBody>
      </p:sp>
      <p:sp>
        <p:nvSpPr>
          <p:cNvPr id="24" name="Rectangle 23">
            <a:extLst>
              <a:ext uri="{FF2B5EF4-FFF2-40B4-BE49-F238E27FC236}">
                <a16:creationId xmlns:a16="http://schemas.microsoft.com/office/drawing/2014/main" id="{A287A678-3DBB-E5A7-735D-1A3D25D92A99}"/>
              </a:ext>
            </a:extLst>
          </p:cNvPr>
          <p:cNvSpPr/>
          <p:nvPr/>
        </p:nvSpPr>
        <p:spPr>
          <a:xfrm>
            <a:off x="479426" y="4683761"/>
            <a:ext cx="3340735" cy="1195095"/>
          </a:xfrm>
          <a:prstGeom prst="rect">
            <a:avLst/>
          </a:prstGeom>
          <a:solidFill>
            <a:schemeClr val="accent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defTabSz="914377"/>
            <a:r>
              <a:rPr lang="en-US">
                <a:solidFill>
                  <a:srgbClr val="000000"/>
                </a:solidFill>
                <a:latin typeface="Calibri"/>
              </a:rPr>
              <a:t>BSP Pack</a:t>
            </a:r>
          </a:p>
        </p:txBody>
      </p:sp>
      <p:sp>
        <p:nvSpPr>
          <p:cNvPr id="2" name="Title 1">
            <a:extLst>
              <a:ext uri="{FF2B5EF4-FFF2-40B4-BE49-F238E27FC236}">
                <a16:creationId xmlns:a16="http://schemas.microsoft.com/office/drawing/2014/main" id="{06C70444-14E9-4412-920E-BE212187115D}"/>
              </a:ext>
            </a:extLst>
          </p:cNvPr>
          <p:cNvSpPr>
            <a:spLocks noGrp="1"/>
          </p:cNvSpPr>
          <p:nvPr>
            <p:ph type="title"/>
          </p:nvPr>
        </p:nvSpPr>
        <p:spPr/>
        <p:txBody>
          <a:bodyPr/>
          <a:lstStyle/>
          <a:p>
            <a:r>
              <a:rPr lang="en-US" sz="3200"/>
              <a:t>Distribution of Reference Applications</a:t>
            </a:r>
            <a:endParaRPr lang="en-GB" sz="3200"/>
          </a:p>
        </p:txBody>
      </p:sp>
      <p:sp>
        <p:nvSpPr>
          <p:cNvPr id="6" name="Rectangle 5">
            <a:extLst>
              <a:ext uri="{FF2B5EF4-FFF2-40B4-BE49-F238E27FC236}">
                <a16:creationId xmlns:a16="http://schemas.microsoft.com/office/drawing/2014/main" id="{5B91937D-F19D-B446-238D-9B3F5079E5AE}"/>
              </a:ext>
            </a:extLst>
          </p:cNvPr>
          <p:cNvSpPr/>
          <p:nvPr/>
        </p:nvSpPr>
        <p:spPr>
          <a:xfrm>
            <a:off x="936385" y="4055822"/>
            <a:ext cx="5639673" cy="473559"/>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a:solidFill>
                  <a:srgbClr val="FFFFFF"/>
                </a:solidFill>
                <a:latin typeface="Calibri"/>
              </a:rPr>
              <a:t>Reference Application</a:t>
            </a:r>
            <a:br>
              <a:rPr lang="en-US" sz="1400">
                <a:solidFill>
                  <a:srgbClr val="FFFFFF"/>
                </a:solidFill>
                <a:latin typeface="Calibri"/>
              </a:rPr>
            </a:br>
            <a:r>
              <a:rPr lang="en-US" sz="1400">
                <a:solidFill>
                  <a:srgbClr val="FFFFFF"/>
                </a:solidFill>
                <a:latin typeface="Calibri"/>
              </a:rPr>
              <a:t>(&lt;sensor&gt;.</a:t>
            </a:r>
            <a:r>
              <a:rPr lang="en-US" sz="1400" err="1">
                <a:solidFill>
                  <a:srgbClr val="FFFFFF"/>
                </a:solidFill>
                <a:latin typeface="Calibri"/>
              </a:rPr>
              <a:t>csolution.yml</a:t>
            </a:r>
            <a:r>
              <a:rPr lang="en-US" sz="1400">
                <a:solidFill>
                  <a:srgbClr val="FFFFFF"/>
                </a:solidFill>
                <a:latin typeface="Calibri"/>
              </a:rPr>
              <a:t> / &lt;sensor&gt;.</a:t>
            </a:r>
            <a:r>
              <a:rPr lang="en-US" sz="1400" err="1">
                <a:solidFill>
                  <a:srgbClr val="FFFFFF"/>
                </a:solidFill>
                <a:latin typeface="Calibri"/>
              </a:rPr>
              <a:t>cproject.yml</a:t>
            </a:r>
            <a:r>
              <a:rPr lang="en-US" sz="1400">
                <a:solidFill>
                  <a:srgbClr val="FFFFFF"/>
                </a:solidFill>
                <a:latin typeface="Calibri"/>
              </a:rPr>
              <a:t>)</a:t>
            </a:r>
          </a:p>
        </p:txBody>
      </p:sp>
      <p:sp>
        <p:nvSpPr>
          <p:cNvPr id="11" name="Rectangle 10">
            <a:extLst>
              <a:ext uri="{FF2B5EF4-FFF2-40B4-BE49-F238E27FC236}">
                <a16:creationId xmlns:a16="http://schemas.microsoft.com/office/drawing/2014/main" id="{D635B518-621D-69AE-09B7-61BA9EBE0C2C}"/>
              </a:ext>
            </a:extLst>
          </p:cNvPr>
          <p:cNvSpPr/>
          <p:nvPr/>
        </p:nvSpPr>
        <p:spPr>
          <a:xfrm>
            <a:off x="936383" y="5058314"/>
            <a:ext cx="2799307" cy="47355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a:solidFill>
                  <a:srgbClr val="FFFFFF"/>
                </a:solidFill>
                <a:latin typeface="Calibri"/>
              </a:rPr>
              <a:t>Layer Type: Board</a:t>
            </a:r>
            <a:br>
              <a:rPr lang="en-US" sz="1400">
                <a:solidFill>
                  <a:srgbClr val="FFFFFF"/>
                </a:solidFill>
                <a:latin typeface="Calibri"/>
              </a:rPr>
            </a:br>
            <a:r>
              <a:rPr lang="en-US" sz="1200">
                <a:solidFill>
                  <a:srgbClr val="FFFFFF"/>
                </a:solidFill>
                <a:latin typeface="Calibri"/>
              </a:rPr>
              <a:t>(&lt;board-name&gt;.</a:t>
            </a:r>
            <a:r>
              <a:rPr lang="en-US" sz="1200" err="1">
                <a:solidFill>
                  <a:srgbClr val="FFFFFF"/>
                </a:solidFill>
                <a:latin typeface="Calibri"/>
              </a:rPr>
              <a:t>clayer.yml</a:t>
            </a:r>
            <a:r>
              <a:rPr lang="en-US" sz="1200">
                <a:solidFill>
                  <a:srgbClr val="FFFFFF"/>
                </a:solidFill>
                <a:latin typeface="Calibri"/>
              </a:rPr>
              <a:t>)</a:t>
            </a:r>
          </a:p>
        </p:txBody>
      </p:sp>
      <p:sp>
        <p:nvSpPr>
          <p:cNvPr id="4" name="Rectangle 3">
            <a:extLst>
              <a:ext uri="{FF2B5EF4-FFF2-40B4-BE49-F238E27FC236}">
                <a16:creationId xmlns:a16="http://schemas.microsoft.com/office/drawing/2014/main" id="{3D09EB5A-9FF8-9C03-3E56-2B15AF16267F}"/>
              </a:ext>
            </a:extLst>
          </p:cNvPr>
          <p:cNvSpPr/>
          <p:nvPr/>
        </p:nvSpPr>
        <p:spPr>
          <a:xfrm>
            <a:off x="936383" y="4798414"/>
            <a:ext cx="2799307" cy="264183"/>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a:solidFill>
                  <a:srgbClr val="FFFFFF"/>
                </a:solidFill>
                <a:latin typeface="Calibri"/>
              </a:rPr>
              <a:t> Driver APIs</a:t>
            </a:r>
          </a:p>
        </p:txBody>
      </p:sp>
      <p:sp>
        <p:nvSpPr>
          <p:cNvPr id="17" name="Rectangle 16">
            <a:extLst>
              <a:ext uri="{FF2B5EF4-FFF2-40B4-BE49-F238E27FC236}">
                <a16:creationId xmlns:a16="http://schemas.microsoft.com/office/drawing/2014/main" id="{9F5E5A3B-7539-9B55-9C6A-4891B6EE15D3}"/>
              </a:ext>
            </a:extLst>
          </p:cNvPr>
          <p:cNvSpPr/>
          <p:nvPr/>
        </p:nvSpPr>
        <p:spPr>
          <a:xfrm>
            <a:off x="3903278" y="5058314"/>
            <a:ext cx="2685311" cy="47355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a:solidFill>
                  <a:srgbClr val="FFFFFF"/>
                </a:solidFill>
                <a:latin typeface="Calibri"/>
              </a:rPr>
              <a:t>Layer Type: Shield</a:t>
            </a:r>
            <a:br>
              <a:rPr lang="en-US" sz="1400">
                <a:solidFill>
                  <a:srgbClr val="FFFFFF"/>
                </a:solidFill>
                <a:latin typeface="Calibri"/>
              </a:rPr>
            </a:br>
            <a:r>
              <a:rPr lang="en-US" sz="1200">
                <a:solidFill>
                  <a:srgbClr val="FFFFFF"/>
                </a:solidFill>
                <a:latin typeface="Calibri"/>
              </a:rPr>
              <a:t>(&lt;shield-name&gt;.</a:t>
            </a:r>
            <a:r>
              <a:rPr lang="en-US" sz="1200" err="1">
                <a:solidFill>
                  <a:srgbClr val="FFFFFF"/>
                </a:solidFill>
                <a:latin typeface="Calibri"/>
              </a:rPr>
              <a:t>clayer.yml</a:t>
            </a:r>
            <a:r>
              <a:rPr lang="en-US" sz="1200">
                <a:solidFill>
                  <a:srgbClr val="FFFFFF"/>
                </a:solidFill>
                <a:latin typeface="Calibri"/>
              </a:rPr>
              <a:t>)</a:t>
            </a:r>
          </a:p>
        </p:txBody>
      </p:sp>
      <p:sp>
        <p:nvSpPr>
          <p:cNvPr id="19" name="Rectangle 18">
            <a:extLst>
              <a:ext uri="{FF2B5EF4-FFF2-40B4-BE49-F238E27FC236}">
                <a16:creationId xmlns:a16="http://schemas.microsoft.com/office/drawing/2014/main" id="{1B42125C-DD62-A635-44F1-5F7CDA2D1A1C}"/>
              </a:ext>
            </a:extLst>
          </p:cNvPr>
          <p:cNvSpPr/>
          <p:nvPr/>
        </p:nvSpPr>
        <p:spPr>
          <a:xfrm>
            <a:off x="3903274" y="4796647"/>
            <a:ext cx="2685311" cy="26418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a:solidFill>
                  <a:srgbClr val="FFFFFF"/>
                </a:solidFill>
                <a:latin typeface="Calibri"/>
              </a:rPr>
              <a:t>Shield-specific API</a:t>
            </a:r>
            <a:endParaRPr lang="en-US" sz="1200">
              <a:solidFill>
                <a:srgbClr val="FFFFFF"/>
              </a:solidFill>
              <a:latin typeface="Calibri"/>
            </a:endParaRPr>
          </a:p>
        </p:txBody>
      </p:sp>
      <p:sp>
        <p:nvSpPr>
          <p:cNvPr id="9" name="TextBox 8">
            <a:extLst>
              <a:ext uri="{FF2B5EF4-FFF2-40B4-BE49-F238E27FC236}">
                <a16:creationId xmlns:a16="http://schemas.microsoft.com/office/drawing/2014/main" id="{2EBD8F02-77A3-16C4-C037-8CC27BB32C4F}"/>
              </a:ext>
            </a:extLst>
          </p:cNvPr>
          <p:cNvSpPr txBox="1"/>
          <p:nvPr/>
        </p:nvSpPr>
        <p:spPr>
          <a:xfrm>
            <a:off x="479426" y="1106440"/>
            <a:ext cx="10930255" cy="2129814"/>
          </a:xfrm>
          <a:prstGeom prst="rect">
            <a:avLst/>
          </a:prstGeom>
          <a:noFill/>
        </p:spPr>
        <p:txBody>
          <a:bodyPr wrap="square" lIns="0" tIns="0" rIns="0" bIns="0" rtlCol="0">
            <a:spAutoFit/>
          </a:bodyPr>
          <a:lstStyle/>
          <a:p>
            <a:pPr defTabSz="914377">
              <a:lnSpc>
                <a:spcPct val="90000"/>
              </a:lnSpc>
              <a:spcAft>
                <a:spcPts val="600"/>
              </a:spcAft>
            </a:pPr>
            <a:r>
              <a:rPr lang="en-US" sz="2100">
                <a:solidFill>
                  <a:srgbClr val="333E48"/>
                </a:solidFill>
                <a:latin typeface="Calibri"/>
              </a:rPr>
              <a:t>Example: Sensor SDK Pack (</a:t>
            </a:r>
            <a:r>
              <a:rPr lang="en-US" sz="2100">
                <a:solidFill>
                  <a:srgbClr val="333E48"/>
                </a:solidFill>
                <a:latin typeface="Calibri"/>
                <a:hlinkClick r:id="rId3"/>
              </a:rPr>
              <a:t>github.com/RobertRostohar/</a:t>
            </a:r>
            <a:r>
              <a:rPr lang="en-US" sz="2100" err="1">
                <a:solidFill>
                  <a:srgbClr val="333E48"/>
                </a:solidFill>
                <a:latin typeface="Calibri"/>
                <a:hlinkClick r:id="rId3"/>
              </a:rPr>
              <a:t>NXP_Sensor_SDK</a:t>
            </a:r>
            <a:r>
              <a:rPr lang="en-US" sz="2100">
                <a:solidFill>
                  <a:srgbClr val="333E48"/>
                </a:solidFill>
                <a:latin typeface="Calibri"/>
              </a:rPr>
              <a:t>) that contains:</a:t>
            </a:r>
          </a:p>
          <a:p>
            <a:pPr marL="342891" indent="-342891" defTabSz="914377">
              <a:lnSpc>
                <a:spcPct val="90000"/>
              </a:lnSpc>
              <a:spcAft>
                <a:spcPts val="600"/>
              </a:spcAft>
              <a:buFont typeface="Arial" panose="020B0604020202020204" pitchFamily="34" charset="0"/>
              <a:buChar char="•"/>
            </a:pPr>
            <a:r>
              <a:rPr lang="en-US" sz="2100">
                <a:solidFill>
                  <a:srgbClr val="333E48"/>
                </a:solidFill>
                <a:latin typeface="Calibri"/>
                <a:hlinkClick r:id="rId4"/>
              </a:rPr>
              <a:t>Agnostic middleware</a:t>
            </a:r>
            <a:r>
              <a:rPr lang="en-US" sz="2100">
                <a:solidFill>
                  <a:srgbClr val="333E48"/>
                </a:solidFill>
                <a:latin typeface="Calibri"/>
              </a:rPr>
              <a:t> for a sensor that is configurable (part of the Reference Application)</a:t>
            </a:r>
          </a:p>
          <a:p>
            <a:pPr marL="342891" indent="-342891" defTabSz="914377">
              <a:lnSpc>
                <a:spcPct val="90000"/>
              </a:lnSpc>
              <a:spcAft>
                <a:spcPts val="600"/>
              </a:spcAft>
              <a:buFont typeface="Arial" panose="020B0604020202020204" pitchFamily="34" charset="0"/>
              <a:buChar char="•"/>
            </a:pPr>
            <a:r>
              <a:rPr lang="en-US" sz="2100">
                <a:solidFill>
                  <a:srgbClr val="333E48"/>
                </a:solidFill>
                <a:latin typeface="Calibri"/>
                <a:hlinkClick r:id="rId5"/>
              </a:rPr>
              <a:t>Board/Device agnostic examples</a:t>
            </a:r>
            <a:r>
              <a:rPr lang="en-US" sz="2100">
                <a:solidFill>
                  <a:srgbClr val="333E48"/>
                </a:solidFill>
                <a:latin typeface="Calibri"/>
              </a:rPr>
              <a:t> that use this middleware  (part of the Reference Application)</a:t>
            </a:r>
          </a:p>
          <a:p>
            <a:pPr marL="342891" indent="-342891" defTabSz="914377">
              <a:lnSpc>
                <a:spcPct val="90000"/>
              </a:lnSpc>
              <a:spcAft>
                <a:spcPts val="600"/>
              </a:spcAft>
              <a:buFont typeface="Arial" panose="020B0604020202020204" pitchFamily="34" charset="0"/>
              <a:buChar char="•"/>
            </a:pPr>
            <a:r>
              <a:rPr lang="en-US" sz="2100">
                <a:solidFill>
                  <a:srgbClr val="333E48"/>
                </a:solidFill>
                <a:latin typeface="Calibri"/>
                <a:hlinkClick r:id="rId6"/>
              </a:rPr>
              <a:t>One or more Shield layers</a:t>
            </a:r>
            <a:r>
              <a:rPr lang="en-US" sz="2100">
                <a:solidFill>
                  <a:srgbClr val="333E48"/>
                </a:solidFill>
                <a:latin typeface="Calibri"/>
              </a:rPr>
              <a:t> that provides configuration settings for the agnostic middleware</a:t>
            </a:r>
          </a:p>
          <a:p>
            <a:pPr marL="342891" indent="-342891" defTabSz="914377">
              <a:lnSpc>
                <a:spcPct val="90000"/>
              </a:lnSpc>
              <a:spcAft>
                <a:spcPts val="600"/>
              </a:spcAft>
              <a:buFont typeface="Arial" panose="020B0604020202020204" pitchFamily="34" charset="0"/>
              <a:buChar char="•"/>
            </a:pPr>
            <a:endParaRPr lang="en-US" sz="2100">
              <a:solidFill>
                <a:srgbClr val="333E48"/>
              </a:solidFill>
              <a:latin typeface="Calibri"/>
            </a:endParaRPr>
          </a:p>
          <a:p>
            <a:pPr defTabSz="914377">
              <a:lnSpc>
                <a:spcPct val="90000"/>
              </a:lnSpc>
              <a:spcAft>
                <a:spcPts val="600"/>
              </a:spcAft>
            </a:pPr>
            <a:r>
              <a:rPr lang="en-US" sz="2100">
                <a:solidFill>
                  <a:srgbClr val="333E48"/>
                </a:solidFill>
                <a:latin typeface="Calibri"/>
              </a:rPr>
              <a:t>Board Layers are provided by a Board Support BSP Pack that is board specific</a:t>
            </a:r>
          </a:p>
        </p:txBody>
      </p:sp>
      <p:sp>
        <p:nvSpPr>
          <p:cNvPr id="26" name="TextBox 25">
            <a:extLst>
              <a:ext uri="{FF2B5EF4-FFF2-40B4-BE49-F238E27FC236}">
                <a16:creationId xmlns:a16="http://schemas.microsoft.com/office/drawing/2014/main" id="{EF770D56-7043-5F6F-0A62-9A2F12A77B83}"/>
              </a:ext>
            </a:extLst>
          </p:cNvPr>
          <p:cNvSpPr txBox="1"/>
          <p:nvPr/>
        </p:nvSpPr>
        <p:spPr>
          <a:xfrm>
            <a:off x="7223760" y="3621748"/>
            <a:ext cx="4185920" cy="2900794"/>
          </a:xfrm>
          <a:prstGeom prst="rect">
            <a:avLst/>
          </a:prstGeom>
          <a:noFill/>
        </p:spPr>
        <p:txBody>
          <a:bodyPr wrap="square" lIns="0" tIns="0" rIns="0" bIns="0" rtlCol="0">
            <a:spAutoFit/>
          </a:bodyPr>
          <a:lstStyle/>
          <a:p>
            <a:pPr defTabSz="914377">
              <a:lnSpc>
                <a:spcPct val="90000"/>
              </a:lnSpc>
              <a:spcAft>
                <a:spcPts val="600"/>
              </a:spcAft>
            </a:pPr>
            <a:r>
              <a:rPr lang="en-US" sz="2100" b="1">
                <a:solidFill>
                  <a:srgbClr val="333E48"/>
                </a:solidFill>
                <a:latin typeface="Calibri"/>
              </a:rPr>
              <a:t>Sensor SDK Pack PDSC:</a:t>
            </a:r>
          </a:p>
          <a:p>
            <a:pPr defTabSz="914377">
              <a:lnSpc>
                <a:spcPct val="90000"/>
              </a:lnSpc>
              <a:spcAft>
                <a:spcPts val="600"/>
              </a:spcAft>
            </a:pPr>
            <a:r>
              <a:rPr lang="en-US">
                <a:solidFill>
                  <a:srgbClr val="333E48"/>
                </a:solidFill>
                <a:latin typeface="Calibri"/>
                <a:hlinkClick r:id="rId7"/>
              </a:rPr>
              <a:t>&lt;example&gt;</a:t>
            </a:r>
            <a:r>
              <a:rPr lang="en-US" b="1">
                <a:solidFill>
                  <a:srgbClr val="333E48"/>
                </a:solidFill>
                <a:latin typeface="Calibri"/>
              </a:rPr>
              <a:t> </a:t>
            </a:r>
            <a:r>
              <a:rPr lang="en-US">
                <a:solidFill>
                  <a:srgbClr val="333E48"/>
                </a:solidFill>
                <a:latin typeface="Calibri"/>
              </a:rPr>
              <a:t>describes Reference Application</a:t>
            </a:r>
          </a:p>
          <a:p>
            <a:pPr defTabSz="914377">
              <a:lnSpc>
                <a:spcPct val="90000"/>
              </a:lnSpc>
              <a:spcAft>
                <a:spcPts val="600"/>
              </a:spcAft>
            </a:pPr>
            <a:r>
              <a:rPr lang="en-US">
                <a:solidFill>
                  <a:srgbClr val="333E48"/>
                </a:solidFill>
                <a:latin typeface="Calibri"/>
                <a:hlinkClick r:id="rId8"/>
              </a:rPr>
              <a:t>&lt;</a:t>
            </a:r>
            <a:r>
              <a:rPr lang="en-US" err="1">
                <a:solidFill>
                  <a:srgbClr val="333E48"/>
                </a:solidFill>
                <a:latin typeface="Calibri"/>
                <a:hlinkClick r:id="rId8"/>
              </a:rPr>
              <a:t>clayer</a:t>
            </a:r>
            <a:r>
              <a:rPr lang="en-US">
                <a:solidFill>
                  <a:srgbClr val="333E48"/>
                </a:solidFill>
                <a:latin typeface="Calibri"/>
                <a:hlinkClick r:id="rId8"/>
              </a:rPr>
              <a:t>&gt;</a:t>
            </a:r>
            <a:r>
              <a:rPr lang="en-US">
                <a:solidFill>
                  <a:srgbClr val="333E48"/>
                </a:solidFill>
                <a:latin typeface="Calibri"/>
              </a:rPr>
              <a:t> describes &lt;shield-name&gt;.</a:t>
            </a:r>
            <a:r>
              <a:rPr lang="en-US" err="1">
                <a:solidFill>
                  <a:srgbClr val="333E48"/>
                </a:solidFill>
                <a:latin typeface="Calibri"/>
              </a:rPr>
              <a:t>clayer.yml</a:t>
            </a:r>
            <a:endParaRPr lang="en-US">
              <a:solidFill>
                <a:srgbClr val="333E48"/>
              </a:solidFill>
              <a:latin typeface="Calibri"/>
            </a:endParaRPr>
          </a:p>
          <a:p>
            <a:pPr defTabSz="914377">
              <a:lnSpc>
                <a:spcPct val="90000"/>
              </a:lnSpc>
              <a:spcAft>
                <a:spcPts val="600"/>
              </a:spcAft>
            </a:pPr>
            <a:endParaRPr lang="en-US">
              <a:solidFill>
                <a:srgbClr val="333E48"/>
              </a:solidFill>
              <a:latin typeface="Calibri"/>
            </a:endParaRPr>
          </a:p>
          <a:p>
            <a:pPr defTabSz="914377">
              <a:lnSpc>
                <a:spcPct val="90000"/>
              </a:lnSpc>
              <a:spcAft>
                <a:spcPts val="600"/>
              </a:spcAft>
            </a:pPr>
            <a:r>
              <a:rPr lang="en-US" b="1">
                <a:solidFill>
                  <a:srgbClr val="333E48"/>
                </a:solidFill>
                <a:latin typeface="Calibri"/>
              </a:rPr>
              <a:t>BSP Pack PDSC:</a:t>
            </a:r>
          </a:p>
          <a:p>
            <a:pPr defTabSz="914377">
              <a:lnSpc>
                <a:spcPct val="90000"/>
              </a:lnSpc>
              <a:spcAft>
                <a:spcPts val="600"/>
              </a:spcAft>
            </a:pPr>
            <a:r>
              <a:rPr lang="en-US">
                <a:solidFill>
                  <a:srgbClr val="333E48"/>
                </a:solidFill>
                <a:latin typeface="Calibri"/>
                <a:hlinkClick r:id="rId8"/>
              </a:rPr>
              <a:t>&lt;</a:t>
            </a:r>
            <a:r>
              <a:rPr lang="en-US" err="1">
                <a:solidFill>
                  <a:srgbClr val="333E48"/>
                </a:solidFill>
                <a:latin typeface="Calibri"/>
                <a:hlinkClick r:id="rId8"/>
              </a:rPr>
              <a:t>clayer</a:t>
            </a:r>
            <a:r>
              <a:rPr lang="en-US">
                <a:solidFill>
                  <a:srgbClr val="333E48"/>
                </a:solidFill>
                <a:latin typeface="Calibri"/>
                <a:hlinkClick r:id="rId8"/>
              </a:rPr>
              <a:t>&gt;</a:t>
            </a:r>
            <a:r>
              <a:rPr lang="en-US">
                <a:solidFill>
                  <a:srgbClr val="333E48"/>
                </a:solidFill>
                <a:latin typeface="Calibri"/>
              </a:rPr>
              <a:t> describes &lt;board-name&gt;.</a:t>
            </a:r>
            <a:r>
              <a:rPr lang="en-US" err="1">
                <a:solidFill>
                  <a:srgbClr val="333E48"/>
                </a:solidFill>
                <a:latin typeface="Calibri"/>
              </a:rPr>
              <a:t>clayer.yml</a:t>
            </a:r>
            <a:endParaRPr lang="en-US">
              <a:solidFill>
                <a:srgbClr val="333E48"/>
              </a:solidFill>
              <a:latin typeface="Calibri"/>
            </a:endParaRPr>
          </a:p>
          <a:p>
            <a:pPr defTabSz="914377">
              <a:lnSpc>
                <a:spcPct val="90000"/>
              </a:lnSpc>
              <a:spcAft>
                <a:spcPts val="600"/>
              </a:spcAft>
            </a:pPr>
            <a:endParaRPr lang="en-US">
              <a:solidFill>
                <a:srgbClr val="333E48"/>
              </a:solidFill>
              <a:latin typeface="Calibri"/>
            </a:endParaRPr>
          </a:p>
          <a:p>
            <a:pPr defTabSz="914377">
              <a:lnSpc>
                <a:spcPct val="90000"/>
              </a:lnSpc>
              <a:spcAft>
                <a:spcPts val="600"/>
              </a:spcAft>
            </a:pPr>
            <a:endParaRPr lang="en-US">
              <a:solidFill>
                <a:srgbClr val="333E48"/>
              </a:solidFill>
              <a:latin typeface="Calibri"/>
            </a:endParaRPr>
          </a:p>
          <a:p>
            <a:pPr defTabSz="914377">
              <a:lnSpc>
                <a:spcPct val="90000"/>
              </a:lnSpc>
              <a:spcAft>
                <a:spcPts val="600"/>
              </a:spcAft>
            </a:pPr>
            <a:endParaRPr lang="en-US">
              <a:solidFill>
                <a:srgbClr val="333E48"/>
              </a:solidFill>
              <a:latin typeface="Calibri"/>
            </a:endParaRPr>
          </a:p>
        </p:txBody>
      </p:sp>
    </p:spTree>
    <p:extLst>
      <p:ext uri="{BB962C8B-B14F-4D97-AF65-F5344CB8AC3E}">
        <p14:creationId xmlns:p14="http://schemas.microsoft.com/office/powerpoint/2010/main" val="2102814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EDE0-5387-F618-F680-BD6F5E24EC71}"/>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55FDA2B6-F1BC-60C0-09CB-4068E848177F}"/>
              </a:ext>
            </a:extLst>
          </p:cNvPr>
          <p:cNvSpPr>
            <a:spLocks noGrp="1"/>
          </p:cNvSpPr>
          <p:nvPr>
            <p:ph type="body" sz="quarter" idx="13"/>
          </p:nvPr>
        </p:nvSpPr>
        <p:spPr/>
        <p:txBody>
          <a:bodyPr/>
          <a:lstStyle/>
          <a:p>
            <a:endParaRPr lang="en-US"/>
          </a:p>
        </p:txBody>
      </p:sp>
      <p:sp>
        <p:nvSpPr>
          <p:cNvPr id="4" name="Content Placeholder 3">
            <a:extLst>
              <a:ext uri="{FF2B5EF4-FFF2-40B4-BE49-F238E27FC236}">
                <a16:creationId xmlns:a16="http://schemas.microsoft.com/office/drawing/2014/main" id="{AE940B16-35A8-3B27-1C96-A0B18B95D9B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9188324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70444-14E9-4412-920E-BE212187115D}"/>
              </a:ext>
            </a:extLst>
          </p:cNvPr>
          <p:cNvSpPr>
            <a:spLocks noGrp="1"/>
          </p:cNvSpPr>
          <p:nvPr>
            <p:ph type="title"/>
          </p:nvPr>
        </p:nvSpPr>
        <p:spPr/>
        <p:txBody>
          <a:bodyPr/>
          <a:lstStyle/>
          <a:p>
            <a:r>
              <a:rPr lang="en-US" sz="3200"/>
              <a:t>IoT Workshop Example - Structure</a:t>
            </a:r>
            <a:endParaRPr lang="en-GB" sz="3200"/>
          </a:p>
        </p:txBody>
      </p:sp>
      <p:sp>
        <p:nvSpPr>
          <p:cNvPr id="7" name="Text Placeholder 6">
            <a:extLst>
              <a:ext uri="{FF2B5EF4-FFF2-40B4-BE49-F238E27FC236}">
                <a16:creationId xmlns:a16="http://schemas.microsoft.com/office/drawing/2014/main" id="{B990FECA-AC6C-BF5C-3709-1986769FAAAC}"/>
              </a:ext>
            </a:extLst>
          </p:cNvPr>
          <p:cNvSpPr>
            <a:spLocks noGrp="1"/>
          </p:cNvSpPr>
          <p:nvPr>
            <p:ph type="body" sz="quarter" idx="13"/>
          </p:nvPr>
        </p:nvSpPr>
        <p:spPr/>
        <p:txBody>
          <a:bodyPr/>
          <a:lstStyle/>
          <a:p>
            <a:r>
              <a:rPr lang="en-US"/>
              <a:t>Reference Application Framework: map many applications to many boards</a:t>
            </a:r>
          </a:p>
        </p:txBody>
      </p:sp>
      <p:sp>
        <p:nvSpPr>
          <p:cNvPr id="6" name="Rectangle 5">
            <a:extLst>
              <a:ext uri="{FF2B5EF4-FFF2-40B4-BE49-F238E27FC236}">
                <a16:creationId xmlns:a16="http://schemas.microsoft.com/office/drawing/2014/main" id="{5B91937D-F19D-B446-238D-9B3F5079E5AE}"/>
              </a:ext>
            </a:extLst>
          </p:cNvPr>
          <p:cNvSpPr/>
          <p:nvPr/>
        </p:nvSpPr>
        <p:spPr>
          <a:xfrm>
            <a:off x="1332623" y="2373671"/>
            <a:ext cx="5639673" cy="473559"/>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Reference Application</a:t>
            </a:r>
            <a:br>
              <a:rPr lang="en-US" sz="1400" dirty="0"/>
            </a:br>
            <a:r>
              <a:rPr lang="en-US" sz="1400" dirty="0"/>
              <a:t>(*.</a:t>
            </a:r>
            <a:r>
              <a:rPr lang="en-US" sz="1400" dirty="0" err="1"/>
              <a:t>cproject.yml</a:t>
            </a:r>
            <a:r>
              <a:rPr lang="en-US" sz="1400" dirty="0"/>
              <a:t>)</a:t>
            </a:r>
          </a:p>
        </p:txBody>
      </p:sp>
      <p:sp>
        <p:nvSpPr>
          <p:cNvPr id="8" name="Rectangle 7">
            <a:extLst>
              <a:ext uri="{FF2B5EF4-FFF2-40B4-BE49-F238E27FC236}">
                <a16:creationId xmlns:a16="http://schemas.microsoft.com/office/drawing/2014/main" id="{766B0585-F98B-6B33-3F69-3561A6AAB479}"/>
              </a:ext>
            </a:extLst>
          </p:cNvPr>
          <p:cNvSpPr/>
          <p:nvPr/>
        </p:nvSpPr>
        <p:spPr>
          <a:xfrm rot="16200000">
            <a:off x="5969398" y="3616112"/>
            <a:ext cx="2724807" cy="264183"/>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 PSA Interface</a:t>
            </a:r>
          </a:p>
        </p:txBody>
      </p:sp>
      <p:sp>
        <p:nvSpPr>
          <p:cNvPr id="11" name="Rectangle 10">
            <a:extLst>
              <a:ext uri="{FF2B5EF4-FFF2-40B4-BE49-F238E27FC236}">
                <a16:creationId xmlns:a16="http://schemas.microsoft.com/office/drawing/2014/main" id="{D635B518-621D-69AE-09B7-61BA9EBE0C2C}"/>
              </a:ext>
            </a:extLst>
          </p:cNvPr>
          <p:cNvSpPr/>
          <p:nvPr/>
        </p:nvSpPr>
        <p:spPr>
          <a:xfrm>
            <a:off x="1332623" y="4637050"/>
            <a:ext cx="2799306" cy="473558"/>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Layer Type: Board</a:t>
            </a:r>
            <a:br>
              <a:rPr lang="en-US" sz="1400" dirty="0"/>
            </a:br>
            <a:r>
              <a:rPr lang="en-US" sz="1200" dirty="0"/>
              <a:t>(&lt;board-name&gt;.</a:t>
            </a:r>
            <a:r>
              <a:rPr lang="en-US" sz="1200" dirty="0" err="1"/>
              <a:t>clayer.yml</a:t>
            </a:r>
            <a:r>
              <a:rPr lang="en-US" sz="1200" dirty="0"/>
              <a:t>)</a:t>
            </a:r>
          </a:p>
        </p:txBody>
      </p:sp>
      <p:sp>
        <p:nvSpPr>
          <p:cNvPr id="22" name="Rectangle 21">
            <a:extLst>
              <a:ext uri="{FF2B5EF4-FFF2-40B4-BE49-F238E27FC236}">
                <a16:creationId xmlns:a16="http://schemas.microsoft.com/office/drawing/2014/main" id="{0288E664-AE4E-8D7F-1ACA-9FB48F183C42}"/>
              </a:ext>
            </a:extLst>
          </p:cNvPr>
          <p:cNvSpPr/>
          <p:nvPr/>
        </p:nvSpPr>
        <p:spPr>
          <a:xfrm rot="16200000">
            <a:off x="6668690" y="3442021"/>
            <a:ext cx="2736936" cy="6002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 Security Firmware </a:t>
            </a:r>
          </a:p>
        </p:txBody>
      </p:sp>
      <p:sp>
        <p:nvSpPr>
          <p:cNvPr id="3" name="Rectangle 2">
            <a:extLst>
              <a:ext uri="{FF2B5EF4-FFF2-40B4-BE49-F238E27FC236}">
                <a16:creationId xmlns:a16="http://schemas.microsoft.com/office/drawing/2014/main" id="{824DA793-7727-3BEF-BCD6-9613B532868A}"/>
              </a:ext>
            </a:extLst>
          </p:cNvPr>
          <p:cNvSpPr/>
          <p:nvPr/>
        </p:nvSpPr>
        <p:spPr>
          <a:xfrm>
            <a:off x="1332624" y="3429000"/>
            <a:ext cx="1776040" cy="653684"/>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Layer Type: Socket</a:t>
            </a:r>
            <a:br>
              <a:rPr lang="en-US" sz="1400" dirty="0"/>
            </a:br>
            <a:r>
              <a:rPr lang="en-US" sz="1400" dirty="0"/>
              <a:t>Network Connectivity</a:t>
            </a:r>
            <a:endParaRPr lang="en-US" sz="1200" dirty="0"/>
          </a:p>
        </p:txBody>
      </p:sp>
      <p:sp>
        <p:nvSpPr>
          <p:cNvPr id="4" name="Rectangle 3">
            <a:extLst>
              <a:ext uri="{FF2B5EF4-FFF2-40B4-BE49-F238E27FC236}">
                <a16:creationId xmlns:a16="http://schemas.microsoft.com/office/drawing/2014/main" id="{3D09EB5A-9FF8-9C03-3E56-2B15AF16267F}"/>
              </a:ext>
            </a:extLst>
          </p:cNvPr>
          <p:cNvSpPr/>
          <p:nvPr/>
        </p:nvSpPr>
        <p:spPr>
          <a:xfrm>
            <a:off x="1332623" y="4377150"/>
            <a:ext cx="2799306" cy="264183"/>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 CMSIS-Driver API</a:t>
            </a:r>
          </a:p>
        </p:txBody>
      </p:sp>
      <p:sp>
        <p:nvSpPr>
          <p:cNvPr id="5" name="Rectangle 4">
            <a:extLst>
              <a:ext uri="{FF2B5EF4-FFF2-40B4-BE49-F238E27FC236}">
                <a16:creationId xmlns:a16="http://schemas.microsoft.com/office/drawing/2014/main" id="{4FC34F42-F15B-DAE4-B3B8-20556915FAD8}"/>
              </a:ext>
            </a:extLst>
          </p:cNvPr>
          <p:cNvSpPr/>
          <p:nvPr/>
        </p:nvSpPr>
        <p:spPr>
          <a:xfrm>
            <a:off x="1332624" y="3164817"/>
            <a:ext cx="1776040" cy="264183"/>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 IoT Socket API</a:t>
            </a:r>
          </a:p>
        </p:txBody>
      </p:sp>
      <p:cxnSp>
        <p:nvCxnSpPr>
          <p:cNvPr id="13" name="Straight Connector 12">
            <a:extLst>
              <a:ext uri="{FF2B5EF4-FFF2-40B4-BE49-F238E27FC236}">
                <a16:creationId xmlns:a16="http://schemas.microsoft.com/office/drawing/2014/main" id="{74DAB65A-9642-D8DA-B478-69F8EB26F680}"/>
              </a:ext>
            </a:extLst>
          </p:cNvPr>
          <p:cNvCxnSpPr>
            <a:cxnSpLocks/>
          </p:cNvCxnSpPr>
          <p:nvPr/>
        </p:nvCxnSpPr>
        <p:spPr>
          <a:xfrm>
            <a:off x="7589373" y="2373671"/>
            <a:ext cx="0" cy="2736935"/>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9F5E5A3B-7539-9B55-9C6A-4891B6EE15D3}"/>
              </a:ext>
            </a:extLst>
          </p:cNvPr>
          <p:cNvSpPr/>
          <p:nvPr/>
        </p:nvSpPr>
        <p:spPr>
          <a:xfrm>
            <a:off x="4299517" y="4637050"/>
            <a:ext cx="2685310" cy="473558"/>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Layer Type: Shield</a:t>
            </a:r>
            <a:br>
              <a:rPr lang="en-US" sz="1400" dirty="0"/>
            </a:br>
            <a:r>
              <a:rPr lang="en-US" sz="1200" dirty="0"/>
              <a:t>(&lt;shield-name&gt;.</a:t>
            </a:r>
            <a:r>
              <a:rPr lang="en-US" sz="1200" dirty="0" err="1"/>
              <a:t>clayer.yml</a:t>
            </a:r>
            <a:r>
              <a:rPr lang="en-US" sz="1200" dirty="0"/>
              <a:t>)</a:t>
            </a:r>
          </a:p>
        </p:txBody>
      </p:sp>
      <p:sp>
        <p:nvSpPr>
          <p:cNvPr id="19" name="Rectangle 18">
            <a:extLst>
              <a:ext uri="{FF2B5EF4-FFF2-40B4-BE49-F238E27FC236}">
                <a16:creationId xmlns:a16="http://schemas.microsoft.com/office/drawing/2014/main" id="{1B42125C-DD62-A635-44F1-5F7CDA2D1A1C}"/>
              </a:ext>
            </a:extLst>
          </p:cNvPr>
          <p:cNvSpPr/>
          <p:nvPr/>
        </p:nvSpPr>
        <p:spPr>
          <a:xfrm>
            <a:off x="4299514" y="4375384"/>
            <a:ext cx="2685310" cy="26418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Shield-specific API</a:t>
            </a:r>
            <a:endParaRPr lang="en-US" sz="1200" dirty="0"/>
          </a:p>
        </p:txBody>
      </p:sp>
      <p:sp>
        <p:nvSpPr>
          <p:cNvPr id="14" name="Rectangle 13">
            <a:extLst>
              <a:ext uri="{FF2B5EF4-FFF2-40B4-BE49-F238E27FC236}">
                <a16:creationId xmlns:a16="http://schemas.microsoft.com/office/drawing/2014/main" id="{19E5BD84-2F57-B771-7D02-9688D2F7B717}"/>
              </a:ext>
            </a:extLst>
          </p:cNvPr>
          <p:cNvSpPr/>
          <p:nvPr/>
        </p:nvSpPr>
        <p:spPr>
          <a:xfrm>
            <a:off x="3265687" y="3429000"/>
            <a:ext cx="1776040" cy="653684"/>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Layer Type: RTOS</a:t>
            </a:r>
            <a:br>
              <a:rPr lang="en-US" sz="1400" dirty="0"/>
            </a:br>
            <a:r>
              <a:rPr lang="en-US" sz="1400" dirty="0" err="1"/>
              <a:t>RTOS</a:t>
            </a:r>
            <a:r>
              <a:rPr lang="en-US" sz="1400" dirty="0"/>
              <a:t> Functionality</a:t>
            </a:r>
            <a:endParaRPr lang="en-US" sz="1200" dirty="0"/>
          </a:p>
        </p:txBody>
      </p:sp>
      <p:sp>
        <p:nvSpPr>
          <p:cNvPr id="15" name="Rectangle 14">
            <a:extLst>
              <a:ext uri="{FF2B5EF4-FFF2-40B4-BE49-F238E27FC236}">
                <a16:creationId xmlns:a16="http://schemas.microsoft.com/office/drawing/2014/main" id="{AEE9D348-E1B0-D4A3-E37B-DC09E9433C4A}"/>
              </a:ext>
            </a:extLst>
          </p:cNvPr>
          <p:cNvSpPr/>
          <p:nvPr/>
        </p:nvSpPr>
        <p:spPr>
          <a:xfrm>
            <a:off x="3265687" y="3164817"/>
            <a:ext cx="1776040" cy="264183"/>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 CMSIS-RTOS2 API</a:t>
            </a:r>
          </a:p>
        </p:txBody>
      </p:sp>
      <p:sp>
        <p:nvSpPr>
          <p:cNvPr id="21" name="Rectangle 20">
            <a:extLst>
              <a:ext uri="{FF2B5EF4-FFF2-40B4-BE49-F238E27FC236}">
                <a16:creationId xmlns:a16="http://schemas.microsoft.com/office/drawing/2014/main" id="{BC50AE92-E425-3B8A-C506-E6AFAE3AC37E}"/>
              </a:ext>
            </a:extLst>
          </p:cNvPr>
          <p:cNvSpPr/>
          <p:nvPr/>
        </p:nvSpPr>
        <p:spPr>
          <a:xfrm>
            <a:off x="5189393" y="3429000"/>
            <a:ext cx="1776040" cy="653684"/>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Layer Type: Stream</a:t>
            </a:r>
            <a:br>
              <a:rPr lang="en-US" sz="1400" dirty="0"/>
            </a:br>
            <a:r>
              <a:rPr lang="en-US" sz="1400" dirty="0"/>
              <a:t>Sensor Middleware</a:t>
            </a:r>
            <a:endParaRPr lang="en-US" sz="1200" dirty="0"/>
          </a:p>
        </p:txBody>
      </p:sp>
      <p:sp>
        <p:nvSpPr>
          <p:cNvPr id="23" name="Rectangle 22">
            <a:extLst>
              <a:ext uri="{FF2B5EF4-FFF2-40B4-BE49-F238E27FC236}">
                <a16:creationId xmlns:a16="http://schemas.microsoft.com/office/drawing/2014/main" id="{75B934F7-9B69-3C72-EBA1-58F3174ED732}"/>
              </a:ext>
            </a:extLst>
          </p:cNvPr>
          <p:cNvSpPr/>
          <p:nvPr/>
        </p:nvSpPr>
        <p:spPr>
          <a:xfrm>
            <a:off x="5189393" y="3164817"/>
            <a:ext cx="1776040" cy="264183"/>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 Data Stream API</a:t>
            </a:r>
          </a:p>
        </p:txBody>
      </p:sp>
      <p:sp>
        <p:nvSpPr>
          <p:cNvPr id="25" name="TextBox 24">
            <a:extLst>
              <a:ext uri="{FF2B5EF4-FFF2-40B4-BE49-F238E27FC236}">
                <a16:creationId xmlns:a16="http://schemas.microsoft.com/office/drawing/2014/main" id="{E5747A7F-1BA3-4D07-CE7D-A6CA0B407E20}"/>
              </a:ext>
            </a:extLst>
          </p:cNvPr>
          <p:cNvSpPr txBox="1"/>
          <p:nvPr/>
        </p:nvSpPr>
        <p:spPr>
          <a:xfrm rot="16200000">
            <a:off x="6997558" y="3734208"/>
            <a:ext cx="1196238" cy="166199"/>
          </a:xfrm>
          <a:prstGeom prst="rect">
            <a:avLst/>
          </a:prstGeom>
          <a:solidFill>
            <a:schemeClr val="bg1"/>
          </a:solid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200" kern="1200" dirty="0">
                <a:solidFill>
                  <a:schemeClr val="tx2"/>
                </a:solidFill>
                <a:latin typeface="+mn-lt"/>
                <a:ea typeface="+mn-ea"/>
                <a:cs typeface="+mn-cs"/>
              </a:rPr>
              <a:t>Security Boundary</a:t>
            </a:r>
          </a:p>
        </p:txBody>
      </p:sp>
    </p:spTree>
    <p:extLst>
      <p:ext uri="{BB962C8B-B14F-4D97-AF65-F5344CB8AC3E}">
        <p14:creationId xmlns:p14="http://schemas.microsoft.com/office/powerpoint/2010/main" val="224679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C697F-706D-2BF8-7A64-9EAC012489F7}"/>
              </a:ext>
            </a:extLst>
          </p:cNvPr>
          <p:cNvSpPr>
            <a:spLocks noGrp="1"/>
          </p:cNvSpPr>
          <p:nvPr>
            <p:ph type="title"/>
          </p:nvPr>
        </p:nvSpPr>
        <p:spPr/>
        <p:txBody>
          <a:bodyPr/>
          <a:lstStyle/>
          <a:p>
            <a:r>
              <a:rPr lang="en-US" dirty="0"/>
              <a:t>Roadmap H1’2023 – CMSIS-Toolbox 2.0</a:t>
            </a:r>
          </a:p>
        </p:txBody>
      </p:sp>
      <p:sp>
        <p:nvSpPr>
          <p:cNvPr id="3" name="Text Placeholder 2">
            <a:extLst>
              <a:ext uri="{FF2B5EF4-FFF2-40B4-BE49-F238E27FC236}">
                <a16:creationId xmlns:a16="http://schemas.microsoft.com/office/drawing/2014/main" id="{052B6CC1-9386-18A8-7FC9-9AE0369261CB}"/>
              </a:ext>
            </a:extLst>
          </p:cNvPr>
          <p:cNvSpPr>
            <a:spLocks noGrp="1"/>
          </p:cNvSpPr>
          <p:nvPr>
            <p:ph type="body" sz="quarter" idx="13"/>
          </p:nvPr>
        </p:nvSpPr>
        <p:spPr/>
        <p:txBody>
          <a:bodyPr/>
          <a:lstStyle/>
          <a:p>
            <a:endParaRPr lang="en-US"/>
          </a:p>
        </p:txBody>
      </p:sp>
      <p:sp>
        <p:nvSpPr>
          <p:cNvPr id="4" name="Content Placeholder 3">
            <a:extLst>
              <a:ext uri="{FF2B5EF4-FFF2-40B4-BE49-F238E27FC236}">
                <a16:creationId xmlns:a16="http://schemas.microsoft.com/office/drawing/2014/main" id="{5FD07831-6602-44DC-7B4A-846C7DA456BA}"/>
              </a:ext>
            </a:extLst>
          </p:cNvPr>
          <p:cNvSpPr>
            <a:spLocks noGrp="1"/>
          </p:cNvSpPr>
          <p:nvPr>
            <p:ph idx="1"/>
          </p:nvPr>
        </p:nvSpPr>
        <p:spPr/>
        <p:txBody>
          <a:bodyPr/>
          <a:lstStyle/>
          <a:p>
            <a:r>
              <a:rPr lang="en-US" sz="2000" dirty="0"/>
              <a:t>Review proposals and agree on implementation timeline (until 15. Feb 2023)</a:t>
            </a:r>
          </a:p>
          <a:p>
            <a:r>
              <a:rPr lang="en-US" sz="2000" dirty="0"/>
              <a:t>Identify missing features for integration into VS Code</a:t>
            </a:r>
          </a:p>
          <a:p>
            <a:r>
              <a:rPr lang="en-US" sz="2000" dirty="0"/>
              <a:t>Work on Installer that (a) is stand-along for Linux, (b) installs CMSIS-Toolbox to VS Code</a:t>
            </a:r>
          </a:p>
          <a:p>
            <a:r>
              <a:rPr lang="en-US" sz="2000" dirty="0"/>
              <a:t>Define an overall multi-project workflow that starts from </a:t>
            </a:r>
            <a:r>
              <a:rPr lang="en-US" sz="2000" dirty="0">
                <a:solidFill>
                  <a:schemeClr val="bg2">
                    <a:lumMod val="25000"/>
                  </a:schemeClr>
                </a:solidFill>
                <a:latin typeface="Calibri"/>
              </a:rPr>
              <a:t>*.</a:t>
            </a:r>
            <a:r>
              <a:rPr lang="en-US" sz="2000" dirty="0" err="1">
                <a:solidFill>
                  <a:schemeClr val="bg2">
                    <a:lumMod val="25000"/>
                  </a:schemeClr>
                </a:solidFill>
                <a:latin typeface="Calibri"/>
              </a:rPr>
              <a:t>cbuild-idx.yml</a:t>
            </a:r>
            <a:r>
              <a:rPr lang="en-US" sz="2000" dirty="0">
                <a:solidFill>
                  <a:schemeClr val="bg2">
                    <a:lumMod val="25000"/>
                  </a:schemeClr>
                </a:solidFill>
                <a:latin typeface="Calibri"/>
              </a:rPr>
              <a:t> (as </a:t>
            </a:r>
            <a:r>
              <a:rPr lang="en-US" sz="2000" dirty="0" err="1">
                <a:solidFill>
                  <a:schemeClr val="bg2">
                    <a:lumMod val="25000"/>
                  </a:schemeClr>
                </a:solidFill>
                <a:latin typeface="Calibri"/>
              </a:rPr>
              <a:t>cbuild</a:t>
            </a:r>
            <a:r>
              <a:rPr lang="en-US" sz="2000" dirty="0">
                <a:solidFill>
                  <a:schemeClr val="bg2">
                    <a:lumMod val="25000"/>
                  </a:schemeClr>
                </a:solidFill>
                <a:latin typeface="Calibri"/>
              </a:rPr>
              <a:t> input file)</a:t>
            </a:r>
            <a:endParaRPr lang="en-US" sz="2000" dirty="0"/>
          </a:p>
          <a:p>
            <a:r>
              <a:rPr lang="en-US" sz="2000" dirty="0"/>
              <a:t>Complete Generator Workflow</a:t>
            </a:r>
          </a:p>
          <a:p>
            <a:r>
              <a:rPr lang="en-US" sz="2000" dirty="0"/>
              <a:t>Implement Gaps:</a:t>
            </a:r>
          </a:p>
          <a:p>
            <a:pPr lvl="1"/>
            <a:r>
              <a:rPr lang="en-US" sz="1800" dirty="0" err="1"/>
              <a:t>csolution</a:t>
            </a:r>
            <a:r>
              <a:rPr lang="en-US" sz="1800" dirty="0"/>
              <a:t> list config </a:t>
            </a:r>
            <a:r>
              <a:rPr lang="en-US" sz="1800" dirty="0">
                <a:hlinkClick r:id="rId2"/>
              </a:rPr>
              <a:t>#142</a:t>
            </a:r>
            <a:r>
              <a:rPr lang="en-US" sz="1800" dirty="0"/>
              <a:t>, </a:t>
            </a:r>
          </a:p>
          <a:p>
            <a:pPr marL="414655" lvl="1" indent="0">
              <a:buNone/>
            </a:pPr>
            <a:endParaRPr lang="en-US" dirty="0"/>
          </a:p>
          <a:p>
            <a:pPr marL="414655" lvl="1" indent="0">
              <a:buNone/>
            </a:pPr>
            <a:endParaRPr lang="en-US" dirty="0"/>
          </a:p>
          <a:p>
            <a:pPr marL="0" indent="0">
              <a:buNone/>
            </a:pPr>
            <a:r>
              <a:rPr lang="en-US" dirty="0"/>
              <a:t>Out of scope (</a:t>
            </a:r>
            <a:r>
              <a:rPr lang="en-US" dirty="0" err="1"/>
              <a:t>todo</a:t>
            </a:r>
            <a:r>
              <a:rPr lang="en-US" dirty="0"/>
              <a:t> later in 2023)</a:t>
            </a:r>
          </a:p>
          <a:p>
            <a:r>
              <a:rPr lang="en-US" sz="2000" dirty="0"/>
              <a:t>CMSIS-Zone integration and resource management proposal</a:t>
            </a:r>
          </a:p>
          <a:p>
            <a:r>
              <a:rPr lang="en-US" sz="2000" dirty="0"/>
              <a:t>Command for batch delete </a:t>
            </a:r>
            <a:r>
              <a:rPr lang="en-US" sz="2000" dirty="0">
                <a:hlinkClick r:id="rId3"/>
              </a:rPr>
              <a:t>#143</a:t>
            </a:r>
            <a:endParaRPr lang="en-US" sz="2000" dirty="0"/>
          </a:p>
          <a:p>
            <a:endParaRPr lang="en-US" dirty="0"/>
          </a:p>
        </p:txBody>
      </p:sp>
    </p:spTree>
    <p:extLst>
      <p:ext uri="{BB962C8B-B14F-4D97-AF65-F5344CB8AC3E}">
        <p14:creationId xmlns:p14="http://schemas.microsoft.com/office/powerpoint/2010/main" val="9310325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5487FEAB-7D2D-4E65-8BF8-9C55DAECCD8A}"/>
              </a:ext>
            </a:extLst>
          </p:cNvPr>
          <p:cNvSpPr/>
          <p:nvPr/>
        </p:nvSpPr>
        <p:spPr>
          <a:xfrm>
            <a:off x="2114292" y="1821293"/>
            <a:ext cx="1786690" cy="2412504"/>
          </a:xfrm>
          <a:prstGeom prst="rect">
            <a:avLst/>
          </a:prstGeom>
          <a:solidFill>
            <a:schemeClr val="accent3">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4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Software Application</a:t>
            </a:r>
          </a:p>
        </p:txBody>
      </p:sp>
      <p:sp>
        <p:nvSpPr>
          <p:cNvPr id="21" name="Rectangle 20">
            <a:extLst>
              <a:ext uri="{FF2B5EF4-FFF2-40B4-BE49-F238E27FC236}">
                <a16:creationId xmlns:a16="http://schemas.microsoft.com/office/drawing/2014/main" id="{0F8F6D10-7E91-4D68-8F46-4EF0F023AF1B}"/>
              </a:ext>
            </a:extLst>
          </p:cNvPr>
          <p:cNvSpPr/>
          <p:nvPr/>
        </p:nvSpPr>
        <p:spPr>
          <a:xfrm>
            <a:off x="4189273" y="2873349"/>
            <a:ext cx="1551974" cy="135804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4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Software Packs</a:t>
            </a:r>
          </a:p>
        </p:txBody>
      </p:sp>
      <p:sp>
        <p:nvSpPr>
          <p:cNvPr id="6" name="Flowchart: Document 5">
            <a:extLst>
              <a:ext uri="{FF2B5EF4-FFF2-40B4-BE49-F238E27FC236}">
                <a16:creationId xmlns:a16="http://schemas.microsoft.com/office/drawing/2014/main" id="{05CB531E-7400-4A1A-9853-81AF2D7E5608}"/>
              </a:ext>
            </a:extLst>
          </p:cNvPr>
          <p:cNvSpPr/>
          <p:nvPr/>
        </p:nvSpPr>
        <p:spPr>
          <a:xfrm>
            <a:off x="2307202" y="2125440"/>
            <a:ext cx="1333416" cy="760435"/>
          </a:xfrm>
          <a:prstGeom prst="flowChartDocumen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csolution.yml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Target and Build</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Parameters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7" name="Flowchart: Multidocument 6">
            <a:extLst>
              <a:ext uri="{FF2B5EF4-FFF2-40B4-BE49-F238E27FC236}">
                <a16:creationId xmlns:a16="http://schemas.microsoft.com/office/drawing/2014/main" id="{0FCC1B91-99A1-4E45-AE23-2D8F8B8DFEBE}"/>
              </a:ext>
            </a:extLst>
          </p:cNvPr>
          <p:cNvSpPr/>
          <p:nvPr/>
        </p:nvSpPr>
        <p:spPr>
          <a:xfrm>
            <a:off x="2278322" y="3105955"/>
            <a:ext cx="1449805" cy="1010653"/>
          </a:xfrm>
          <a:prstGeom prst="flowChartMultidocumen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cproject.yml</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lang="en-US" sz="1000" dirty="0">
                <a:solidFill>
                  <a:schemeClr val="bg2">
                    <a:lumMod val="25000"/>
                  </a:schemeClr>
                </a:solidFill>
                <a:latin typeface="Calibri"/>
              </a:rPr>
              <a:t>source files and </a:t>
            </a:r>
            <a:br>
              <a:rPr lang="en-US" sz="1000" dirty="0">
                <a:solidFill>
                  <a:schemeClr val="bg2">
                    <a:lumMod val="25000"/>
                  </a:schemeClr>
                </a:solidFill>
                <a:latin typeface="Calibri"/>
              </a:rPr>
            </a:br>
            <a:r>
              <a:rPr lang="en-US" sz="1000" dirty="0">
                <a:solidFill>
                  <a:schemeClr val="bg2">
                    <a:lumMod val="25000"/>
                  </a:schemeClr>
                </a:solidFill>
                <a:latin typeface="Calibri"/>
              </a:rPr>
              <a:t>SW components</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14" name="Straight Arrow Connector 13">
            <a:extLst>
              <a:ext uri="{FF2B5EF4-FFF2-40B4-BE49-F238E27FC236}">
                <a16:creationId xmlns:a16="http://schemas.microsoft.com/office/drawing/2014/main" id="{0CA20441-F3C2-440A-892E-1359E8990DC5}"/>
              </a:ext>
            </a:extLst>
          </p:cNvPr>
          <p:cNvCxnSpPr>
            <a:cxnSpLocks/>
          </p:cNvCxnSpPr>
          <p:nvPr/>
        </p:nvCxnSpPr>
        <p:spPr>
          <a:xfrm>
            <a:off x="2968620" y="2829234"/>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8119DA75-D395-4806-9923-A60C1658B62A}"/>
              </a:ext>
            </a:extLst>
          </p:cNvPr>
          <p:cNvSpPr/>
          <p:nvPr/>
        </p:nvSpPr>
        <p:spPr>
          <a:xfrm>
            <a:off x="4178926" y="1821293"/>
            <a:ext cx="1540042" cy="805318"/>
          </a:xfrm>
          <a:prstGeom prst="rect">
            <a:avLst/>
          </a:prstGeom>
          <a:solidFill>
            <a:srgbClr val="92D050"/>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a:solidFill>
                  <a:srgbClr val="FFFFFF"/>
                </a:solidFill>
                <a:latin typeface="Calibri"/>
              </a:rPr>
              <a:t>c</a:t>
            </a:r>
            <a:r>
              <a:rPr kumimoji="0" lang="en-US" sz="1800" b="1" i="0" u="none" strike="noStrike" kern="1200" cap="none" spc="0" normalizeH="0" baseline="0" noProof="0" dirty="0">
                <a:ln>
                  <a:noFill/>
                </a:ln>
                <a:solidFill>
                  <a:srgbClr val="FFFFFF"/>
                </a:solidFill>
                <a:effectLst/>
                <a:uLnTx/>
                <a:uFillTx/>
                <a:latin typeface="Calibri"/>
                <a:ea typeface="+mn-ea"/>
                <a:cs typeface="+mn-cs"/>
              </a:rPr>
              <a:t>solution</a:t>
            </a:r>
            <a:br>
              <a:rPr kumimoji="0" lang="en-US" sz="1800" b="1" i="0" u="none" strike="noStrike" kern="1200" cap="none" spc="0" normalizeH="0" baseline="0" noProof="0" dirty="0">
                <a:ln>
                  <a:noFill/>
                </a:ln>
                <a:solidFill>
                  <a:srgbClr val="FFFFFF"/>
                </a:solidFill>
                <a:effectLst/>
                <a:uLnTx/>
                <a:uFillTx/>
                <a:latin typeface="Calibri"/>
                <a:ea typeface="+mn-ea"/>
                <a:cs typeface="+mn-cs"/>
              </a:rPr>
            </a:br>
            <a:r>
              <a:rPr lang="en-US" sz="1200" dirty="0">
                <a:solidFill>
                  <a:srgbClr val="FFFFFF"/>
                </a:solidFill>
                <a:latin typeface="Calibri"/>
              </a:rPr>
              <a:t>Project Manager</a:t>
            </a:r>
            <a:endParaRPr kumimoji="0" lang="en-GB" sz="1200" b="0" i="0" u="none" strike="noStrike" kern="1200" cap="none" spc="0" normalizeH="0" baseline="0" noProof="0" dirty="0">
              <a:ln>
                <a:noFill/>
              </a:ln>
              <a:solidFill>
                <a:srgbClr val="FFFFFF"/>
              </a:solidFill>
              <a:effectLst/>
              <a:uLnTx/>
              <a:uFillTx/>
              <a:latin typeface="Calibri"/>
              <a:ea typeface="+mn-ea"/>
              <a:cs typeface="+mn-cs"/>
            </a:endParaRPr>
          </a:p>
        </p:txBody>
      </p:sp>
      <p:sp>
        <p:nvSpPr>
          <p:cNvPr id="32" name="Arrow: Right 31">
            <a:extLst>
              <a:ext uri="{FF2B5EF4-FFF2-40B4-BE49-F238E27FC236}">
                <a16:creationId xmlns:a16="http://schemas.microsoft.com/office/drawing/2014/main" id="{8DCE06D2-5B11-472B-8D45-3B327EA1669E}"/>
              </a:ext>
            </a:extLst>
          </p:cNvPr>
          <p:cNvSpPr/>
          <p:nvPr/>
        </p:nvSpPr>
        <p:spPr>
          <a:xfrm>
            <a:off x="3897417" y="2125440"/>
            <a:ext cx="270221"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49" name="Flowchart: Multidocument 48">
            <a:extLst>
              <a:ext uri="{FF2B5EF4-FFF2-40B4-BE49-F238E27FC236}">
                <a16:creationId xmlns:a16="http://schemas.microsoft.com/office/drawing/2014/main" id="{94F6C09C-110C-7C2E-9C31-5970D150646B}"/>
              </a:ext>
            </a:extLst>
          </p:cNvPr>
          <p:cNvSpPr/>
          <p:nvPr/>
        </p:nvSpPr>
        <p:spPr>
          <a:xfrm>
            <a:off x="4294967" y="3240909"/>
            <a:ext cx="1309094" cy="859961"/>
          </a:xfrm>
          <a:prstGeom prst="flowChartMultidocumen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defTabSz="914400" rtl="0" eaLnBrk="0" fontAlgn="base" latinLnBrk="0" hangingPunct="0">
              <a:lnSpc>
                <a:spcPct val="100000"/>
              </a:lnSpc>
              <a:spcBef>
                <a:spcPct val="0"/>
              </a:spcBef>
              <a:spcAft>
                <a:spcPct val="0"/>
              </a:spcAft>
              <a:buClrTx/>
              <a:buSzTx/>
              <a:tabLst/>
              <a:defRPr/>
            </a:pPr>
            <a:r>
              <a:rPr lang="en-US" sz="1000" dirty="0">
                <a:solidFill>
                  <a:schemeClr val="bg2">
                    <a:lumMod val="25000"/>
                  </a:schemeClr>
                </a:solidFill>
                <a:latin typeface="Calibri"/>
              </a:rPr>
              <a:t>Device/Processor</a:t>
            </a:r>
            <a:br>
              <a:rPr lang="en-US" sz="1000" dirty="0">
                <a:solidFill>
                  <a:schemeClr val="bg2">
                    <a:lumMod val="25000"/>
                  </a:schemeClr>
                </a:solidFill>
                <a:latin typeface="Calibri"/>
              </a:rPr>
            </a:br>
            <a:r>
              <a:rPr lang="en-US" sz="1000" dirty="0">
                <a:solidFill>
                  <a:schemeClr val="bg2">
                    <a:lumMod val="25000"/>
                  </a:schemeClr>
                </a:solidFill>
                <a:latin typeface="Calibri"/>
              </a:rPr>
              <a:t>Information</a:t>
            </a:r>
          </a:p>
          <a:p>
            <a:pPr marL="0" marR="0" lvl="0" indent="0" defTabSz="914400" rtl="0" eaLnBrk="0" fontAlgn="base" latinLnBrk="0" hangingPunct="0">
              <a:lnSpc>
                <a:spcPct val="100000"/>
              </a:lnSpc>
              <a:spcBef>
                <a:spcPct val="0"/>
              </a:spcBef>
              <a:spcAft>
                <a:spcPct val="0"/>
              </a:spcAft>
              <a:buClrTx/>
              <a:buSzTx/>
              <a:buFontTx/>
              <a:buNone/>
              <a:tabLst/>
              <a:defRPr/>
            </a:pPr>
            <a:r>
              <a:rPr lang="en-US" sz="1000" dirty="0">
                <a:solidFill>
                  <a:schemeClr val="bg2">
                    <a:lumMod val="25000"/>
                  </a:schemeClr>
                </a:solidFill>
                <a:latin typeface="Calibri"/>
              </a:rPr>
              <a:t>Software Building</a:t>
            </a:r>
            <a:br>
              <a:rPr lang="en-US" sz="1000" dirty="0">
                <a:solidFill>
                  <a:schemeClr val="bg2">
                    <a:lumMod val="25000"/>
                  </a:schemeClr>
                </a:solidFill>
                <a:latin typeface="Calibri"/>
              </a:rPr>
            </a:br>
            <a:r>
              <a:rPr lang="en-US" sz="1000" dirty="0">
                <a:solidFill>
                  <a:schemeClr val="bg2">
                    <a:lumMod val="25000"/>
                  </a:schemeClr>
                </a:solidFill>
                <a:latin typeface="Calibri"/>
              </a:rPr>
              <a:t>Blocks</a:t>
            </a:r>
          </a:p>
        </p:txBody>
      </p:sp>
      <p:sp>
        <p:nvSpPr>
          <p:cNvPr id="51" name="Arrow: Right 50">
            <a:extLst>
              <a:ext uri="{FF2B5EF4-FFF2-40B4-BE49-F238E27FC236}">
                <a16:creationId xmlns:a16="http://schemas.microsoft.com/office/drawing/2014/main" id="{8374547F-BFF4-AFF4-F6FF-B40CC60806A6}"/>
              </a:ext>
            </a:extLst>
          </p:cNvPr>
          <p:cNvSpPr/>
          <p:nvPr/>
        </p:nvSpPr>
        <p:spPr>
          <a:xfrm rot="16200000">
            <a:off x="4841813" y="2647791"/>
            <a:ext cx="246896"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2114062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9937895-70CA-4DED-93E9-B63DFB5625EF}"/>
              </a:ext>
            </a:extLst>
          </p:cNvPr>
          <p:cNvSpPr/>
          <p:nvPr/>
        </p:nvSpPr>
        <p:spPr>
          <a:xfrm>
            <a:off x="479425" y="5364855"/>
            <a:ext cx="11020657" cy="862659"/>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Down Arrow 26">
            <a:extLst>
              <a:ext uri="{FF2B5EF4-FFF2-40B4-BE49-F238E27FC236}">
                <a16:creationId xmlns:a16="http://schemas.microsoft.com/office/drawing/2014/main" id="{DB37F426-3778-4E0F-814C-4181F9B81BFC}"/>
              </a:ext>
            </a:extLst>
          </p:cNvPr>
          <p:cNvSpPr/>
          <p:nvPr/>
        </p:nvSpPr>
        <p:spPr>
          <a:xfrm>
            <a:off x="1248363" y="2990245"/>
            <a:ext cx="510729" cy="2463428"/>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70" name="Rectangle 69">
            <a:extLst>
              <a:ext uri="{FF2B5EF4-FFF2-40B4-BE49-F238E27FC236}">
                <a16:creationId xmlns:a16="http://schemas.microsoft.com/office/drawing/2014/main" id="{81FDFE44-E848-4BDE-B5F6-9264A0D50477}"/>
              </a:ext>
            </a:extLst>
          </p:cNvPr>
          <p:cNvSpPr/>
          <p:nvPr/>
        </p:nvSpPr>
        <p:spPr>
          <a:xfrm>
            <a:off x="1276280" y="1595311"/>
            <a:ext cx="1615871" cy="620170"/>
          </a:xfrm>
          <a:custGeom>
            <a:avLst/>
            <a:gdLst>
              <a:gd name="connsiteX0" fmla="*/ 0 w 3676919"/>
              <a:gd name="connsiteY0" fmla="*/ 0 h 1547767"/>
              <a:gd name="connsiteX1" fmla="*/ 3676919 w 3676919"/>
              <a:gd name="connsiteY1" fmla="*/ 0 h 1547767"/>
              <a:gd name="connsiteX2" fmla="*/ 3676919 w 3676919"/>
              <a:gd name="connsiteY2" fmla="*/ 1547767 h 1547767"/>
              <a:gd name="connsiteX3" fmla="*/ 0 w 3676919"/>
              <a:gd name="connsiteY3" fmla="*/ 1547767 h 1547767"/>
              <a:gd name="connsiteX4" fmla="*/ 0 w 3676919"/>
              <a:gd name="connsiteY4" fmla="*/ 0 h 1547767"/>
              <a:gd name="connsiteX0" fmla="*/ 0 w 3676919"/>
              <a:gd name="connsiteY0" fmla="*/ 0 h 1547767"/>
              <a:gd name="connsiteX1" fmla="*/ 3676919 w 3676919"/>
              <a:gd name="connsiteY1" fmla="*/ 0 h 1547767"/>
              <a:gd name="connsiteX2" fmla="*/ 3676919 w 3676919"/>
              <a:gd name="connsiteY2" fmla="*/ 1534888 h 1547767"/>
              <a:gd name="connsiteX3" fmla="*/ 0 w 3676919"/>
              <a:gd name="connsiteY3" fmla="*/ 1547767 h 1547767"/>
              <a:gd name="connsiteX4" fmla="*/ 0 w 3676919"/>
              <a:gd name="connsiteY4" fmla="*/ 0 h 1547767"/>
              <a:gd name="connsiteX0" fmla="*/ 0 w 4552682"/>
              <a:gd name="connsiteY0" fmla="*/ 0 h 1547767"/>
              <a:gd name="connsiteX1" fmla="*/ 3676919 w 4552682"/>
              <a:gd name="connsiteY1" fmla="*/ 0 h 1547767"/>
              <a:gd name="connsiteX2" fmla="*/ 3676919 w 4552682"/>
              <a:gd name="connsiteY2" fmla="*/ 1534888 h 1547767"/>
              <a:gd name="connsiteX3" fmla="*/ 0 w 4552682"/>
              <a:gd name="connsiteY3" fmla="*/ 1547767 h 1547767"/>
              <a:gd name="connsiteX4" fmla="*/ 0 w 4552682"/>
              <a:gd name="connsiteY4" fmla="*/ 0 h 1547767"/>
              <a:gd name="connsiteX0" fmla="*/ 0 w 5724659"/>
              <a:gd name="connsiteY0" fmla="*/ 12879 h 1560646"/>
              <a:gd name="connsiteX1" fmla="*/ 5724659 w 5724659"/>
              <a:gd name="connsiteY1" fmla="*/ 0 h 1560646"/>
              <a:gd name="connsiteX2" fmla="*/ 3676919 w 5724659"/>
              <a:gd name="connsiteY2" fmla="*/ 1547767 h 1560646"/>
              <a:gd name="connsiteX3" fmla="*/ 0 w 5724659"/>
              <a:gd name="connsiteY3" fmla="*/ 1560646 h 1560646"/>
              <a:gd name="connsiteX4" fmla="*/ 0 w 5724659"/>
              <a:gd name="connsiteY4" fmla="*/ 12879 h 1560646"/>
              <a:gd name="connsiteX0" fmla="*/ 0 w 5724659"/>
              <a:gd name="connsiteY0" fmla="*/ 12879 h 1560646"/>
              <a:gd name="connsiteX1" fmla="*/ 5724659 w 5724659"/>
              <a:gd name="connsiteY1" fmla="*/ 0 h 1560646"/>
              <a:gd name="connsiteX2" fmla="*/ 3676919 w 5724659"/>
              <a:gd name="connsiteY2" fmla="*/ 1547767 h 1560646"/>
              <a:gd name="connsiteX3" fmla="*/ 0 w 5724659"/>
              <a:gd name="connsiteY3" fmla="*/ 1560646 h 1560646"/>
              <a:gd name="connsiteX4" fmla="*/ 0 w 5724659"/>
              <a:gd name="connsiteY4" fmla="*/ 12879 h 1560646"/>
              <a:gd name="connsiteX0" fmla="*/ 0 w 5724659"/>
              <a:gd name="connsiteY0" fmla="*/ 12879 h 1560646"/>
              <a:gd name="connsiteX1" fmla="*/ 5724659 w 5724659"/>
              <a:gd name="connsiteY1" fmla="*/ 0 h 1560646"/>
              <a:gd name="connsiteX2" fmla="*/ 3676919 w 5724659"/>
              <a:gd name="connsiteY2" fmla="*/ 1547767 h 1560646"/>
              <a:gd name="connsiteX3" fmla="*/ 5711780 w 5724659"/>
              <a:gd name="connsiteY3" fmla="*/ 697761 h 1560646"/>
              <a:gd name="connsiteX4" fmla="*/ 0 w 5724659"/>
              <a:gd name="connsiteY4" fmla="*/ 1560646 h 1560646"/>
              <a:gd name="connsiteX5" fmla="*/ 0 w 5724659"/>
              <a:gd name="connsiteY5" fmla="*/ 12879 h 1560646"/>
              <a:gd name="connsiteX0" fmla="*/ 0 w 5724659"/>
              <a:gd name="connsiteY0" fmla="*/ 12879 h 1573524"/>
              <a:gd name="connsiteX1" fmla="*/ 5724659 w 5724659"/>
              <a:gd name="connsiteY1" fmla="*/ 0 h 1573524"/>
              <a:gd name="connsiteX2" fmla="*/ 3676919 w 5724659"/>
              <a:gd name="connsiteY2" fmla="*/ 1547767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5673144 w 5724659"/>
              <a:gd name="connsiteY3" fmla="*/ 704201 h 1573524"/>
              <a:gd name="connsiteX4" fmla="*/ 3528811 w 5724659"/>
              <a:gd name="connsiteY4" fmla="*/ 1573524 h 1573524"/>
              <a:gd name="connsiteX5" fmla="*/ 0 w 5724659"/>
              <a:gd name="connsiteY5" fmla="*/ 1560646 h 1573524"/>
              <a:gd name="connsiteX6" fmla="*/ 0 w 5724659"/>
              <a:gd name="connsiteY6"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612524 w 5724659"/>
              <a:gd name="connsiteY3" fmla="*/ 948900 h 1573524"/>
              <a:gd name="connsiteX4" fmla="*/ 3528811 w 5724659"/>
              <a:gd name="connsiteY4" fmla="*/ 1573524 h 1573524"/>
              <a:gd name="connsiteX5" fmla="*/ 0 w 5724659"/>
              <a:gd name="connsiteY5" fmla="*/ 1560646 h 1573524"/>
              <a:gd name="connsiteX6" fmla="*/ 0 w 5724659"/>
              <a:gd name="connsiteY6" fmla="*/ 12879 h 1573524"/>
              <a:gd name="connsiteX0" fmla="*/ 0 w 6607105"/>
              <a:gd name="connsiteY0" fmla="*/ 12879 h 1573524"/>
              <a:gd name="connsiteX1" fmla="*/ 5724659 w 6607105"/>
              <a:gd name="connsiteY1" fmla="*/ 0 h 1573524"/>
              <a:gd name="connsiteX2" fmla="*/ 5698903 w 6607105"/>
              <a:gd name="connsiteY2" fmla="*/ 652685 h 1573524"/>
              <a:gd name="connsiteX3" fmla="*/ 3612524 w 6607105"/>
              <a:gd name="connsiteY3" fmla="*/ 948900 h 1573524"/>
              <a:gd name="connsiteX4" fmla="*/ 3528811 w 6607105"/>
              <a:gd name="connsiteY4" fmla="*/ 1573524 h 1573524"/>
              <a:gd name="connsiteX5" fmla="*/ 0 w 6607105"/>
              <a:gd name="connsiteY5" fmla="*/ 1560646 h 1573524"/>
              <a:gd name="connsiteX6" fmla="*/ 0 w 6607105"/>
              <a:gd name="connsiteY6" fmla="*/ 12879 h 1573524"/>
              <a:gd name="connsiteX0" fmla="*/ 0 w 6607105"/>
              <a:gd name="connsiteY0" fmla="*/ 12879 h 1573524"/>
              <a:gd name="connsiteX1" fmla="*/ 5724659 w 6607105"/>
              <a:gd name="connsiteY1" fmla="*/ 0 h 1573524"/>
              <a:gd name="connsiteX2" fmla="*/ 5698903 w 6607105"/>
              <a:gd name="connsiteY2" fmla="*/ 652685 h 1573524"/>
              <a:gd name="connsiteX3" fmla="*/ 3593205 w 6607105"/>
              <a:gd name="connsiteY3" fmla="*/ 672004 h 1573524"/>
              <a:gd name="connsiteX4" fmla="*/ 3528811 w 6607105"/>
              <a:gd name="connsiteY4" fmla="*/ 1573524 h 1573524"/>
              <a:gd name="connsiteX5" fmla="*/ 0 w 6607105"/>
              <a:gd name="connsiteY5" fmla="*/ 1560646 h 1573524"/>
              <a:gd name="connsiteX6" fmla="*/ 0 w 6607105"/>
              <a:gd name="connsiteY6" fmla="*/ 12879 h 1573524"/>
              <a:gd name="connsiteX0" fmla="*/ 0 w 5724659"/>
              <a:gd name="connsiteY0" fmla="*/ 12879 h 1573524"/>
              <a:gd name="connsiteX1" fmla="*/ 5724659 w 5724659"/>
              <a:gd name="connsiteY1" fmla="*/ 0 h 1573524"/>
              <a:gd name="connsiteX2" fmla="*/ 5698903 w 5724659"/>
              <a:gd name="connsiteY2" fmla="*/ 652685 h 1573524"/>
              <a:gd name="connsiteX3" fmla="*/ 3593205 w 5724659"/>
              <a:gd name="connsiteY3" fmla="*/ 672004 h 1573524"/>
              <a:gd name="connsiteX4" fmla="*/ 3528811 w 5724659"/>
              <a:gd name="connsiteY4" fmla="*/ 1573524 h 1573524"/>
              <a:gd name="connsiteX5" fmla="*/ 0 w 5724659"/>
              <a:gd name="connsiteY5" fmla="*/ 1560646 h 1573524"/>
              <a:gd name="connsiteX6" fmla="*/ 0 w 5724659"/>
              <a:gd name="connsiteY6" fmla="*/ 12879 h 1573524"/>
              <a:gd name="connsiteX0" fmla="*/ 0 w 5698903"/>
              <a:gd name="connsiteY0" fmla="*/ 19318 h 1579963"/>
              <a:gd name="connsiteX1" fmla="*/ 5692462 w 5698903"/>
              <a:gd name="connsiteY1" fmla="*/ 0 h 1579963"/>
              <a:gd name="connsiteX2" fmla="*/ 5698903 w 5698903"/>
              <a:gd name="connsiteY2" fmla="*/ 659124 h 1579963"/>
              <a:gd name="connsiteX3" fmla="*/ 3593205 w 5698903"/>
              <a:gd name="connsiteY3" fmla="*/ 678443 h 1579963"/>
              <a:gd name="connsiteX4" fmla="*/ 3528811 w 5698903"/>
              <a:gd name="connsiteY4" fmla="*/ 1579963 h 1579963"/>
              <a:gd name="connsiteX5" fmla="*/ 0 w 5698903"/>
              <a:gd name="connsiteY5" fmla="*/ 1567085 h 1579963"/>
              <a:gd name="connsiteX6" fmla="*/ 0 w 5698903"/>
              <a:gd name="connsiteY6" fmla="*/ 19318 h 1579963"/>
              <a:gd name="connsiteX0" fmla="*/ 0 w 5698903"/>
              <a:gd name="connsiteY0" fmla="*/ 19318 h 1592842"/>
              <a:gd name="connsiteX1" fmla="*/ 5692462 w 5698903"/>
              <a:gd name="connsiteY1" fmla="*/ 0 h 1592842"/>
              <a:gd name="connsiteX2" fmla="*/ 5698903 w 5698903"/>
              <a:gd name="connsiteY2" fmla="*/ 659124 h 1592842"/>
              <a:gd name="connsiteX3" fmla="*/ 3593205 w 5698903"/>
              <a:gd name="connsiteY3" fmla="*/ 678443 h 1592842"/>
              <a:gd name="connsiteX4" fmla="*/ 3631842 w 5698903"/>
              <a:gd name="connsiteY4" fmla="*/ 1592842 h 1592842"/>
              <a:gd name="connsiteX5" fmla="*/ 0 w 5698903"/>
              <a:gd name="connsiteY5" fmla="*/ 1567085 h 1592842"/>
              <a:gd name="connsiteX6" fmla="*/ 0 w 5698903"/>
              <a:gd name="connsiteY6" fmla="*/ 19318 h 1592842"/>
              <a:gd name="connsiteX0" fmla="*/ 0 w 5698903"/>
              <a:gd name="connsiteY0" fmla="*/ 19318 h 1592842"/>
              <a:gd name="connsiteX1" fmla="*/ 5692462 w 5698903"/>
              <a:gd name="connsiteY1" fmla="*/ 0 h 1592842"/>
              <a:gd name="connsiteX2" fmla="*/ 5698903 w 5698903"/>
              <a:gd name="connsiteY2" fmla="*/ 659124 h 1592842"/>
              <a:gd name="connsiteX3" fmla="*/ 3631842 w 5698903"/>
              <a:gd name="connsiteY3" fmla="*/ 672004 h 1592842"/>
              <a:gd name="connsiteX4" fmla="*/ 3631842 w 5698903"/>
              <a:gd name="connsiteY4" fmla="*/ 1592842 h 1592842"/>
              <a:gd name="connsiteX5" fmla="*/ 0 w 5698903"/>
              <a:gd name="connsiteY5" fmla="*/ 1567085 h 1592842"/>
              <a:gd name="connsiteX6" fmla="*/ 0 w 5698903"/>
              <a:gd name="connsiteY6" fmla="*/ 19318 h 1592842"/>
              <a:gd name="connsiteX0" fmla="*/ 0 w 5705343"/>
              <a:gd name="connsiteY0" fmla="*/ 0 h 1689434"/>
              <a:gd name="connsiteX1" fmla="*/ 5698902 w 5705343"/>
              <a:gd name="connsiteY1" fmla="*/ 96592 h 1689434"/>
              <a:gd name="connsiteX2" fmla="*/ 5705343 w 5705343"/>
              <a:gd name="connsiteY2" fmla="*/ 755716 h 1689434"/>
              <a:gd name="connsiteX3" fmla="*/ 3638282 w 5705343"/>
              <a:gd name="connsiteY3" fmla="*/ 768596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638282 w 5705343"/>
              <a:gd name="connsiteY3" fmla="*/ 768596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710007 w 5705343"/>
              <a:gd name="connsiteY3" fmla="*/ 762205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710007 w 5705343"/>
              <a:gd name="connsiteY3" fmla="*/ 762205 h 1689434"/>
              <a:gd name="connsiteX4" fmla="*/ 3703487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85771 w 5705343"/>
              <a:gd name="connsiteY1" fmla="*/ 19366 h 1689434"/>
              <a:gd name="connsiteX2" fmla="*/ 5705343 w 5705343"/>
              <a:gd name="connsiteY2" fmla="*/ 755716 h 1689434"/>
              <a:gd name="connsiteX3" fmla="*/ 3710007 w 5705343"/>
              <a:gd name="connsiteY3" fmla="*/ 762205 h 1689434"/>
              <a:gd name="connsiteX4" fmla="*/ 3703487 w 5705343"/>
              <a:gd name="connsiteY4" fmla="*/ 1689434 h 1689434"/>
              <a:gd name="connsiteX5" fmla="*/ 6440 w 5705343"/>
              <a:gd name="connsiteY5" fmla="*/ 1663677 h 1689434"/>
              <a:gd name="connsiteX6" fmla="*/ 0 w 5705343"/>
              <a:gd name="connsiteY6" fmla="*/ 0 h 1689434"/>
              <a:gd name="connsiteX0" fmla="*/ 0 w 5792193"/>
              <a:gd name="connsiteY0" fmla="*/ 0 h 1689434"/>
              <a:gd name="connsiteX1" fmla="*/ 5685771 w 5792193"/>
              <a:gd name="connsiteY1" fmla="*/ 19366 h 1689434"/>
              <a:gd name="connsiteX2" fmla="*/ 3710007 w 5792193"/>
              <a:gd name="connsiteY2" fmla="*/ 762205 h 1689434"/>
              <a:gd name="connsiteX3" fmla="*/ 3703487 w 5792193"/>
              <a:gd name="connsiteY3" fmla="*/ 1689434 h 1689434"/>
              <a:gd name="connsiteX4" fmla="*/ 6440 w 5792193"/>
              <a:gd name="connsiteY4" fmla="*/ 1663677 h 1689434"/>
              <a:gd name="connsiteX5" fmla="*/ 0 w 5792193"/>
              <a:gd name="connsiteY5" fmla="*/ 0 h 1689434"/>
              <a:gd name="connsiteX0" fmla="*/ 0 w 3710007"/>
              <a:gd name="connsiteY0" fmla="*/ 0 h 1689434"/>
              <a:gd name="connsiteX1" fmla="*/ 3710007 w 3710007"/>
              <a:gd name="connsiteY1" fmla="*/ 762205 h 1689434"/>
              <a:gd name="connsiteX2" fmla="*/ 3703487 w 3710007"/>
              <a:gd name="connsiteY2" fmla="*/ 1689434 h 1689434"/>
              <a:gd name="connsiteX3" fmla="*/ 6440 w 3710007"/>
              <a:gd name="connsiteY3" fmla="*/ 1663677 h 1689434"/>
              <a:gd name="connsiteX4" fmla="*/ 0 w 3710007"/>
              <a:gd name="connsiteY4" fmla="*/ 0 h 1689434"/>
              <a:gd name="connsiteX0" fmla="*/ 0 w 3703773"/>
              <a:gd name="connsiteY0" fmla="*/ 0 h 1689434"/>
              <a:gd name="connsiteX1" fmla="*/ 3696876 w 3703773"/>
              <a:gd name="connsiteY1" fmla="*/ 25633 h 1689434"/>
              <a:gd name="connsiteX2" fmla="*/ 3703487 w 3703773"/>
              <a:gd name="connsiteY2" fmla="*/ 1689434 h 1689434"/>
              <a:gd name="connsiteX3" fmla="*/ 6440 w 3703773"/>
              <a:gd name="connsiteY3" fmla="*/ 1663677 h 1689434"/>
              <a:gd name="connsiteX4" fmla="*/ 0 w 3703773"/>
              <a:gd name="connsiteY4" fmla="*/ 0 h 1689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3773" h="1689434">
                <a:moveTo>
                  <a:pt x="0" y="0"/>
                </a:moveTo>
                <a:lnTo>
                  <a:pt x="3696876" y="25633"/>
                </a:lnTo>
                <a:cubicBezTo>
                  <a:pt x="3694703" y="334709"/>
                  <a:pt x="3705660" y="1380358"/>
                  <a:pt x="3703487" y="1689434"/>
                </a:cubicBezTo>
                <a:lnTo>
                  <a:pt x="6440" y="1663677"/>
                </a:lnTo>
                <a:cubicBezTo>
                  <a:pt x="4293" y="1109118"/>
                  <a:pt x="2147" y="554559"/>
                  <a:pt x="0" y="0"/>
                </a:cubicBezTo>
                <a:close/>
              </a:path>
            </a:pathLst>
          </a:custGeom>
          <a:solidFill>
            <a:schemeClr val="accent2">
              <a:lumMod val="10000"/>
              <a:lumOff val="90000"/>
              <a:alpha val="80000"/>
            </a:schemeClr>
          </a:solidFill>
          <a:ln w="28575" cap="flat" cmpd="sng" algn="ctr">
            <a:solidFill>
              <a:schemeClr val="tx1"/>
            </a:solidFill>
            <a:prstDash val="dash"/>
          </a:ln>
          <a:effectLst/>
        </p:spPr>
        <p:txBody>
          <a:bodyPr lIns="91396" tIns="45699" rIns="91396" bIns="45699" rtlCol="0" anchor="t"/>
          <a:lstStyle/>
          <a:p>
            <a:pPr defTabSz="456936" eaLnBrk="1" fontAlgn="auto" hangingPunct="1">
              <a:spcBef>
                <a:spcPts val="0"/>
              </a:spcBef>
              <a:spcAft>
                <a:spcPts val="0"/>
              </a:spcAft>
              <a:defRPr/>
            </a:pPr>
            <a:r>
              <a:rPr lang="en-US" sz="1400" kern="0" dirty="0">
                <a:solidFill>
                  <a:schemeClr val="accent2"/>
                </a:solidFill>
                <a:latin typeface="+mn-lt"/>
              </a:rPr>
              <a:t>User Application Code</a:t>
            </a:r>
            <a:endParaRPr lang="en-GB" sz="1400" kern="0" dirty="0">
              <a:solidFill>
                <a:schemeClr val="accent2"/>
              </a:solidFill>
              <a:latin typeface="+mn-lt"/>
            </a:endParaRPr>
          </a:p>
        </p:txBody>
      </p:sp>
      <p:sp>
        <p:nvSpPr>
          <p:cNvPr id="21" name="Rectangle 20">
            <a:extLst>
              <a:ext uri="{FF2B5EF4-FFF2-40B4-BE49-F238E27FC236}">
                <a16:creationId xmlns:a16="http://schemas.microsoft.com/office/drawing/2014/main" id="{55D6DD88-1FD7-4BA4-AB28-44E626DD2497}"/>
              </a:ext>
            </a:extLst>
          </p:cNvPr>
          <p:cNvSpPr/>
          <p:nvPr/>
        </p:nvSpPr>
        <p:spPr>
          <a:xfrm>
            <a:off x="481863" y="3326660"/>
            <a:ext cx="2642046" cy="653663"/>
          </a:xfrm>
          <a:prstGeom prst="rect">
            <a:avLst/>
          </a:prstGeom>
          <a:solidFill>
            <a:schemeClr val="accent1">
              <a:lumMod val="40000"/>
              <a:lumOff val="60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r>
              <a:rPr lang="en-US" sz="1600" kern="0">
                <a:solidFill>
                  <a:srgbClr val="000000"/>
                </a:solidFill>
                <a:latin typeface="+mn-lt"/>
              </a:rPr>
              <a:t>Virtual</a:t>
            </a:r>
            <a:br>
              <a:rPr lang="en-US" sz="1600" kern="0">
                <a:solidFill>
                  <a:srgbClr val="000000"/>
                </a:solidFill>
                <a:latin typeface="+mn-lt"/>
              </a:rPr>
            </a:br>
            <a:r>
              <a:rPr lang="en-US" sz="1600" kern="0">
                <a:solidFill>
                  <a:srgbClr val="000000"/>
                </a:solidFill>
                <a:latin typeface="+mn-lt"/>
              </a:rPr>
              <a:t>Layer</a:t>
            </a:r>
            <a:endParaRPr lang="en-GB" sz="1600" kern="0">
              <a:solidFill>
                <a:srgbClr val="000000"/>
              </a:solidFill>
              <a:latin typeface="+mn-lt"/>
            </a:endParaRPr>
          </a:p>
        </p:txBody>
      </p:sp>
      <p:sp>
        <p:nvSpPr>
          <p:cNvPr id="30" name="Down Arrow 26">
            <a:extLst>
              <a:ext uri="{FF2B5EF4-FFF2-40B4-BE49-F238E27FC236}">
                <a16:creationId xmlns:a16="http://schemas.microsoft.com/office/drawing/2014/main" id="{D6981AE9-5DF4-413F-9F55-F18CBA15AB85}"/>
              </a:ext>
            </a:extLst>
          </p:cNvPr>
          <p:cNvSpPr/>
          <p:nvPr/>
        </p:nvSpPr>
        <p:spPr>
          <a:xfrm flipV="1">
            <a:off x="2344931" y="3837796"/>
            <a:ext cx="550606" cy="804054"/>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66" name="Rectangle 65">
            <a:extLst>
              <a:ext uri="{FF2B5EF4-FFF2-40B4-BE49-F238E27FC236}">
                <a16:creationId xmlns:a16="http://schemas.microsoft.com/office/drawing/2014/main" id="{EBCA1D57-A748-4DD4-B0B9-FB9281C35702}"/>
              </a:ext>
            </a:extLst>
          </p:cNvPr>
          <p:cNvSpPr/>
          <p:nvPr/>
        </p:nvSpPr>
        <p:spPr>
          <a:xfrm>
            <a:off x="1277377" y="2362078"/>
            <a:ext cx="1645062" cy="623901"/>
          </a:xfrm>
          <a:prstGeom prst="rect">
            <a:avLst/>
          </a:prstGeom>
          <a:solidFill>
            <a:schemeClr val="accent1">
              <a:lumMod val="75000"/>
            </a:schemeClr>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r>
              <a:rPr lang="en-US" sz="1400" kern="0">
                <a:solidFill>
                  <a:srgbClr val="FFFFFF"/>
                </a:solidFill>
                <a:latin typeface="+mn-lt"/>
              </a:rPr>
              <a:t>IoT/ML Software Platform</a:t>
            </a:r>
          </a:p>
        </p:txBody>
      </p:sp>
      <p:sp>
        <p:nvSpPr>
          <p:cNvPr id="29" name="Rectangle 28">
            <a:extLst>
              <a:ext uri="{FF2B5EF4-FFF2-40B4-BE49-F238E27FC236}">
                <a16:creationId xmlns:a16="http://schemas.microsoft.com/office/drawing/2014/main" id="{F3B3B581-DD8B-4457-9CC6-E5B89F229FE9}"/>
              </a:ext>
            </a:extLst>
          </p:cNvPr>
          <p:cNvSpPr/>
          <p:nvPr/>
        </p:nvSpPr>
        <p:spPr>
          <a:xfrm>
            <a:off x="987442" y="5450454"/>
            <a:ext cx="1060086" cy="299356"/>
          </a:xfrm>
          <a:prstGeom prst="rect">
            <a:avLst/>
          </a:prstGeom>
          <a:solidFill>
            <a:srgbClr val="58595B"/>
          </a:solidFill>
          <a:ln w="9525" cap="flat" cmpd="sng" algn="ctr">
            <a:noFill/>
            <a:prstDash val="solid"/>
          </a:ln>
          <a:effectLst/>
        </p:spPr>
        <p:txBody>
          <a:bodyPr lIns="91396" tIns="45699" rIns="91396" bIns="45699" numCol="1" rtlCol="0" anchor="t"/>
          <a:lstStyle/>
          <a:p>
            <a:pPr defTabSz="456936" eaLnBrk="1" fontAlgn="auto" hangingPunct="1">
              <a:spcBef>
                <a:spcPts val="0"/>
              </a:spcBef>
              <a:spcAft>
                <a:spcPts val="0"/>
              </a:spcAft>
              <a:defRPr/>
            </a:pPr>
            <a:r>
              <a:rPr lang="en-US" sz="1200" kern="0">
                <a:solidFill>
                  <a:srgbClr val="FFFFFF"/>
                </a:solidFill>
                <a:latin typeface="+mn-lt"/>
              </a:rPr>
              <a:t>Event Log file</a:t>
            </a:r>
            <a:endParaRPr lang="en-US" sz="1400" kern="0">
              <a:solidFill>
                <a:srgbClr val="FFFFFF"/>
              </a:solidFill>
              <a:latin typeface="+mn-lt"/>
            </a:endParaRPr>
          </a:p>
        </p:txBody>
      </p:sp>
      <p:sp>
        <p:nvSpPr>
          <p:cNvPr id="35" name="Down Arrow 26">
            <a:extLst>
              <a:ext uri="{FF2B5EF4-FFF2-40B4-BE49-F238E27FC236}">
                <a16:creationId xmlns:a16="http://schemas.microsoft.com/office/drawing/2014/main" id="{22E10B83-F9E9-4ADC-8692-11AD7842E6F6}"/>
              </a:ext>
            </a:extLst>
          </p:cNvPr>
          <p:cNvSpPr/>
          <p:nvPr/>
        </p:nvSpPr>
        <p:spPr>
          <a:xfrm>
            <a:off x="4355654" y="2994537"/>
            <a:ext cx="510729" cy="2463428"/>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36" name="Rectangle 69">
            <a:extLst>
              <a:ext uri="{FF2B5EF4-FFF2-40B4-BE49-F238E27FC236}">
                <a16:creationId xmlns:a16="http://schemas.microsoft.com/office/drawing/2014/main" id="{86D98D1F-60F2-4E1D-A378-B9D1FC0C69AD}"/>
              </a:ext>
            </a:extLst>
          </p:cNvPr>
          <p:cNvSpPr/>
          <p:nvPr/>
        </p:nvSpPr>
        <p:spPr>
          <a:xfrm>
            <a:off x="4383571" y="1599603"/>
            <a:ext cx="1615871" cy="620170"/>
          </a:xfrm>
          <a:custGeom>
            <a:avLst/>
            <a:gdLst>
              <a:gd name="connsiteX0" fmla="*/ 0 w 3676919"/>
              <a:gd name="connsiteY0" fmla="*/ 0 h 1547767"/>
              <a:gd name="connsiteX1" fmla="*/ 3676919 w 3676919"/>
              <a:gd name="connsiteY1" fmla="*/ 0 h 1547767"/>
              <a:gd name="connsiteX2" fmla="*/ 3676919 w 3676919"/>
              <a:gd name="connsiteY2" fmla="*/ 1547767 h 1547767"/>
              <a:gd name="connsiteX3" fmla="*/ 0 w 3676919"/>
              <a:gd name="connsiteY3" fmla="*/ 1547767 h 1547767"/>
              <a:gd name="connsiteX4" fmla="*/ 0 w 3676919"/>
              <a:gd name="connsiteY4" fmla="*/ 0 h 1547767"/>
              <a:gd name="connsiteX0" fmla="*/ 0 w 3676919"/>
              <a:gd name="connsiteY0" fmla="*/ 0 h 1547767"/>
              <a:gd name="connsiteX1" fmla="*/ 3676919 w 3676919"/>
              <a:gd name="connsiteY1" fmla="*/ 0 h 1547767"/>
              <a:gd name="connsiteX2" fmla="*/ 3676919 w 3676919"/>
              <a:gd name="connsiteY2" fmla="*/ 1534888 h 1547767"/>
              <a:gd name="connsiteX3" fmla="*/ 0 w 3676919"/>
              <a:gd name="connsiteY3" fmla="*/ 1547767 h 1547767"/>
              <a:gd name="connsiteX4" fmla="*/ 0 w 3676919"/>
              <a:gd name="connsiteY4" fmla="*/ 0 h 1547767"/>
              <a:gd name="connsiteX0" fmla="*/ 0 w 4552682"/>
              <a:gd name="connsiteY0" fmla="*/ 0 h 1547767"/>
              <a:gd name="connsiteX1" fmla="*/ 3676919 w 4552682"/>
              <a:gd name="connsiteY1" fmla="*/ 0 h 1547767"/>
              <a:gd name="connsiteX2" fmla="*/ 3676919 w 4552682"/>
              <a:gd name="connsiteY2" fmla="*/ 1534888 h 1547767"/>
              <a:gd name="connsiteX3" fmla="*/ 0 w 4552682"/>
              <a:gd name="connsiteY3" fmla="*/ 1547767 h 1547767"/>
              <a:gd name="connsiteX4" fmla="*/ 0 w 4552682"/>
              <a:gd name="connsiteY4" fmla="*/ 0 h 1547767"/>
              <a:gd name="connsiteX0" fmla="*/ 0 w 5724659"/>
              <a:gd name="connsiteY0" fmla="*/ 12879 h 1560646"/>
              <a:gd name="connsiteX1" fmla="*/ 5724659 w 5724659"/>
              <a:gd name="connsiteY1" fmla="*/ 0 h 1560646"/>
              <a:gd name="connsiteX2" fmla="*/ 3676919 w 5724659"/>
              <a:gd name="connsiteY2" fmla="*/ 1547767 h 1560646"/>
              <a:gd name="connsiteX3" fmla="*/ 0 w 5724659"/>
              <a:gd name="connsiteY3" fmla="*/ 1560646 h 1560646"/>
              <a:gd name="connsiteX4" fmla="*/ 0 w 5724659"/>
              <a:gd name="connsiteY4" fmla="*/ 12879 h 1560646"/>
              <a:gd name="connsiteX0" fmla="*/ 0 w 5724659"/>
              <a:gd name="connsiteY0" fmla="*/ 12879 h 1560646"/>
              <a:gd name="connsiteX1" fmla="*/ 5724659 w 5724659"/>
              <a:gd name="connsiteY1" fmla="*/ 0 h 1560646"/>
              <a:gd name="connsiteX2" fmla="*/ 3676919 w 5724659"/>
              <a:gd name="connsiteY2" fmla="*/ 1547767 h 1560646"/>
              <a:gd name="connsiteX3" fmla="*/ 0 w 5724659"/>
              <a:gd name="connsiteY3" fmla="*/ 1560646 h 1560646"/>
              <a:gd name="connsiteX4" fmla="*/ 0 w 5724659"/>
              <a:gd name="connsiteY4" fmla="*/ 12879 h 1560646"/>
              <a:gd name="connsiteX0" fmla="*/ 0 w 5724659"/>
              <a:gd name="connsiteY0" fmla="*/ 12879 h 1560646"/>
              <a:gd name="connsiteX1" fmla="*/ 5724659 w 5724659"/>
              <a:gd name="connsiteY1" fmla="*/ 0 h 1560646"/>
              <a:gd name="connsiteX2" fmla="*/ 3676919 w 5724659"/>
              <a:gd name="connsiteY2" fmla="*/ 1547767 h 1560646"/>
              <a:gd name="connsiteX3" fmla="*/ 5711780 w 5724659"/>
              <a:gd name="connsiteY3" fmla="*/ 697761 h 1560646"/>
              <a:gd name="connsiteX4" fmla="*/ 0 w 5724659"/>
              <a:gd name="connsiteY4" fmla="*/ 1560646 h 1560646"/>
              <a:gd name="connsiteX5" fmla="*/ 0 w 5724659"/>
              <a:gd name="connsiteY5" fmla="*/ 12879 h 1560646"/>
              <a:gd name="connsiteX0" fmla="*/ 0 w 5724659"/>
              <a:gd name="connsiteY0" fmla="*/ 12879 h 1573524"/>
              <a:gd name="connsiteX1" fmla="*/ 5724659 w 5724659"/>
              <a:gd name="connsiteY1" fmla="*/ 0 h 1573524"/>
              <a:gd name="connsiteX2" fmla="*/ 3676919 w 5724659"/>
              <a:gd name="connsiteY2" fmla="*/ 1547767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5673144 w 5724659"/>
              <a:gd name="connsiteY3" fmla="*/ 704201 h 1573524"/>
              <a:gd name="connsiteX4" fmla="*/ 3528811 w 5724659"/>
              <a:gd name="connsiteY4" fmla="*/ 1573524 h 1573524"/>
              <a:gd name="connsiteX5" fmla="*/ 0 w 5724659"/>
              <a:gd name="connsiteY5" fmla="*/ 1560646 h 1573524"/>
              <a:gd name="connsiteX6" fmla="*/ 0 w 5724659"/>
              <a:gd name="connsiteY6"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612524 w 5724659"/>
              <a:gd name="connsiteY3" fmla="*/ 948900 h 1573524"/>
              <a:gd name="connsiteX4" fmla="*/ 3528811 w 5724659"/>
              <a:gd name="connsiteY4" fmla="*/ 1573524 h 1573524"/>
              <a:gd name="connsiteX5" fmla="*/ 0 w 5724659"/>
              <a:gd name="connsiteY5" fmla="*/ 1560646 h 1573524"/>
              <a:gd name="connsiteX6" fmla="*/ 0 w 5724659"/>
              <a:gd name="connsiteY6" fmla="*/ 12879 h 1573524"/>
              <a:gd name="connsiteX0" fmla="*/ 0 w 6607105"/>
              <a:gd name="connsiteY0" fmla="*/ 12879 h 1573524"/>
              <a:gd name="connsiteX1" fmla="*/ 5724659 w 6607105"/>
              <a:gd name="connsiteY1" fmla="*/ 0 h 1573524"/>
              <a:gd name="connsiteX2" fmla="*/ 5698903 w 6607105"/>
              <a:gd name="connsiteY2" fmla="*/ 652685 h 1573524"/>
              <a:gd name="connsiteX3" fmla="*/ 3612524 w 6607105"/>
              <a:gd name="connsiteY3" fmla="*/ 948900 h 1573524"/>
              <a:gd name="connsiteX4" fmla="*/ 3528811 w 6607105"/>
              <a:gd name="connsiteY4" fmla="*/ 1573524 h 1573524"/>
              <a:gd name="connsiteX5" fmla="*/ 0 w 6607105"/>
              <a:gd name="connsiteY5" fmla="*/ 1560646 h 1573524"/>
              <a:gd name="connsiteX6" fmla="*/ 0 w 6607105"/>
              <a:gd name="connsiteY6" fmla="*/ 12879 h 1573524"/>
              <a:gd name="connsiteX0" fmla="*/ 0 w 6607105"/>
              <a:gd name="connsiteY0" fmla="*/ 12879 h 1573524"/>
              <a:gd name="connsiteX1" fmla="*/ 5724659 w 6607105"/>
              <a:gd name="connsiteY1" fmla="*/ 0 h 1573524"/>
              <a:gd name="connsiteX2" fmla="*/ 5698903 w 6607105"/>
              <a:gd name="connsiteY2" fmla="*/ 652685 h 1573524"/>
              <a:gd name="connsiteX3" fmla="*/ 3593205 w 6607105"/>
              <a:gd name="connsiteY3" fmla="*/ 672004 h 1573524"/>
              <a:gd name="connsiteX4" fmla="*/ 3528811 w 6607105"/>
              <a:gd name="connsiteY4" fmla="*/ 1573524 h 1573524"/>
              <a:gd name="connsiteX5" fmla="*/ 0 w 6607105"/>
              <a:gd name="connsiteY5" fmla="*/ 1560646 h 1573524"/>
              <a:gd name="connsiteX6" fmla="*/ 0 w 6607105"/>
              <a:gd name="connsiteY6" fmla="*/ 12879 h 1573524"/>
              <a:gd name="connsiteX0" fmla="*/ 0 w 5724659"/>
              <a:gd name="connsiteY0" fmla="*/ 12879 h 1573524"/>
              <a:gd name="connsiteX1" fmla="*/ 5724659 w 5724659"/>
              <a:gd name="connsiteY1" fmla="*/ 0 h 1573524"/>
              <a:gd name="connsiteX2" fmla="*/ 5698903 w 5724659"/>
              <a:gd name="connsiteY2" fmla="*/ 652685 h 1573524"/>
              <a:gd name="connsiteX3" fmla="*/ 3593205 w 5724659"/>
              <a:gd name="connsiteY3" fmla="*/ 672004 h 1573524"/>
              <a:gd name="connsiteX4" fmla="*/ 3528811 w 5724659"/>
              <a:gd name="connsiteY4" fmla="*/ 1573524 h 1573524"/>
              <a:gd name="connsiteX5" fmla="*/ 0 w 5724659"/>
              <a:gd name="connsiteY5" fmla="*/ 1560646 h 1573524"/>
              <a:gd name="connsiteX6" fmla="*/ 0 w 5724659"/>
              <a:gd name="connsiteY6" fmla="*/ 12879 h 1573524"/>
              <a:gd name="connsiteX0" fmla="*/ 0 w 5698903"/>
              <a:gd name="connsiteY0" fmla="*/ 19318 h 1579963"/>
              <a:gd name="connsiteX1" fmla="*/ 5692462 w 5698903"/>
              <a:gd name="connsiteY1" fmla="*/ 0 h 1579963"/>
              <a:gd name="connsiteX2" fmla="*/ 5698903 w 5698903"/>
              <a:gd name="connsiteY2" fmla="*/ 659124 h 1579963"/>
              <a:gd name="connsiteX3" fmla="*/ 3593205 w 5698903"/>
              <a:gd name="connsiteY3" fmla="*/ 678443 h 1579963"/>
              <a:gd name="connsiteX4" fmla="*/ 3528811 w 5698903"/>
              <a:gd name="connsiteY4" fmla="*/ 1579963 h 1579963"/>
              <a:gd name="connsiteX5" fmla="*/ 0 w 5698903"/>
              <a:gd name="connsiteY5" fmla="*/ 1567085 h 1579963"/>
              <a:gd name="connsiteX6" fmla="*/ 0 w 5698903"/>
              <a:gd name="connsiteY6" fmla="*/ 19318 h 1579963"/>
              <a:gd name="connsiteX0" fmla="*/ 0 w 5698903"/>
              <a:gd name="connsiteY0" fmla="*/ 19318 h 1592842"/>
              <a:gd name="connsiteX1" fmla="*/ 5692462 w 5698903"/>
              <a:gd name="connsiteY1" fmla="*/ 0 h 1592842"/>
              <a:gd name="connsiteX2" fmla="*/ 5698903 w 5698903"/>
              <a:gd name="connsiteY2" fmla="*/ 659124 h 1592842"/>
              <a:gd name="connsiteX3" fmla="*/ 3593205 w 5698903"/>
              <a:gd name="connsiteY3" fmla="*/ 678443 h 1592842"/>
              <a:gd name="connsiteX4" fmla="*/ 3631842 w 5698903"/>
              <a:gd name="connsiteY4" fmla="*/ 1592842 h 1592842"/>
              <a:gd name="connsiteX5" fmla="*/ 0 w 5698903"/>
              <a:gd name="connsiteY5" fmla="*/ 1567085 h 1592842"/>
              <a:gd name="connsiteX6" fmla="*/ 0 w 5698903"/>
              <a:gd name="connsiteY6" fmla="*/ 19318 h 1592842"/>
              <a:gd name="connsiteX0" fmla="*/ 0 w 5698903"/>
              <a:gd name="connsiteY0" fmla="*/ 19318 h 1592842"/>
              <a:gd name="connsiteX1" fmla="*/ 5692462 w 5698903"/>
              <a:gd name="connsiteY1" fmla="*/ 0 h 1592842"/>
              <a:gd name="connsiteX2" fmla="*/ 5698903 w 5698903"/>
              <a:gd name="connsiteY2" fmla="*/ 659124 h 1592842"/>
              <a:gd name="connsiteX3" fmla="*/ 3631842 w 5698903"/>
              <a:gd name="connsiteY3" fmla="*/ 672004 h 1592842"/>
              <a:gd name="connsiteX4" fmla="*/ 3631842 w 5698903"/>
              <a:gd name="connsiteY4" fmla="*/ 1592842 h 1592842"/>
              <a:gd name="connsiteX5" fmla="*/ 0 w 5698903"/>
              <a:gd name="connsiteY5" fmla="*/ 1567085 h 1592842"/>
              <a:gd name="connsiteX6" fmla="*/ 0 w 5698903"/>
              <a:gd name="connsiteY6" fmla="*/ 19318 h 1592842"/>
              <a:gd name="connsiteX0" fmla="*/ 0 w 5705343"/>
              <a:gd name="connsiteY0" fmla="*/ 0 h 1689434"/>
              <a:gd name="connsiteX1" fmla="*/ 5698902 w 5705343"/>
              <a:gd name="connsiteY1" fmla="*/ 96592 h 1689434"/>
              <a:gd name="connsiteX2" fmla="*/ 5705343 w 5705343"/>
              <a:gd name="connsiteY2" fmla="*/ 755716 h 1689434"/>
              <a:gd name="connsiteX3" fmla="*/ 3638282 w 5705343"/>
              <a:gd name="connsiteY3" fmla="*/ 768596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638282 w 5705343"/>
              <a:gd name="connsiteY3" fmla="*/ 768596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710007 w 5705343"/>
              <a:gd name="connsiteY3" fmla="*/ 762205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710007 w 5705343"/>
              <a:gd name="connsiteY3" fmla="*/ 762205 h 1689434"/>
              <a:gd name="connsiteX4" fmla="*/ 3703487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85771 w 5705343"/>
              <a:gd name="connsiteY1" fmla="*/ 19366 h 1689434"/>
              <a:gd name="connsiteX2" fmla="*/ 5705343 w 5705343"/>
              <a:gd name="connsiteY2" fmla="*/ 755716 h 1689434"/>
              <a:gd name="connsiteX3" fmla="*/ 3710007 w 5705343"/>
              <a:gd name="connsiteY3" fmla="*/ 762205 h 1689434"/>
              <a:gd name="connsiteX4" fmla="*/ 3703487 w 5705343"/>
              <a:gd name="connsiteY4" fmla="*/ 1689434 h 1689434"/>
              <a:gd name="connsiteX5" fmla="*/ 6440 w 5705343"/>
              <a:gd name="connsiteY5" fmla="*/ 1663677 h 1689434"/>
              <a:gd name="connsiteX6" fmla="*/ 0 w 5705343"/>
              <a:gd name="connsiteY6" fmla="*/ 0 h 1689434"/>
              <a:gd name="connsiteX0" fmla="*/ 0 w 5792193"/>
              <a:gd name="connsiteY0" fmla="*/ 0 h 1689434"/>
              <a:gd name="connsiteX1" fmla="*/ 5685771 w 5792193"/>
              <a:gd name="connsiteY1" fmla="*/ 19366 h 1689434"/>
              <a:gd name="connsiteX2" fmla="*/ 3710007 w 5792193"/>
              <a:gd name="connsiteY2" fmla="*/ 762205 h 1689434"/>
              <a:gd name="connsiteX3" fmla="*/ 3703487 w 5792193"/>
              <a:gd name="connsiteY3" fmla="*/ 1689434 h 1689434"/>
              <a:gd name="connsiteX4" fmla="*/ 6440 w 5792193"/>
              <a:gd name="connsiteY4" fmla="*/ 1663677 h 1689434"/>
              <a:gd name="connsiteX5" fmla="*/ 0 w 5792193"/>
              <a:gd name="connsiteY5" fmla="*/ 0 h 1689434"/>
              <a:gd name="connsiteX0" fmla="*/ 0 w 3710007"/>
              <a:gd name="connsiteY0" fmla="*/ 0 h 1689434"/>
              <a:gd name="connsiteX1" fmla="*/ 3710007 w 3710007"/>
              <a:gd name="connsiteY1" fmla="*/ 762205 h 1689434"/>
              <a:gd name="connsiteX2" fmla="*/ 3703487 w 3710007"/>
              <a:gd name="connsiteY2" fmla="*/ 1689434 h 1689434"/>
              <a:gd name="connsiteX3" fmla="*/ 6440 w 3710007"/>
              <a:gd name="connsiteY3" fmla="*/ 1663677 h 1689434"/>
              <a:gd name="connsiteX4" fmla="*/ 0 w 3710007"/>
              <a:gd name="connsiteY4" fmla="*/ 0 h 1689434"/>
              <a:gd name="connsiteX0" fmla="*/ 0 w 3703773"/>
              <a:gd name="connsiteY0" fmla="*/ 0 h 1689434"/>
              <a:gd name="connsiteX1" fmla="*/ 3696876 w 3703773"/>
              <a:gd name="connsiteY1" fmla="*/ 25633 h 1689434"/>
              <a:gd name="connsiteX2" fmla="*/ 3703487 w 3703773"/>
              <a:gd name="connsiteY2" fmla="*/ 1689434 h 1689434"/>
              <a:gd name="connsiteX3" fmla="*/ 6440 w 3703773"/>
              <a:gd name="connsiteY3" fmla="*/ 1663677 h 1689434"/>
              <a:gd name="connsiteX4" fmla="*/ 0 w 3703773"/>
              <a:gd name="connsiteY4" fmla="*/ 0 h 1689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3773" h="1689434">
                <a:moveTo>
                  <a:pt x="0" y="0"/>
                </a:moveTo>
                <a:lnTo>
                  <a:pt x="3696876" y="25633"/>
                </a:lnTo>
                <a:cubicBezTo>
                  <a:pt x="3694703" y="334709"/>
                  <a:pt x="3705660" y="1380358"/>
                  <a:pt x="3703487" y="1689434"/>
                </a:cubicBezTo>
                <a:lnTo>
                  <a:pt x="6440" y="1663677"/>
                </a:lnTo>
                <a:cubicBezTo>
                  <a:pt x="4293" y="1109118"/>
                  <a:pt x="2147" y="554559"/>
                  <a:pt x="0" y="0"/>
                </a:cubicBezTo>
                <a:close/>
              </a:path>
            </a:pathLst>
          </a:custGeom>
          <a:solidFill>
            <a:schemeClr val="accent2">
              <a:lumMod val="10000"/>
              <a:lumOff val="90000"/>
              <a:alpha val="80000"/>
            </a:schemeClr>
          </a:solidFill>
          <a:ln w="28575" cap="flat" cmpd="sng" algn="ctr">
            <a:solidFill>
              <a:schemeClr val="tx1"/>
            </a:solidFill>
            <a:prstDash val="dash"/>
          </a:ln>
          <a:effectLst/>
        </p:spPr>
        <p:txBody>
          <a:bodyPr lIns="91396" tIns="45699" rIns="91396" bIns="45699" rtlCol="0" anchor="t"/>
          <a:lstStyle/>
          <a:p>
            <a:pPr defTabSz="456936" eaLnBrk="1" fontAlgn="auto" hangingPunct="1">
              <a:spcBef>
                <a:spcPts val="0"/>
              </a:spcBef>
              <a:spcAft>
                <a:spcPts val="0"/>
              </a:spcAft>
              <a:defRPr/>
            </a:pPr>
            <a:r>
              <a:rPr lang="en-US" sz="1400" kern="0">
                <a:solidFill>
                  <a:schemeClr val="accent2"/>
                </a:solidFill>
                <a:latin typeface="+mn-lt"/>
              </a:rPr>
              <a:t>User Application Code</a:t>
            </a:r>
            <a:endParaRPr lang="en-GB" sz="1400" kern="0">
              <a:solidFill>
                <a:schemeClr val="accent2"/>
              </a:solidFill>
              <a:latin typeface="+mn-lt"/>
            </a:endParaRPr>
          </a:p>
        </p:txBody>
      </p:sp>
      <p:sp>
        <p:nvSpPr>
          <p:cNvPr id="37" name="Rectangle 36">
            <a:extLst>
              <a:ext uri="{FF2B5EF4-FFF2-40B4-BE49-F238E27FC236}">
                <a16:creationId xmlns:a16="http://schemas.microsoft.com/office/drawing/2014/main" id="{5A669410-B835-4523-99D0-752183BAA2D6}"/>
              </a:ext>
            </a:extLst>
          </p:cNvPr>
          <p:cNvSpPr/>
          <p:nvPr/>
        </p:nvSpPr>
        <p:spPr>
          <a:xfrm>
            <a:off x="3589155" y="3330951"/>
            <a:ext cx="2642046" cy="1124872"/>
          </a:xfrm>
          <a:prstGeom prst="rect">
            <a:avLst/>
          </a:prstGeom>
          <a:solidFill>
            <a:schemeClr val="accent1">
              <a:lumMod val="40000"/>
              <a:lumOff val="60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r>
              <a:rPr lang="en-US" sz="1600" kern="0">
                <a:solidFill>
                  <a:srgbClr val="000000"/>
                </a:solidFill>
                <a:latin typeface="+mn-lt"/>
              </a:rPr>
              <a:t>Board</a:t>
            </a:r>
            <a:br>
              <a:rPr lang="en-US" sz="1600" kern="0">
                <a:solidFill>
                  <a:srgbClr val="000000"/>
                </a:solidFill>
                <a:latin typeface="+mn-lt"/>
              </a:rPr>
            </a:br>
            <a:r>
              <a:rPr lang="en-US" sz="1600" kern="0">
                <a:solidFill>
                  <a:srgbClr val="000000"/>
                </a:solidFill>
                <a:latin typeface="+mn-lt"/>
              </a:rPr>
              <a:t>Layer</a:t>
            </a:r>
            <a:endParaRPr lang="en-GB" sz="1600" kern="0">
              <a:solidFill>
                <a:srgbClr val="000000"/>
              </a:solidFill>
              <a:latin typeface="+mn-lt"/>
            </a:endParaRPr>
          </a:p>
        </p:txBody>
      </p:sp>
      <p:sp>
        <p:nvSpPr>
          <p:cNvPr id="43" name="Rectangle 42">
            <a:extLst>
              <a:ext uri="{FF2B5EF4-FFF2-40B4-BE49-F238E27FC236}">
                <a16:creationId xmlns:a16="http://schemas.microsoft.com/office/drawing/2014/main" id="{C9C7FA91-429E-41F1-AA90-90F52594FFDA}"/>
              </a:ext>
            </a:extLst>
          </p:cNvPr>
          <p:cNvSpPr/>
          <p:nvPr/>
        </p:nvSpPr>
        <p:spPr>
          <a:xfrm>
            <a:off x="4384669" y="2366370"/>
            <a:ext cx="1645062" cy="623901"/>
          </a:xfrm>
          <a:prstGeom prst="rect">
            <a:avLst/>
          </a:prstGeom>
          <a:solidFill>
            <a:schemeClr val="accent1">
              <a:lumMod val="75000"/>
            </a:schemeClr>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r>
              <a:rPr lang="en-US" sz="1400" kern="0">
                <a:solidFill>
                  <a:srgbClr val="FFFFFF"/>
                </a:solidFill>
                <a:latin typeface="+mn-lt"/>
              </a:rPr>
              <a:t>IoT/ML Software Platform</a:t>
            </a:r>
          </a:p>
        </p:txBody>
      </p:sp>
      <p:sp>
        <p:nvSpPr>
          <p:cNvPr id="44" name="Rectangle 43">
            <a:extLst>
              <a:ext uri="{FF2B5EF4-FFF2-40B4-BE49-F238E27FC236}">
                <a16:creationId xmlns:a16="http://schemas.microsoft.com/office/drawing/2014/main" id="{EC1A27E2-367F-4AC2-8C0C-B2F69C3475ED}"/>
              </a:ext>
            </a:extLst>
          </p:cNvPr>
          <p:cNvSpPr/>
          <p:nvPr/>
        </p:nvSpPr>
        <p:spPr>
          <a:xfrm>
            <a:off x="4094734" y="5454746"/>
            <a:ext cx="1060086" cy="299356"/>
          </a:xfrm>
          <a:prstGeom prst="rect">
            <a:avLst/>
          </a:prstGeom>
          <a:solidFill>
            <a:srgbClr val="58595B"/>
          </a:solidFill>
          <a:ln w="9525" cap="flat" cmpd="sng" algn="ctr">
            <a:noFill/>
            <a:prstDash val="solid"/>
          </a:ln>
          <a:effectLst/>
        </p:spPr>
        <p:txBody>
          <a:bodyPr lIns="91396" tIns="45699" rIns="91396" bIns="45699" numCol="1" rtlCol="0" anchor="t"/>
          <a:lstStyle/>
          <a:p>
            <a:pPr defTabSz="456936" eaLnBrk="1" fontAlgn="auto" hangingPunct="1">
              <a:spcBef>
                <a:spcPts val="0"/>
              </a:spcBef>
              <a:spcAft>
                <a:spcPts val="0"/>
              </a:spcAft>
              <a:defRPr/>
            </a:pPr>
            <a:r>
              <a:rPr lang="en-US" sz="1200" kern="0">
                <a:solidFill>
                  <a:srgbClr val="FFFFFF"/>
                </a:solidFill>
                <a:latin typeface="+mn-lt"/>
              </a:rPr>
              <a:t>Event Log file</a:t>
            </a:r>
            <a:endParaRPr lang="en-US" sz="1400" kern="0">
              <a:solidFill>
                <a:srgbClr val="FFFFFF"/>
              </a:solidFill>
              <a:latin typeface="+mn-lt"/>
            </a:endParaRPr>
          </a:p>
        </p:txBody>
      </p:sp>
      <p:sp>
        <p:nvSpPr>
          <p:cNvPr id="45" name="Rectangle 44">
            <a:extLst>
              <a:ext uri="{FF2B5EF4-FFF2-40B4-BE49-F238E27FC236}">
                <a16:creationId xmlns:a16="http://schemas.microsoft.com/office/drawing/2014/main" id="{619CC135-E062-49A3-8AB0-1BE2E7063EB8}"/>
              </a:ext>
            </a:extLst>
          </p:cNvPr>
          <p:cNvSpPr/>
          <p:nvPr/>
        </p:nvSpPr>
        <p:spPr>
          <a:xfrm>
            <a:off x="4372828" y="3908545"/>
            <a:ext cx="1641629" cy="445644"/>
          </a:xfrm>
          <a:prstGeom prst="rect">
            <a:avLst/>
          </a:prstGeom>
          <a:solidFill>
            <a:srgbClr val="F68A33"/>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r>
              <a:rPr lang="en-US" sz="1400" kern="0">
                <a:solidFill>
                  <a:srgbClr val="FFFFFF"/>
                </a:solidFill>
                <a:latin typeface="+mn-lt"/>
              </a:rPr>
              <a:t>Device SDK with configuration</a:t>
            </a:r>
          </a:p>
        </p:txBody>
      </p:sp>
      <p:sp>
        <p:nvSpPr>
          <p:cNvPr id="46" name="Down Arrow 26">
            <a:extLst>
              <a:ext uri="{FF2B5EF4-FFF2-40B4-BE49-F238E27FC236}">
                <a16:creationId xmlns:a16="http://schemas.microsoft.com/office/drawing/2014/main" id="{8B778490-FABE-4976-9933-16400A315E75}"/>
              </a:ext>
            </a:extLst>
          </p:cNvPr>
          <p:cNvSpPr/>
          <p:nvPr/>
        </p:nvSpPr>
        <p:spPr>
          <a:xfrm>
            <a:off x="7894277" y="3011705"/>
            <a:ext cx="510729" cy="2463428"/>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47" name="Rectangle 69">
            <a:extLst>
              <a:ext uri="{FF2B5EF4-FFF2-40B4-BE49-F238E27FC236}">
                <a16:creationId xmlns:a16="http://schemas.microsoft.com/office/drawing/2014/main" id="{75F698CC-5807-4882-97CF-D12368579EA2}"/>
              </a:ext>
            </a:extLst>
          </p:cNvPr>
          <p:cNvSpPr/>
          <p:nvPr/>
        </p:nvSpPr>
        <p:spPr>
          <a:xfrm>
            <a:off x="7922193" y="1616770"/>
            <a:ext cx="1615871" cy="620170"/>
          </a:xfrm>
          <a:custGeom>
            <a:avLst/>
            <a:gdLst>
              <a:gd name="connsiteX0" fmla="*/ 0 w 3676919"/>
              <a:gd name="connsiteY0" fmla="*/ 0 h 1547767"/>
              <a:gd name="connsiteX1" fmla="*/ 3676919 w 3676919"/>
              <a:gd name="connsiteY1" fmla="*/ 0 h 1547767"/>
              <a:gd name="connsiteX2" fmla="*/ 3676919 w 3676919"/>
              <a:gd name="connsiteY2" fmla="*/ 1547767 h 1547767"/>
              <a:gd name="connsiteX3" fmla="*/ 0 w 3676919"/>
              <a:gd name="connsiteY3" fmla="*/ 1547767 h 1547767"/>
              <a:gd name="connsiteX4" fmla="*/ 0 w 3676919"/>
              <a:gd name="connsiteY4" fmla="*/ 0 h 1547767"/>
              <a:gd name="connsiteX0" fmla="*/ 0 w 3676919"/>
              <a:gd name="connsiteY0" fmla="*/ 0 h 1547767"/>
              <a:gd name="connsiteX1" fmla="*/ 3676919 w 3676919"/>
              <a:gd name="connsiteY1" fmla="*/ 0 h 1547767"/>
              <a:gd name="connsiteX2" fmla="*/ 3676919 w 3676919"/>
              <a:gd name="connsiteY2" fmla="*/ 1534888 h 1547767"/>
              <a:gd name="connsiteX3" fmla="*/ 0 w 3676919"/>
              <a:gd name="connsiteY3" fmla="*/ 1547767 h 1547767"/>
              <a:gd name="connsiteX4" fmla="*/ 0 w 3676919"/>
              <a:gd name="connsiteY4" fmla="*/ 0 h 1547767"/>
              <a:gd name="connsiteX0" fmla="*/ 0 w 4552682"/>
              <a:gd name="connsiteY0" fmla="*/ 0 h 1547767"/>
              <a:gd name="connsiteX1" fmla="*/ 3676919 w 4552682"/>
              <a:gd name="connsiteY1" fmla="*/ 0 h 1547767"/>
              <a:gd name="connsiteX2" fmla="*/ 3676919 w 4552682"/>
              <a:gd name="connsiteY2" fmla="*/ 1534888 h 1547767"/>
              <a:gd name="connsiteX3" fmla="*/ 0 w 4552682"/>
              <a:gd name="connsiteY3" fmla="*/ 1547767 h 1547767"/>
              <a:gd name="connsiteX4" fmla="*/ 0 w 4552682"/>
              <a:gd name="connsiteY4" fmla="*/ 0 h 1547767"/>
              <a:gd name="connsiteX0" fmla="*/ 0 w 5724659"/>
              <a:gd name="connsiteY0" fmla="*/ 12879 h 1560646"/>
              <a:gd name="connsiteX1" fmla="*/ 5724659 w 5724659"/>
              <a:gd name="connsiteY1" fmla="*/ 0 h 1560646"/>
              <a:gd name="connsiteX2" fmla="*/ 3676919 w 5724659"/>
              <a:gd name="connsiteY2" fmla="*/ 1547767 h 1560646"/>
              <a:gd name="connsiteX3" fmla="*/ 0 w 5724659"/>
              <a:gd name="connsiteY3" fmla="*/ 1560646 h 1560646"/>
              <a:gd name="connsiteX4" fmla="*/ 0 w 5724659"/>
              <a:gd name="connsiteY4" fmla="*/ 12879 h 1560646"/>
              <a:gd name="connsiteX0" fmla="*/ 0 w 5724659"/>
              <a:gd name="connsiteY0" fmla="*/ 12879 h 1560646"/>
              <a:gd name="connsiteX1" fmla="*/ 5724659 w 5724659"/>
              <a:gd name="connsiteY1" fmla="*/ 0 h 1560646"/>
              <a:gd name="connsiteX2" fmla="*/ 3676919 w 5724659"/>
              <a:gd name="connsiteY2" fmla="*/ 1547767 h 1560646"/>
              <a:gd name="connsiteX3" fmla="*/ 0 w 5724659"/>
              <a:gd name="connsiteY3" fmla="*/ 1560646 h 1560646"/>
              <a:gd name="connsiteX4" fmla="*/ 0 w 5724659"/>
              <a:gd name="connsiteY4" fmla="*/ 12879 h 1560646"/>
              <a:gd name="connsiteX0" fmla="*/ 0 w 5724659"/>
              <a:gd name="connsiteY0" fmla="*/ 12879 h 1560646"/>
              <a:gd name="connsiteX1" fmla="*/ 5724659 w 5724659"/>
              <a:gd name="connsiteY1" fmla="*/ 0 h 1560646"/>
              <a:gd name="connsiteX2" fmla="*/ 3676919 w 5724659"/>
              <a:gd name="connsiteY2" fmla="*/ 1547767 h 1560646"/>
              <a:gd name="connsiteX3" fmla="*/ 5711780 w 5724659"/>
              <a:gd name="connsiteY3" fmla="*/ 697761 h 1560646"/>
              <a:gd name="connsiteX4" fmla="*/ 0 w 5724659"/>
              <a:gd name="connsiteY4" fmla="*/ 1560646 h 1560646"/>
              <a:gd name="connsiteX5" fmla="*/ 0 w 5724659"/>
              <a:gd name="connsiteY5" fmla="*/ 12879 h 1560646"/>
              <a:gd name="connsiteX0" fmla="*/ 0 w 5724659"/>
              <a:gd name="connsiteY0" fmla="*/ 12879 h 1573524"/>
              <a:gd name="connsiteX1" fmla="*/ 5724659 w 5724659"/>
              <a:gd name="connsiteY1" fmla="*/ 0 h 1573524"/>
              <a:gd name="connsiteX2" fmla="*/ 3676919 w 5724659"/>
              <a:gd name="connsiteY2" fmla="*/ 1547767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528811 w 5724659"/>
              <a:gd name="connsiteY3" fmla="*/ 1573524 h 1573524"/>
              <a:gd name="connsiteX4" fmla="*/ 0 w 5724659"/>
              <a:gd name="connsiteY4" fmla="*/ 1560646 h 1573524"/>
              <a:gd name="connsiteX5" fmla="*/ 0 w 5724659"/>
              <a:gd name="connsiteY5"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5673144 w 5724659"/>
              <a:gd name="connsiteY3" fmla="*/ 704201 h 1573524"/>
              <a:gd name="connsiteX4" fmla="*/ 3528811 w 5724659"/>
              <a:gd name="connsiteY4" fmla="*/ 1573524 h 1573524"/>
              <a:gd name="connsiteX5" fmla="*/ 0 w 5724659"/>
              <a:gd name="connsiteY5" fmla="*/ 1560646 h 1573524"/>
              <a:gd name="connsiteX6" fmla="*/ 0 w 5724659"/>
              <a:gd name="connsiteY6" fmla="*/ 12879 h 1573524"/>
              <a:gd name="connsiteX0" fmla="*/ 0 w 5724659"/>
              <a:gd name="connsiteY0" fmla="*/ 12879 h 1573524"/>
              <a:gd name="connsiteX1" fmla="*/ 5724659 w 5724659"/>
              <a:gd name="connsiteY1" fmla="*/ 0 h 1573524"/>
              <a:gd name="connsiteX2" fmla="*/ 3651162 w 5724659"/>
              <a:gd name="connsiteY2" fmla="*/ 717079 h 1573524"/>
              <a:gd name="connsiteX3" fmla="*/ 3612524 w 5724659"/>
              <a:gd name="connsiteY3" fmla="*/ 948900 h 1573524"/>
              <a:gd name="connsiteX4" fmla="*/ 3528811 w 5724659"/>
              <a:gd name="connsiteY4" fmla="*/ 1573524 h 1573524"/>
              <a:gd name="connsiteX5" fmla="*/ 0 w 5724659"/>
              <a:gd name="connsiteY5" fmla="*/ 1560646 h 1573524"/>
              <a:gd name="connsiteX6" fmla="*/ 0 w 5724659"/>
              <a:gd name="connsiteY6" fmla="*/ 12879 h 1573524"/>
              <a:gd name="connsiteX0" fmla="*/ 0 w 6607105"/>
              <a:gd name="connsiteY0" fmla="*/ 12879 h 1573524"/>
              <a:gd name="connsiteX1" fmla="*/ 5724659 w 6607105"/>
              <a:gd name="connsiteY1" fmla="*/ 0 h 1573524"/>
              <a:gd name="connsiteX2" fmla="*/ 5698903 w 6607105"/>
              <a:gd name="connsiteY2" fmla="*/ 652685 h 1573524"/>
              <a:gd name="connsiteX3" fmla="*/ 3612524 w 6607105"/>
              <a:gd name="connsiteY3" fmla="*/ 948900 h 1573524"/>
              <a:gd name="connsiteX4" fmla="*/ 3528811 w 6607105"/>
              <a:gd name="connsiteY4" fmla="*/ 1573524 h 1573524"/>
              <a:gd name="connsiteX5" fmla="*/ 0 w 6607105"/>
              <a:gd name="connsiteY5" fmla="*/ 1560646 h 1573524"/>
              <a:gd name="connsiteX6" fmla="*/ 0 w 6607105"/>
              <a:gd name="connsiteY6" fmla="*/ 12879 h 1573524"/>
              <a:gd name="connsiteX0" fmla="*/ 0 w 6607105"/>
              <a:gd name="connsiteY0" fmla="*/ 12879 h 1573524"/>
              <a:gd name="connsiteX1" fmla="*/ 5724659 w 6607105"/>
              <a:gd name="connsiteY1" fmla="*/ 0 h 1573524"/>
              <a:gd name="connsiteX2" fmla="*/ 5698903 w 6607105"/>
              <a:gd name="connsiteY2" fmla="*/ 652685 h 1573524"/>
              <a:gd name="connsiteX3" fmla="*/ 3593205 w 6607105"/>
              <a:gd name="connsiteY3" fmla="*/ 672004 h 1573524"/>
              <a:gd name="connsiteX4" fmla="*/ 3528811 w 6607105"/>
              <a:gd name="connsiteY4" fmla="*/ 1573524 h 1573524"/>
              <a:gd name="connsiteX5" fmla="*/ 0 w 6607105"/>
              <a:gd name="connsiteY5" fmla="*/ 1560646 h 1573524"/>
              <a:gd name="connsiteX6" fmla="*/ 0 w 6607105"/>
              <a:gd name="connsiteY6" fmla="*/ 12879 h 1573524"/>
              <a:gd name="connsiteX0" fmla="*/ 0 w 5724659"/>
              <a:gd name="connsiteY0" fmla="*/ 12879 h 1573524"/>
              <a:gd name="connsiteX1" fmla="*/ 5724659 w 5724659"/>
              <a:gd name="connsiteY1" fmla="*/ 0 h 1573524"/>
              <a:gd name="connsiteX2" fmla="*/ 5698903 w 5724659"/>
              <a:gd name="connsiteY2" fmla="*/ 652685 h 1573524"/>
              <a:gd name="connsiteX3" fmla="*/ 3593205 w 5724659"/>
              <a:gd name="connsiteY3" fmla="*/ 672004 h 1573524"/>
              <a:gd name="connsiteX4" fmla="*/ 3528811 w 5724659"/>
              <a:gd name="connsiteY4" fmla="*/ 1573524 h 1573524"/>
              <a:gd name="connsiteX5" fmla="*/ 0 w 5724659"/>
              <a:gd name="connsiteY5" fmla="*/ 1560646 h 1573524"/>
              <a:gd name="connsiteX6" fmla="*/ 0 w 5724659"/>
              <a:gd name="connsiteY6" fmla="*/ 12879 h 1573524"/>
              <a:gd name="connsiteX0" fmla="*/ 0 w 5698903"/>
              <a:gd name="connsiteY0" fmla="*/ 19318 h 1579963"/>
              <a:gd name="connsiteX1" fmla="*/ 5692462 w 5698903"/>
              <a:gd name="connsiteY1" fmla="*/ 0 h 1579963"/>
              <a:gd name="connsiteX2" fmla="*/ 5698903 w 5698903"/>
              <a:gd name="connsiteY2" fmla="*/ 659124 h 1579963"/>
              <a:gd name="connsiteX3" fmla="*/ 3593205 w 5698903"/>
              <a:gd name="connsiteY3" fmla="*/ 678443 h 1579963"/>
              <a:gd name="connsiteX4" fmla="*/ 3528811 w 5698903"/>
              <a:gd name="connsiteY4" fmla="*/ 1579963 h 1579963"/>
              <a:gd name="connsiteX5" fmla="*/ 0 w 5698903"/>
              <a:gd name="connsiteY5" fmla="*/ 1567085 h 1579963"/>
              <a:gd name="connsiteX6" fmla="*/ 0 w 5698903"/>
              <a:gd name="connsiteY6" fmla="*/ 19318 h 1579963"/>
              <a:gd name="connsiteX0" fmla="*/ 0 w 5698903"/>
              <a:gd name="connsiteY0" fmla="*/ 19318 h 1592842"/>
              <a:gd name="connsiteX1" fmla="*/ 5692462 w 5698903"/>
              <a:gd name="connsiteY1" fmla="*/ 0 h 1592842"/>
              <a:gd name="connsiteX2" fmla="*/ 5698903 w 5698903"/>
              <a:gd name="connsiteY2" fmla="*/ 659124 h 1592842"/>
              <a:gd name="connsiteX3" fmla="*/ 3593205 w 5698903"/>
              <a:gd name="connsiteY3" fmla="*/ 678443 h 1592842"/>
              <a:gd name="connsiteX4" fmla="*/ 3631842 w 5698903"/>
              <a:gd name="connsiteY4" fmla="*/ 1592842 h 1592842"/>
              <a:gd name="connsiteX5" fmla="*/ 0 w 5698903"/>
              <a:gd name="connsiteY5" fmla="*/ 1567085 h 1592842"/>
              <a:gd name="connsiteX6" fmla="*/ 0 w 5698903"/>
              <a:gd name="connsiteY6" fmla="*/ 19318 h 1592842"/>
              <a:gd name="connsiteX0" fmla="*/ 0 w 5698903"/>
              <a:gd name="connsiteY0" fmla="*/ 19318 h 1592842"/>
              <a:gd name="connsiteX1" fmla="*/ 5692462 w 5698903"/>
              <a:gd name="connsiteY1" fmla="*/ 0 h 1592842"/>
              <a:gd name="connsiteX2" fmla="*/ 5698903 w 5698903"/>
              <a:gd name="connsiteY2" fmla="*/ 659124 h 1592842"/>
              <a:gd name="connsiteX3" fmla="*/ 3631842 w 5698903"/>
              <a:gd name="connsiteY3" fmla="*/ 672004 h 1592842"/>
              <a:gd name="connsiteX4" fmla="*/ 3631842 w 5698903"/>
              <a:gd name="connsiteY4" fmla="*/ 1592842 h 1592842"/>
              <a:gd name="connsiteX5" fmla="*/ 0 w 5698903"/>
              <a:gd name="connsiteY5" fmla="*/ 1567085 h 1592842"/>
              <a:gd name="connsiteX6" fmla="*/ 0 w 5698903"/>
              <a:gd name="connsiteY6" fmla="*/ 19318 h 1592842"/>
              <a:gd name="connsiteX0" fmla="*/ 0 w 5705343"/>
              <a:gd name="connsiteY0" fmla="*/ 0 h 1689434"/>
              <a:gd name="connsiteX1" fmla="*/ 5698902 w 5705343"/>
              <a:gd name="connsiteY1" fmla="*/ 96592 h 1689434"/>
              <a:gd name="connsiteX2" fmla="*/ 5705343 w 5705343"/>
              <a:gd name="connsiteY2" fmla="*/ 755716 h 1689434"/>
              <a:gd name="connsiteX3" fmla="*/ 3638282 w 5705343"/>
              <a:gd name="connsiteY3" fmla="*/ 768596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638282 w 5705343"/>
              <a:gd name="connsiteY3" fmla="*/ 768596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710007 w 5705343"/>
              <a:gd name="connsiteY3" fmla="*/ 762205 h 1689434"/>
              <a:gd name="connsiteX4" fmla="*/ 3638282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98902 w 5705343"/>
              <a:gd name="connsiteY1" fmla="*/ 25758 h 1689434"/>
              <a:gd name="connsiteX2" fmla="*/ 5705343 w 5705343"/>
              <a:gd name="connsiteY2" fmla="*/ 755716 h 1689434"/>
              <a:gd name="connsiteX3" fmla="*/ 3710007 w 5705343"/>
              <a:gd name="connsiteY3" fmla="*/ 762205 h 1689434"/>
              <a:gd name="connsiteX4" fmla="*/ 3703487 w 5705343"/>
              <a:gd name="connsiteY4" fmla="*/ 1689434 h 1689434"/>
              <a:gd name="connsiteX5" fmla="*/ 6440 w 5705343"/>
              <a:gd name="connsiteY5" fmla="*/ 1663677 h 1689434"/>
              <a:gd name="connsiteX6" fmla="*/ 0 w 5705343"/>
              <a:gd name="connsiteY6" fmla="*/ 0 h 1689434"/>
              <a:gd name="connsiteX0" fmla="*/ 0 w 5705343"/>
              <a:gd name="connsiteY0" fmla="*/ 0 h 1689434"/>
              <a:gd name="connsiteX1" fmla="*/ 5685771 w 5705343"/>
              <a:gd name="connsiteY1" fmla="*/ 19366 h 1689434"/>
              <a:gd name="connsiteX2" fmla="*/ 5705343 w 5705343"/>
              <a:gd name="connsiteY2" fmla="*/ 755716 h 1689434"/>
              <a:gd name="connsiteX3" fmla="*/ 3710007 w 5705343"/>
              <a:gd name="connsiteY3" fmla="*/ 762205 h 1689434"/>
              <a:gd name="connsiteX4" fmla="*/ 3703487 w 5705343"/>
              <a:gd name="connsiteY4" fmla="*/ 1689434 h 1689434"/>
              <a:gd name="connsiteX5" fmla="*/ 6440 w 5705343"/>
              <a:gd name="connsiteY5" fmla="*/ 1663677 h 1689434"/>
              <a:gd name="connsiteX6" fmla="*/ 0 w 5705343"/>
              <a:gd name="connsiteY6" fmla="*/ 0 h 1689434"/>
              <a:gd name="connsiteX0" fmla="*/ 0 w 5792193"/>
              <a:gd name="connsiteY0" fmla="*/ 0 h 1689434"/>
              <a:gd name="connsiteX1" fmla="*/ 5685771 w 5792193"/>
              <a:gd name="connsiteY1" fmla="*/ 19366 h 1689434"/>
              <a:gd name="connsiteX2" fmla="*/ 3710007 w 5792193"/>
              <a:gd name="connsiteY2" fmla="*/ 762205 h 1689434"/>
              <a:gd name="connsiteX3" fmla="*/ 3703487 w 5792193"/>
              <a:gd name="connsiteY3" fmla="*/ 1689434 h 1689434"/>
              <a:gd name="connsiteX4" fmla="*/ 6440 w 5792193"/>
              <a:gd name="connsiteY4" fmla="*/ 1663677 h 1689434"/>
              <a:gd name="connsiteX5" fmla="*/ 0 w 5792193"/>
              <a:gd name="connsiteY5" fmla="*/ 0 h 1689434"/>
              <a:gd name="connsiteX0" fmla="*/ 0 w 3710007"/>
              <a:gd name="connsiteY0" fmla="*/ 0 h 1689434"/>
              <a:gd name="connsiteX1" fmla="*/ 3710007 w 3710007"/>
              <a:gd name="connsiteY1" fmla="*/ 762205 h 1689434"/>
              <a:gd name="connsiteX2" fmla="*/ 3703487 w 3710007"/>
              <a:gd name="connsiteY2" fmla="*/ 1689434 h 1689434"/>
              <a:gd name="connsiteX3" fmla="*/ 6440 w 3710007"/>
              <a:gd name="connsiteY3" fmla="*/ 1663677 h 1689434"/>
              <a:gd name="connsiteX4" fmla="*/ 0 w 3710007"/>
              <a:gd name="connsiteY4" fmla="*/ 0 h 1689434"/>
              <a:gd name="connsiteX0" fmla="*/ 0 w 3703773"/>
              <a:gd name="connsiteY0" fmla="*/ 0 h 1689434"/>
              <a:gd name="connsiteX1" fmla="*/ 3696876 w 3703773"/>
              <a:gd name="connsiteY1" fmla="*/ 25633 h 1689434"/>
              <a:gd name="connsiteX2" fmla="*/ 3703487 w 3703773"/>
              <a:gd name="connsiteY2" fmla="*/ 1689434 h 1689434"/>
              <a:gd name="connsiteX3" fmla="*/ 6440 w 3703773"/>
              <a:gd name="connsiteY3" fmla="*/ 1663677 h 1689434"/>
              <a:gd name="connsiteX4" fmla="*/ 0 w 3703773"/>
              <a:gd name="connsiteY4" fmla="*/ 0 h 1689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3773" h="1689434">
                <a:moveTo>
                  <a:pt x="0" y="0"/>
                </a:moveTo>
                <a:lnTo>
                  <a:pt x="3696876" y="25633"/>
                </a:lnTo>
                <a:cubicBezTo>
                  <a:pt x="3694703" y="334709"/>
                  <a:pt x="3705660" y="1380358"/>
                  <a:pt x="3703487" y="1689434"/>
                </a:cubicBezTo>
                <a:lnTo>
                  <a:pt x="6440" y="1663677"/>
                </a:lnTo>
                <a:cubicBezTo>
                  <a:pt x="4293" y="1109118"/>
                  <a:pt x="2147" y="554559"/>
                  <a:pt x="0" y="0"/>
                </a:cubicBezTo>
                <a:close/>
              </a:path>
            </a:pathLst>
          </a:custGeom>
          <a:solidFill>
            <a:schemeClr val="accent2">
              <a:lumMod val="10000"/>
              <a:lumOff val="90000"/>
              <a:alpha val="80000"/>
            </a:schemeClr>
          </a:solidFill>
          <a:ln w="28575" cap="flat" cmpd="sng" algn="ctr">
            <a:solidFill>
              <a:schemeClr val="tx1"/>
            </a:solidFill>
            <a:prstDash val="dash"/>
          </a:ln>
          <a:effectLst/>
        </p:spPr>
        <p:txBody>
          <a:bodyPr lIns="91396" tIns="45699" rIns="91396" bIns="45699" rtlCol="0" anchor="t"/>
          <a:lstStyle/>
          <a:p>
            <a:pPr defTabSz="456936" eaLnBrk="1" fontAlgn="auto" hangingPunct="1">
              <a:spcBef>
                <a:spcPts val="0"/>
              </a:spcBef>
              <a:spcAft>
                <a:spcPts val="0"/>
              </a:spcAft>
              <a:defRPr/>
            </a:pPr>
            <a:r>
              <a:rPr lang="en-US" sz="1400" kern="0">
                <a:solidFill>
                  <a:schemeClr val="accent2"/>
                </a:solidFill>
                <a:latin typeface="+mn-lt"/>
              </a:rPr>
              <a:t>User Application Code</a:t>
            </a:r>
            <a:endParaRPr lang="en-GB" sz="1400" kern="0">
              <a:solidFill>
                <a:schemeClr val="accent2"/>
              </a:solidFill>
              <a:latin typeface="+mn-lt"/>
            </a:endParaRPr>
          </a:p>
        </p:txBody>
      </p:sp>
      <p:sp>
        <p:nvSpPr>
          <p:cNvPr id="48" name="Rectangle 47">
            <a:extLst>
              <a:ext uri="{FF2B5EF4-FFF2-40B4-BE49-F238E27FC236}">
                <a16:creationId xmlns:a16="http://schemas.microsoft.com/office/drawing/2014/main" id="{21C10648-B07A-45B0-9DD1-E144E93D19A5}"/>
              </a:ext>
            </a:extLst>
          </p:cNvPr>
          <p:cNvSpPr/>
          <p:nvPr/>
        </p:nvSpPr>
        <p:spPr>
          <a:xfrm>
            <a:off x="7127778" y="3348119"/>
            <a:ext cx="4320147" cy="1124872"/>
          </a:xfrm>
          <a:prstGeom prst="rect">
            <a:avLst/>
          </a:prstGeom>
          <a:solidFill>
            <a:schemeClr val="accent1">
              <a:lumMod val="40000"/>
              <a:lumOff val="60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r>
              <a:rPr lang="en-US" sz="1600" kern="0">
                <a:solidFill>
                  <a:srgbClr val="000000"/>
                </a:solidFill>
                <a:latin typeface="+mn-lt"/>
              </a:rPr>
              <a:t>Target</a:t>
            </a:r>
            <a:br>
              <a:rPr lang="en-US" sz="1600" kern="0">
                <a:solidFill>
                  <a:srgbClr val="000000"/>
                </a:solidFill>
                <a:latin typeface="+mn-lt"/>
              </a:rPr>
            </a:br>
            <a:r>
              <a:rPr lang="en-US" sz="1600" kern="0">
                <a:solidFill>
                  <a:srgbClr val="000000"/>
                </a:solidFill>
                <a:latin typeface="+mn-lt"/>
              </a:rPr>
              <a:t>Layer</a:t>
            </a:r>
            <a:endParaRPr lang="en-GB" sz="1600" kern="0">
              <a:solidFill>
                <a:srgbClr val="000000"/>
              </a:solidFill>
              <a:latin typeface="+mn-lt"/>
            </a:endParaRPr>
          </a:p>
        </p:txBody>
      </p:sp>
      <p:sp>
        <p:nvSpPr>
          <p:cNvPr id="54" name="Rectangle 53">
            <a:extLst>
              <a:ext uri="{FF2B5EF4-FFF2-40B4-BE49-F238E27FC236}">
                <a16:creationId xmlns:a16="http://schemas.microsoft.com/office/drawing/2014/main" id="{6ECC9839-F281-43A8-B7C0-6837DA108860}"/>
              </a:ext>
            </a:extLst>
          </p:cNvPr>
          <p:cNvSpPr/>
          <p:nvPr/>
        </p:nvSpPr>
        <p:spPr>
          <a:xfrm>
            <a:off x="7923291" y="2383538"/>
            <a:ext cx="1645062" cy="623901"/>
          </a:xfrm>
          <a:prstGeom prst="rect">
            <a:avLst/>
          </a:prstGeom>
          <a:solidFill>
            <a:schemeClr val="accent1">
              <a:lumMod val="75000"/>
            </a:schemeClr>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r>
              <a:rPr lang="en-US" sz="1400" kern="0">
                <a:solidFill>
                  <a:srgbClr val="FFFFFF"/>
                </a:solidFill>
                <a:latin typeface="+mn-lt"/>
              </a:rPr>
              <a:t>IoT/ML Software Platform</a:t>
            </a:r>
          </a:p>
        </p:txBody>
      </p:sp>
      <p:sp>
        <p:nvSpPr>
          <p:cNvPr id="55" name="Rectangle 54">
            <a:extLst>
              <a:ext uri="{FF2B5EF4-FFF2-40B4-BE49-F238E27FC236}">
                <a16:creationId xmlns:a16="http://schemas.microsoft.com/office/drawing/2014/main" id="{9633B4D3-C7B0-4A21-B82D-04D7D241C169}"/>
              </a:ext>
            </a:extLst>
          </p:cNvPr>
          <p:cNvSpPr/>
          <p:nvPr/>
        </p:nvSpPr>
        <p:spPr>
          <a:xfrm>
            <a:off x="7633356" y="5471914"/>
            <a:ext cx="1060086" cy="299356"/>
          </a:xfrm>
          <a:prstGeom prst="rect">
            <a:avLst/>
          </a:prstGeom>
          <a:solidFill>
            <a:srgbClr val="58595B"/>
          </a:solidFill>
          <a:ln w="9525" cap="flat" cmpd="sng" algn="ctr">
            <a:noFill/>
            <a:prstDash val="solid"/>
          </a:ln>
          <a:effectLst/>
        </p:spPr>
        <p:txBody>
          <a:bodyPr lIns="91396" tIns="45699" rIns="91396" bIns="45699" numCol="1" rtlCol="0" anchor="t"/>
          <a:lstStyle/>
          <a:p>
            <a:pPr defTabSz="456936" eaLnBrk="1" fontAlgn="auto" hangingPunct="1">
              <a:spcBef>
                <a:spcPts val="0"/>
              </a:spcBef>
              <a:spcAft>
                <a:spcPts val="0"/>
              </a:spcAft>
              <a:defRPr/>
            </a:pPr>
            <a:r>
              <a:rPr lang="en-US" sz="1200" kern="0">
                <a:solidFill>
                  <a:srgbClr val="FFFFFF"/>
                </a:solidFill>
                <a:latin typeface="+mn-lt"/>
              </a:rPr>
              <a:t>Event Log file</a:t>
            </a:r>
            <a:endParaRPr lang="en-US" sz="1400" kern="0">
              <a:solidFill>
                <a:srgbClr val="FFFFFF"/>
              </a:solidFill>
              <a:latin typeface="+mn-lt"/>
            </a:endParaRPr>
          </a:p>
        </p:txBody>
      </p:sp>
      <p:sp>
        <p:nvSpPr>
          <p:cNvPr id="56" name="Rectangle 55">
            <a:extLst>
              <a:ext uri="{FF2B5EF4-FFF2-40B4-BE49-F238E27FC236}">
                <a16:creationId xmlns:a16="http://schemas.microsoft.com/office/drawing/2014/main" id="{ED67CA96-B941-403E-9ADC-A35569AB7406}"/>
              </a:ext>
            </a:extLst>
          </p:cNvPr>
          <p:cNvSpPr/>
          <p:nvPr/>
        </p:nvSpPr>
        <p:spPr>
          <a:xfrm>
            <a:off x="7911449" y="3925713"/>
            <a:ext cx="3414159" cy="445644"/>
          </a:xfrm>
          <a:prstGeom prst="rect">
            <a:avLst/>
          </a:prstGeom>
          <a:solidFill>
            <a:srgbClr val="F68A33"/>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r>
              <a:rPr lang="en-US" sz="1600" kern="0">
                <a:solidFill>
                  <a:srgbClr val="FFFFFF"/>
                </a:solidFill>
                <a:latin typeface="+mn-lt"/>
              </a:rPr>
              <a:t>Device SDK with configuration</a:t>
            </a:r>
          </a:p>
        </p:txBody>
      </p:sp>
      <p:sp>
        <p:nvSpPr>
          <p:cNvPr id="58" name="Rectangle 57">
            <a:extLst>
              <a:ext uri="{FF2B5EF4-FFF2-40B4-BE49-F238E27FC236}">
                <a16:creationId xmlns:a16="http://schemas.microsoft.com/office/drawing/2014/main" id="{6C1230B8-E203-4042-AF55-D32483C9D066}"/>
              </a:ext>
            </a:extLst>
          </p:cNvPr>
          <p:cNvSpPr/>
          <p:nvPr/>
        </p:nvSpPr>
        <p:spPr>
          <a:xfrm>
            <a:off x="9704404" y="2394268"/>
            <a:ext cx="1645062" cy="623901"/>
          </a:xfrm>
          <a:prstGeom prst="rect">
            <a:avLst/>
          </a:prstGeom>
          <a:solidFill>
            <a:schemeClr val="accent1">
              <a:lumMod val="75000"/>
            </a:schemeClr>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r>
              <a:rPr lang="en-US" sz="1400" kern="0">
                <a:solidFill>
                  <a:srgbClr val="FFFFFF"/>
                </a:solidFill>
                <a:latin typeface="+mn-lt"/>
              </a:rPr>
              <a:t>More Software</a:t>
            </a:r>
          </a:p>
        </p:txBody>
      </p:sp>
      <p:sp>
        <p:nvSpPr>
          <p:cNvPr id="59" name="Rectangle 58">
            <a:extLst>
              <a:ext uri="{FF2B5EF4-FFF2-40B4-BE49-F238E27FC236}">
                <a16:creationId xmlns:a16="http://schemas.microsoft.com/office/drawing/2014/main" id="{8FD327DA-C1EC-427F-A747-4D6C08D693EF}"/>
              </a:ext>
            </a:extLst>
          </p:cNvPr>
          <p:cNvSpPr/>
          <p:nvPr/>
        </p:nvSpPr>
        <p:spPr>
          <a:xfrm>
            <a:off x="9688769" y="3416125"/>
            <a:ext cx="1645062" cy="445644"/>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600" kern="0">
                <a:solidFill>
                  <a:srgbClr val="FFFFFF"/>
                </a:solidFill>
                <a:latin typeface="+mn-lt"/>
              </a:rPr>
              <a:t>More Drivers</a:t>
            </a:r>
            <a:endParaRPr lang="en-US" sz="1300" kern="0">
              <a:solidFill>
                <a:srgbClr val="FFFFFF"/>
              </a:solidFill>
              <a:latin typeface="+mn-lt"/>
            </a:endParaRPr>
          </a:p>
        </p:txBody>
      </p:sp>
      <p:sp>
        <p:nvSpPr>
          <p:cNvPr id="60" name="Down Arrow 26">
            <a:extLst>
              <a:ext uri="{FF2B5EF4-FFF2-40B4-BE49-F238E27FC236}">
                <a16:creationId xmlns:a16="http://schemas.microsoft.com/office/drawing/2014/main" id="{A0F2D0B9-502B-4EAF-BA37-DE49DDC1ACA9}"/>
              </a:ext>
            </a:extLst>
          </p:cNvPr>
          <p:cNvSpPr/>
          <p:nvPr/>
        </p:nvSpPr>
        <p:spPr>
          <a:xfrm flipV="1">
            <a:off x="2349223" y="2985866"/>
            <a:ext cx="550606" cy="420602"/>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40" name="Rectangle 39">
            <a:extLst>
              <a:ext uri="{FF2B5EF4-FFF2-40B4-BE49-F238E27FC236}">
                <a16:creationId xmlns:a16="http://schemas.microsoft.com/office/drawing/2014/main" id="{E68A9320-69F2-4B09-9EC9-F66B43DA0FD1}"/>
              </a:ext>
            </a:extLst>
          </p:cNvPr>
          <p:cNvSpPr/>
          <p:nvPr/>
        </p:nvSpPr>
        <p:spPr>
          <a:xfrm>
            <a:off x="1268179" y="3396016"/>
            <a:ext cx="1645062" cy="445644"/>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600" kern="0">
                <a:solidFill>
                  <a:srgbClr val="FFFFFF"/>
                </a:solidFill>
                <a:latin typeface="+mn-lt"/>
              </a:rPr>
              <a:t>Virtual Drivers</a:t>
            </a:r>
            <a:endParaRPr lang="en-US" sz="1300" kern="0">
              <a:solidFill>
                <a:srgbClr val="FFFFFF"/>
              </a:solidFill>
              <a:latin typeface="+mn-lt"/>
            </a:endParaRPr>
          </a:p>
        </p:txBody>
      </p:sp>
      <p:sp>
        <p:nvSpPr>
          <p:cNvPr id="61" name="Down Arrow 26">
            <a:extLst>
              <a:ext uri="{FF2B5EF4-FFF2-40B4-BE49-F238E27FC236}">
                <a16:creationId xmlns:a16="http://schemas.microsoft.com/office/drawing/2014/main" id="{323A53A6-1F08-4F2E-A8CC-6ACFFACD7500}"/>
              </a:ext>
            </a:extLst>
          </p:cNvPr>
          <p:cNvSpPr/>
          <p:nvPr/>
        </p:nvSpPr>
        <p:spPr>
          <a:xfrm flipV="1">
            <a:off x="5443640" y="2989086"/>
            <a:ext cx="550606" cy="420602"/>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42" name="Rectangle 41">
            <a:extLst>
              <a:ext uri="{FF2B5EF4-FFF2-40B4-BE49-F238E27FC236}">
                <a16:creationId xmlns:a16="http://schemas.microsoft.com/office/drawing/2014/main" id="{CB19A037-6D86-405B-AF5F-CE7A837BA992}"/>
              </a:ext>
            </a:extLst>
          </p:cNvPr>
          <p:cNvSpPr/>
          <p:nvPr/>
        </p:nvSpPr>
        <p:spPr>
          <a:xfrm>
            <a:off x="4375471" y="3400307"/>
            <a:ext cx="1645062" cy="445644"/>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600" kern="0">
                <a:solidFill>
                  <a:srgbClr val="FFFFFF"/>
                </a:solidFill>
                <a:latin typeface="+mn-lt"/>
              </a:rPr>
              <a:t>HW Drivers</a:t>
            </a:r>
            <a:endParaRPr lang="en-US" sz="1300" kern="0">
              <a:solidFill>
                <a:srgbClr val="FFFFFF"/>
              </a:solidFill>
              <a:latin typeface="+mn-lt"/>
            </a:endParaRPr>
          </a:p>
        </p:txBody>
      </p:sp>
      <p:sp>
        <p:nvSpPr>
          <p:cNvPr id="62" name="Down Arrow 26">
            <a:extLst>
              <a:ext uri="{FF2B5EF4-FFF2-40B4-BE49-F238E27FC236}">
                <a16:creationId xmlns:a16="http://schemas.microsoft.com/office/drawing/2014/main" id="{78FA4569-108D-4DA7-95F2-9459F5366872}"/>
              </a:ext>
            </a:extLst>
          </p:cNvPr>
          <p:cNvSpPr/>
          <p:nvPr/>
        </p:nvSpPr>
        <p:spPr>
          <a:xfrm flipV="1">
            <a:off x="5447932" y="4358095"/>
            <a:ext cx="550606" cy="368026"/>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38" name="Rectangle 37">
            <a:extLst>
              <a:ext uri="{FF2B5EF4-FFF2-40B4-BE49-F238E27FC236}">
                <a16:creationId xmlns:a16="http://schemas.microsoft.com/office/drawing/2014/main" id="{154115F1-C80D-4CF9-AFCE-230EAEB24C8B}"/>
              </a:ext>
            </a:extLst>
          </p:cNvPr>
          <p:cNvSpPr/>
          <p:nvPr/>
        </p:nvSpPr>
        <p:spPr>
          <a:xfrm>
            <a:off x="5111014" y="4639293"/>
            <a:ext cx="1248926" cy="599784"/>
          </a:xfrm>
          <a:prstGeom prst="rect">
            <a:avLst/>
          </a:prstGeom>
          <a:solidFill>
            <a:srgbClr val="58595B"/>
          </a:solidFill>
          <a:ln w="9525" cap="flat" cmpd="sng" algn="ctr">
            <a:noFill/>
            <a:prstDash val="solid"/>
          </a:ln>
          <a:effectLst/>
        </p:spPr>
        <p:txBody>
          <a:bodyPr lIns="91396" tIns="45699" rIns="91396" bIns="45699" numCol="1" rtlCol="0" anchor="t"/>
          <a:lstStyle/>
          <a:p>
            <a:pPr defTabSz="456936" eaLnBrk="1" fontAlgn="auto" hangingPunct="1">
              <a:spcBef>
                <a:spcPts val="0"/>
              </a:spcBef>
              <a:spcAft>
                <a:spcPts val="0"/>
              </a:spcAft>
              <a:defRPr/>
            </a:pPr>
            <a:r>
              <a:rPr lang="en-US" sz="1200" kern="0">
                <a:solidFill>
                  <a:srgbClr val="FFFFFF"/>
                </a:solidFill>
                <a:latin typeface="+mn-lt"/>
              </a:rPr>
              <a:t>Real I/O via test equipment</a:t>
            </a:r>
            <a:endParaRPr lang="en-US" sz="1400" kern="0">
              <a:solidFill>
                <a:srgbClr val="FFFFFF"/>
              </a:solidFill>
              <a:latin typeface="+mn-lt"/>
            </a:endParaRPr>
          </a:p>
        </p:txBody>
      </p:sp>
      <p:sp>
        <p:nvSpPr>
          <p:cNvPr id="69" name="Down Arrow 26">
            <a:extLst>
              <a:ext uri="{FF2B5EF4-FFF2-40B4-BE49-F238E27FC236}">
                <a16:creationId xmlns:a16="http://schemas.microsoft.com/office/drawing/2014/main" id="{24A5430A-19C7-440E-8828-9C09D907B757}"/>
              </a:ext>
            </a:extLst>
          </p:cNvPr>
          <p:cNvSpPr/>
          <p:nvPr/>
        </p:nvSpPr>
        <p:spPr>
          <a:xfrm flipV="1">
            <a:off x="8924323" y="3008398"/>
            <a:ext cx="550606" cy="420602"/>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73" name="Down Arrow 26">
            <a:extLst>
              <a:ext uri="{FF2B5EF4-FFF2-40B4-BE49-F238E27FC236}">
                <a16:creationId xmlns:a16="http://schemas.microsoft.com/office/drawing/2014/main" id="{72C96718-5402-4EB8-BB26-3218AFE2C5BD}"/>
              </a:ext>
            </a:extLst>
          </p:cNvPr>
          <p:cNvSpPr/>
          <p:nvPr/>
        </p:nvSpPr>
        <p:spPr>
          <a:xfrm flipV="1">
            <a:off x="8928614" y="4371057"/>
            <a:ext cx="550606" cy="368026"/>
          </a:xfrm>
          <a:prstGeom prst="downArrow">
            <a:avLst>
              <a:gd name="adj1" fmla="val 50000"/>
              <a:gd name="adj2" fmla="val 26971"/>
            </a:avLst>
          </a:prstGeom>
          <a:gradFill rotWithShape="1">
            <a:gsLst>
              <a:gs pos="0">
                <a:srgbClr val="ED174F">
                  <a:lumMod val="20000"/>
                  <a:lumOff val="80000"/>
                </a:srgbClr>
              </a:gs>
              <a:gs pos="64000">
                <a:srgbClr val="ED174F">
                  <a:lumMod val="40000"/>
                  <a:lumOff val="60000"/>
                </a:srgbClr>
              </a:gs>
              <a:gs pos="100000">
                <a:srgbClr val="FF0000">
                  <a:alpha val="60000"/>
                </a:srgbClr>
              </a:gs>
            </a:gsLst>
            <a:lin ang="5400000" scaled="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49" name="Rectangle 48">
            <a:extLst>
              <a:ext uri="{FF2B5EF4-FFF2-40B4-BE49-F238E27FC236}">
                <a16:creationId xmlns:a16="http://schemas.microsoft.com/office/drawing/2014/main" id="{BE201CEC-018B-4522-931B-7FCCF046ABC2}"/>
              </a:ext>
            </a:extLst>
          </p:cNvPr>
          <p:cNvSpPr/>
          <p:nvPr/>
        </p:nvSpPr>
        <p:spPr>
          <a:xfrm>
            <a:off x="8649636" y="4656460"/>
            <a:ext cx="1248926" cy="599784"/>
          </a:xfrm>
          <a:prstGeom prst="rect">
            <a:avLst/>
          </a:prstGeom>
          <a:solidFill>
            <a:srgbClr val="58595B"/>
          </a:solidFill>
          <a:ln w="9525" cap="flat" cmpd="sng" algn="ctr">
            <a:noFill/>
            <a:prstDash val="solid"/>
          </a:ln>
          <a:effectLst/>
        </p:spPr>
        <p:txBody>
          <a:bodyPr lIns="91396" tIns="45699" rIns="91396" bIns="45699" numCol="1" rtlCol="0" anchor="t"/>
          <a:lstStyle/>
          <a:p>
            <a:pPr defTabSz="456936" eaLnBrk="1" fontAlgn="auto" hangingPunct="1">
              <a:spcBef>
                <a:spcPts val="0"/>
              </a:spcBef>
              <a:spcAft>
                <a:spcPts val="0"/>
              </a:spcAft>
              <a:defRPr/>
            </a:pPr>
            <a:r>
              <a:rPr lang="en-US" sz="1200" kern="0">
                <a:solidFill>
                  <a:srgbClr val="FFFFFF"/>
                </a:solidFill>
                <a:latin typeface="+mn-lt"/>
              </a:rPr>
              <a:t>Real I/O via </a:t>
            </a:r>
            <a:br>
              <a:rPr lang="en-US" sz="1200" kern="0">
                <a:solidFill>
                  <a:srgbClr val="FFFFFF"/>
                </a:solidFill>
                <a:latin typeface="+mn-lt"/>
              </a:rPr>
            </a:br>
            <a:r>
              <a:rPr lang="en-US" sz="1200" kern="0">
                <a:solidFill>
                  <a:srgbClr val="FFFFFF"/>
                </a:solidFill>
                <a:latin typeface="+mn-lt"/>
              </a:rPr>
              <a:t>user peripherals</a:t>
            </a:r>
            <a:endParaRPr lang="en-US" sz="1400" kern="0">
              <a:solidFill>
                <a:srgbClr val="FFFFFF"/>
              </a:solidFill>
              <a:latin typeface="+mn-lt"/>
            </a:endParaRPr>
          </a:p>
        </p:txBody>
      </p:sp>
      <p:sp>
        <p:nvSpPr>
          <p:cNvPr id="52" name="Rectangle 51">
            <a:extLst>
              <a:ext uri="{FF2B5EF4-FFF2-40B4-BE49-F238E27FC236}">
                <a16:creationId xmlns:a16="http://schemas.microsoft.com/office/drawing/2014/main" id="{48EC2F1A-B484-4E6A-BEF8-56E4F520752E}"/>
              </a:ext>
            </a:extLst>
          </p:cNvPr>
          <p:cNvSpPr/>
          <p:nvPr/>
        </p:nvSpPr>
        <p:spPr>
          <a:xfrm>
            <a:off x="7914093" y="3417475"/>
            <a:ext cx="1645062" cy="445644"/>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600" kern="0">
                <a:solidFill>
                  <a:srgbClr val="FFFFFF"/>
                </a:solidFill>
                <a:latin typeface="+mn-lt"/>
              </a:rPr>
              <a:t>HW Drivers</a:t>
            </a:r>
            <a:endParaRPr lang="en-US" sz="1300" kern="0">
              <a:solidFill>
                <a:srgbClr val="FFFFFF"/>
              </a:solidFill>
              <a:latin typeface="+mn-lt"/>
            </a:endParaRPr>
          </a:p>
        </p:txBody>
      </p:sp>
      <p:sp>
        <p:nvSpPr>
          <p:cNvPr id="3" name="TextBox 2">
            <a:extLst>
              <a:ext uri="{FF2B5EF4-FFF2-40B4-BE49-F238E27FC236}">
                <a16:creationId xmlns:a16="http://schemas.microsoft.com/office/drawing/2014/main" id="{5AD9F1E1-C880-4201-B5C3-541DAF9AC2B2}"/>
              </a:ext>
            </a:extLst>
          </p:cNvPr>
          <p:cNvSpPr txBox="1"/>
          <p:nvPr/>
        </p:nvSpPr>
        <p:spPr>
          <a:xfrm>
            <a:off x="480890" y="1211193"/>
            <a:ext cx="5816829" cy="193849"/>
          </a:xfrm>
          <a:prstGeom prst="rect">
            <a:avLst/>
          </a:prstGeom>
          <a:solidFill>
            <a:schemeClr val="bg1">
              <a:lumMod val="95000"/>
            </a:schemeClr>
          </a:solidFill>
        </p:spPr>
        <p:txBody>
          <a:bodyPr wrap="square" lIns="0" tIns="0" rIns="0" bIns="0" rtlCol="0">
            <a:spAutoFit/>
          </a:bodyPr>
          <a:lstStyle/>
          <a:p>
            <a:pPr algn="ctr" defTabSz="914126" eaLnBrk="1" hangingPunct="1">
              <a:lnSpc>
                <a:spcPct val="90000"/>
              </a:lnSpc>
              <a:spcBef>
                <a:spcPts val="0"/>
              </a:spcBef>
              <a:spcAft>
                <a:spcPts val="600"/>
              </a:spcAft>
            </a:pPr>
            <a:r>
              <a:rPr lang="en-US" sz="1400">
                <a:solidFill>
                  <a:schemeClr val="tx2"/>
                </a:solidFill>
                <a:latin typeface="+mn-lt"/>
                <a:ea typeface="+mn-ea"/>
              </a:rPr>
              <a:t>Unit &amp; Integration Testing on Virtual Hardware or Physical Hardware Boards</a:t>
            </a:r>
            <a:endParaRPr lang="en-GB" sz="1400">
              <a:solidFill>
                <a:schemeClr val="tx2"/>
              </a:solidFill>
              <a:latin typeface="+mn-lt"/>
              <a:ea typeface="+mn-ea"/>
            </a:endParaRPr>
          </a:p>
        </p:txBody>
      </p:sp>
      <p:sp>
        <p:nvSpPr>
          <p:cNvPr id="74" name="TextBox 73">
            <a:extLst>
              <a:ext uri="{FF2B5EF4-FFF2-40B4-BE49-F238E27FC236}">
                <a16:creationId xmlns:a16="http://schemas.microsoft.com/office/drawing/2014/main" id="{DF5377C6-2C92-4C75-A091-234F4C553784}"/>
              </a:ext>
            </a:extLst>
          </p:cNvPr>
          <p:cNvSpPr txBox="1"/>
          <p:nvPr/>
        </p:nvSpPr>
        <p:spPr>
          <a:xfrm>
            <a:off x="6922942" y="1221922"/>
            <a:ext cx="4608675" cy="193849"/>
          </a:xfrm>
          <a:prstGeom prst="rect">
            <a:avLst/>
          </a:prstGeom>
          <a:solidFill>
            <a:schemeClr val="bg1">
              <a:lumMod val="95000"/>
            </a:schemeClr>
          </a:solidFill>
        </p:spPr>
        <p:txBody>
          <a:bodyPr wrap="square" lIns="0" tIns="0" rIns="0" bIns="0" rtlCol="0">
            <a:spAutoFit/>
          </a:bodyPr>
          <a:lstStyle/>
          <a:p>
            <a:pPr algn="ctr" defTabSz="914126" eaLnBrk="1" hangingPunct="1">
              <a:lnSpc>
                <a:spcPct val="90000"/>
              </a:lnSpc>
              <a:spcBef>
                <a:spcPts val="0"/>
              </a:spcBef>
              <a:spcAft>
                <a:spcPts val="600"/>
              </a:spcAft>
            </a:pPr>
            <a:r>
              <a:rPr lang="en-US" sz="1400">
                <a:solidFill>
                  <a:schemeClr val="tx2"/>
                </a:solidFill>
                <a:latin typeface="+mn-lt"/>
                <a:ea typeface="+mn-ea"/>
              </a:rPr>
              <a:t>Deployment and System Testing on Production Hardware</a:t>
            </a:r>
            <a:endParaRPr lang="en-GB" sz="1400">
              <a:solidFill>
                <a:schemeClr val="tx2"/>
              </a:solidFill>
              <a:latin typeface="+mn-lt"/>
              <a:ea typeface="+mn-ea"/>
            </a:endParaRPr>
          </a:p>
        </p:txBody>
      </p:sp>
      <p:sp>
        <p:nvSpPr>
          <p:cNvPr id="75" name="TextBox 74">
            <a:extLst>
              <a:ext uri="{FF2B5EF4-FFF2-40B4-BE49-F238E27FC236}">
                <a16:creationId xmlns:a16="http://schemas.microsoft.com/office/drawing/2014/main" id="{D1E74628-B277-4265-ABC1-B22C9F02215C}"/>
              </a:ext>
            </a:extLst>
          </p:cNvPr>
          <p:cNvSpPr txBox="1"/>
          <p:nvPr/>
        </p:nvSpPr>
        <p:spPr>
          <a:xfrm>
            <a:off x="480889" y="5951476"/>
            <a:ext cx="8883368" cy="193899"/>
          </a:xfrm>
          <a:prstGeom prst="rect">
            <a:avLst/>
          </a:prstGeom>
          <a:noFill/>
        </p:spPr>
        <p:txBody>
          <a:bodyPr wrap="square" lIns="0" tIns="0" rIns="0" bIns="0" rtlCol="0">
            <a:spAutoFit/>
          </a:bodyPr>
          <a:lstStyle/>
          <a:p>
            <a:pPr algn="ctr" defTabSz="914126" eaLnBrk="1" hangingPunct="1">
              <a:lnSpc>
                <a:spcPct val="90000"/>
              </a:lnSpc>
              <a:spcBef>
                <a:spcPts val="0"/>
              </a:spcBef>
              <a:spcAft>
                <a:spcPts val="600"/>
              </a:spcAft>
            </a:pPr>
            <a:r>
              <a:rPr lang="en-US" sz="1400">
                <a:solidFill>
                  <a:schemeClr val="tx2"/>
                </a:solidFill>
                <a:latin typeface="+mn-lt"/>
                <a:ea typeface="+mn-ea"/>
              </a:rPr>
              <a:t>Essentially the same event logs are generated across the different deployments. This ensures correctness.</a:t>
            </a:r>
            <a:endParaRPr lang="en-US" sz="1400" i="1">
              <a:solidFill>
                <a:schemeClr val="tx2"/>
              </a:solidFill>
              <a:latin typeface="+mn-lt"/>
              <a:ea typeface="+mn-ea"/>
            </a:endParaRPr>
          </a:p>
        </p:txBody>
      </p:sp>
      <p:sp>
        <p:nvSpPr>
          <p:cNvPr id="27" name="Rectangle 26">
            <a:extLst>
              <a:ext uri="{FF2B5EF4-FFF2-40B4-BE49-F238E27FC236}">
                <a16:creationId xmlns:a16="http://schemas.microsoft.com/office/drawing/2014/main" id="{B5AA21C1-2259-49A4-81EC-B41EA89DA738}"/>
              </a:ext>
            </a:extLst>
          </p:cNvPr>
          <p:cNvSpPr/>
          <p:nvPr/>
        </p:nvSpPr>
        <p:spPr>
          <a:xfrm>
            <a:off x="2003722" y="4635001"/>
            <a:ext cx="1248926" cy="599784"/>
          </a:xfrm>
          <a:prstGeom prst="rect">
            <a:avLst/>
          </a:prstGeom>
          <a:solidFill>
            <a:srgbClr val="58595B"/>
          </a:solidFill>
          <a:ln w="9525" cap="flat" cmpd="sng" algn="ctr">
            <a:noFill/>
            <a:prstDash val="solid"/>
          </a:ln>
          <a:effectLst/>
        </p:spPr>
        <p:txBody>
          <a:bodyPr lIns="91396" tIns="45699" rIns="91396" bIns="45699" numCol="1" rtlCol="0" anchor="t"/>
          <a:lstStyle/>
          <a:p>
            <a:pPr defTabSz="456936" eaLnBrk="1" fontAlgn="auto" hangingPunct="1">
              <a:spcBef>
                <a:spcPts val="0"/>
              </a:spcBef>
              <a:spcAft>
                <a:spcPts val="0"/>
              </a:spcAft>
              <a:defRPr/>
            </a:pPr>
            <a:r>
              <a:rPr lang="en-US" sz="1200" kern="0">
                <a:solidFill>
                  <a:srgbClr val="FFFFFF"/>
                </a:solidFill>
                <a:latin typeface="+mn-lt"/>
              </a:rPr>
              <a:t>Simulated I/O via Python scripts and stimuli files</a:t>
            </a:r>
            <a:endParaRPr lang="en-US" sz="1400" kern="0">
              <a:solidFill>
                <a:srgbClr val="FFFFFF"/>
              </a:solidFill>
              <a:latin typeface="+mn-lt"/>
            </a:endParaRPr>
          </a:p>
        </p:txBody>
      </p:sp>
      <p:sp>
        <p:nvSpPr>
          <p:cNvPr id="4" name="Rectangle 3">
            <a:extLst>
              <a:ext uri="{FF2B5EF4-FFF2-40B4-BE49-F238E27FC236}">
                <a16:creationId xmlns:a16="http://schemas.microsoft.com/office/drawing/2014/main" id="{4A13E7B7-CE35-CE9D-076B-C39C12D07920}"/>
              </a:ext>
            </a:extLst>
          </p:cNvPr>
          <p:cNvSpPr/>
          <p:nvPr/>
        </p:nvSpPr>
        <p:spPr>
          <a:xfrm>
            <a:off x="370242" y="3244860"/>
            <a:ext cx="11227300" cy="1312293"/>
          </a:xfrm>
          <a:prstGeom prst="rect">
            <a:avLst/>
          </a:prstGeom>
          <a:solidFill>
            <a:schemeClr val="bg1">
              <a:alpha val="10196"/>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dirty="0">
              <a:solidFill>
                <a:schemeClr val="tx1"/>
              </a:solidFill>
            </a:endParaRPr>
          </a:p>
        </p:txBody>
      </p:sp>
      <p:sp>
        <p:nvSpPr>
          <p:cNvPr id="5" name="TextBox 4">
            <a:extLst>
              <a:ext uri="{FF2B5EF4-FFF2-40B4-BE49-F238E27FC236}">
                <a16:creationId xmlns:a16="http://schemas.microsoft.com/office/drawing/2014/main" id="{82DA62DB-8C9E-947E-7147-791FAD42F3E1}"/>
              </a:ext>
            </a:extLst>
          </p:cNvPr>
          <p:cNvSpPr txBox="1"/>
          <p:nvPr/>
        </p:nvSpPr>
        <p:spPr>
          <a:xfrm>
            <a:off x="10000460" y="4494625"/>
            <a:ext cx="1566910" cy="138499"/>
          </a:xfrm>
          <a:prstGeom prst="rect">
            <a:avLst/>
          </a:prstGeom>
          <a:solidFill>
            <a:schemeClr val="bg1"/>
          </a:solid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000" dirty="0">
                <a:solidFill>
                  <a:schemeClr val="tx2"/>
                </a:solidFill>
                <a:latin typeface="+mn-lt"/>
                <a:ea typeface="+mn-ea"/>
              </a:rPr>
              <a:t>Target Hardware Abstraction</a:t>
            </a:r>
            <a:endParaRPr lang="en-US" sz="1000" kern="1200" dirty="0">
              <a:solidFill>
                <a:schemeClr val="tx2"/>
              </a:solidFill>
              <a:latin typeface="+mn-lt"/>
              <a:ea typeface="+mn-ea"/>
              <a:cs typeface="+mn-cs"/>
            </a:endParaRPr>
          </a:p>
        </p:txBody>
      </p:sp>
    </p:spTree>
    <p:extLst>
      <p:ext uri="{BB962C8B-B14F-4D97-AF65-F5344CB8AC3E}">
        <p14:creationId xmlns:p14="http://schemas.microsoft.com/office/powerpoint/2010/main" val="5323397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Diagram&#10;&#10;Description automatically generated">
            <a:extLst>
              <a:ext uri="{FF2B5EF4-FFF2-40B4-BE49-F238E27FC236}">
                <a16:creationId xmlns:a16="http://schemas.microsoft.com/office/drawing/2014/main" id="{C88E11CF-2E21-D1BB-069A-448E841030FB}"/>
              </a:ext>
            </a:extLst>
          </p:cNvPr>
          <p:cNvPicPr>
            <a:picLocks noGrp="1" noChangeAspect="1"/>
          </p:cNvPicPr>
          <p:nvPr>
            <p:ph idx="1"/>
          </p:nvPr>
        </p:nvPicPr>
        <p:blipFill>
          <a:blip r:embed="rId2"/>
          <a:stretch>
            <a:fillRect/>
          </a:stretch>
        </p:blipFill>
        <p:spPr>
          <a:xfrm>
            <a:off x="811416" y="544509"/>
            <a:ext cx="5284584" cy="2109815"/>
          </a:xfrm>
        </p:spPr>
      </p:pic>
      <p:sp>
        <p:nvSpPr>
          <p:cNvPr id="9" name="Rectangle 8">
            <a:extLst>
              <a:ext uri="{FF2B5EF4-FFF2-40B4-BE49-F238E27FC236}">
                <a16:creationId xmlns:a16="http://schemas.microsoft.com/office/drawing/2014/main" id="{932C3D67-5FDE-6CB2-1ECC-11ED0739E40B}"/>
              </a:ext>
            </a:extLst>
          </p:cNvPr>
          <p:cNvSpPr/>
          <p:nvPr/>
        </p:nvSpPr>
        <p:spPr>
          <a:xfrm>
            <a:off x="716463" y="1997553"/>
            <a:ext cx="4461665" cy="933450"/>
          </a:xfrm>
          <a:prstGeom prst="rect">
            <a:avLst/>
          </a:prstGeom>
          <a:solidFill>
            <a:srgbClr val="0091BD">
              <a:alpha val="10196"/>
            </a:srgb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r>
              <a:rPr lang="en-US" dirty="0">
                <a:solidFill>
                  <a:schemeClr val="tx1"/>
                </a:solidFill>
              </a:rPr>
              <a:t>Target Hardware Abstraction</a:t>
            </a:r>
          </a:p>
        </p:txBody>
      </p:sp>
      <p:pic>
        <p:nvPicPr>
          <p:cNvPr id="15" name="Picture 14">
            <a:extLst>
              <a:ext uri="{FF2B5EF4-FFF2-40B4-BE49-F238E27FC236}">
                <a16:creationId xmlns:a16="http://schemas.microsoft.com/office/drawing/2014/main" id="{9C2A80FB-F476-2247-3858-032D55FD9788}"/>
              </a:ext>
            </a:extLst>
          </p:cNvPr>
          <p:cNvPicPr>
            <a:picLocks noChangeAspect="1"/>
          </p:cNvPicPr>
          <p:nvPr/>
        </p:nvPicPr>
        <p:blipFill>
          <a:blip r:embed="rId3"/>
          <a:stretch>
            <a:fillRect/>
          </a:stretch>
        </p:blipFill>
        <p:spPr>
          <a:xfrm>
            <a:off x="6757791" y="592129"/>
            <a:ext cx="2988255" cy="2338874"/>
          </a:xfrm>
          <a:prstGeom prst="rect">
            <a:avLst/>
          </a:prstGeom>
        </p:spPr>
      </p:pic>
      <p:cxnSp>
        <p:nvCxnSpPr>
          <p:cNvPr id="17" name="Connector: Elbow 16">
            <a:extLst>
              <a:ext uri="{FF2B5EF4-FFF2-40B4-BE49-F238E27FC236}">
                <a16:creationId xmlns:a16="http://schemas.microsoft.com/office/drawing/2014/main" id="{CF76E87D-73E7-8239-B5B4-4854C0D124AA}"/>
              </a:ext>
            </a:extLst>
          </p:cNvPr>
          <p:cNvCxnSpPr>
            <a:cxnSpLocks/>
          </p:cNvCxnSpPr>
          <p:nvPr/>
        </p:nvCxnSpPr>
        <p:spPr>
          <a:xfrm flipV="1">
            <a:off x="5178128" y="1296444"/>
            <a:ext cx="1742502" cy="1546964"/>
          </a:xfrm>
          <a:prstGeom prst="bentConnector3">
            <a:avLst>
              <a:gd name="adj1" fmla="val 71925"/>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70C7C4D-CFCF-6D2A-E64A-CB9965FA61D7}"/>
              </a:ext>
            </a:extLst>
          </p:cNvPr>
          <p:cNvCxnSpPr>
            <a:cxnSpLocks/>
            <a:endCxn id="15" idx="0"/>
          </p:cNvCxnSpPr>
          <p:nvPr/>
        </p:nvCxnSpPr>
        <p:spPr>
          <a:xfrm>
            <a:off x="8251918" y="394570"/>
            <a:ext cx="1" cy="19755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347D657F-2527-221E-0C3B-862E5009C6C4}"/>
              </a:ext>
            </a:extLst>
          </p:cNvPr>
          <p:cNvSpPr txBox="1"/>
          <p:nvPr/>
        </p:nvSpPr>
        <p:spPr>
          <a:xfrm>
            <a:off x="7377829" y="327150"/>
            <a:ext cx="2043906" cy="166199"/>
          </a:xfrm>
          <a:prstGeom prst="rect">
            <a:avLst/>
          </a:prstGeom>
          <a:solidFill>
            <a:schemeClr val="bg1"/>
          </a:solidFill>
          <a:ln>
            <a:solidFill>
              <a:schemeClr val="accent1"/>
            </a:solidFill>
          </a:ln>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200" kern="1200" dirty="0">
                <a:solidFill>
                  <a:schemeClr val="tx2"/>
                </a:solidFill>
                <a:latin typeface="+mn-lt"/>
                <a:ea typeface="+mn-ea"/>
                <a:cs typeface="+mn-cs"/>
              </a:rPr>
              <a:t>Target Hardware Abstraction</a:t>
            </a:r>
          </a:p>
        </p:txBody>
      </p:sp>
    </p:spTree>
    <p:extLst>
      <p:ext uri="{BB962C8B-B14F-4D97-AF65-F5344CB8AC3E}">
        <p14:creationId xmlns:p14="http://schemas.microsoft.com/office/powerpoint/2010/main" val="37349815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3429416-9512-4D74-BB8B-B757FF1538EC}"/>
              </a:ext>
            </a:extLst>
          </p:cNvPr>
          <p:cNvSpPr/>
          <p:nvPr/>
        </p:nvSpPr>
        <p:spPr>
          <a:xfrm>
            <a:off x="1545905" y="1241494"/>
            <a:ext cx="8761489" cy="34409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72A4F4-A0EE-4AF6-9B97-64CD9EFD4ACC}"/>
              </a:ext>
            </a:extLst>
          </p:cNvPr>
          <p:cNvSpPr>
            <a:spLocks noGrp="1"/>
          </p:cNvSpPr>
          <p:nvPr>
            <p:ph type="title"/>
          </p:nvPr>
        </p:nvSpPr>
        <p:spPr/>
        <p:txBody>
          <a:bodyPr/>
          <a:lstStyle/>
          <a:p>
            <a:r>
              <a:rPr lang="en-US"/>
              <a:t>Software components</a:t>
            </a:r>
            <a:endParaRPr lang="en-US" dirty="0"/>
          </a:p>
        </p:txBody>
      </p:sp>
      <p:sp>
        <p:nvSpPr>
          <p:cNvPr id="36" name="Content Placeholder 35">
            <a:extLst>
              <a:ext uri="{FF2B5EF4-FFF2-40B4-BE49-F238E27FC236}">
                <a16:creationId xmlns:a16="http://schemas.microsoft.com/office/drawing/2014/main" id="{C1FEA2B4-2D65-4DC0-A84C-7CA3D7B49469}"/>
              </a:ext>
            </a:extLst>
          </p:cNvPr>
          <p:cNvSpPr>
            <a:spLocks noGrp="1"/>
          </p:cNvSpPr>
          <p:nvPr>
            <p:ph idx="1"/>
          </p:nvPr>
        </p:nvSpPr>
        <p:spPr>
          <a:xfrm>
            <a:off x="492125" y="4656734"/>
            <a:ext cx="11180762" cy="1801819"/>
          </a:xfrm>
        </p:spPr>
        <p:txBody>
          <a:bodyPr/>
          <a:lstStyle/>
          <a:p>
            <a:r>
              <a:rPr lang="en-GB" dirty="0"/>
              <a:t>A software component encapsulates a set of related functions.</a:t>
            </a:r>
          </a:p>
          <a:p>
            <a:r>
              <a:rPr lang="en-GB" dirty="0"/>
              <a:t>Components should be substitutable by other components at design time.</a:t>
            </a:r>
          </a:p>
          <a:p>
            <a:r>
              <a:rPr lang="en-GB" dirty="0"/>
              <a:t>Components can have dependencies on other components.</a:t>
            </a:r>
          </a:p>
        </p:txBody>
      </p:sp>
      <p:sp>
        <p:nvSpPr>
          <p:cNvPr id="4" name="Rectangle 3">
            <a:extLst>
              <a:ext uri="{FF2B5EF4-FFF2-40B4-BE49-F238E27FC236}">
                <a16:creationId xmlns:a16="http://schemas.microsoft.com/office/drawing/2014/main" id="{D3022A3B-8B4C-4B9B-95D2-86AE594E107B}"/>
              </a:ext>
            </a:extLst>
          </p:cNvPr>
          <p:cNvSpPr/>
          <p:nvPr/>
        </p:nvSpPr>
        <p:spPr>
          <a:xfrm>
            <a:off x="1672295" y="1671974"/>
            <a:ext cx="8761489" cy="2264760"/>
          </a:xfrm>
          <a:prstGeom prst="rect">
            <a:avLst/>
          </a:prstGeom>
          <a:solidFill>
            <a:srgbClr val="7D868C"/>
          </a:solidFill>
          <a:ln w="3810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t" anchorCtr="0"/>
          <a:lstStyle/>
          <a:p>
            <a:r>
              <a:rPr lang="en-US" sz="2000" dirty="0">
                <a:solidFill>
                  <a:schemeClr val="bg1"/>
                </a:solidFill>
              </a:rPr>
              <a:t>Software component</a:t>
            </a:r>
          </a:p>
        </p:txBody>
      </p:sp>
      <p:sp>
        <p:nvSpPr>
          <p:cNvPr id="7" name="Snip Single Corner Rectangle 8">
            <a:extLst>
              <a:ext uri="{FF2B5EF4-FFF2-40B4-BE49-F238E27FC236}">
                <a16:creationId xmlns:a16="http://schemas.microsoft.com/office/drawing/2014/main" id="{F3ED5520-C3E2-4668-8F67-A11D69F828A3}"/>
              </a:ext>
            </a:extLst>
          </p:cNvPr>
          <p:cNvSpPr/>
          <p:nvPr/>
        </p:nvSpPr>
        <p:spPr bwMode="auto">
          <a:xfrm>
            <a:off x="5356750" y="1995974"/>
            <a:ext cx="1476000" cy="720000"/>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API headers</a:t>
            </a:r>
            <a:endParaRPr lang="en-US" sz="1600" dirty="0">
              <a:cs typeface="Courier New" pitchFamily="49" charset="0"/>
            </a:endParaRPr>
          </a:p>
        </p:txBody>
      </p:sp>
      <p:sp>
        <p:nvSpPr>
          <p:cNvPr id="14" name="Snip Single Corner Rectangle 8">
            <a:extLst>
              <a:ext uri="{FF2B5EF4-FFF2-40B4-BE49-F238E27FC236}">
                <a16:creationId xmlns:a16="http://schemas.microsoft.com/office/drawing/2014/main" id="{3822A2E0-167C-4F20-BA49-213AFC07747B}"/>
              </a:ext>
            </a:extLst>
          </p:cNvPr>
          <p:cNvSpPr/>
          <p:nvPr/>
        </p:nvSpPr>
        <p:spPr bwMode="auto">
          <a:xfrm>
            <a:off x="1984442" y="2961986"/>
            <a:ext cx="1476000" cy="720000"/>
          </a:xfrm>
          <a:prstGeom prst="snip1Rect">
            <a:avLst/>
          </a:prstGeom>
          <a:solidFill>
            <a:schemeClr val="bg1"/>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User code templates</a:t>
            </a:r>
            <a:endParaRPr lang="en-US" sz="1600" dirty="0">
              <a:cs typeface="Courier New" pitchFamily="49" charset="0"/>
            </a:endParaRPr>
          </a:p>
        </p:txBody>
      </p:sp>
      <p:sp>
        <p:nvSpPr>
          <p:cNvPr id="17" name="Snip Single Corner Rectangle 8">
            <a:extLst>
              <a:ext uri="{FF2B5EF4-FFF2-40B4-BE49-F238E27FC236}">
                <a16:creationId xmlns:a16="http://schemas.microsoft.com/office/drawing/2014/main" id="{53538A88-0E7C-41D4-BD0C-4E11EA3D242F}"/>
              </a:ext>
            </a:extLst>
          </p:cNvPr>
          <p:cNvSpPr/>
          <p:nvPr/>
        </p:nvSpPr>
        <p:spPr bwMode="auto">
          <a:xfrm>
            <a:off x="3670596" y="2961986"/>
            <a:ext cx="1476000" cy="720000"/>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Configuration files</a:t>
            </a:r>
            <a:endParaRPr lang="en-US" sz="1600" dirty="0">
              <a:cs typeface="Courier New" pitchFamily="49" charset="0"/>
            </a:endParaRPr>
          </a:p>
        </p:txBody>
      </p:sp>
      <p:sp>
        <p:nvSpPr>
          <p:cNvPr id="18" name="Snip Single Corner Rectangle 8">
            <a:extLst>
              <a:ext uri="{FF2B5EF4-FFF2-40B4-BE49-F238E27FC236}">
                <a16:creationId xmlns:a16="http://schemas.microsoft.com/office/drawing/2014/main" id="{5A142EC1-B061-49BA-A672-F69A981F596E}"/>
              </a:ext>
            </a:extLst>
          </p:cNvPr>
          <p:cNvSpPr/>
          <p:nvPr/>
        </p:nvSpPr>
        <p:spPr bwMode="auto">
          <a:xfrm>
            <a:off x="5356750" y="2961986"/>
            <a:ext cx="1476000" cy="720000"/>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Source code/</a:t>
            </a:r>
          </a:p>
          <a:p>
            <a:pPr algn="ctr">
              <a:defRPr/>
            </a:pPr>
            <a:r>
              <a:rPr lang="en-US" sz="1600" dirty="0">
                <a:cs typeface="Courier New" pitchFamily="49" charset="0"/>
              </a:rPr>
              <a:t>libraries</a:t>
            </a:r>
          </a:p>
        </p:txBody>
      </p:sp>
      <p:sp>
        <p:nvSpPr>
          <p:cNvPr id="20" name="Snip Single Corner Rectangle 8">
            <a:extLst>
              <a:ext uri="{FF2B5EF4-FFF2-40B4-BE49-F238E27FC236}">
                <a16:creationId xmlns:a16="http://schemas.microsoft.com/office/drawing/2014/main" id="{DCFD4EB3-5388-4322-8709-1DBD76AFA92A}"/>
              </a:ext>
            </a:extLst>
          </p:cNvPr>
          <p:cNvSpPr/>
          <p:nvPr/>
        </p:nvSpPr>
        <p:spPr bwMode="auto">
          <a:xfrm>
            <a:off x="7042904" y="2961986"/>
            <a:ext cx="1476000" cy="720000"/>
          </a:xfrm>
          <a:prstGeom prst="snip1Rect">
            <a:avLst/>
          </a:prstGeom>
          <a:solidFill>
            <a:schemeClr val="bg1"/>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Documentation</a:t>
            </a:r>
            <a:endParaRPr lang="en-US" sz="1600" dirty="0">
              <a:cs typeface="Courier New" pitchFamily="49" charset="0"/>
            </a:endParaRPr>
          </a:p>
        </p:txBody>
      </p:sp>
      <p:sp>
        <p:nvSpPr>
          <p:cNvPr id="21" name="Snip Single Corner Rectangle 8">
            <a:extLst>
              <a:ext uri="{FF2B5EF4-FFF2-40B4-BE49-F238E27FC236}">
                <a16:creationId xmlns:a16="http://schemas.microsoft.com/office/drawing/2014/main" id="{F5DDC57A-FFB2-4A92-816D-C05176D451E2}"/>
              </a:ext>
            </a:extLst>
          </p:cNvPr>
          <p:cNvSpPr/>
          <p:nvPr/>
        </p:nvSpPr>
        <p:spPr bwMode="auto">
          <a:xfrm>
            <a:off x="8683511" y="2961986"/>
            <a:ext cx="1476000" cy="720000"/>
          </a:xfrm>
          <a:prstGeom prst="snip1Rect">
            <a:avLst/>
          </a:prstGeom>
          <a:solidFill>
            <a:schemeClr val="bg1"/>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Debug view</a:t>
            </a:r>
          </a:p>
          <a:p>
            <a:pPr algn="ctr">
              <a:defRPr/>
            </a:pPr>
            <a:r>
              <a:rPr lang="en-US" sz="1600" dirty="0">
                <a:cs typeface="Courier New" pitchFamily="49" charset="0"/>
              </a:rPr>
              <a:t>description</a:t>
            </a:r>
          </a:p>
        </p:txBody>
      </p:sp>
      <p:cxnSp>
        <p:nvCxnSpPr>
          <p:cNvPr id="29" name="Straight Arrow Connector 28">
            <a:extLst>
              <a:ext uri="{FF2B5EF4-FFF2-40B4-BE49-F238E27FC236}">
                <a16:creationId xmlns:a16="http://schemas.microsoft.com/office/drawing/2014/main" id="{99FE6B62-C258-42CB-BF19-869B9120DCFE}"/>
              </a:ext>
            </a:extLst>
          </p:cNvPr>
          <p:cNvCxnSpPr>
            <a:cxnSpLocks/>
          </p:cNvCxnSpPr>
          <p:nvPr/>
        </p:nvCxnSpPr>
        <p:spPr>
          <a:xfrm flipH="1" flipV="1">
            <a:off x="6096000" y="1106905"/>
            <a:ext cx="796" cy="889070"/>
          </a:xfrm>
          <a:prstGeom prst="straightConnector1">
            <a:avLst/>
          </a:prstGeom>
          <a:ln w="4762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5CC9BA5B-C2B8-4C32-B34C-DE3D59A6C1A1}"/>
              </a:ext>
            </a:extLst>
          </p:cNvPr>
          <p:cNvSpPr txBox="1"/>
          <p:nvPr/>
        </p:nvSpPr>
        <p:spPr>
          <a:xfrm>
            <a:off x="6221143" y="4005986"/>
            <a:ext cx="4212641" cy="443198"/>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600" kern="1200" dirty="0">
                <a:solidFill>
                  <a:schemeClr val="tx2"/>
                </a:solidFill>
                <a:latin typeface="+mn-lt"/>
                <a:ea typeface="+mn-ea"/>
                <a:cs typeface="+mn-cs"/>
              </a:rPr>
              <a:t>Interfaces to </a:t>
            </a:r>
            <a:r>
              <a:rPr lang="en-US" sz="1600" dirty="0">
                <a:solidFill>
                  <a:schemeClr val="tx2"/>
                </a:solidFill>
                <a:latin typeface="+mn-lt"/>
                <a:ea typeface="+mn-ea"/>
              </a:rPr>
              <a:t>device peripherals or </a:t>
            </a:r>
            <a:br>
              <a:rPr lang="en-US" sz="1600" dirty="0">
                <a:solidFill>
                  <a:schemeClr val="tx2"/>
                </a:solidFill>
                <a:latin typeface="+mn-lt"/>
                <a:ea typeface="+mn-ea"/>
              </a:rPr>
            </a:br>
            <a:r>
              <a:rPr lang="en-US" sz="1600" kern="1200" dirty="0">
                <a:solidFill>
                  <a:schemeClr val="tx2"/>
                </a:solidFill>
                <a:latin typeface="+mn-lt"/>
                <a:ea typeface="+mn-ea"/>
                <a:cs typeface="+mn-cs"/>
              </a:rPr>
              <a:t>other software components</a:t>
            </a:r>
          </a:p>
        </p:txBody>
      </p:sp>
      <p:sp>
        <p:nvSpPr>
          <p:cNvPr id="15" name="TextBox 14">
            <a:extLst>
              <a:ext uri="{FF2B5EF4-FFF2-40B4-BE49-F238E27FC236}">
                <a16:creationId xmlns:a16="http://schemas.microsoft.com/office/drawing/2014/main" id="{52789B9A-EEA4-4577-8CE4-BC9DE5A4D2CE}"/>
              </a:ext>
            </a:extLst>
          </p:cNvPr>
          <p:cNvSpPr txBox="1"/>
          <p:nvPr/>
        </p:nvSpPr>
        <p:spPr>
          <a:xfrm>
            <a:off x="6265351" y="1182501"/>
            <a:ext cx="4168434" cy="443198"/>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600" kern="1200" dirty="0">
                <a:solidFill>
                  <a:schemeClr val="tx2"/>
                </a:solidFill>
                <a:latin typeface="+mn-lt"/>
                <a:ea typeface="+mn-ea"/>
                <a:cs typeface="+mn-cs"/>
              </a:rPr>
              <a:t>Interfaces to </a:t>
            </a:r>
            <a:r>
              <a:rPr lang="en-US" sz="1600" dirty="0">
                <a:solidFill>
                  <a:schemeClr val="tx2"/>
                </a:solidFill>
                <a:latin typeface="+mn-lt"/>
                <a:ea typeface="+mn-ea"/>
              </a:rPr>
              <a:t>user application or </a:t>
            </a:r>
            <a:br>
              <a:rPr lang="en-US" sz="1600" dirty="0">
                <a:solidFill>
                  <a:schemeClr val="tx2"/>
                </a:solidFill>
                <a:latin typeface="+mn-lt"/>
                <a:ea typeface="+mn-ea"/>
              </a:rPr>
            </a:br>
            <a:r>
              <a:rPr lang="en-US" sz="1600" kern="1200" dirty="0">
                <a:solidFill>
                  <a:schemeClr val="tx2"/>
                </a:solidFill>
                <a:latin typeface="+mn-lt"/>
                <a:ea typeface="+mn-ea"/>
                <a:cs typeface="+mn-cs"/>
              </a:rPr>
              <a:t>other software components</a:t>
            </a:r>
          </a:p>
        </p:txBody>
      </p:sp>
      <p:cxnSp>
        <p:nvCxnSpPr>
          <p:cNvPr id="16" name="Straight Arrow Connector 15">
            <a:extLst>
              <a:ext uri="{FF2B5EF4-FFF2-40B4-BE49-F238E27FC236}">
                <a16:creationId xmlns:a16="http://schemas.microsoft.com/office/drawing/2014/main" id="{F6F5C04B-479F-46EF-B7CC-D74FC864C4B1}"/>
              </a:ext>
            </a:extLst>
          </p:cNvPr>
          <p:cNvCxnSpPr>
            <a:cxnSpLocks/>
          </p:cNvCxnSpPr>
          <p:nvPr/>
        </p:nvCxnSpPr>
        <p:spPr>
          <a:xfrm flipV="1">
            <a:off x="6097604" y="3689290"/>
            <a:ext cx="0" cy="858598"/>
          </a:xfrm>
          <a:prstGeom prst="straightConnector1">
            <a:avLst/>
          </a:prstGeom>
          <a:ln w="4762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586956E-DA8E-4EB2-7939-119FDE3E18B4}"/>
              </a:ext>
            </a:extLst>
          </p:cNvPr>
          <p:cNvSpPr txBox="1"/>
          <p:nvPr/>
        </p:nvSpPr>
        <p:spPr>
          <a:xfrm>
            <a:off x="2639585" y="1227764"/>
            <a:ext cx="3287860" cy="290849"/>
          </a:xfrm>
          <a:prstGeom prst="rect">
            <a:avLst/>
          </a:prstGeom>
          <a:noFill/>
        </p:spPr>
        <p:txBody>
          <a:bodyPr wrap="square" lIns="0" tIns="0" rIns="0" bIns="0" rtlCol="0">
            <a:spAutoFit/>
          </a:bodyPr>
          <a:lstStyle/>
          <a:p>
            <a:pPr lvl="1" algn="r">
              <a:lnSpc>
                <a:spcPct val="90000"/>
              </a:lnSpc>
              <a:spcAft>
                <a:spcPts val="600"/>
              </a:spcAft>
            </a:pPr>
            <a:r>
              <a:rPr lang="en-US" sz="2100" b="1" dirty="0">
                <a:solidFill>
                  <a:schemeClr val="accent1"/>
                </a:solidFill>
              </a:rPr>
              <a:t>Provided Interfaces</a:t>
            </a:r>
            <a:endParaRPr lang="en-US" sz="2100" b="1" kern="1200" dirty="0">
              <a:solidFill>
                <a:schemeClr val="accent1"/>
              </a:solidFill>
              <a:latin typeface="+mn-lt"/>
              <a:ea typeface="+mn-ea"/>
              <a:cs typeface="+mn-cs"/>
            </a:endParaRPr>
          </a:p>
        </p:txBody>
      </p:sp>
      <p:sp>
        <p:nvSpPr>
          <p:cNvPr id="6" name="TextBox 5">
            <a:extLst>
              <a:ext uri="{FF2B5EF4-FFF2-40B4-BE49-F238E27FC236}">
                <a16:creationId xmlns:a16="http://schemas.microsoft.com/office/drawing/2014/main" id="{2EC63E38-7100-7C72-9F1A-13B737AE2B78}"/>
              </a:ext>
            </a:extLst>
          </p:cNvPr>
          <p:cNvSpPr txBox="1"/>
          <p:nvPr/>
        </p:nvSpPr>
        <p:spPr>
          <a:xfrm>
            <a:off x="2647102" y="4045167"/>
            <a:ext cx="3287860" cy="290849"/>
          </a:xfrm>
          <a:prstGeom prst="rect">
            <a:avLst/>
          </a:prstGeom>
          <a:noFill/>
        </p:spPr>
        <p:txBody>
          <a:bodyPr wrap="square" lIns="0" tIns="0" rIns="0" bIns="0" rtlCol="0">
            <a:spAutoFit/>
          </a:bodyPr>
          <a:lstStyle/>
          <a:p>
            <a:pPr lvl="1" algn="r">
              <a:lnSpc>
                <a:spcPct val="90000"/>
              </a:lnSpc>
              <a:spcAft>
                <a:spcPts val="600"/>
              </a:spcAft>
            </a:pPr>
            <a:r>
              <a:rPr lang="en-US" sz="2100" b="1" dirty="0">
                <a:solidFill>
                  <a:schemeClr val="accent1"/>
                </a:solidFill>
              </a:rPr>
              <a:t>Required Interfaces</a:t>
            </a:r>
            <a:endParaRPr lang="en-US" sz="2100" b="1" kern="1200" dirty="0">
              <a:solidFill>
                <a:schemeClr val="accent1"/>
              </a:solidFill>
              <a:latin typeface="+mn-lt"/>
              <a:ea typeface="+mn-ea"/>
              <a:cs typeface="+mn-cs"/>
            </a:endParaRPr>
          </a:p>
        </p:txBody>
      </p:sp>
    </p:spTree>
    <p:extLst>
      <p:ext uri="{BB962C8B-B14F-4D97-AF65-F5344CB8AC3E}">
        <p14:creationId xmlns:p14="http://schemas.microsoft.com/office/powerpoint/2010/main" val="38474516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3C57F54-5520-0C46-30FF-B6AB07125A9A}"/>
              </a:ext>
            </a:extLst>
          </p:cNvPr>
          <p:cNvSpPr/>
          <p:nvPr/>
        </p:nvSpPr>
        <p:spPr>
          <a:xfrm>
            <a:off x="578565" y="3471223"/>
            <a:ext cx="4212641" cy="2264760"/>
          </a:xfrm>
          <a:prstGeom prst="rect">
            <a:avLst/>
          </a:prstGeom>
          <a:solidFill>
            <a:srgbClr val="7D868C"/>
          </a:solidFill>
          <a:ln w="3810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t" anchorCtr="0"/>
          <a:lstStyle/>
          <a:p>
            <a:r>
              <a:rPr lang="en-US" sz="2000" dirty="0">
                <a:solidFill>
                  <a:schemeClr val="bg1"/>
                </a:solidFill>
              </a:rPr>
              <a:t>- component: &lt;2&gt;</a:t>
            </a:r>
          </a:p>
        </p:txBody>
      </p:sp>
      <p:sp>
        <p:nvSpPr>
          <p:cNvPr id="13" name="Snip Single Corner Rectangle 8">
            <a:extLst>
              <a:ext uri="{FF2B5EF4-FFF2-40B4-BE49-F238E27FC236}">
                <a16:creationId xmlns:a16="http://schemas.microsoft.com/office/drawing/2014/main" id="{D533CA30-2042-C7D8-212D-3AB1F3A4F097}"/>
              </a:ext>
            </a:extLst>
          </p:cNvPr>
          <p:cNvSpPr/>
          <p:nvPr/>
        </p:nvSpPr>
        <p:spPr bwMode="auto">
          <a:xfrm>
            <a:off x="3026909" y="3795223"/>
            <a:ext cx="1476000" cy="720000"/>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API header</a:t>
            </a:r>
            <a:endParaRPr lang="en-US" sz="1600" dirty="0">
              <a:cs typeface="Courier New" pitchFamily="49" charset="0"/>
            </a:endParaRPr>
          </a:p>
        </p:txBody>
      </p:sp>
      <p:sp>
        <p:nvSpPr>
          <p:cNvPr id="19" name="Snip Single Corner Rectangle 8">
            <a:extLst>
              <a:ext uri="{FF2B5EF4-FFF2-40B4-BE49-F238E27FC236}">
                <a16:creationId xmlns:a16="http://schemas.microsoft.com/office/drawing/2014/main" id="{7108B78A-925B-12F1-A023-98C895057F8C}"/>
              </a:ext>
            </a:extLst>
          </p:cNvPr>
          <p:cNvSpPr/>
          <p:nvPr/>
        </p:nvSpPr>
        <p:spPr bwMode="auto">
          <a:xfrm>
            <a:off x="1340755" y="4761235"/>
            <a:ext cx="1476000" cy="720000"/>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Configuration files</a:t>
            </a:r>
            <a:endParaRPr lang="en-US" sz="1600" dirty="0">
              <a:cs typeface="Courier New" pitchFamily="49" charset="0"/>
            </a:endParaRPr>
          </a:p>
        </p:txBody>
      </p:sp>
      <p:sp>
        <p:nvSpPr>
          <p:cNvPr id="22" name="Snip Single Corner Rectangle 8">
            <a:extLst>
              <a:ext uri="{FF2B5EF4-FFF2-40B4-BE49-F238E27FC236}">
                <a16:creationId xmlns:a16="http://schemas.microsoft.com/office/drawing/2014/main" id="{876E5F08-CC58-2C82-B731-8647B050545A}"/>
              </a:ext>
            </a:extLst>
          </p:cNvPr>
          <p:cNvSpPr/>
          <p:nvPr/>
        </p:nvSpPr>
        <p:spPr bwMode="auto">
          <a:xfrm>
            <a:off x="3026909" y="4761235"/>
            <a:ext cx="1476000" cy="720000"/>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Source code/</a:t>
            </a:r>
          </a:p>
          <a:p>
            <a:pPr algn="ctr">
              <a:defRPr/>
            </a:pPr>
            <a:r>
              <a:rPr lang="en-US" sz="1600" dirty="0">
                <a:cs typeface="Courier New" pitchFamily="49" charset="0"/>
              </a:rPr>
              <a:t>libraries</a:t>
            </a:r>
          </a:p>
        </p:txBody>
      </p:sp>
      <p:sp>
        <p:nvSpPr>
          <p:cNvPr id="4" name="Rectangle 3">
            <a:extLst>
              <a:ext uri="{FF2B5EF4-FFF2-40B4-BE49-F238E27FC236}">
                <a16:creationId xmlns:a16="http://schemas.microsoft.com/office/drawing/2014/main" id="{D3022A3B-8B4C-4B9B-95D2-86AE594E107B}"/>
              </a:ext>
            </a:extLst>
          </p:cNvPr>
          <p:cNvSpPr/>
          <p:nvPr/>
        </p:nvSpPr>
        <p:spPr>
          <a:xfrm>
            <a:off x="578565" y="903627"/>
            <a:ext cx="4212641" cy="2264760"/>
          </a:xfrm>
          <a:prstGeom prst="rect">
            <a:avLst/>
          </a:prstGeom>
          <a:solidFill>
            <a:srgbClr val="7D868C"/>
          </a:solidFill>
          <a:ln w="3810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t" anchorCtr="0"/>
          <a:lstStyle/>
          <a:p>
            <a:r>
              <a:rPr lang="en-US" sz="2000" dirty="0">
                <a:solidFill>
                  <a:schemeClr val="bg1"/>
                </a:solidFill>
              </a:rPr>
              <a:t>- component: &lt;1&gt;</a:t>
            </a:r>
            <a:br>
              <a:rPr lang="en-US" sz="2000" dirty="0">
                <a:solidFill>
                  <a:schemeClr val="bg1"/>
                </a:solidFill>
              </a:rPr>
            </a:br>
            <a:r>
              <a:rPr lang="en-US" sz="2000" dirty="0">
                <a:solidFill>
                  <a:schemeClr val="bg1"/>
                </a:solidFill>
              </a:rPr>
              <a:t>   </a:t>
            </a:r>
          </a:p>
        </p:txBody>
      </p:sp>
      <p:sp>
        <p:nvSpPr>
          <p:cNvPr id="7" name="Snip Single Corner Rectangle 8">
            <a:extLst>
              <a:ext uri="{FF2B5EF4-FFF2-40B4-BE49-F238E27FC236}">
                <a16:creationId xmlns:a16="http://schemas.microsoft.com/office/drawing/2014/main" id="{F3ED5520-C3E2-4668-8F67-A11D69F828A3}"/>
              </a:ext>
            </a:extLst>
          </p:cNvPr>
          <p:cNvSpPr/>
          <p:nvPr/>
        </p:nvSpPr>
        <p:spPr bwMode="auto">
          <a:xfrm>
            <a:off x="3026909" y="1227627"/>
            <a:ext cx="1476000" cy="720000"/>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API header</a:t>
            </a:r>
            <a:endParaRPr lang="en-US" sz="1600" dirty="0">
              <a:cs typeface="Courier New" pitchFamily="49" charset="0"/>
            </a:endParaRPr>
          </a:p>
        </p:txBody>
      </p:sp>
      <p:sp>
        <p:nvSpPr>
          <p:cNvPr id="17" name="Snip Single Corner Rectangle 8">
            <a:extLst>
              <a:ext uri="{FF2B5EF4-FFF2-40B4-BE49-F238E27FC236}">
                <a16:creationId xmlns:a16="http://schemas.microsoft.com/office/drawing/2014/main" id="{53538A88-0E7C-41D4-BD0C-4E11EA3D242F}"/>
              </a:ext>
            </a:extLst>
          </p:cNvPr>
          <p:cNvSpPr/>
          <p:nvPr/>
        </p:nvSpPr>
        <p:spPr bwMode="auto">
          <a:xfrm>
            <a:off x="1340755" y="2193639"/>
            <a:ext cx="1476000" cy="720000"/>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Configuration files</a:t>
            </a:r>
            <a:endParaRPr lang="en-US" sz="1600" dirty="0">
              <a:cs typeface="Courier New" pitchFamily="49" charset="0"/>
            </a:endParaRPr>
          </a:p>
        </p:txBody>
      </p:sp>
      <p:sp>
        <p:nvSpPr>
          <p:cNvPr id="18" name="Snip Single Corner Rectangle 8">
            <a:extLst>
              <a:ext uri="{FF2B5EF4-FFF2-40B4-BE49-F238E27FC236}">
                <a16:creationId xmlns:a16="http://schemas.microsoft.com/office/drawing/2014/main" id="{5A142EC1-B061-49BA-A672-F69A981F596E}"/>
              </a:ext>
            </a:extLst>
          </p:cNvPr>
          <p:cNvSpPr/>
          <p:nvPr/>
        </p:nvSpPr>
        <p:spPr bwMode="auto">
          <a:xfrm>
            <a:off x="3026909" y="2193639"/>
            <a:ext cx="1476000" cy="720000"/>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Source code/</a:t>
            </a:r>
          </a:p>
          <a:p>
            <a:pPr algn="ctr">
              <a:defRPr/>
            </a:pPr>
            <a:r>
              <a:rPr lang="en-US" sz="1600" dirty="0">
                <a:cs typeface="Courier New" pitchFamily="49" charset="0"/>
              </a:rPr>
              <a:t>libraries</a:t>
            </a:r>
          </a:p>
        </p:txBody>
      </p:sp>
      <p:cxnSp>
        <p:nvCxnSpPr>
          <p:cNvPr id="29" name="Straight Arrow Connector 28">
            <a:extLst>
              <a:ext uri="{FF2B5EF4-FFF2-40B4-BE49-F238E27FC236}">
                <a16:creationId xmlns:a16="http://schemas.microsoft.com/office/drawing/2014/main" id="{99FE6B62-C258-42CB-BF19-869B9120DCFE}"/>
              </a:ext>
            </a:extLst>
          </p:cNvPr>
          <p:cNvCxnSpPr>
            <a:cxnSpLocks/>
          </p:cNvCxnSpPr>
          <p:nvPr/>
        </p:nvCxnSpPr>
        <p:spPr>
          <a:xfrm flipH="1" flipV="1">
            <a:off x="3766159" y="338558"/>
            <a:ext cx="796" cy="889070"/>
          </a:xfrm>
          <a:prstGeom prst="straightConnector1">
            <a:avLst/>
          </a:prstGeom>
          <a:ln w="4762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6F5C04B-479F-46EF-B7CC-D74FC864C4B1}"/>
              </a:ext>
            </a:extLst>
          </p:cNvPr>
          <p:cNvCxnSpPr>
            <a:cxnSpLocks/>
          </p:cNvCxnSpPr>
          <p:nvPr/>
        </p:nvCxnSpPr>
        <p:spPr>
          <a:xfrm flipV="1">
            <a:off x="3767763" y="2920943"/>
            <a:ext cx="0" cy="858598"/>
          </a:xfrm>
          <a:prstGeom prst="straightConnector1">
            <a:avLst/>
          </a:prstGeom>
          <a:ln w="4762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FD0C2AC1-0FC3-5226-AB8C-3F44325A8EEE}"/>
              </a:ext>
            </a:extLst>
          </p:cNvPr>
          <p:cNvSpPr/>
          <p:nvPr/>
        </p:nvSpPr>
        <p:spPr>
          <a:xfrm>
            <a:off x="5294475" y="903627"/>
            <a:ext cx="5892006" cy="2264760"/>
          </a:xfrm>
          <a:prstGeom prst="rect">
            <a:avLst/>
          </a:prstGeom>
          <a:solidFill>
            <a:srgbClr val="7D868C"/>
          </a:solidFill>
          <a:ln w="3810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t" anchorCtr="0"/>
          <a:lstStyle/>
          <a:p>
            <a:r>
              <a:rPr lang="en-US" sz="2000" dirty="0">
                <a:solidFill>
                  <a:schemeClr val="bg1"/>
                </a:solidFill>
              </a:rPr>
              <a:t>- component: &lt;1&gt;</a:t>
            </a:r>
          </a:p>
        </p:txBody>
      </p:sp>
      <p:sp>
        <p:nvSpPr>
          <p:cNvPr id="31" name="Snip Single Corner Rectangle 8">
            <a:extLst>
              <a:ext uri="{FF2B5EF4-FFF2-40B4-BE49-F238E27FC236}">
                <a16:creationId xmlns:a16="http://schemas.microsoft.com/office/drawing/2014/main" id="{3862A851-D2E3-5C0E-5C20-D398A4502660}"/>
              </a:ext>
            </a:extLst>
          </p:cNvPr>
          <p:cNvSpPr/>
          <p:nvPr/>
        </p:nvSpPr>
        <p:spPr bwMode="auto">
          <a:xfrm>
            <a:off x="7742819" y="1227627"/>
            <a:ext cx="1476000" cy="720000"/>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API headers</a:t>
            </a:r>
            <a:endParaRPr lang="en-US" sz="1600" dirty="0">
              <a:cs typeface="Courier New" pitchFamily="49" charset="0"/>
            </a:endParaRPr>
          </a:p>
        </p:txBody>
      </p:sp>
      <p:sp>
        <p:nvSpPr>
          <p:cNvPr id="32" name="Snip Single Corner Rectangle 8">
            <a:extLst>
              <a:ext uri="{FF2B5EF4-FFF2-40B4-BE49-F238E27FC236}">
                <a16:creationId xmlns:a16="http://schemas.microsoft.com/office/drawing/2014/main" id="{69B0EA1C-CB4C-712A-77DE-FD5AF842E181}"/>
              </a:ext>
            </a:extLst>
          </p:cNvPr>
          <p:cNvSpPr/>
          <p:nvPr/>
        </p:nvSpPr>
        <p:spPr bwMode="auto">
          <a:xfrm>
            <a:off x="6056665" y="2193639"/>
            <a:ext cx="1476000" cy="720000"/>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Configuration files</a:t>
            </a:r>
            <a:endParaRPr lang="en-US" sz="1600" dirty="0">
              <a:cs typeface="Courier New" pitchFamily="49" charset="0"/>
            </a:endParaRPr>
          </a:p>
        </p:txBody>
      </p:sp>
      <p:sp>
        <p:nvSpPr>
          <p:cNvPr id="33" name="Snip Single Corner Rectangle 8">
            <a:extLst>
              <a:ext uri="{FF2B5EF4-FFF2-40B4-BE49-F238E27FC236}">
                <a16:creationId xmlns:a16="http://schemas.microsoft.com/office/drawing/2014/main" id="{D4DDA4C7-78A1-645D-E5B8-74E384451AF4}"/>
              </a:ext>
            </a:extLst>
          </p:cNvPr>
          <p:cNvSpPr/>
          <p:nvPr/>
        </p:nvSpPr>
        <p:spPr bwMode="auto">
          <a:xfrm>
            <a:off x="7742819" y="2193639"/>
            <a:ext cx="1476000" cy="720000"/>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Source code/</a:t>
            </a:r>
          </a:p>
          <a:p>
            <a:pPr algn="ctr">
              <a:defRPr/>
            </a:pPr>
            <a:r>
              <a:rPr lang="en-US" sz="1600" dirty="0">
                <a:cs typeface="Courier New" pitchFamily="49" charset="0"/>
              </a:rPr>
              <a:t>libraries</a:t>
            </a:r>
          </a:p>
        </p:txBody>
      </p:sp>
      <p:cxnSp>
        <p:nvCxnSpPr>
          <p:cNvPr id="35" name="Straight Arrow Connector 34">
            <a:extLst>
              <a:ext uri="{FF2B5EF4-FFF2-40B4-BE49-F238E27FC236}">
                <a16:creationId xmlns:a16="http://schemas.microsoft.com/office/drawing/2014/main" id="{D678404C-1266-E007-A646-75CEDE534957}"/>
              </a:ext>
            </a:extLst>
          </p:cNvPr>
          <p:cNvCxnSpPr>
            <a:cxnSpLocks/>
          </p:cNvCxnSpPr>
          <p:nvPr/>
        </p:nvCxnSpPr>
        <p:spPr>
          <a:xfrm flipH="1" flipV="1">
            <a:off x="8482069" y="338558"/>
            <a:ext cx="796" cy="889070"/>
          </a:xfrm>
          <a:prstGeom prst="straightConnector1">
            <a:avLst/>
          </a:prstGeom>
          <a:ln w="4762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469E185A-6603-602D-9F60-6346239D73C9}"/>
              </a:ext>
            </a:extLst>
          </p:cNvPr>
          <p:cNvSpPr/>
          <p:nvPr/>
        </p:nvSpPr>
        <p:spPr>
          <a:xfrm>
            <a:off x="11923485" y="9467872"/>
            <a:ext cx="1620571" cy="1138626"/>
          </a:xfrm>
          <a:prstGeom prst="rect">
            <a:avLst/>
          </a:prstGeom>
          <a:solidFill>
            <a:srgbClr val="7D868C"/>
          </a:solidFill>
          <a:ln w="3810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b" anchorCtr="0"/>
          <a:lstStyle/>
          <a:p>
            <a:r>
              <a:rPr lang="en-US" sz="1400" dirty="0">
                <a:solidFill>
                  <a:schemeClr val="bg1"/>
                </a:solidFill>
              </a:rPr>
              <a:t>Implementation #3</a:t>
            </a:r>
            <a:endParaRPr lang="en-GB" sz="1400" dirty="0">
              <a:solidFill>
                <a:schemeClr val="bg1"/>
              </a:solidFill>
            </a:endParaRPr>
          </a:p>
        </p:txBody>
      </p:sp>
      <p:sp>
        <p:nvSpPr>
          <p:cNvPr id="41" name="Rectangle 40">
            <a:extLst>
              <a:ext uri="{FF2B5EF4-FFF2-40B4-BE49-F238E27FC236}">
                <a16:creationId xmlns:a16="http://schemas.microsoft.com/office/drawing/2014/main" id="{4F64136A-83E5-78D4-8350-23CF4A701920}"/>
              </a:ext>
            </a:extLst>
          </p:cNvPr>
          <p:cNvSpPr/>
          <p:nvPr/>
        </p:nvSpPr>
        <p:spPr>
          <a:xfrm>
            <a:off x="10073135" y="9469997"/>
            <a:ext cx="1620571" cy="1138626"/>
          </a:xfrm>
          <a:prstGeom prst="rect">
            <a:avLst/>
          </a:prstGeom>
          <a:solidFill>
            <a:srgbClr val="7D868C"/>
          </a:solidFill>
          <a:ln w="3810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b" anchorCtr="0"/>
          <a:lstStyle/>
          <a:p>
            <a:r>
              <a:rPr lang="en-US" sz="1400" dirty="0">
                <a:solidFill>
                  <a:schemeClr val="bg1"/>
                </a:solidFill>
              </a:rPr>
              <a:t>Implementation #2</a:t>
            </a:r>
            <a:endParaRPr lang="en-GB" sz="1400" dirty="0">
              <a:solidFill>
                <a:schemeClr val="bg1"/>
              </a:solidFill>
            </a:endParaRPr>
          </a:p>
        </p:txBody>
      </p:sp>
      <p:sp>
        <p:nvSpPr>
          <p:cNvPr id="49" name="Rectangle 48">
            <a:extLst>
              <a:ext uri="{FF2B5EF4-FFF2-40B4-BE49-F238E27FC236}">
                <a16:creationId xmlns:a16="http://schemas.microsoft.com/office/drawing/2014/main" id="{C291642E-40C3-2452-5CD8-8C8DA0314586}"/>
              </a:ext>
            </a:extLst>
          </p:cNvPr>
          <p:cNvSpPr/>
          <p:nvPr/>
        </p:nvSpPr>
        <p:spPr>
          <a:xfrm>
            <a:off x="8248872" y="9467872"/>
            <a:ext cx="1620571" cy="1138626"/>
          </a:xfrm>
          <a:prstGeom prst="rect">
            <a:avLst/>
          </a:prstGeom>
          <a:solidFill>
            <a:srgbClr val="7D868C"/>
          </a:solidFill>
          <a:ln w="3810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b" anchorCtr="0"/>
          <a:lstStyle/>
          <a:p>
            <a:r>
              <a:rPr lang="en-US" sz="1400" dirty="0">
                <a:solidFill>
                  <a:schemeClr val="bg1"/>
                </a:solidFill>
              </a:rPr>
              <a:t>Implementation #1</a:t>
            </a:r>
            <a:endParaRPr lang="en-GB" sz="1400" dirty="0">
              <a:solidFill>
                <a:schemeClr val="bg1"/>
              </a:solidFill>
            </a:endParaRPr>
          </a:p>
        </p:txBody>
      </p:sp>
      <p:sp>
        <p:nvSpPr>
          <p:cNvPr id="50" name="Snip Single Corner Rectangle 8">
            <a:extLst>
              <a:ext uri="{FF2B5EF4-FFF2-40B4-BE49-F238E27FC236}">
                <a16:creationId xmlns:a16="http://schemas.microsoft.com/office/drawing/2014/main" id="{ADB656A9-0595-6EE7-4321-40946022C788}"/>
              </a:ext>
            </a:extLst>
          </p:cNvPr>
          <p:cNvSpPr/>
          <p:nvPr/>
        </p:nvSpPr>
        <p:spPr bwMode="auto">
          <a:xfrm>
            <a:off x="8401347" y="9693637"/>
            <a:ext cx="1314187" cy="611273"/>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Source code/</a:t>
            </a:r>
          </a:p>
          <a:p>
            <a:pPr algn="ctr">
              <a:defRPr/>
            </a:pPr>
            <a:r>
              <a:rPr lang="en-US" sz="1600" dirty="0">
                <a:cs typeface="Courier New" pitchFamily="49" charset="0"/>
              </a:rPr>
              <a:t>libraries</a:t>
            </a:r>
          </a:p>
        </p:txBody>
      </p:sp>
      <p:cxnSp>
        <p:nvCxnSpPr>
          <p:cNvPr id="51" name="Straight Arrow Connector 50">
            <a:extLst>
              <a:ext uri="{FF2B5EF4-FFF2-40B4-BE49-F238E27FC236}">
                <a16:creationId xmlns:a16="http://schemas.microsoft.com/office/drawing/2014/main" id="{D4A4F237-2DA1-4FF7-0906-8DA13FD1E60F}"/>
              </a:ext>
            </a:extLst>
          </p:cNvPr>
          <p:cNvCxnSpPr>
            <a:cxnSpLocks/>
            <a:stCxn id="50" idx="3"/>
          </p:cNvCxnSpPr>
          <p:nvPr/>
        </p:nvCxnSpPr>
        <p:spPr>
          <a:xfrm flipV="1">
            <a:off x="9058441" y="8883648"/>
            <a:ext cx="1848627" cy="809989"/>
          </a:xfrm>
          <a:prstGeom prst="straightConnector1">
            <a:avLst/>
          </a:prstGeom>
          <a:ln w="4762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Snip Single Corner Rectangle 8">
            <a:extLst>
              <a:ext uri="{FF2B5EF4-FFF2-40B4-BE49-F238E27FC236}">
                <a16:creationId xmlns:a16="http://schemas.microsoft.com/office/drawing/2014/main" id="{D2576B3C-D347-AA7A-3E26-EC7A915D4010}"/>
              </a:ext>
            </a:extLst>
          </p:cNvPr>
          <p:cNvSpPr/>
          <p:nvPr/>
        </p:nvSpPr>
        <p:spPr bwMode="auto">
          <a:xfrm>
            <a:off x="10247075" y="9677754"/>
            <a:ext cx="1314187" cy="611273"/>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Source code/</a:t>
            </a:r>
          </a:p>
          <a:p>
            <a:pPr algn="ctr">
              <a:defRPr/>
            </a:pPr>
            <a:r>
              <a:rPr lang="en-US" sz="1600" dirty="0">
                <a:cs typeface="Courier New" pitchFamily="49" charset="0"/>
              </a:rPr>
              <a:t>libraries</a:t>
            </a:r>
          </a:p>
        </p:txBody>
      </p:sp>
      <p:sp>
        <p:nvSpPr>
          <p:cNvPr id="53" name="Snip Single Corner Rectangle 8">
            <a:extLst>
              <a:ext uri="{FF2B5EF4-FFF2-40B4-BE49-F238E27FC236}">
                <a16:creationId xmlns:a16="http://schemas.microsoft.com/office/drawing/2014/main" id="{C7579DC0-3E69-7B55-EDDB-2A6BD03895AB}"/>
              </a:ext>
            </a:extLst>
          </p:cNvPr>
          <p:cNvSpPr/>
          <p:nvPr/>
        </p:nvSpPr>
        <p:spPr bwMode="auto">
          <a:xfrm>
            <a:off x="12054495" y="9677754"/>
            <a:ext cx="1314187" cy="611273"/>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Source code/</a:t>
            </a:r>
          </a:p>
          <a:p>
            <a:pPr algn="ctr">
              <a:defRPr/>
            </a:pPr>
            <a:r>
              <a:rPr lang="en-US" sz="1600" dirty="0">
                <a:cs typeface="Courier New" pitchFamily="49" charset="0"/>
              </a:rPr>
              <a:t>libraries</a:t>
            </a:r>
          </a:p>
        </p:txBody>
      </p:sp>
      <p:cxnSp>
        <p:nvCxnSpPr>
          <p:cNvPr id="54" name="Straight Arrow Connector 53">
            <a:extLst>
              <a:ext uri="{FF2B5EF4-FFF2-40B4-BE49-F238E27FC236}">
                <a16:creationId xmlns:a16="http://schemas.microsoft.com/office/drawing/2014/main" id="{5C858827-7B00-83AF-EFB9-0751E2E2B90D}"/>
              </a:ext>
            </a:extLst>
          </p:cNvPr>
          <p:cNvCxnSpPr>
            <a:cxnSpLocks/>
            <a:stCxn id="53" idx="3"/>
          </p:cNvCxnSpPr>
          <p:nvPr/>
        </p:nvCxnSpPr>
        <p:spPr>
          <a:xfrm flipH="1" flipV="1">
            <a:off x="10907068" y="8883648"/>
            <a:ext cx="1804521" cy="794106"/>
          </a:xfrm>
          <a:prstGeom prst="straightConnector1">
            <a:avLst/>
          </a:prstGeom>
          <a:ln w="4762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D67E7783-CD8E-0D67-B1E1-B1018D580DBB}"/>
              </a:ext>
            </a:extLst>
          </p:cNvPr>
          <p:cNvCxnSpPr>
            <a:cxnSpLocks/>
            <a:stCxn id="52" idx="3"/>
          </p:cNvCxnSpPr>
          <p:nvPr/>
        </p:nvCxnSpPr>
        <p:spPr>
          <a:xfrm flipV="1">
            <a:off x="10904169" y="8883648"/>
            <a:ext cx="0" cy="794106"/>
          </a:xfrm>
          <a:prstGeom prst="straightConnector1">
            <a:avLst/>
          </a:prstGeom>
          <a:ln w="4762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5A81708B-B29A-5156-D398-B670656AFB55}"/>
              </a:ext>
            </a:extLst>
          </p:cNvPr>
          <p:cNvSpPr/>
          <p:nvPr/>
        </p:nvSpPr>
        <p:spPr>
          <a:xfrm>
            <a:off x="5294475" y="3685463"/>
            <a:ext cx="5892802" cy="824030"/>
          </a:xfrm>
          <a:prstGeom prst="rect">
            <a:avLst/>
          </a:prstGeom>
          <a:solidFill>
            <a:srgbClr val="FFC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2"/>
                </a:solidFill>
              </a:rPr>
              <a:t>Central </a:t>
            </a:r>
            <a:br>
              <a:rPr lang="en-US" dirty="0">
                <a:solidFill>
                  <a:schemeClr val="tx2"/>
                </a:solidFill>
              </a:rPr>
            </a:br>
            <a:r>
              <a:rPr lang="en-US" dirty="0">
                <a:solidFill>
                  <a:schemeClr val="tx2"/>
                </a:solidFill>
              </a:rPr>
              <a:t>API definition</a:t>
            </a:r>
            <a:endParaRPr lang="en-GB" dirty="0">
              <a:solidFill>
                <a:schemeClr val="tx2"/>
              </a:solidFill>
            </a:endParaRPr>
          </a:p>
          <a:p>
            <a:endParaRPr lang="en-GB" dirty="0"/>
          </a:p>
        </p:txBody>
      </p:sp>
      <p:sp>
        <p:nvSpPr>
          <p:cNvPr id="58" name="Snip Single Corner Rectangle 8">
            <a:extLst>
              <a:ext uri="{FF2B5EF4-FFF2-40B4-BE49-F238E27FC236}">
                <a16:creationId xmlns:a16="http://schemas.microsoft.com/office/drawing/2014/main" id="{BF7A7608-41CF-CFF0-FF6E-523E5EC4A323}"/>
              </a:ext>
            </a:extLst>
          </p:cNvPr>
          <p:cNvSpPr/>
          <p:nvPr/>
        </p:nvSpPr>
        <p:spPr bwMode="auto">
          <a:xfrm>
            <a:off x="7785721" y="3786863"/>
            <a:ext cx="1476000" cy="611273"/>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API headers</a:t>
            </a:r>
            <a:br>
              <a:rPr lang="en-US" sz="1600" dirty="0"/>
            </a:br>
            <a:r>
              <a:rPr lang="en-US" sz="1600" dirty="0"/>
              <a:t>(Definition)</a:t>
            </a:r>
            <a:endParaRPr lang="en-US" sz="1600" dirty="0">
              <a:cs typeface="Courier New" pitchFamily="49" charset="0"/>
            </a:endParaRPr>
          </a:p>
        </p:txBody>
      </p:sp>
      <p:sp>
        <p:nvSpPr>
          <p:cNvPr id="59" name="Snip Single Corner Rectangle 8">
            <a:extLst>
              <a:ext uri="{FF2B5EF4-FFF2-40B4-BE49-F238E27FC236}">
                <a16:creationId xmlns:a16="http://schemas.microsoft.com/office/drawing/2014/main" id="{AED171A9-8B82-2336-F0E0-90AF88EFA743}"/>
              </a:ext>
            </a:extLst>
          </p:cNvPr>
          <p:cNvSpPr/>
          <p:nvPr/>
        </p:nvSpPr>
        <p:spPr bwMode="auto">
          <a:xfrm>
            <a:off x="9420387" y="3803710"/>
            <a:ext cx="1476000" cy="611274"/>
          </a:xfrm>
          <a:prstGeom prst="snip1Rect">
            <a:avLst/>
          </a:prstGeom>
          <a:solidFill>
            <a:schemeClr val="bg1"/>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Documentation</a:t>
            </a:r>
            <a:br>
              <a:rPr lang="en-US" sz="1600" dirty="0"/>
            </a:br>
            <a:r>
              <a:rPr lang="en-US" sz="1600" dirty="0"/>
              <a:t>of API</a:t>
            </a:r>
            <a:endParaRPr lang="en-US" sz="1600" dirty="0">
              <a:cs typeface="Courier New" pitchFamily="49" charset="0"/>
            </a:endParaRPr>
          </a:p>
        </p:txBody>
      </p:sp>
      <p:cxnSp>
        <p:nvCxnSpPr>
          <p:cNvPr id="37" name="Straight Arrow Connector 36">
            <a:extLst>
              <a:ext uri="{FF2B5EF4-FFF2-40B4-BE49-F238E27FC236}">
                <a16:creationId xmlns:a16="http://schemas.microsoft.com/office/drawing/2014/main" id="{A9848CDD-2BE4-D67A-A8F6-7138E2A6D6E9}"/>
              </a:ext>
            </a:extLst>
          </p:cNvPr>
          <p:cNvCxnSpPr>
            <a:cxnSpLocks/>
          </p:cNvCxnSpPr>
          <p:nvPr/>
        </p:nvCxnSpPr>
        <p:spPr>
          <a:xfrm flipV="1">
            <a:off x="8483673" y="2920943"/>
            <a:ext cx="0" cy="858598"/>
          </a:xfrm>
          <a:prstGeom prst="straightConnector1">
            <a:avLst/>
          </a:prstGeom>
          <a:ln w="4762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DE17DFD9-DCB8-2F25-5300-47B11195D8D8}"/>
              </a:ext>
            </a:extLst>
          </p:cNvPr>
          <p:cNvSpPr/>
          <p:nvPr/>
        </p:nvSpPr>
        <p:spPr>
          <a:xfrm>
            <a:off x="9566709" y="4989682"/>
            <a:ext cx="1620571" cy="1138626"/>
          </a:xfrm>
          <a:prstGeom prst="rect">
            <a:avLst/>
          </a:prstGeom>
          <a:solidFill>
            <a:srgbClr val="7D868C"/>
          </a:solidFill>
          <a:ln w="3810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b" anchorCtr="0"/>
          <a:lstStyle/>
          <a:p>
            <a:r>
              <a:rPr lang="en-US" sz="1400" dirty="0">
                <a:solidFill>
                  <a:schemeClr val="bg1"/>
                </a:solidFill>
              </a:rPr>
              <a:t>- component: &lt;2.C&gt;</a:t>
            </a:r>
            <a:endParaRPr lang="en-GB" sz="1400" dirty="0">
              <a:solidFill>
                <a:schemeClr val="bg1"/>
              </a:solidFill>
            </a:endParaRPr>
          </a:p>
        </p:txBody>
      </p:sp>
      <p:sp>
        <p:nvSpPr>
          <p:cNvPr id="61" name="Rectangle 60">
            <a:extLst>
              <a:ext uri="{FF2B5EF4-FFF2-40B4-BE49-F238E27FC236}">
                <a16:creationId xmlns:a16="http://schemas.microsoft.com/office/drawing/2014/main" id="{CD86F202-1663-7702-CC17-A3A1C0B93EA7}"/>
              </a:ext>
            </a:extLst>
          </p:cNvPr>
          <p:cNvSpPr/>
          <p:nvPr/>
        </p:nvSpPr>
        <p:spPr>
          <a:xfrm>
            <a:off x="7716359" y="4991807"/>
            <a:ext cx="1620571" cy="1138626"/>
          </a:xfrm>
          <a:prstGeom prst="rect">
            <a:avLst/>
          </a:prstGeom>
          <a:solidFill>
            <a:srgbClr val="7D868C"/>
          </a:solidFill>
          <a:ln w="3810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b" anchorCtr="0"/>
          <a:lstStyle/>
          <a:p>
            <a:r>
              <a:rPr lang="en-US" sz="1400" dirty="0">
                <a:solidFill>
                  <a:schemeClr val="bg1"/>
                </a:solidFill>
              </a:rPr>
              <a:t>- component: &lt;2.B&gt;</a:t>
            </a:r>
            <a:endParaRPr lang="en-GB" sz="1400" dirty="0">
              <a:solidFill>
                <a:schemeClr val="bg1"/>
              </a:solidFill>
            </a:endParaRPr>
          </a:p>
        </p:txBody>
      </p:sp>
      <p:sp>
        <p:nvSpPr>
          <p:cNvPr id="62" name="Rectangle 61">
            <a:extLst>
              <a:ext uri="{FF2B5EF4-FFF2-40B4-BE49-F238E27FC236}">
                <a16:creationId xmlns:a16="http://schemas.microsoft.com/office/drawing/2014/main" id="{E17BD3F9-9566-9FF6-95AF-BF9E3EE77FC2}"/>
              </a:ext>
            </a:extLst>
          </p:cNvPr>
          <p:cNvSpPr/>
          <p:nvPr/>
        </p:nvSpPr>
        <p:spPr>
          <a:xfrm>
            <a:off x="5892096" y="4989682"/>
            <a:ext cx="1620571" cy="1138626"/>
          </a:xfrm>
          <a:prstGeom prst="rect">
            <a:avLst/>
          </a:prstGeom>
          <a:solidFill>
            <a:srgbClr val="7D868C"/>
          </a:solidFill>
          <a:ln w="3810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b" anchorCtr="0"/>
          <a:lstStyle/>
          <a:p>
            <a:r>
              <a:rPr lang="en-US" sz="1400" dirty="0">
                <a:solidFill>
                  <a:schemeClr val="bg1"/>
                </a:solidFill>
              </a:rPr>
              <a:t>- component: &lt;2.A&gt;</a:t>
            </a:r>
            <a:endParaRPr lang="en-GB" sz="1400" dirty="0">
              <a:solidFill>
                <a:schemeClr val="bg1"/>
              </a:solidFill>
            </a:endParaRPr>
          </a:p>
        </p:txBody>
      </p:sp>
      <p:sp>
        <p:nvSpPr>
          <p:cNvPr id="63" name="Snip Single Corner Rectangle 8">
            <a:extLst>
              <a:ext uri="{FF2B5EF4-FFF2-40B4-BE49-F238E27FC236}">
                <a16:creationId xmlns:a16="http://schemas.microsoft.com/office/drawing/2014/main" id="{2F9B440B-4E95-1DCD-4CCA-66510F3CDFAA}"/>
              </a:ext>
            </a:extLst>
          </p:cNvPr>
          <p:cNvSpPr/>
          <p:nvPr/>
        </p:nvSpPr>
        <p:spPr bwMode="auto">
          <a:xfrm>
            <a:off x="6044571" y="5215447"/>
            <a:ext cx="1314187" cy="611273"/>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Source code/</a:t>
            </a:r>
          </a:p>
          <a:p>
            <a:pPr algn="ctr">
              <a:defRPr/>
            </a:pPr>
            <a:r>
              <a:rPr lang="en-US" sz="1600" dirty="0">
                <a:cs typeface="Courier New" pitchFamily="49" charset="0"/>
              </a:rPr>
              <a:t>libraries</a:t>
            </a:r>
          </a:p>
        </p:txBody>
      </p:sp>
      <p:cxnSp>
        <p:nvCxnSpPr>
          <p:cNvPr id="64" name="Straight Arrow Connector 63">
            <a:extLst>
              <a:ext uri="{FF2B5EF4-FFF2-40B4-BE49-F238E27FC236}">
                <a16:creationId xmlns:a16="http://schemas.microsoft.com/office/drawing/2014/main" id="{A5D61B7D-27E0-5BE2-F520-A19C0312F5DE}"/>
              </a:ext>
            </a:extLst>
          </p:cNvPr>
          <p:cNvCxnSpPr>
            <a:cxnSpLocks/>
            <a:stCxn id="63" idx="3"/>
          </p:cNvCxnSpPr>
          <p:nvPr/>
        </p:nvCxnSpPr>
        <p:spPr>
          <a:xfrm flipV="1">
            <a:off x="6701665" y="4405458"/>
            <a:ext cx="1848627" cy="809989"/>
          </a:xfrm>
          <a:prstGeom prst="straightConnector1">
            <a:avLst/>
          </a:prstGeom>
          <a:ln w="4762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5" name="Snip Single Corner Rectangle 8">
            <a:extLst>
              <a:ext uri="{FF2B5EF4-FFF2-40B4-BE49-F238E27FC236}">
                <a16:creationId xmlns:a16="http://schemas.microsoft.com/office/drawing/2014/main" id="{CEFF7414-9C4A-1D3E-A63F-5BCB31535C75}"/>
              </a:ext>
            </a:extLst>
          </p:cNvPr>
          <p:cNvSpPr/>
          <p:nvPr/>
        </p:nvSpPr>
        <p:spPr bwMode="auto">
          <a:xfrm>
            <a:off x="7890299" y="5199564"/>
            <a:ext cx="1314187" cy="611273"/>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Source code/</a:t>
            </a:r>
          </a:p>
          <a:p>
            <a:pPr algn="ctr">
              <a:defRPr/>
            </a:pPr>
            <a:r>
              <a:rPr lang="en-US" sz="1600" dirty="0">
                <a:cs typeface="Courier New" pitchFamily="49" charset="0"/>
              </a:rPr>
              <a:t>libraries</a:t>
            </a:r>
          </a:p>
        </p:txBody>
      </p:sp>
      <p:sp>
        <p:nvSpPr>
          <p:cNvPr id="66" name="Snip Single Corner Rectangle 8">
            <a:extLst>
              <a:ext uri="{FF2B5EF4-FFF2-40B4-BE49-F238E27FC236}">
                <a16:creationId xmlns:a16="http://schemas.microsoft.com/office/drawing/2014/main" id="{92F6EA2C-059D-61CE-18AA-94248A029A5F}"/>
              </a:ext>
            </a:extLst>
          </p:cNvPr>
          <p:cNvSpPr/>
          <p:nvPr/>
        </p:nvSpPr>
        <p:spPr bwMode="auto">
          <a:xfrm>
            <a:off x="9697719" y="5199564"/>
            <a:ext cx="1314187" cy="611273"/>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Source code/</a:t>
            </a:r>
          </a:p>
          <a:p>
            <a:pPr algn="ctr">
              <a:defRPr/>
            </a:pPr>
            <a:r>
              <a:rPr lang="en-US" sz="1600" dirty="0">
                <a:cs typeface="Courier New" pitchFamily="49" charset="0"/>
              </a:rPr>
              <a:t>libraries</a:t>
            </a:r>
          </a:p>
        </p:txBody>
      </p:sp>
      <p:cxnSp>
        <p:nvCxnSpPr>
          <p:cNvPr id="67" name="Straight Arrow Connector 66">
            <a:extLst>
              <a:ext uri="{FF2B5EF4-FFF2-40B4-BE49-F238E27FC236}">
                <a16:creationId xmlns:a16="http://schemas.microsoft.com/office/drawing/2014/main" id="{900390FD-D680-3A31-660C-456E8812346E}"/>
              </a:ext>
            </a:extLst>
          </p:cNvPr>
          <p:cNvCxnSpPr>
            <a:cxnSpLocks/>
            <a:stCxn id="66" idx="3"/>
          </p:cNvCxnSpPr>
          <p:nvPr/>
        </p:nvCxnSpPr>
        <p:spPr>
          <a:xfrm flipH="1" flipV="1">
            <a:off x="8550292" y="4405458"/>
            <a:ext cx="1804521" cy="794106"/>
          </a:xfrm>
          <a:prstGeom prst="straightConnector1">
            <a:avLst/>
          </a:prstGeom>
          <a:ln w="4762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CAAC9020-6A59-CB5F-ED03-11807D9DCE81}"/>
              </a:ext>
            </a:extLst>
          </p:cNvPr>
          <p:cNvCxnSpPr>
            <a:cxnSpLocks/>
            <a:stCxn id="65" idx="3"/>
          </p:cNvCxnSpPr>
          <p:nvPr/>
        </p:nvCxnSpPr>
        <p:spPr>
          <a:xfrm flipV="1">
            <a:off x="8547393" y="4405458"/>
            <a:ext cx="0" cy="794106"/>
          </a:xfrm>
          <a:prstGeom prst="straightConnector1">
            <a:avLst/>
          </a:prstGeom>
          <a:ln w="4762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8338D541-0649-CA65-70E6-705F60CCE960}"/>
              </a:ext>
            </a:extLst>
          </p:cNvPr>
          <p:cNvCxnSpPr>
            <a:cxnSpLocks/>
          </p:cNvCxnSpPr>
          <p:nvPr/>
        </p:nvCxnSpPr>
        <p:spPr>
          <a:xfrm>
            <a:off x="5029200" y="85648"/>
            <a:ext cx="0" cy="6658052"/>
          </a:xfrm>
          <a:prstGeom prst="line">
            <a:avLst/>
          </a:prstGeom>
          <a:ln w="28575">
            <a:prstDash val="dashDot"/>
          </a:ln>
        </p:spPr>
        <p:style>
          <a:lnRef idx="1">
            <a:schemeClr val="accent1"/>
          </a:lnRef>
          <a:fillRef idx="0">
            <a:schemeClr val="accent1"/>
          </a:fillRef>
          <a:effectRef idx="0">
            <a:schemeClr val="accent1"/>
          </a:effectRef>
          <a:fontRef idx="minor">
            <a:schemeClr val="tx1"/>
          </a:fontRef>
        </p:style>
      </p:cxnSp>
      <p:sp>
        <p:nvSpPr>
          <p:cNvPr id="72" name="Snip Single Corner Rectangle 8">
            <a:extLst>
              <a:ext uri="{FF2B5EF4-FFF2-40B4-BE49-F238E27FC236}">
                <a16:creationId xmlns:a16="http://schemas.microsoft.com/office/drawing/2014/main" id="{E3069F25-C1A3-5C4F-E825-DADA5B8C278B}"/>
              </a:ext>
            </a:extLst>
          </p:cNvPr>
          <p:cNvSpPr/>
          <p:nvPr/>
        </p:nvSpPr>
        <p:spPr bwMode="auto">
          <a:xfrm>
            <a:off x="9420387" y="2193639"/>
            <a:ext cx="1476000" cy="720000"/>
          </a:xfrm>
          <a:prstGeom prst="snip1Rect">
            <a:avLst/>
          </a:prstGeom>
          <a:solidFill>
            <a:schemeClr val="bg1"/>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Documentation</a:t>
            </a:r>
            <a:endParaRPr lang="en-US" sz="1600" dirty="0">
              <a:cs typeface="Courier New" pitchFamily="49" charset="0"/>
            </a:endParaRPr>
          </a:p>
        </p:txBody>
      </p:sp>
    </p:spTree>
    <p:extLst>
      <p:ext uri="{BB962C8B-B14F-4D97-AF65-F5344CB8AC3E}">
        <p14:creationId xmlns:p14="http://schemas.microsoft.com/office/powerpoint/2010/main" val="24748369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35226-6D85-4BEB-B5EB-0781627E8CB6}"/>
              </a:ext>
            </a:extLst>
          </p:cNvPr>
          <p:cNvSpPr>
            <a:spLocks noGrp="1"/>
          </p:cNvSpPr>
          <p:nvPr>
            <p:ph type="title"/>
          </p:nvPr>
        </p:nvSpPr>
        <p:spPr/>
        <p:txBody>
          <a:bodyPr/>
          <a:lstStyle/>
          <a:p>
            <a:r>
              <a:rPr lang="en-US" dirty="0"/>
              <a:t>Application example: TCP/IP network</a:t>
            </a:r>
          </a:p>
        </p:txBody>
      </p:sp>
      <p:sp>
        <p:nvSpPr>
          <p:cNvPr id="3" name="Text Placeholder 2">
            <a:extLst>
              <a:ext uri="{FF2B5EF4-FFF2-40B4-BE49-F238E27FC236}">
                <a16:creationId xmlns:a16="http://schemas.microsoft.com/office/drawing/2014/main" id="{F9550976-2E32-400A-8737-9B498A3C074C}"/>
              </a:ext>
            </a:extLst>
          </p:cNvPr>
          <p:cNvSpPr>
            <a:spLocks noGrp="1"/>
          </p:cNvSpPr>
          <p:nvPr>
            <p:ph type="body" sz="quarter" idx="13"/>
          </p:nvPr>
        </p:nvSpPr>
        <p:spPr>
          <a:xfrm>
            <a:off x="492125" y="1040826"/>
            <a:ext cx="11180763" cy="344488"/>
          </a:xfrm>
        </p:spPr>
        <p:txBody>
          <a:bodyPr/>
          <a:lstStyle/>
          <a:p>
            <a:r>
              <a:rPr lang="en-US" dirty="0"/>
              <a:t>Using network stack on STM32F407IG with internal MAC</a:t>
            </a:r>
          </a:p>
        </p:txBody>
      </p:sp>
      <p:sp>
        <p:nvSpPr>
          <p:cNvPr id="5" name="Rectangle 4">
            <a:extLst>
              <a:ext uri="{FF2B5EF4-FFF2-40B4-BE49-F238E27FC236}">
                <a16:creationId xmlns:a16="http://schemas.microsoft.com/office/drawing/2014/main" id="{2AA7B0B0-3AE9-45DB-A4D8-D92136B99785}"/>
              </a:ext>
            </a:extLst>
          </p:cNvPr>
          <p:cNvSpPr/>
          <p:nvPr/>
        </p:nvSpPr>
        <p:spPr>
          <a:xfrm>
            <a:off x="3354457" y="1749669"/>
            <a:ext cx="2340000" cy="576000"/>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Network:Socket:TCP</a:t>
            </a:r>
            <a:endParaRPr lang="en-US" dirty="0"/>
          </a:p>
        </p:txBody>
      </p:sp>
      <p:sp>
        <p:nvSpPr>
          <p:cNvPr id="6" name="Rectangle 5">
            <a:extLst>
              <a:ext uri="{FF2B5EF4-FFF2-40B4-BE49-F238E27FC236}">
                <a16:creationId xmlns:a16="http://schemas.microsoft.com/office/drawing/2014/main" id="{DB662597-993E-4F7F-98C7-AD870E6F9CC5}"/>
              </a:ext>
            </a:extLst>
          </p:cNvPr>
          <p:cNvSpPr/>
          <p:nvPr/>
        </p:nvSpPr>
        <p:spPr>
          <a:xfrm>
            <a:off x="3354459" y="4112799"/>
            <a:ext cx="2340000" cy="576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CMSIS Driver:</a:t>
            </a:r>
            <a:br>
              <a:rPr lang="en-US" dirty="0"/>
            </a:br>
            <a:r>
              <a:rPr lang="en-US" dirty="0"/>
              <a:t>Ethernet MAC</a:t>
            </a:r>
          </a:p>
        </p:txBody>
      </p:sp>
      <p:sp>
        <p:nvSpPr>
          <p:cNvPr id="7" name="Rectangle 6">
            <a:extLst>
              <a:ext uri="{FF2B5EF4-FFF2-40B4-BE49-F238E27FC236}">
                <a16:creationId xmlns:a16="http://schemas.microsoft.com/office/drawing/2014/main" id="{FAD5EBF3-1BAD-4301-8965-FB78A5B4C097}"/>
              </a:ext>
            </a:extLst>
          </p:cNvPr>
          <p:cNvSpPr/>
          <p:nvPr/>
        </p:nvSpPr>
        <p:spPr>
          <a:xfrm>
            <a:off x="3354457" y="5294364"/>
            <a:ext cx="2340000" cy="576000"/>
          </a:xfrm>
          <a:prstGeom prst="rect">
            <a:avLst/>
          </a:prstGeom>
          <a:solidFill>
            <a:srgbClr val="7D8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CMSIS Driver:</a:t>
            </a:r>
            <a:br>
              <a:rPr lang="en-US" dirty="0"/>
            </a:br>
            <a:r>
              <a:rPr lang="en-US" dirty="0"/>
              <a:t>Ethernet PHY</a:t>
            </a:r>
          </a:p>
        </p:txBody>
      </p:sp>
      <p:sp>
        <p:nvSpPr>
          <p:cNvPr id="8" name="Rectangle 7">
            <a:extLst>
              <a:ext uri="{FF2B5EF4-FFF2-40B4-BE49-F238E27FC236}">
                <a16:creationId xmlns:a16="http://schemas.microsoft.com/office/drawing/2014/main" id="{5F559EC6-3CEC-4D25-B715-B8E89680E8C5}"/>
              </a:ext>
            </a:extLst>
          </p:cNvPr>
          <p:cNvSpPr/>
          <p:nvPr/>
        </p:nvSpPr>
        <p:spPr>
          <a:xfrm>
            <a:off x="3354457" y="2931234"/>
            <a:ext cx="2340000" cy="576000"/>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Network:Interface:ETH</a:t>
            </a:r>
            <a:endParaRPr lang="en-US" dirty="0"/>
          </a:p>
        </p:txBody>
      </p:sp>
      <p:sp>
        <p:nvSpPr>
          <p:cNvPr id="9" name="Rectangle 8">
            <a:extLst>
              <a:ext uri="{FF2B5EF4-FFF2-40B4-BE49-F238E27FC236}">
                <a16:creationId xmlns:a16="http://schemas.microsoft.com/office/drawing/2014/main" id="{B207CCC3-4ED3-4808-AC5F-679961343F18}"/>
              </a:ext>
            </a:extLst>
          </p:cNvPr>
          <p:cNvSpPr/>
          <p:nvPr/>
        </p:nvSpPr>
        <p:spPr>
          <a:xfrm>
            <a:off x="6099935" y="2931234"/>
            <a:ext cx="2340000" cy="576000"/>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Network:CORE</a:t>
            </a:r>
            <a:endParaRPr lang="en-US" dirty="0"/>
          </a:p>
        </p:txBody>
      </p:sp>
      <p:sp>
        <p:nvSpPr>
          <p:cNvPr id="10" name="Rectangle 9">
            <a:extLst>
              <a:ext uri="{FF2B5EF4-FFF2-40B4-BE49-F238E27FC236}">
                <a16:creationId xmlns:a16="http://schemas.microsoft.com/office/drawing/2014/main" id="{2CDE035B-84AF-42A2-B82A-010BB662026D}"/>
              </a:ext>
            </a:extLst>
          </p:cNvPr>
          <p:cNvSpPr/>
          <p:nvPr/>
        </p:nvSpPr>
        <p:spPr>
          <a:xfrm>
            <a:off x="608979" y="2931234"/>
            <a:ext cx="2340000" cy="57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CMSIS:CMSIS-RTOS</a:t>
            </a:r>
          </a:p>
        </p:txBody>
      </p:sp>
      <p:sp>
        <p:nvSpPr>
          <p:cNvPr id="13" name="Rectangle 12">
            <a:extLst>
              <a:ext uri="{FF2B5EF4-FFF2-40B4-BE49-F238E27FC236}">
                <a16:creationId xmlns:a16="http://schemas.microsoft.com/office/drawing/2014/main" id="{DF483133-57B3-4A5B-8C13-C8965A2AE528}"/>
              </a:ext>
            </a:extLst>
          </p:cNvPr>
          <p:cNvSpPr/>
          <p:nvPr/>
        </p:nvSpPr>
        <p:spPr>
          <a:xfrm>
            <a:off x="6748078" y="5735287"/>
            <a:ext cx="2340000" cy="360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Device Family Pack</a:t>
            </a:r>
          </a:p>
        </p:txBody>
      </p:sp>
      <p:sp>
        <p:nvSpPr>
          <p:cNvPr id="14" name="Rectangle 13">
            <a:extLst>
              <a:ext uri="{FF2B5EF4-FFF2-40B4-BE49-F238E27FC236}">
                <a16:creationId xmlns:a16="http://schemas.microsoft.com/office/drawing/2014/main" id="{84D731BA-FED1-47F7-8C06-A0F55512B766}"/>
              </a:ext>
            </a:extLst>
          </p:cNvPr>
          <p:cNvSpPr/>
          <p:nvPr/>
        </p:nvSpPr>
        <p:spPr>
          <a:xfrm>
            <a:off x="6748078" y="4328799"/>
            <a:ext cx="2340000" cy="360000"/>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Middleware Pack</a:t>
            </a:r>
          </a:p>
        </p:txBody>
      </p:sp>
      <p:sp>
        <p:nvSpPr>
          <p:cNvPr id="15" name="Rectangle 14">
            <a:extLst>
              <a:ext uri="{FF2B5EF4-FFF2-40B4-BE49-F238E27FC236}">
                <a16:creationId xmlns:a16="http://schemas.microsoft.com/office/drawing/2014/main" id="{EEF119FA-77B9-42E5-9480-DD7AF7C23C56}"/>
              </a:ext>
            </a:extLst>
          </p:cNvPr>
          <p:cNvSpPr/>
          <p:nvPr/>
        </p:nvSpPr>
        <p:spPr>
          <a:xfrm>
            <a:off x="6748078" y="4796799"/>
            <a:ext cx="234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CMSIS Pack</a:t>
            </a:r>
          </a:p>
        </p:txBody>
      </p:sp>
      <p:sp>
        <p:nvSpPr>
          <p:cNvPr id="16" name="Rectangle 15">
            <a:extLst>
              <a:ext uri="{FF2B5EF4-FFF2-40B4-BE49-F238E27FC236}">
                <a16:creationId xmlns:a16="http://schemas.microsoft.com/office/drawing/2014/main" id="{3600944F-B5ED-4B70-8823-1BBBC5B66604}"/>
              </a:ext>
            </a:extLst>
          </p:cNvPr>
          <p:cNvSpPr/>
          <p:nvPr/>
        </p:nvSpPr>
        <p:spPr>
          <a:xfrm>
            <a:off x="6748078" y="5266043"/>
            <a:ext cx="2340000" cy="360000"/>
          </a:xfrm>
          <a:prstGeom prst="rect">
            <a:avLst/>
          </a:prstGeom>
          <a:solidFill>
            <a:srgbClr val="7D8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External Driver Pack</a:t>
            </a:r>
          </a:p>
        </p:txBody>
      </p:sp>
      <p:sp>
        <p:nvSpPr>
          <p:cNvPr id="25" name="Rectangle 24">
            <a:extLst>
              <a:ext uri="{FF2B5EF4-FFF2-40B4-BE49-F238E27FC236}">
                <a16:creationId xmlns:a16="http://schemas.microsoft.com/office/drawing/2014/main" id="{35A30E91-7022-4A14-A8FB-EEE8AC983F2A}"/>
              </a:ext>
            </a:extLst>
          </p:cNvPr>
          <p:cNvSpPr/>
          <p:nvPr/>
        </p:nvSpPr>
        <p:spPr>
          <a:xfrm>
            <a:off x="608979" y="4112799"/>
            <a:ext cx="2340000" cy="57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CMSIS:CORE</a:t>
            </a:r>
          </a:p>
        </p:txBody>
      </p:sp>
      <p:sp>
        <p:nvSpPr>
          <p:cNvPr id="29" name="Rectangle 28">
            <a:extLst>
              <a:ext uri="{FF2B5EF4-FFF2-40B4-BE49-F238E27FC236}">
                <a16:creationId xmlns:a16="http://schemas.microsoft.com/office/drawing/2014/main" id="{518A626B-3FEB-446A-8F12-166EAA2B5037}"/>
              </a:ext>
            </a:extLst>
          </p:cNvPr>
          <p:cNvSpPr/>
          <p:nvPr/>
        </p:nvSpPr>
        <p:spPr>
          <a:xfrm>
            <a:off x="608979" y="5294364"/>
            <a:ext cx="2340000" cy="576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Device:Startup</a:t>
            </a:r>
            <a:endParaRPr lang="en-US" dirty="0"/>
          </a:p>
        </p:txBody>
      </p:sp>
      <p:cxnSp>
        <p:nvCxnSpPr>
          <p:cNvPr id="12" name="Connector: Elbow 11">
            <a:extLst>
              <a:ext uri="{FF2B5EF4-FFF2-40B4-BE49-F238E27FC236}">
                <a16:creationId xmlns:a16="http://schemas.microsoft.com/office/drawing/2014/main" id="{A9194A58-33A7-4CFA-A274-5B332AFEC377}"/>
              </a:ext>
            </a:extLst>
          </p:cNvPr>
          <p:cNvCxnSpPr>
            <a:cxnSpLocks/>
            <a:stCxn id="5" idx="2"/>
            <a:endCxn id="9" idx="0"/>
          </p:cNvCxnSpPr>
          <p:nvPr/>
        </p:nvCxnSpPr>
        <p:spPr>
          <a:xfrm rot="16200000" flipH="1">
            <a:off x="5594414" y="1255712"/>
            <a:ext cx="605565" cy="2745478"/>
          </a:xfrm>
          <a:prstGeom prst="bentConnector3">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CC3E8335-0031-485B-919E-7FA742C1129C}"/>
              </a:ext>
            </a:extLst>
          </p:cNvPr>
          <p:cNvCxnSpPr>
            <a:endCxn id="8" idx="0"/>
          </p:cNvCxnSpPr>
          <p:nvPr/>
        </p:nvCxnSpPr>
        <p:spPr>
          <a:xfrm rot="5400000">
            <a:off x="4221675" y="2628451"/>
            <a:ext cx="605565" cy="12700"/>
          </a:xfrm>
          <a:prstGeom prst="bentConnector3">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6AFC32B8-2CE8-4EE7-AC46-9FB1F8F31ABE}"/>
              </a:ext>
            </a:extLst>
          </p:cNvPr>
          <p:cNvCxnSpPr>
            <a:cxnSpLocks/>
            <a:stCxn id="5" idx="2"/>
            <a:endCxn id="10" idx="0"/>
          </p:cNvCxnSpPr>
          <p:nvPr/>
        </p:nvCxnSpPr>
        <p:spPr>
          <a:xfrm rot="5400000">
            <a:off x="2848936" y="1255712"/>
            <a:ext cx="605565" cy="2745478"/>
          </a:xfrm>
          <a:prstGeom prst="bentConnector3">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F3316F5-F3ED-4B5F-806A-7C520DBDD3D1}"/>
              </a:ext>
            </a:extLst>
          </p:cNvPr>
          <p:cNvCxnSpPr>
            <a:stCxn id="10" idx="2"/>
            <a:endCxn id="25" idx="0"/>
          </p:cNvCxnSpPr>
          <p:nvPr/>
        </p:nvCxnSpPr>
        <p:spPr>
          <a:xfrm>
            <a:off x="1778979" y="3507234"/>
            <a:ext cx="0" cy="60556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A0D5F88-50BE-4BC0-8A8F-65FAE663B038}"/>
              </a:ext>
            </a:extLst>
          </p:cNvPr>
          <p:cNvCxnSpPr>
            <a:stCxn id="25" idx="2"/>
            <a:endCxn id="29" idx="0"/>
          </p:cNvCxnSpPr>
          <p:nvPr/>
        </p:nvCxnSpPr>
        <p:spPr>
          <a:xfrm>
            <a:off x="1778979" y="4688799"/>
            <a:ext cx="0" cy="60556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C8148D9-38C9-46EC-8AF1-58438ADC9610}"/>
              </a:ext>
            </a:extLst>
          </p:cNvPr>
          <p:cNvCxnSpPr>
            <a:stCxn id="8" idx="2"/>
            <a:endCxn id="6" idx="0"/>
          </p:cNvCxnSpPr>
          <p:nvPr/>
        </p:nvCxnSpPr>
        <p:spPr>
          <a:xfrm>
            <a:off x="4524457" y="3507234"/>
            <a:ext cx="2" cy="60556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63BA002A-C537-40F7-8784-48D4B8E1D616}"/>
              </a:ext>
            </a:extLst>
          </p:cNvPr>
          <p:cNvCxnSpPr>
            <a:stCxn id="6" idx="2"/>
            <a:endCxn id="7" idx="0"/>
          </p:cNvCxnSpPr>
          <p:nvPr/>
        </p:nvCxnSpPr>
        <p:spPr>
          <a:xfrm flipH="1">
            <a:off x="4524457" y="4688799"/>
            <a:ext cx="2" cy="60556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DE0541B1-2D50-4F32-BA0B-B027A6898714}"/>
              </a:ext>
            </a:extLst>
          </p:cNvPr>
          <p:cNvCxnSpPr>
            <a:stCxn id="8" idx="3"/>
            <a:endCxn id="9" idx="1"/>
          </p:cNvCxnSpPr>
          <p:nvPr/>
        </p:nvCxnSpPr>
        <p:spPr>
          <a:xfrm>
            <a:off x="5694457" y="3219234"/>
            <a:ext cx="405478"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13347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965C6-5251-9023-5C5B-F0AE8E96E1CA}"/>
              </a:ext>
            </a:extLst>
          </p:cNvPr>
          <p:cNvSpPr>
            <a:spLocks noGrp="1"/>
          </p:cNvSpPr>
          <p:nvPr>
            <p:ph type="title"/>
          </p:nvPr>
        </p:nvSpPr>
        <p:spPr/>
        <p:txBody>
          <a:bodyPr/>
          <a:lstStyle/>
          <a:p>
            <a:r>
              <a:rPr lang="en-US" dirty="0"/>
              <a:t>Class / Pack view </a:t>
            </a:r>
          </a:p>
        </p:txBody>
      </p:sp>
      <p:sp>
        <p:nvSpPr>
          <p:cNvPr id="3" name="Text Placeholder 2">
            <a:extLst>
              <a:ext uri="{FF2B5EF4-FFF2-40B4-BE49-F238E27FC236}">
                <a16:creationId xmlns:a16="http://schemas.microsoft.com/office/drawing/2014/main" id="{8E0AEC11-1361-BA99-1988-E44E73D71C82}"/>
              </a:ext>
            </a:extLst>
          </p:cNvPr>
          <p:cNvSpPr>
            <a:spLocks noGrp="1"/>
          </p:cNvSpPr>
          <p:nvPr>
            <p:ph type="body" sz="quarter" idx="13"/>
          </p:nvPr>
        </p:nvSpPr>
        <p:spPr/>
        <p:txBody>
          <a:bodyPr/>
          <a:lstStyle/>
          <a:p>
            <a:endParaRPr lang="en-US"/>
          </a:p>
        </p:txBody>
      </p:sp>
      <p:sp>
        <p:nvSpPr>
          <p:cNvPr id="6" name="Rectangle 5">
            <a:extLst>
              <a:ext uri="{FF2B5EF4-FFF2-40B4-BE49-F238E27FC236}">
                <a16:creationId xmlns:a16="http://schemas.microsoft.com/office/drawing/2014/main" id="{44587ED4-13DD-038E-110D-4E812E2E4A30}"/>
              </a:ext>
            </a:extLst>
          </p:cNvPr>
          <p:cNvSpPr/>
          <p:nvPr/>
        </p:nvSpPr>
        <p:spPr>
          <a:xfrm>
            <a:off x="4166149" y="4858465"/>
            <a:ext cx="3657599" cy="551299"/>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Device</a:t>
            </a:r>
            <a:br>
              <a:rPr lang="en-US" sz="1600" dirty="0"/>
            </a:br>
            <a:r>
              <a:rPr lang="en-US" sz="1400" dirty="0"/>
              <a:t>- pack vendor::DFP</a:t>
            </a:r>
            <a:endParaRPr lang="en-US" sz="1600" dirty="0"/>
          </a:p>
        </p:txBody>
      </p:sp>
      <p:sp>
        <p:nvSpPr>
          <p:cNvPr id="7" name="Rectangle 6">
            <a:extLst>
              <a:ext uri="{FF2B5EF4-FFF2-40B4-BE49-F238E27FC236}">
                <a16:creationId xmlns:a16="http://schemas.microsoft.com/office/drawing/2014/main" id="{63D47D1A-221B-E7C8-F06D-176C0F3F2AC3}"/>
              </a:ext>
            </a:extLst>
          </p:cNvPr>
          <p:cNvSpPr/>
          <p:nvPr/>
        </p:nvSpPr>
        <p:spPr>
          <a:xfrm>
            <a:off x="4166149" y="5470575"/>
            <a:ext cx="3657599" cy="5512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CMSIS</a:t>
            </a:r>
            <a:br>
              <a:rPr lang="en-US" sz="1600" dirty="0"/>
            </a:br>
            <a:r>
              <a:rPr lang="en-US" sz="1400" dirty="0"/>
              <a:t>- pack Arm::CMSIS</a:t>
            </a:r>
            <a:endParaRPr lang="en-US" sz="1600" dirty="0"/>
          </a:p>
        </p:txBody>
      </p:sp>
      <p:sp>
        <p:nvSpPr>
          <p:cNvPr id="10" name="Rectangle 9">
            <a:extLst>
              <a:ext uri="{FF2B5EF4-FFF2-40B4-BE49-F238E27FC236}">
                <a16:creationId xmlns:a16="http://schemas.microsoft.com/office/drawing/2014/main" id="{7946F206-BB82-C03C-9E07-BD22080554E1}"/>
              </a:ext>
            </a:extLst>
          </p:cNvPr>
          <p:cNvSpPr/>
          <p:nvPr/>
        </p:nvSpPr>
        <p:spPr>
          <a:xfrm>
            <a:off x="4166149" y="4227512"/>
            <a:ext cx="3657599" cy="572585"/>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CMSIS-Driver</a:t>
            </a:r>
            <a:br>
              <a:rPr lang="en-US" sz="1600" dirty="0"/>
            </a:br>
            <a:r>
              <a:rPr lang="en-US" sz="1400" dirty="0"/>
              <a:t>- pack vendor::HAL-Interface</a:t>
            </a:r>
            <a:endParaRPr lang="en-US" sz="1600" dirty="0"/>
          </a:p>
        </p:txBody>
      </p:sp>
      <p:sp>
        <p:nvSpPr>
          <p:cNvPr id="11" name="Rectangle 10">
            <a:extLst>
              <a:ext uri="{FF2B5EF4-FFF2-40B4-BE49-F238E27FC236}">
                <a16:creationId xmlns:a16="http://schemas.microsoft.com/office/drawing/2014/main" id="{B1C399F7-A2ED-5AC0-133F-1B46FFE792FF}"/>
              </a:ext>
            </a:extLst>
          </p:cNvPr>
          <p:cNvSpPr/>
          <p:nvPr/>
        </p:nvSpPr>
        <p:spPr>
          <a:xfrm>
            <a:off x="7974978" y="5470575"/>
            <a:ext cx="3657599" cy="55129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CMSIS-Driver</a:t>
            </a:r>
            <a:br>
              <a:rPr lang="en-US" sz="1600" dirty="0"/>
            </a:br>
            <a:r>
              <a:rPr lang="en-US" sz="1400" dirty="0"/>
              <a:t>- pack Arm::CMSIS-Driver</a:t>
            </a:r>
            <a:endParaRPr lang="en-US" sz="1600" dirty="0"/>
          </a:p>
        </p:txBody>
      </p:sp>
      <p:sp>
        <p:nvSpPr>
          <p:cNvPr id="12" name="Rectangle 11">
            <a:extLst>
              <a:ext uri="{FF2B5EF4-FFF2-40B4-BE49-F238E27FC236}">
                <a16:creationId xmlns:a16="http://schemas.microsoft.com/office/drawing/2014/main" id="{131BCB5D-8C42-44C7-20E7-400A71165F59}"/>
              </a:ext>
            </a:extLst>
          </p:cNvPr>
          <p:cNvSpPr/>
          <p:nvPr/>
        </p:nvSpPr>
        <p:spPr>
          <a:xfrm>
            <a:off x="7974978" y="4603443"/>
            <a:ext cx="3657599" cy="78357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CMSIS:RTOS2</a:t>
            </a:r>
            <a:br>
              <a:rPr lang="en-US" sz="1600" dirty="0"/>
            </a:br>
            <a:r>
              <a:rPr lang="en-US" sz="1600" dirty="0" err="1"/>
              <a:t>RTOS&amp;FreeRTOS</a:t>
            </a:r>
            <a:r>
              <a:rPr lang="en-US" sz="1600" dirty="0"/>
              <a:t> </a:t>
            </a:r>
            <a:br>
              <a:rPr lang="en-US" sz="1600" dirty="0"/>
            </a:br>
            <a:r>
              <a:rPr lang="en-US" sz="1400" dirty="0"/>
              <a:t>- pack Arm::CMSIS-FreeRTOS</a:t>
            </a:r>
            <a:endParaRPr lang="en-US" sz="1600" dirty="0"/>
          </a:p>
        </p:txBody>
      </p:sp>
      <p:sp>
        <p:nvSpPr>
          <p:cNvPr id="14" name="Rectangle 13">
            <a:extLst>
              <a:ext uri="{FF2B5EF4-FFF2-40B4-BE49-F238E27FC236}">
                <a16:creationId xmlns:a16="http://schemas.microsoft.com/office/drawing/2014/main" id="{6D78579D-D622-6B77-E7B3-0C826E950931}"/>
              </a:ext>
            </a:extLst>
          </p:cNvPr>
          <p:cNvSpPr/>
          <p:nvPr/>
        </p:nvSpPr>
        <p:spPr>
          <a:xfrm>
            <a:off x="4166149" y="3600302"/>
            <a:ext cx="3657598" cy="551300"/>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Network</a:t>
            </a:r>
            <a:br>
              <a:rPr lang="en-US" sz="1600" dirty="0"/>
            </a:br>
            <a:r>
              <a:rPr lang="en-US" sz="1400" dirty="0"/>
              <a:t> - pack: </a:t>
            </a:r>
            <a:r>
              <a:rPr lang="en-US" sz="1400" dirty="0" err="1"/>
              <a:t>lwIP</a:t>
            </a:r>
            <a:r>
              <a:rPr lang="en-US" sz="1400" dirty="0"/>
              <a:t>::</a:t>
            </a:r>
            <a:r>
              <a:rPr lang="en-US" sz="1400" dirty="0" err="1"/>
              <a:t>lwIP</a:t>
            </a:r>
            <a:endParaRPr lang="en-US" sz="1600" dirty="0"/>
          </a:p>
        </p:txBody>
      </p:sp>
      <p:sp>
        <p:nvSpPr>
          <p:cNvPr id="15" name="Rectangle 14">
            <a:extLst>
              <a:ext uri="{FF2B5EF4-FFF2-40B4-BE49-F238E27FC236}">
                <a16:creationId xmlns:a16="http://schemas.microsoft.com/office/drawing/2014/main" id="{F7AA3C24-53EA-07AA-525B-E8D59E630516}"/>
              </a:ext>
            </a:extLst>
          </p:cNvPr>
          <p:cNvSpPr/>
          <p:nvPr/>
        </p:nvSpPr>
        <p:spPr>
          <a:xfrm>
            <a:off x="4166149" y="2974427"/>
            <a:ext cx="3657599" cy="5513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IoT Utility </a:t>
            </a:r>
            <a:br>
              <a:rPr lang="en-US" sz="1600" dirty="0"/>
            </a:br>
            <a:r>
              <a:rPr lang="en-US" sz="1400" dirty="0"/>
              <a:t>- pack </a:t>
            </a:r>
            <a:r>
              <a:rPr lang="en-US" sz="1400" dirty="0" err="1"/>
              <a:t>MDK-Pack:IoT-Socket</a:t>
            </a:r>
            <a:endParaRPr lang="en-US" sz="1600" dirty="0"/>
          </a:p>
        </p:txBody>
      </p:sp>
      <p:sp>
        <p:nvSpPr>
          <p:cNvPr id="16" name="Rectangle 15">
            <a:extLst>
              <a:ext uri="{FF2B5EF4-FFF2-40B4-BE49-F238E27FC236}">
                <a16:creationId xmlns:a16="http://schemas.microsoft.com/office/drawing/2014/main" id="{B7E267C5-7365-8DA0-CAC5-8A95EE8A7853}"/>
              </a:ext>
            </a:extLst>
          </p:cNvPr>
          <p:cNvSpPr/>
          <p:nvPr/>
        </p:nvSpPr>
        <p:spPr>
          <a:xfrm>
            <a:off x="4166148" y="2336151"/>
            <a:ext cx="3657599" cy="55130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IoT Client</a:t>
            </a:r>
          </a:p>
        </p:txBody>
      </p:sp>
    </p:spTree>
    <p:extLst>
      <p:ext uri="{BB962C8B-B14F-4D97-AF65-F5344CB8AC3E}">
        <p14:creationId xmlns:p14="http://schemas.microsoft.com/office/powerpoint/2010/main" val="12686246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2A4F4-A0EE-4AF6-9B97-64CD9EFD4ACC}"/>
              </a:ext>
            </a:extLst>
          </p:cNvPr>
          <p:cNvSpPr>
            <a:spLocks noGrp="1"/>
          </p:cNvSpPr>
          <p:nvPr>
            <p:ph type="title"/>
          </p:nvPr>
        </p:nvSpPr>
        <p:spPr/>
        <p:txBody>
          <a:bodyPr/>
          <a:lstStyle/>
          <a:p>
            <a:r>
              <a:rPr lang="en-US" dirty="0"/>
              <a:t>Software components – Taxonomy</a:t>
            </a:r>
          </a:p>
        </p:txBody>
      </p:sp>
      <p:sp>
        <p:nvSpPr>
          <p:cNvPr id="3" name="Content Placeholder 2">
            <a:extLst>
              <a:ext uri="{FF2B5EF4-FFF2-40B4-BE49-F238E27FC236}">
                <a16:creationId xmlns:a16="http://schemas.microsoft.com/office/drawing/2014/main" id="{9E021C2B-F01E-4A90-A2CE-65035B717809}"/>
              </a:ext>
            </a:extLst>
          </p:cNvPr>
          <p:cNvSpPr>
            <a:spLocks noGrp="1"/>
          </p:cNvSpPr>
          <p:nvPr>
            <p:ph idx="1"/>
          </p:nvPr>
        </p:nvSpPr>
        <p:spPr/>
        <p:txBody>
          <a:bodyPr/>
          <a:lstStyle/>
          <a:p>
            <a:r>
              <a:rPr lang="en-GB" dirty="0"/>
              <a:t>Software component have these attributes that are used to identify them:</a:t>
            </a:r>
          </a:p>
          <a:p>
            <a:pPr lvl="1"/>
            <a:r>
              <a:rPr lang="en-US" dirty="0"/>
              <a:t>Component Class (</a:t>
            </a:r>
            <a:r>
              <a:rPr lang="en-US" dirty="0" err="1"/>
              <a:t>Cclass</a:t>
            </a:r>
            <a:r>
              <a:rPr lang="en-US" dirty="0"/>
              <a:t>): examples are </a:t>
            </a:r>
            <a:r>
              <a:rPr lang="en-US" b="1" dirty="0"/>
              <a:t>CMSIS</a:t>
            </a:r>
            <a:r>
              <a:rPr lang="en-US" dirty="0"/>
              <a:t>, </a:t>
            </a:r>
            <a:r>
              <a:rPr lang="en-US" b="1" dirty="0"/>
              <a:t>Device</a:t>
            </a:r>
            <a:r>
              <a:rPr lang="en-US" dirty="0"/>
              <a:t>, </a:t>
            </a:r>
            <a:r>
              <a:rPr lang="en-US" b="1" dirty="0"/>
              <a:t>File System</a:t>
            </a:r>
          </a:p>
          <a:p>
            <a:pPr lvl="1"/>
            <a:r>
              <a:rPr lang="en-US" dirty="0"/>
              <a:t>Component Group (</a:t>
            </a:r>
            <a:r>
              <a:rPr lang="en-US" dirty="0" err="1"/>
              <a:t>Cgroup</a:t>
            </a:r>
            <a:r>
              <a:rPr lang="en-US" dirty="0"/>
              <a:t>): examples are </a:t>
            </a:r>
            <a:r>
              <a:rPr lang="en-US" b="1" dirty="0"/>
              <a:t>CMSIS:RTOS</a:t>
            </a:r>
            <a:r>
              <a:rPr lang="en-US" dirty="0"/>
              <a:t>, </a:t>
            </a:r>
            <a:r>
              <a:rPr lang="en-US" b="1" dirty="0" err="1"/>
              <a:t>Device:Startup</a:t>
            </a:r>
            <a:r>
              <a:rPr lang="en-US" dirty="0"/>
              <a:t>, </a:t>
            </a:r>
            <a:r>
              <a:rPr lang="en-US" b="1" dirty="0"/>
              <a:t>File </a:t>
            </a:r>
            <a:r>
              <a:rPr lang="en-US" b="1" dirty="0" err="1"/>
              <a:t>System:CORE</a:t>
            </a:r>
            <a:endParaRPr lang="en-US" b="1" dirty="0"/>
          </a:p>
          <a:p>
            <a:pPr lvl="1"/>
            <a:r>
              <a:rPr lang="en-US" dirty="0"/>
              <a:t>Component Version (</a:t>
            </a:r>
            <a:r>
              <a:rPr lang="en-US" dirty="0" err="1"/>
              <a:t>Cversion</a:t>
            </a:r>
            <a:r>
              <a:rPr lang="en-US" dirty="0"/>
              <a:t>): the version number of the software component</a:t>
            </a:r>
          </a:p>
          <a:p>
            <a:endParaRPr lang="en-GB" dirty="0"/>
          </a:p>
          <a:p>
            <a:r>
              <a:rPr lang="en-GB" dirty="0"/>
              <a:t>Optionally, a software component may have additional attributes:</a:t>
            </a:r>
          </a:p>
          <a:p>
            <a:pPr lvl="1"/>
            <a:r>
              <a:rPr lang="en-US" dirty="0"/>
              <a:t>Component Sub-Group (</a:t>
            </a:r>
            <a:r>
              <a:rPr lang="en-US" dirty="0" err="1"/>
              <a:t>Csub</a:t>
            </a:r>
            <a:r>
              <a:rPr lang="en-US" dirty="0"/>
              <a:t>): examples are </a:t>
            </a:r>
            <a:r>
              <a:rPr lang="en-US" b="1" dirty="0" err="1"/>
              <a:t>CMSIS:RTOS:MyRTOS</a:t>
            </a:r>
            <a:r>
              <a:rPr lang="en-US" dirty="0"/>
              <a:t>, </a:t>
            </a:r>
            <a:r>
              <a:rPr lang="en-US" b="1" dirty="0" err="1"/>
              <a:t>Device:Driver</a:t>
            </a:r>
            <a:r>
              <a:rPr lang="en-US" b="1" dirty="0"/>
              <a:t> </a:t>
            </a:r>
            <a:r>
              <a:rPr lang="en-US" b="1" dirty="0" err="1"/>
              <a:t>USBD:Full-speed</a:t>
            </a:r>
            <a:endParaRPr lang="en-US" b="1" dirty="0"/>
          </a:p>
          <a:p>
            <a:pPr lvl="1"/>
            <a:r>
              <a:rPr lang="en-US" dirty="0"/>
              <a:t>Component Variant (</a:t>
            </a:r>
            <a:r>
              <a:rPr lang="en-US" dirty="0" err="1"/>
              <a:t>Cvariant</a:t>
            </a:r>
            <a:r>
              <a:rPr lang="en-US" dirty="0"/>
              <a:t>): a variant of the software component: </a:t>
            </a:r>
            <a:r>
              <a:rPr lang="en-US" b="1" dirty="0" err="1"/>
              <a:t>RTOS:FreeRTOS</a:t>
            </a:r>
            <a:endParaRPr lang="en-US" b="1" dirty="0"/>
          </a:p>
          <a:p>
            <a:pPr lvl="1"/>
            <a:r>
              <a:rPr lang="en-US" dirty="0"/>
              <a:t>Component Vendor (</a:t>
            </a:r>
            <a:r>
              <a:rPr lang="en-US" dirty="0" err="1"/>
              <a:t>Cvendor</a:t>
            </a:r>
            <a:r>
              <a:rPr lang="en-US" dirty="0"/>
              <a:t>): the supplier of the software component</a:t>
            </a:r>
          </a:p>
          <a:p>
            <a:pPr lvl="1"/>
            <a:endParaRPr lang="en-US" dirty="0"/>
          </a:p>
          <a:p>
            <a:pPr lvl="1"/>
            <a:endParaRPr lang="en-US" dirty="0"/>
          </a:p>
        </p:txBody>
      </p:sp>
    </p:spTree>
    <p:extLst>
      <p:ext uri="{BB962C8B-B14F-4D97-AF65-F5344CB8AC3E}">
        <p14:creationId xmlns:p14="http://schemas.microsoft.com/office/powerpoint/2010/main" val="10758609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2A4F4-A0EE-4AF6-9B97-64CD9EFD4ACC}"/>
              </a:ext>
            </a:extLst>
          </p:cNvPr>
          <p:cNvSpPr>
            <a:spLocks noGrp="1"/>
          </p:cNvSpPr>
          <p:nvPr>
            <p:ph type="title"/>
          </p:nvPr>
        </p:nvSpPr>
        <p:spPr/>
        <p:txBody>
          <a:bodyPr/>
          <a:lstStyle/>
          <a:p>
            <a:r>
              <a:rPr lang="en-US"/>
              <a:t>Bundles</a:t>
            </a:r>
            <a:endParaRPr lang="en-US" dirty="0"/>
          </a:p>
        </p:txBody>
      </p:sp>
      <p:sp>
        <p:nvSpPr>
          <p:cNvPr id="22" name="Content Placeholder 21">
            <a:extLst>
              <a:ext uri="{FF2B5EF4-FFF2-40B4-BE49-F238E27FC236}">
                <a16:creationId xmlns:a16="http://schemas.microsoft.com/office/drawing/2014/main" id="{87692C96-1A31-4F6A-828D-1B6821B5B26F}"/>
              </a:ext>
            </a:extLst>
          </p:cNvPr>
          <p:cNvSpPr>
            <a:spLocks noGrp="1"/>
          </p:cNvSpPr>
          <p:nvPr>
            <p:ph idx="1"/>
          </p:nvPr>
        </p:nvSpPr>
        <p:spPr>
          <a:xfrm>
            <a:off x="492124" y="1479468"/>
            <a:ext cx="6037011" cy="4086225"/>
          </a:xfrm>
        </p:spPr>
        <p:txBody>
          <a:bodyPr/>
          <a:lstStyle/>
          <a:p>
            <a:r>
              <a:rPr lang="en-GB" dirty="0"/>
              <a:t>A bundle is a variant on the </a:t>
            </a:r>
            <a:r>
              <a:rPr lang="en-GB" dirty="0" err="1"/>
              <a:t>Cclass</a:t>
            </a:r>
            <a:r>
              <a:rPr lang="en-GB" dirty="0"/>
              <a:t> level.</a:t>
            </a:r>
          </a:p>
          <a:p>
            <a:r>
              <a:rPr lang="en-GB" dirty="0"/>
              <a:t>It specifies the attributes </a:t>
            </a:r>
            <a:r>
              <a:rPr lang="en-GB" dirty="0" err="1"/>
              <a:t>Cclass</a:t>
            </a:r>
            <a:r>
              <a:rPr lang="en-GB" dirty="0"/>
              <a:t>, </a:t>
            </a:r>
            <a:r>
              <a:rPr lang="en-GB" dirty="0" err="1"/>
              <a:t>Cversion</a:t>
            </a:r>
            <a:r>
              <a:rPr lang="en-GB" dirty="0"/>
              <a:t> and optionally </a:t>
            </a:r>
            <a:r>
              <a:rPr lang="en-GB" dirty="0" err="1"/>
              <a:t>Cgroup</a:t>
            </a:r>
            <a:r>
              <a:rPr lang="en-GB" dirty="0"/>
              <a:t> and </a:t>
            </a:r>
            <a:r>
              <a:rPr lang="en-GB" dirty="0" err="1"/>
              <a:t>Cvendor</a:t>
            </a:r>
            <a:r>
              <a:rPr lang="en-GB" dirty="0"/>
              <a:t> for a collection of interdependent components.</a:t>
            </a:r>
          </a:p>
          <a:p>
            <a:r>
              <a:rPr lang="en-GB" dirty="0"/>
              <a:t>Components within a bundle inherit the attributes set by the bundle and must not set these attributes again.</a:t>
            </a:r>
          </a:p>
          <a:p>
            <a:r>
              <a:rPr lang="en-GB" dirty="0"/>
              <a:t>Bundles ensure consistency of attributes across multiple interworking components and restrict the mix and match of components within a </a:t>
            </a:r>
            <a:r>
              <a:rPr lang="en-GB" dirty="0" err="1"/>
              <a:t>Cclass</a:t>
            </a:r>
            <a:r>
              <a:rPr lang="en-GB" dirty="0"/>
              <a:t> from different solutions.</a:t>
            </a:r>
            <a:endParaRPr lang="en-US" dirty="0"/>
          </a:p>
        </p:txBody>
      </p:sp>
      <p:sp>
        <p:nvSpPr>
          <p:cNvPr id="4" name="Rectangle 3">
            <a:extLst>
              <a:ext uri="{FF2B5EF4-FFF2-40B4-BE49-F238E27FC236}">
                <a16:creationId xmlns:a16="http://schemas.microsoft.com/office/drawing/2014/main" id="{D3022A3B-8B4C-4B9B-95D2-86AE594E107B}"/>
              </a:ext>
            </a:extLst>
          </p:cNvPr>
          <p:cNvSpPr/>
          <p:nvPr/>
        </p:nvSpPr>
        <p:spPr>
          <a:xfrm>
            <a:off x="6670306" y="1479468"/>
            <a:ext cx="5315117" cy="2088683"/>
          </a:xfrm>
          <a:prstGeom prst="rect">
            <a:avLst/>
          </a:prstGeom>
          <a:noFill/>
          <a:ln w="38100">
            <a:solidFill>
              <a:srgbClr val="0091B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t" anchorCtr="0"/>
          <a:lstStyle/>
          <a:p>
            <a:pPr algn="ctr"/>
            <a:r>
              <a:rPr lang="en-US" sz="2000" dirty="0">
                <a:solidFill>
                  <a:sysClr val="windowText" lastClr="000000"/>
                </a:solidFill>
              </a:rPr>
              <a:t>Bundle</a:t>
            </a:r>
          </a:p>
        </p:txBody>
      </p:sp>
      <p:sp>
        <p:nvSpPr>
          <p:cNvPr id="11" name="Rectangle 10">
            <a:extLst>
              <a:ext uri="{FF2B5EF4-FFF2-40B4-BE49-F238E27FC236}">
                <a16:creationId xmlns:a16="http://schemas.microsoft.com/office/drawing/2014/main" id="{620B1610-9698-4F12-A0EF-CDACA337CBE0}"/>
              </a:ext>
            </a:extLst>
          </p:cNvPr>
          <p:cNvSpPr/>
          <p:nvPr/>
        </p:nvSpPr>
        <p:spPr>
          <a:xfrm>
            <a:off x="7165641" y="1645630"/>
            <a:ext cx="1368000" cy="720000"/>
          </a:xfrm>
          <a:prstGeom prst="rect">
            <a:avLst/>
          </a:prstGeom>
          <a:noFill/>
          <a:ln w="38100">
            <a:solidFill>
              <a:srgbClr val="00C1DC"/>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nchorCtr="0"/>
          <a:lstStyle/>
          <a:p>
            <a:pPr algn="ctr"/>
            <a:r>
              <a:rPr lang="en-US" dirty="0">
                <a:solidFill>
                  <a:sysClr val="windowText" lastClr="000000"/>
                </a:solidFill>
              </a:rPr>
              <a:t>Component A</a:t>
            </a:r>
          </a:p>
        </p:txBody>
      </p:sp>
      <p:sp>
        <p:nvSpPr>
          <p:cNvPr id="12" name="Rectangle 11">
            <a:extLst>
              <a:ext uri="{FF2B5EF4-FFF2-40B4-BE49-F238E27FC236}">
                <a16:creationId xmlns:a16="http://schemas.microsoft.com/office/drawing/2014/main" id="{9558163B-A8A2-4DA2-88F1-89B0C135B051}"/>
              </a:ext>
            </a:extLst>
          </p:cNvPr>
          <p:cNvSpPr/>
          <p:nvPr/>
        </p:nvSpPr>
        <p:spPr>
          <a:xfrm>
            <a:off x="8806248" y="1647350"/>
            <a:ext cx="1368000" cy="720000"/>
          </a:xfrm>
          <a:prstGeom prst="rect">
            <a:avLst/>
          </a:prstGeom>
          <a:noFill/>
          <a:ln w="38100">
            <a:solidFill>
              <a:srgbClr val="00C1DC"/>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nchorCtr="0"/>
          <a:lstStyle/>
          <a:p>
            <a:pPr algn="ctr"/>
            <a:r>
              <a:rPr lang="en-US" dirty="0">
                <a:solidFill>
                  <a:sysClr val="windowText" lastClr="000000"/>
                </a:solidFill>
              </a:rPr>
              <a:t>Component B</a:t>
            </a:r>
          </a:p>
        </p:txBody>
      </p:sp>
      <p:sp>
        <p:nvSpPr>
          <p:cNvPr id="13" name="Rectangle 12">
            <a:extLst>
              <a:ext uri="{FF2B5EF4-FFF2-40B4-BE49-F238E27FC236}">
                <a16:creationId xmlns:a16="http://schemas.microsoft.com/office/drawing/2014/main" id="{B83F8EDA-1937-42CA-9A14-BEA673ED3D41}"/>
              </a:ext>
            </a:extLst>
          </p:cNvPr>
          <p:cNvSpPr/>
          <p:nvPr/>
        </p:nvSpPr>
        <p:spPr>
          <a:xfrm>
            <a:off x="10446856" y="1645630"/>
            <a:ext cx="1368000" cy="720000"/>
          </a:xfrm>
          <a:prstGeom prst="rect">
            <a:avLst/>
          </a:prstGeom>
          <a:noFill/>
          <a:ln w="38100">
            <a:solidFill>
              <a:srgbClr val="00C1DC"/>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nchorCtr="0"/>
          <a:lstStyle/>
          <a:p>
            <a:pPr algn="ctr"/>
            <a:r>
              <a:rPr lang="en-US" dirty="0">
                <a:solidFill>
                  <a:sysClr val="windowText" lastClr="000000"/>
                </a:solidFill>
              </a:rPr>
              <a:t>Component C</a:t>
            </a:r>
          </a:p>
        </p:txBody>
      </p:sp>
      <p:sp>
        <p:nvSpPr>
          <p:cNvPr id="15" name="Rectangle 14">
            <a:extLst>
              <a:ext uri="{FF2B5EF4-FFF2-40B4-BE49-F238E27FC236}">
                <a16:creationId xmlns:a16="http://schemas.microsoft.com/office/drawing/2014/main" id="{59A702A3-F7AA-470A-B727-6C61E4B6242E}"/>
              </a:ext>
            </a:extLst>
          </p:cNvPr>
          <p:cNvSpPr/>
          <p:nvPr/>
        </p:nvSpPr>
        <p:spPr>
          <a:xfrm>
            <a:off x="7165641" y="2688619"/>
            <a:ext cx="1368000" cy="720000"/>
          </a:xfrm>
          <a:prstGeom prst="rect">
            <a:avLst/>
          </a:prstGeom>
          <a:noFill/>
          <a:ln w="38100">
            <a:solidFill>
              <a:srgbClr val="00C1DC"/>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nchorCtr="0"/>
          <a:lstStyle/>
          <a:p>
            <a:pPr algn="ctr"/>
            <a:r>
              <a:rPr lang="en-US" dirty="0">
                <a:solidFill>
                  <a:sysClr val="windowText" lastClr="000000"/>
                </a:solidFill>
              </a:rPr>
              <a:t>Component X</a:t>
            </a:r>
          </a:p>
        </p:txBody>
      </p:sp>
      <p:sp>
        <p:nvSpPr>
          <p:cNvPr id="16" name="Rectangle 15">
            <a:extLst>
              <a:ext uri="{FF2B5EF4-FFF2-40B4-BE49-F238E27FC236}">
                <a16:creationId xmlns:a16="http://schemas.microsoft.com/office/drawing/2014/main" id="{824EE747-3C1D-4374-BD54-63A28771A500}"/>
              </a:ext>
            </a:extLst>
          </p:cNvPr>
          <p:cNvSpPr/>
          <p:nvPr/>
        </p:nvSpPr>
        <p:spPr>
          <a:xfrm>
            <a:off x="8806248" y="2688619"/>
            <a:ext cx="1368000" cy="720000"/>
          </a:xfrm>
          <a:prstGeom prst="rect">
            <a:avLst/>
          </a:prstGeom>
          <a:noFill/>
          <a:ln w="38100">
            <a:solidFill>
              <a:srgbClr val="00C1DC"/>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nchorCtr="0"/>
          <a:lstStyle/>
          <a:p>
            <a:pPr algn="ctr"/>
            <a:r>
              <a:rPr lang="en-US" dirty="0">
                <a:solidFill>
                  <a:sysClr val="windowText" lastClr="000000"/>
                </a:solidFill>
              </a:rPr>
              <a:t>Component Y</a:t>
            </a:r>
          </a:p>
        </p:txBody>
      </p:sp>
      <p:sp>
        <p:nvSpPr>
          <p:cNvPr id="19" name="Rectangle 18">
            <a:extLst>
              <a:ext uri="{FF2B5EF4-FFF2-40B4-BE49-F238E27FC236}">
                <a16:creationId xmlns:a16="http://schemas.microsoft.com/office/drawing/2014/main" id="{FA417292-039F-4F75-8CD3-A9E5E3B6F893}"/>
              </a:ext>
            </a:extLst>
          </p:cNvPr>
          <p:cNvSpPr/>
          <p:nvPr/>
        </p:nvSpPr>
        <p:spPr>
          <a:xfrm>
            <a:off x="10446856" y="2696916"/>
            <a:ext cx="1368000" cy="720000"/>
          </a:xfrm>
          <a:prstGeom prst="rect">
            <a:avLst/>
          </a:prstGeom>
          <a:noFill/>
          <a:ln w="38100">
            <a:solidFill>
              <a:srgbClr val="00C1DC"/>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nchorCtr="0"/>
          <a:lstStyle/>
          <a:p>
            <a:pPr algn="ctr"/>
            <a:r>
              <a:rPr lang="en-US" dirty="0">
                <a:solidFill>
                  <a:sysClr val="windowText" lastClr="000000"/>
                </a:solidFill>
              </a:rPr>
              <a:t>Component Z</a:t>
            </a:r>
          </a:p>
        </p:txBody>
      </p:sp>
    </p:spTree>
    <p:extLst>
      <p:ext uri="{BB962C8B-B14F-4D97-AF65-F5344CB8AC3E}">
        <p14:creationId xmlns:p14="http://schemas.microsoft.com/office/powerpoint/2010/main" val="38968284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0BAAA-20E0-429F-A12C-E98347572706}"/>
              </a:ext>
            </a:extLst>
          </p:cNvPr>
          <p:cNvSpPr>
            <a:spLocks noGrp="1"/>
          </p:cNvSpPr>
          <p:nvPr>
            <p:ph type="title"/>
          </p:nvPr>
        </p:nvSpPr>
        <p:spPr/>
        <p:txBody>
          <a:bodyPr/>
          <a:lstStyle/>
          <a:p>
            <a:r>
              <a:rPr lang="en-US" dirty="0"/>
              <a:t>Bundles</a:t>
            </a:r>
          </a:p>
        </p:txBody>
      </p:sp>
      <p:sp>
        <p:nvSpPr>
          <p:cNvPr id="3" name="Content Placeholder 2">
            <a:extLst>
              <a:ext uri="{FF2B5EF4-FFF2-40B4-BE49-F238E27FC236}">
                <a16:creationId xmlns:a16="http://schemas.microsoft.com/office/drawing/2014/main" id="{AF31F986-112D-4DD5-A578-5B9887C8201C}"/>
              </a:ext>
            </a:extLst>
          </p:cNvPr>
          <p:cNvSpPr>
            <a:spLocks noGrp="1"/>
          </p:cNvSpPr>
          <p:nvPr>
            <p:ph idx="1"/>
          </p:nvPr>
        </p:nvSpPr>
        <p:spPr/>
        <p:txBody>
          <a:bodyPr/>
          <a:lstStyle/>
          <a:p>
            <a:r>
              <a:rPr lang="en-GB" dirty="0"/>
              <a:t>In case multiple inter-dependent components that belong to the same </a:t>
            </a:r>
            <a:r>
              <a:rPr lang="en-GB" dirty="0" err="1"/>
              <a:t>Cclass</a:t>
            </a:r>
            <a:r>
              <a:rPr lang="en-GB" dirty="0"/>
              <a:t> form part of a solution, these can be grouped into a bundle (</a:t>
            </a:r>
            <a:r>
              <a:rPr lang="en-GB" dirty="0" err="1"/>
              <a:t>Cbundle</a:t>
            </a:r>
            <a:r>
              <a:rPr lang="en-GB" dirty="0"/>
              <a:t>).</a:t>
            </a:r>
          </a:p>
          <a:p>
            <a:r>
              <a:rPr lang="en-GB" dirty="0"/>
              <a:t>A </a:t>
            </a:r>
            <a:r>
              <a:rPr lang="en-GB" dirty="0" err="1"/>
              <a:t>Cbundle</a:t>
            </a:r>
            <a:r>
              <a:rPr lang="en-GB" dirty="0"/>
              <a:t> specifies identical attributes </a:t>
            </a:r>
            <a:r>
              <a:rPr lang="en-GB" dirty="0" err="1"/>
              <a:t>Cclass</a:t>
            </a:r>
            <a:r>
              <a:rPr lang="en-GB" dirty="0"/>
              <a:t>, </a:t>
            </a:r>
            <a:r>
              <a:rPr lang="en-GB" dirty="0" err="1"/>
              <a:t>Cversion</a:t>
            </a:r>
            <a:r>
              <a:rPr lang="en-GB" dirty="0"/>
              <a:t> and optionally </a:t>
            </a:r>
            <a:r>
              <a:rPr lang="en-GB" dirty="0" err="1"/>
              <a:t>Cgroup</a:t>
            </a:r>
            <a:r>
              <a:rPr lang="en-GB" dirty="0"/>
              <a:t> and </a:t>
            </a:r>
            <a:r>
              <a:rPr lang="en-GB" dirty="0" err="1"/>
              <a:t>Cvendor</a:t>
            </a:r>
            <a:r>
              <a:rPr lang="en-GB" dirty="0"/>
              <a:t> for several components.</a:t>
            </a:r>
          </a:p>
          <a:p>
            <a:r>
              <a:rPr lang="en-GB" dirty="0"/>
              <a:t>Components within a bundle inherit these attributes set by the bundle and cannot alter these attributes (for example component version).</a:t>
            </a:r>
          </a:p>
          <a:p>
            <a:r>
              <a:rPr lang="en-GB" dirty="0"/>
              <a:t>Bundles ensure consistency of attributes across multiple interworking components and restrict the mix and match of components within a </a:t>
            </a:r>
            <a:r>
              <a:rPr lang="en-GB" dirty="0" err="1"/>
              <a:t>Cclass</a:t>
            </a:r>
            <a:r>
              <a:rPr lang="en-GB" dirty="0"/>
              <a:t> from different software packs.</a:t>
            </a:r>
            <a:endParaRPr lang="en-US" dirty="0"/>
          </a:p>
          <a:p>
            <a:pPr lvl="1"/>
            <a:endParaRPr lang="en-US" dirty="0"/>
          </a:p>
          <a:p>
            <a:pPr lvl="1"/>
            <a:endParaRPr lang="en-US" dirty="0"/>
          </a:p>
          <a:p>
            <a:endParaRPr lang="en-US" dirty="0"/>
          </a:p>
        </p:txBody>
      </p:sp>
    </p:spTree>
    <p:extLst>
      <p:ext uri="{BB962C8B-B14F-4D97-AF65-F5344CB8AC3E}">
        <p14:creationId xmlns:p14="http://schemas.microsoft.com/office/powerpoint/2010/main" val="369575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D63F71B-CFD6-4E26-912F-7DF4540D1806}"/>
              </a:ext>
            </a:extLst>
          </p:cNvPr>
          <p:cNvSpPr/>
          <p:nvPr/>
        </p:nvSpPr>
        <p:spPr>
          <a:xfrm>
            <a:off x="288758" y="4043276"/>
            <a:ext cx="11608067" cy="2289632"/>
          </a:xfrm>
          <a:prstGeom prst="rect">
            <a:avLst/>
          </a:prstGeom>
          <a:solidFill>
            <a:srgbClr val="E5EC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8E4485-04E8-4297-B1F6-85A98B8BE47C}"/>
              </a:ext>
            </a:extLst>
          </p:cNvPr>
          <p:cNvSpPr>
            <a:spLocks noGrp="1"/>
          </p:cNvSpPr>
          <p:nvPr>
            <p:ph type="title"/>
          </p:nvPr>
        </p:nvSpPr>
        <p:spPr/>
        <p:txBody>
          <a:bodyPr/>
          <a:lstStyle/>
          <a:p>
            <a:r>
              <a:rPr lang="en-US" dirty="0"/>
              <a:t>Relationships of packs and software components</a:t>
            </a:r>
          </a:p>
        </p:txBody>
      </p:sp>
      <p:sp>
        <p:nvSpPr>
          <p:cNvPr id="47" name="Content Placeholder 46">
            <a:extLst>
              <a:ext uri="{FF2B5EF4-FFF2-40B4-BE49-F238E27FC236}">
                <a16:creationId xmlns:a16="http://schemas.microsoft.com/office/drawing/2014/main" id="{EA3DE31F-A1AA-4392-8A50-553A795E90EE}"/>
              </a:ext>
            </a:extLst>
          </p:cNvPr>
          <p:cNvSpPr>
            <a:spLocks noGrp="1"/>
          </p:cNvSpPr>
          <p:nvPr>
            <p:ph idx="1"/>
          </p:nvPr>
        </p:nvSpPr>
        <p:spPr/>
        <p:txBody>
          <a:bodyPr/>
          <a:lstStyle/>
          <a:p>
            <a:r>
              <a:rPr lang="en-US" b="1" dirty="0"/>
              <a:t>Packs</a:t>
            </a:r>
            <a:r>
              <a:rPr lang="en-US" dirty="0"/>
              <a:t> can require other packs to be available:</a:t>
            </a:r>
          </a:p>
          <a:p>
            <a:endParaRPr lang="en-US" dirty="0"/>
          </a:p>
          <a:p>
            <a:endParaRPr lang="en-US" dirty="0"/>
          </a:p>
          <a:p>
            <a:pPr marL="0" indent="0">
              <a:buNone/>
            </a:pPr>
            <a:endParaRPr lang="en-US" dirty="0"/>
          </a:p>
          <a:p>
            <a:r>
              <a:rPr lang="en-US" b="1" dirty="0"/>
              <a:t>Components</a:t>
            </a:r>
            <a:r>
              <a:rPr lang="en-US" dirty="0"/>
              <a:t> can have dependencies on other components; either from the same or from other packs:</a:t>
            </a:r>
          </a:p>
        </p:txBody>
      </p:sp>
      <p:sp>
        <p:nvSpPr>
          <p:cNvPr id="5" name="Rectangle 4">
            <a:extLst>
              <a:ext uri="{FF2B5EF4-FFF2-40B4-BE49-F238E27FC236}">
                <a16:creationId xmlns:a16="http://schemas.microsoft.com/office/drawing/2014/main" id="{05188098-3C86-4459-B569-66FA982F4C77}"/>
              </a:ext>
            </a:extLst>
          </p:cNvPr>
          <p:cNvSpPr/>
          <p:nvPr/>
        </p:nvSpPr>
        <p:spPr bwMode="auto">
          <a:xfrm>
            <a:off x="492125" y="2221372"/>
            <a:ext cx="2160000" cy="720000"/>
          </a:xfrm>
          <a:prstGeom prst="rect">
            <a:avLst/>
          </a:prstGeom>
          <a:noFill/>
          <a:ln w="38100" cap="flat" cmpd="sng" algn="ctr">
            <a:solidFill>
              <a:schemeClr val="accent1"/>
            </a:solidFill>
            <a:prstDash val="solid"/>
            <a:round/>
            <a:headEnd type="none" w="med" len="med"/>
            <a:tailEnd type="none" w="med" len="med"/>
          </a:ln>
          <a:effectLst/>
        </p:spPr>
        <p:txBody>
          <a:bodyPr wrap="none" anchor="ctr"/>
          <a:lstStyle/>
          <a:p>
            <a:pPr algn="ctr">
              <a:defRPr/>
            </a:pPr>
            <a:r>
              <a:rPr lang="en-US" sz="2400" dirty="0">
                <a:solidFill>
                  <a:sysClr val="windowText" lastClr="000000"/>
                </a:solidFill>
              </a:rPr>
              <a:t>Pack A</a:t>
            </a:r>
          </a:p>
          <a:p>
            <a:pPr algn="ctr">
              <a:defRPr/>
            </a:pPr>
            <a:r>
              <a:rPr lang="en-US" sz="2400" dirty="0">
                <a:solidFill>
                  <a:sysClr val="windowText" lastClr="000000"/>
                </a:solidFill>
              </a:rPr>
              <a:t>Version n</a:t>
            </a:r>
            <a:endParaRPr lang="en-US" sz="2400" dirty="0">
              <a:solidFill>
                <a:sysClr val="windowText" lastClr="000000"/>
              </a:solidFill>
              <a:latin typeface="Courier New" pitchFamily="49" charset="0"/>
              <a:cs typeface="Courier New" pitchFamily="49" charset="0"/>
            </a:endParaRPr>
          </a:p>
        </p:txBody>
      </p:sp>
      <p:sp>
        <p:nvSpPr>
          <p:cNvPr id="6" name="Rectangle 5">
            <a:extLst>
              <a:ext uri="{FF2B5EF4-FFF2-40B4-BE49-F238E27FC236}">
                <a16:creationId xmlns:a16="http://schemas.microsoft.com/office/drawing/2014/main" id="{F1F19888-1B73-4F91-8803-652EA9B84767}"/>
              </a:ext>
            </a:extLst>
          </p:cNvPr>
          <p:cNvSpPr/>
          <p:nvPr/>
        </p:nvSpPr>
        <p:spPr bwMode="auto">
          <a:xfrm>
            <a:off x="5016000" y="2221372"/>
            <a:ext cx="2160000" cy="720000"/>
          </a:xfrm>
          <a:prstGeom prst="rect">
            <a:avLst/>
          </a:prstGeom>
          <a:noFill/>
          <a:ln w="38100" cap="flat" cmpd="sng" algn="ctr">
            <a:solidFill>
              <a:schemeClr val="accent1"/>
            </a:solidFill>
            <a:prstDash val="solid"/>
            <a:round/>
            <a:headEnd type="none" w="med" len="med"/>
            <a:tailEnd type="none" w="med" len="med"/>
          </a:ln>
          <a:effectLst/>
        </p:spPr>
        <p:txBody>
          <a:bodyPr wrap="none" anchor="ctr"/>
          <a:lstStyle/>
          <a:p>
            <a:pPr algn="ctr">
              <a:defRPr/>
            </a:pPr>
            <a:r>
              <a:rPr lang="en-US" sz="2400" dirty="0">
                <a:solidFill>
                  <a:sysClr val="windowText" lastClr="000000"/>
                </a:solidFill>
              </a:rPr>
              <a:t>Pack B</a:t>
            </a:r>
          </a:p>
          <a:p>
            <a:pPr algn="ctr">
              <a:defRPr/>
            </a:pPr>
            <a:r>
              <a:rPr lang="en-US" sz="2400" dirty="0">
                <a:solidFill>
                  <a:sysClr val="windowText" lastClr="000000"/>
                </a:solidFill>
              </a:rPr>
              <a:t>Version m</a:t>
            </a:r>
          </a:p>
        </p:txBody>
      </p:sp>
      <p:cxnSp>
        <p:nvCxnSpPr>
          <p:cNvPr id="8" name="Straight Arrow Connector 7">
            <a:extLst>
              <a:ext uri="{FF2B5EF4-FFF2-40B4-BE49-F238E27FC236}">
                <a16:creationId xmlns:a16="http://schemas.microsoft.com/office/drawing/2014/main" id="{D241A95B-96F2-4253-ACC6-54C86AD6670F}"/>
              </a:ext>
            </a:extLst>
          </p:cNvPr>
          <p:cNvCxnSpPr>
            <a:stCxn id="6" idx="1"/>
            <a:endCxn id="5" idx="3"/>
          </p:cNvCxnSpPr>
          <p:nvPr/>
        </p:nvCxnSpPr>
        <p:spPr>
          <a:xfrm flipH="1">
            <a:off x="2652125" y="2581372"/>
            <a:ext cx="236387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1496F0D9-412A-4FAD-865F-213B27036879}"/>
              </a:ext>
            </a:extLst>
          </p:cNvPr>
          <p:cNvSpPr/>
          <p:nvPr/>
        </p:nvSpPr>
        <p:spPr bwMode="auto">
          <a:xfrm>
            <a:off x="492125" y="4583660"/>
            <a:ext cx="5244532" cy="1315657"/>
          </a:xfrm>
          <a:prstGeom prst="rect">
            <a:avLst/>
          </a:prstGeom>
          <a:solidFill>
            <a:schemeClr val="bg1"/>
          </a:solidFill>
          <a:ln w="38100" cap="flat" cmpd="sng" algn="ctr">
            <a:solidFill>
              <a:schemeClr val="accent1"/>
            </a:solidFill>
            <a:prstDash val="solid"/>
            <a:round/>
            <a:headEnd type="none" w="med" len="med"/>
            <a:tailEnd type="none" w="med" len="med"/>
          </a:ln>
          <a:effectLst/>
        </p:spPr>
        <p:txBody>
          <a:bodyPr wrap="none" anchor="t"/>
          <a:lstStyle/>
          <a:p>
            <a:pPr>
              <a:defRPr/>
            </a:pPr>
            <a:r>
              <a:rPr lang="en-US" sz="1600" dirty="0">
                <a:solidFill>
                  <a:sysClr val="windowText" lastClr="000000"/>
                </a:solidFill>
              </a:rPr>
              <a:t>Pack A, Version n</a:t>
            </a:r>
            <a:endParaRPr lang="en-US" sz="1600" dirty="0">
              <a:solidFill>
                <a:sysClr val="windowText" lastClr="000000"/>
              </a:solidFill>
              <a:latin typeface="Courier New" pitchFamily="49" charset="0"/>
              <a:cs typeface="Courier New" pitchFamily="49" charset="0"/>
            </a:endParaRPr>
          </a:p>
        </p:txBody>
      </p:sp>
      <p:sp>
        <p:nvSpPr>
          <p:cNvPr id="13" name="Rectangle 12">
            <a:extLst>
              <a:ext uri="{FF2B5EF4-FFF2-40B4-BE49-F238E27FC236}">
                <a16:creationId xmlns:a16="http://schemas.microsoft.com/office/drawing/2014/main" id="{267CBFD2-AB7A-4D35-94A1-A7455579B66A}"/>
              </a:ext>
            </a:extLst>
          </p:cNvPr>
          <p:cNvSpPr/>
          <p:nvPr/>
        </p:nvSpPr>
        <p:spPr>
          <a:xfrm>
            <a:off x="693019" y="5025831"/>
            <a:ext cx="1476000" cy="648000"/>
          </a:xfrm>
          <a:prstGeom prst="rect">
            <a:avLst/>
          </a:prstGeom>
          <a:noFill/>
          <a:ln w="38100">
            <a:solidFill>
              <a:srgbClr val="00C1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Component A</a:t>
            </a:r>
          </a:p>
        </p:txBody>
      </p:sp>
      <p:sp>
        <p:nvSpPr>
          <p:cNvPr id="14" name="Rectangle 13">
            <a:extLst>
              <a:ext uri="{FF2B5EF4-FFF2-40B4-BE49-F238E27FC236}">
                <a16:creationId xmlns:a16="http://schemas.microsoft.com/office/drawing/2014/main" id="{3141B33D-0B25-4EE9-AFE3-E076C05DA947}"/>
              </a:ext>
            </a:extLst>
          </p:cNvPr>
          <p:cNvSpPr/>
          <p:nvPr/>
        </p:nvSpPr>
        <p:spPr>
          <a:xfrm>
            <a:off x="2358061" y="5025831"/>
            <a:ext cx="1476000" cy="648000"/>
          </a:xfrm>
          <a:prstGeom prst="rect">
            <a:avLst/>
          </a:prstGeom>
          <a:noFill/>
          <a:ln w="38100">
            <a:solidFill>
              <a:srgbClr val="00C1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Component B</a:t>
            </a:r>
          </a:p>
        </p:txBody>
      </p:sp>
      <p:sp>
        <p:nvSpPr>
          <p:cNvPr id="15" name="Rectangle 14">
            <a:extLst>
              <a:ext uri="{FF2B5EF4-FFF2-40B4-BE49-F238E27FC236}">
                <a16:creationId xmlns:a16="http://schemas.microsoft.com/office/drawing/2014/main" id="{6EDF132B-EADF-40B1-B4B0-698604E95840}"/>
              </a:ext>
            </a:extLst>
          </p:cNvPr>
          <p:cNvSpPr/>
          <p:nvPr/>
        </p:nvSpPr>
        <p:spPr>
          <a:xfrm>
            <a:off x="4023103" y="5032181"/>
            <a:ext cx="1476000" cy="648000"/>
          </a:xfrm>
          <a:prstGeom prst="rect">
            <a:avLst/>
          </a:prstGeom>
          <a:noFill/>
          <a:ln w="38100">
            <a:solidFill>
              <a:srgbClr val="00C1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Component C</a:t>
            </a:r>
          </a:p>
        </p:txBody>
      </p:sp>
      <p:sp>
        <p:nvSpPr>
          <p:cNvPr id="12" name="Rectangle 11">
            <a:extLst>
              <a:ext uri="{FF2B5EF4-FFF2-40B4-BE49-F238E27FC236}">
                <a16:creationId xmlns:a16="http://schemas.microsoft.com/office/drawing/2014/main" id="{21D78F45-7E28-4BC2-9871-C44FBF53A3BC}"/>
              </a:ext>
            </a:extLst>
          </p:cNvPr>
          <p:cNvSpPr/>
          <p:nvPr/>
        </p:nvSpPr>
        <p:spPr bwMode="auto">
          <a:xfrm>
            <a:off x="6455345" y="4583660"/>
            <a:ext cx="5244532" cy="1315657"/>
          </a:xfrm>
          <a:prstGeom prst="rect">
            <a:avLst/>
          </a:prstGeom>
          <a:solidFill>
            <a:schemeClr val="bg1"/>
          </a:solidFill>
          <a:ln w="38100" cap="flat" cmpd="sng" algn="ctr">
            <a:solidFill>
              <a:schemeClr val="accent1"/>
            </a:solidFill>
            <a:prstDash val="solid"/>
            <a:round/>
            <a:headEnd type="none" w="med" len="med"/>
            <a:tailEnd type="none" w="med" len="med"/>
          </a:ln>
          <a:effectLst/>
        </p:spPr>
        <p:txBody>
          <a:bodyPr wrap="none" anchor="t"/>
          <a:lstStyle/>
          <a:p>
            <a:pPr>
              <a:defRPr/>
            </a:pPr>
            <a:r>
              <a:rPr lang="en-US" sz="1600" dirty="0">
                <a:solidFill>
                  <a:sysClr val="windowText" lastClr="000000"/>
                </a:solidFill>
              </a:rPr>
              <a:t>Pack B, Version m</a:t>
            </a:r>
            <a:endParaRPr lang="en-US" sz="1600" dirty="0">
              <a:solidFill>
                <a:sysClr val="windowText" lastClr="000000"/>
              </a:solidFill>
              <a:latin typeface="Courier New" pitchFamily="49" charset="0"/>
              <a:cs typeface="Courier New" pitchFamily="49" charset="0"/>
            </a:endParaRPr>
          </a:p>
        </p:txBody>
      </p:sp>
      <p:sp>
        <p:nvSpPr>
          <p:cNvPr id="16" name="Rectangle 15">
            <a:extLst>
              <a:ext uri="{FF2B5EF4-FFF2-40B4-BE49-F238E27FC236}">
                <a16:creationId xmlns:a16="http://schemas.microsoft.com/office/drawing/2014/main" id="{1C7D6E04-1133-4CD8-91AF-EB85FEAAAB5E}"/>
              </a:ext>
            </a:extLst>
          </p:cNvPr>
          <p:cNvSpPr/>
          <p:nvPr/>
        </p:nvSpPr>
        <p:spPr>
          <a:xfrm>
            <a:off x="6656239" y="5025831"/>
            <a:ext cx="1476000" cy="648000"/>
          </a:xfrm>
          <a:prstGeom prst="rect">
            <a:avLst/>
          </a:prstGeom>
          <a:noFill/>
          <a:ln w="38100">
            <a:solidFill>
              <a:srgbClr val="00C1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Component A</a:t>
            </a:r>
          </a:p>
        </p:txBody>
      </p:sp>
      <p:sp>
        <p:nvSpPr>
          <p:cNvPr id="17" name="Rectangle 16">
            <a:extLst>
              <a:ext uri="{FF2B5EF4-FFF2-40B4-BE49-F238E27FC236}">
                <a16:creationId xmlns:a16="http://schemas.microsoft.com/office/drawing/2014/main" id="{620CDE0E-294A-4444-9E57-32A0720C0C94}"/>
              </a:ext>
            </a:extLst>
          </p:cNvPr>
          <p:cNvSpPr/>
          <p:nvPr/>
        </p:nvSpPr>
        <p:spPr>
          <a:xfrm>
            <a:off x="8321281" y="5025831"/>
            <a:ext cx="1476000" cy="648000"/>
          </a:xfrm>
          <a:prstGeom prst="rect">
            <a:avLst/>
          </a:prstGeom>
          <a:noFill/>
          <a:ln w="38100">
            <a:solidFill>
              <a:srgbClr val="00C1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Component B</a:t>
            </a:r>
          </a:p>
        </p:txBody>
      </p:sp>
      <p:sp>
        <p:nvSpPr>
          <p:cNvPr id="18" name="Rectangle 17">
            <a:extLst>
              <a:ext uri="{FF2B5EF4-FFF2-40B4-BE49-F238E27FC236}">
                <a16:creationId xmlns:a16="http://schemas.microsoft.com/office/drawing/2014/main" id="{AB49F45A-9DEA-4BCE-9DDB-FCBFADF79DBA}"/>
              </a:ext>
            </a:extLst>
          </p:cNvPr>
          <p:cNvSpPr/>
          <p:nvPr/>
        </p:nvSpPr>
        <p:spPr>
          <a:xfrm>
            <a:off x="9986323" y="5017776"/>
            <a:ext cx="1476000" cy="648000"/>
          </a:xfrm>
          <a:prstGeom prst="rect">
            <a:avLst/>
          </a:prstGeom>
          <a:noFill/>
          <a:ln w="38100">
            <a:solidFill>
              <a:srgbClr val="00C1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Component C</a:t>
            </a:r>
          </a:p>
        </p:txBody>
      </p:sp>
      <p:cxnSp>
        <p:nvCxnSpPr>
          <p:cNvPr id="20" name="Connector: Elbow 19">
            <a:extLst>
              <a:ext uri="{FF2B5EF4-FFF2-40B4-BE49-F238E27FC236}">
                <a16:creationId xmlns:a16="http://schemas.microsoft.com/office/drawing/2014/main" id="{04BBAC81-F6B4-404D-851E-157A8F62CE41}"/>
              </a:ext>
            </a:extLst>
          </p:cNvPr>
          <p:cNvCxnSpPr>
            <a:stCxn id="17" idx="0"/>
            <a:endCxn id="14" idx="0"/>
          </p:cNvCxnSpPr>
          <p:nvPr/>
        </p:nvCxnSpPr>
        <p:spPr>
          <a:xfrm rot="16200000" flipV="1">
            <a:off x="6077671" y="2044221"/>
            <a:ext cx="12700" cy="5963220"/>
          </a:xfrm>
          <a:prstGeom prst="bentConnector3">
            <a:avLst>
              <a:gd name="adj1" fmla="val 5816843"/>
            </a:avLst>
          </a:prstGeom>
          <a:ln w="25400">
            <a:solidFill>
              <a:srgbClr val="7D868C"/>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C951E4FF-EF1B-47AD-83DD-69457E768190}"/>
              </a:ext>
            </a:extLst>
          </p:cNvPr>
          <p:cNvCxnSpPr>
            <a:stCxn id="15" idx="2"/>
            <a:endCxn id="18" idx="2"/>
          </p:cNvCxnSpPr>
          <p:nvPr/>
        </p:nvCxnSpPr>
        <p:spPr>
          <a:xfrm rot="5400000" flipH="1" flipV="1">
            <a:off x="7735510" y="2691369"/>
            <a:ext cx="14405" cy="5963220"/>
          </a:xfrm>
          <a:prstGeom prst="bentConnector3">
            <a:avLst>
              <a:gd name="adj1" fmla="val -3190614"/>
            </a:avLst>
          </a:prstGeom>
          <a:ln w="25400">
            <a:solidFill>
              <a:srgbClr val="7D868C"/>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21DD7011-82AD-48BE-B383-6BD10C8390B7}"/>
              </a:ext>
            </a:extLst>
          </p:cNvPr>
          <p:cNvCxnSpPr>
            <a:stCxn id="17" idx="1"/>
            <a:endCxn id="16" idx="3"/>
          </p:cNvCxnSpPr>
          <p:nvPr/>
        </p:nvCxnSpPr>
        <p:spPr>
          <a:xfrm flipH="1">
            <a:off x="8132239" y="5349831"/>
            <a:ext cx="189042" cy="0"/>
          </a:xfrm>
          <a:prstGeom prst="straightConnector1">
            <a:avLst/>
          </a:prstGeom>
          <a:ln w="25400">
            <a:solidFill>
              <a:srgbClr val="7D868C"/>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28212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464AD37-FA14-401A-A3C0-8918658AF4E3}"/>
              </a:ext>
            </a:extLst>
          </p:cNvPr>
          <p:cNvSpPr/>
          <p:nvPr/>
        </p:nvSpPr>
        <p:spPr>
          <a:xfrm>
            <a:off x="588475" y="1312321"/>
            <a:ext cx="5295184" cy="45349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81B3104-D8E9-4A24-9F38-BDA6C0DFF7B6}"/>
              </a:ext>
            </a:extLst>
          </p:cNvPr>
          <p:cNvSpPr/>
          <p:nvPr/>
        </p:nvSpPr>
        <p:spPr>
          <a:xfrm>
            <a:off x="4263088" y="4708641"/>
            <a:ext cx="1620571" cy="1138626"/>
          </a:xfrm>
          <a:prstGeom prst="rect">
            <a:avLst/>
          </a:prstGeom>
          <a:solidFill>
            <a:srgbClr val="7D868C"/>
          </a:solidFill>
          <a:ln w="3810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b" anchorCtr="0"/>
          <a:lstStyle/>
          <a:p>
            <a:r>
              <a:rPr lang="en-US" sz="1400" dirty="0">
                <a:solidFill>
                  <a:schemeClr val="bg1"/>
                </a:solidFill>
              </a:rPr>
              <a:t>Implementation #3</a:t>
            </a:r>
            <a:endParaRPr lang="en-GB" sz="1400" dirty="0">
              <a:solidFill>
                <a:schemeClr val="bg1"/>
              </a:solidFill>
            </a:endParaRPr>
          </a:p>
        </p:txBody>
      </p:sp>
      <p:sp>
        <p:nvSpPr>
          <p:cNvPr id="26" name="Rectangle 25">
            <a:extLst>
              <a:ext uri="{FF2B5EF4-FFF2-40B4-BE49-F238E27FC236}">
                <a16:creationId xmlns:a16="http://schemas.microsoft.com/office/drawing/2014/main" id="{89396F34-D4C1-4D91-8978-7D7A0153AFD4}"/>
              </a:ext>
            </a:extLst>
          </p:cNvPr>
          <p:cNvSpPr/>
          <p:nvPr/>
        </p:nvSpPr>
        <p:spPr>
          <a:xfrm>
            <a:off x="2412738" y="4710766"/>
            <a:ext cx="1620571" cy="1138626"/>
          </a:xfrm>
          <a:prstGeom prst="rect">
            <a:avLst/>
          </a:prstGeom>
          <a:solidFill>
            <a:srgbClr val="7D868C"/>
          </a:solidFill>
          <a:ln w="3810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b" anchorCtr="0"/>
          <a:lstStyle/>
          <a:p>
            <a:r>
              <a:rPr lang="en-US" sz="1400" dirty="0">
                <a:solidFill>
                  <a:schemeClr val="bg1"/>
                </a:solidFill>
              </a:rPr>
              <a:t>Implementation #2</a:t>
            </a:r>
            <a:endParaRPr lang="en-GB" sz="1400" dirty="0">
              <a:solidFill>
                <a:schemeClr val="bg1"/>
              </a:solidFill>
            </a:endParaRPr>
          </a:p>
        </p:txBody>
      </p:sp>
      <p:sp>
        <p:nvSpPr>
          <p:cNvPr id="4" name="Rectangle 3">
            <a:extLst>
              <a:ext uri="{FF2B5EF4-FFF2-40B4-BE49-F238E27FC236}">
                <a16:creationId xmlns:a16="http://schemas.microsoft.com/office/drawing/2014/main" id="{D3022A3B-8B4C-4B9B-95D2-86AE594E107B}"/>
              </a:ext>
            </a:extLst>
          </p:cNvPr>
          <p:cNvSpPr/>
          <p:nvPr/>
        </p:nvSpPr>
        <p:spPr>
          <a:xfrm>
            <a:off x="588476" y="1614400"/>
            <a:ext cx="5295184" cy="2772962"/>
          </a:xfrm>
          <a:prstGeom prst="rect">
            <a:avLst/>
          </a:prstGeom>
          <a:solidFill>
            <a:srgbClr val="7D868C"/>
          </a:solidFill>
          <a:ln w="3810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t" anchorCtr="0"/>
          <a:lstStyle/>
          <a:p>
            <a:r>
              <a:rPr lang="en-US" sz="2000" dirty="0">
                <a:solidFill>
                  <a:schemeClr val="bg1"/>
                </a:solidFill>
              </a:rPr>
              <a:t>Software</a:t>
            </a:r>
          </a:p>
          <a:p>
            <a:r>
              <a:rPr lang="en-US" sz="2000" dirty="0">
                <a:solidFill>
                  <a:schemeClr val="bg1"/>
                </a:solidFill>
              </a:rPr>
              <a:t>component</a:t>
            </a:r>
          </a:p>
        </p:txBody>
      </p:sp>
      <p:sp>
        <p:nvSpPr>
          <p:cNvPr id="53" name="Rectangle 52">
            <a:extLst>
              <a:ext uri="{FF2B5EF4-FFF2-40B4-BE49-F238E27FC236}">
                <a16:creationId xmlns:a16="http://schemas.microsoft.com/office/drawing/2014/main" id="{F3D54AAF-60E8-439F-8259-41A31ABB82FA}"/>
              </a:ext>
            </a:extLst>
          </p:cNvPr>
          <p:cNvSpPr/>
          <p:nvPr/>
        </p:nvSpPr>
        <p:spPr>
          <a:xfrm>
            <a:off x="869865" y="3411744"/>
            <a:ext cx="4836343" cy="824030"/>
          </a:xfrm>
          <a:prstGeom prst="rect">
            <a:avLst/>
          </a:prstGeom>
          <a:solidFill>
            <a:srgbClr val="FFC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2"/>
                </a:solidFill>
              </a:rPr>
              <a:t>Central </a:t>
            </a:r>
            <a:br>
              <a:rPr lang="en-US" dirty="0">
                <a:solidFill>
                  <a:schemeClr val="tx2"/>
                </a:solidFill>
              </a:rPr>
            </a:br>
            <a:r>
              <a:rPr lang="en-US" dirty="0">
                <a:solidFill>
                  <a:schemeClr val="tx2"/>
                </a:solidFill>
              </a:rPr>
              <a:t>API definition</a:t>
            </a:r>
            <a:endParaRPr lang="en-GB" dirty="0">
              <a:solidFill>
                <a:schemeClr val="tx2"/>
              </a:solidFill>
            </a:endParaRPr>
          </a:p>
          <a:p>
            <a:endParaRPr lang="en-GB" dirty="0"/>
          </a:p>
        </p:txBody>
      </p:sp>
      <p:sp>
        <p:nvSpPr>
          <p:cNvPr id="2" name="Title 1">
            <a:extLst>
              <a:ext uri="{FF2B5EF4-FFF2-40B4-BE49-F238E27FC236}">
                <a16:creationId xmlns:a16="http://schemas.microsoft.com/office/drawing/2014/main" id="{8772A4F4-A0EE-4AF6-9B97-64CD9EFD4ACC}"/>
              </a:ext>
            </a:extLst>
          </p:cNvPr>
          <p:cNvSpPr>
            <a:spLocks noGrp="1"/>
          </p:cNvSpPr>
          <p:nvPr>
            <p:ph type="title"/>
          </p:nvPr>
        </p:nvSpPr>
        <p:spPr>
          <a:xfrm>
            <a:off x="492125" y="240954"/>
            <a:ext cx="11180763" cy="666750"/>
          </a:xfrm>
        </p:spPr>
        <p:txBody>
          <a:bodyPr/>
          <a:lstStyle/>
          <a:p>
            <a:r>
              <a:rPr lang="en-US" dirty="0"/>
              <a:t>Central API Interface definition for software components</a:t>
            </a:r>
          </a:p>
        </p:txBody>
      </p:sp>
      <p:sp>
        <p:nvSpPr>
          <p:cNvPr id="36" name="Content Placeholder 35">
            <a:extLst>
              <a:ext uri="{FF2B5EF4-FFF2-40B4-BE49-F238E27FC236}">
                <a16:creationId xmlns:a16="http://schemas.microsoft.com/office/drawing/2014/main" id="{C1FEA2B4-2D65-4DC0-A84C-7CA3D7B49469}"/>
              </a:ext>
            </a:extLst>
          </p:cNvPr>
          <p:cNvSpPr>
            <a:spLocks noGrp="1"/>
          </p:cNvSpPr>
          <p:nvPr>
            <p:ph idx="1"/>
          </p:nvPr>
        </p:nvSpPr>
        <p:spPr>
          <a:xfrm>
            <a:off x="6212284" y="1380632"/>
            <a:ext cx="5569406" cy="4044222"/>
          </a:xfrm>
        </p:spPr>
        <p:txBody>
          <a:bodyPr/>
          <a:lstStyle/>
          <a:p>
            <a:pPr marL="0" indent="0">
              <a:buNone/>
            </a:pPr>
            <a:r>
              <a:rPr lang="en-GB" sz="2000" dirty="0"/>
              <a:t>A common problem: API headers evolve over time. </a:t>
            </a:r>
          </a:p>
          <a:p>
            <a:pPr marL="0" indent="0">
              <a:buNone/>
            </a:pPr>
            <a:r>
              <a:rPr lang="en-GB" sz="2000" dirty="0"/>
              <a:t>A central </a:t>
            </a:r>
            <a:r>
              <a:rPr lang="en-GB" sz="2000" dirty="0">
                <a:hlinkClick r:id="rId3"/>
              </a:rPr>
              <a:t>API</a:t>
            </a:r>
            <a:r>
              <a:rPr lang="en-GB" sz="2000" dirty="0"/>
              <a:t> definition shares header file and documentation of an </a:t>
            </a:r>
            <a:r>
              <a:rPr lang="en-GB" sz="2000" dirty="0">
                <a:hlinkClick r:id="rId4"/>
              </a:rPr>
              <a:t>API interface</a:t>
            </a:r>
            <a:r>
              <a:rPr lang="en-GB" sz="2000" dirty="0"/>
              <a:t> across multiple other software components to ensure consistency.</a:t>
            </a:r>
          </a:p>
          <a:p>
            <a:pPr marL="0" indent="0">
              <a:buNone/>
            </a:pPr>
            <a:r>
              <a:rPr lang="en-GB" sz="2000" dirty="0"/>
              <a:t>The </a:t>
            </a:r>
            <a:r>
              <a:rPr lang="en-GB" sz="2000" dirty="0">
                <a:hlinkClick r:id="rId4"/>
              </a:rPr>
              <a:t>API interface</a:t>
            </a:r>
            <a:r>
              <a:rPr lang="en-GB" sz="2000" dirty="0"/>
              <a:t> is distributed separate or as part of the software component that consumes this interface. The API header file is therefore.</a:t>
            </a:r>
          </a:p>
          <a:p>
            <a:pPr marL="0" indent="0">
              <a:buNone/>
            </a:pPr>
            <a:r>
              <a:rPr lang="en-US" sz="2000" dirty="0"/>
              <a:t>An example is the </a:t>
            </a:r>
            <a:r>
              <a:rPr lang="en-US" sz="2000" dirty="0">
                <a:hlinkClick r:id="rId5"/>
              </a:rPr>
              <a:t>CMSIS-Driver pack</a:t>
            </a:r>
            <a:r>
              <a:rPr lang="en-US" sz="2000" dirty="0"/>
              <a:t> that contains various Ethernet and Flash drivers – all compatible with the CMSIS-Driver APIs that are published in the CMSIS Pack.</a:t>
            </a:r>
            <a:endParaRPr lang="en-GB" sz="2000" dirty="0"/>
          </a:p>
        </p:txBody>
      </p:sp>
      <p:sp>
        <p:nvSpPr>
          <p:cNvPr id="7" name="Snip Single Corner Rectangle 8">
            <a:extLst>
              <a:ext uri="{FF2B5EF4-FFF2-40B4-BE49-F238E27FC236}">
                <a16:creationId xmlns:a16="http://schemas.microsoft.com/office/drawing/2014/main" id="{F3ED5520-C3E2-4668-8F67-A11D69F828A3}"/>
              </a:ext>
            </a:extLst>
          </p:cNvPr>
          <p:cNvSpPr/>
          <p:nvPr/>
        </p:nvSpPr>
        <p:spPr bwMode="auto">
          <a:xfrm>
            <a:off x="2507421" y="1937494"/>
            <a:ext cx="1476000" cy="608570"/>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API headers</a:t>
            </a:r>
            <a:endParaRPr lang="en-US" sz="1600" dirty="0">
              <a:cs typeface="Courier New" pitchFamily="49" charset="0"/>
            </a:endParaRPr>
          </a:p>
        </p:txBody>
      </p:sp>
      <p:sp>
        <p:nvSpPr>
          <p:cNvPr id="18" name="Snip Single Corner Rectangle 8">
            <a:extLst>
              <a:ext uri="{FF2B5EF4-FFF2-40B4-BE49-F238E27FC236}">
                <a16:creationId xmlns:a16="http://schemas.microsoft.com/office/drawing/2014/main" id="{5A142EC1-B061-49BA-A672-F69A981F596E}"/>
              </a:ext>
            </a:extLst>
          </p:cNvPr>
          <p:cNvSpPr/>
          <p:nvPr/>
        </p:nvSpPr>
        <p:spPr bwMode="auto">
          <a:xfrm>
            <a:off x="2508671" y="2728994"/>
            <a:ext cx="1476000" cy="611273"/>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Source code/</a:t>
            </a:r>
          </a:p>
          <a:p>
            <a:pPr algn="ctr">
              <a:defRPr/>
            </a:pPr>
            <a:r>
              <a:rPr lang="en-US" sz="1600" dirty="0">
                <a:cs typeface="Courier New" pitchFamily="49" charset="0"/>
              </a:rPr>
              <a:t>libraries</a:t>
            </a:r>
          </a:p>
        </p:txBody>
      </p:sp>
      <p:cxnSp>
        <p:nvCxnSpPr>
          <p:cNvPr id="29" name="Straight Arrow Connector 28">
            <a:extLst>
              <a:ext uri="{FF2B5EF4-FFF2-40B4-BE49-F238E27FC236}">
                <a16:creationId xmlns:a16="http://schemas.microsoft.com/office/drawing/2014/main" id="{99FE6B62-C258-42CB-BF19-869B9120DCFE}"/>
              </a:ext>
            </a:extLst>
          </p:cNvPr>
          <p:cNvCxnSpPr>
            <a:cxnSpLocks/>
          </p:cNvCxnSpPr>
          <p:nvPr/>
        </p:nvCxnSpPr>
        <p:spPr>
          <a:xfrm flipV="1">
            <a:off x="3246672" y="1328925"/>
            <a:ext cx="0" cy="608570"/>
          </a:xfrm>
          <a:prstGeom prst="straightConnector1">
            <a:avLst/>
          </a:prstGeom>
          <a:ln w="4762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2789B9A-EEA4-4577-8CE4-BC9DE5A4D2CE}"/>
              </a:ext>
            </a:extLst>
          </p:cNvPr>
          <p:cNvSpPr txBox="1"/>
          <p:nvPr/>
        </p:nvSpPr>
        <p:spPr>
          <a:xfrm>
            <a:off x="3427269" y="1328204"/>
            <a:ext cx="1112303" cy="2492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kern="1200" dirty="0">
                <a:solidFill>
                  <a:schemeClr val="tx2"/>
                </a:solidFill>
                <a:latin typeface="+mn-lt"/>
                <a:ea typeface="+mn-ea"/>
                <a:cs typeface="+mn-cs"/>
              </a:rPr>
              <a:t>Interfaces</a:t>
            </a:r>
          </a:p>
        </p:txBody>
      </p:sp>
      <p:sp>
        <p:nvSpPr>
          <p:cNvPr id="19" name="Snip Single Corner Rectangle 8">
            <a:extLst>
              <a:ext uri="{FF2B5EF4-FFF2-40B4-BE49-F238E27FC236}">
                <a16:creationId xmlns:a16="http://schemas.microsoft.com/office/drawing/2014/main" id="{3F551575-6118-471B-9401-411A3F399F2A}"/>
              </a:ext>
            </a:extLst>
          </p:cNvPr>
          <p:cNvSpPr/>
          <p:nvPr/>
        </p:nvSpPr>
        <p:spPr bwMode="auto">
          <a:xfrm>
            <a:off x="2508671" y="3513144"/>
            <a:ext cx="1476000" cy="611273"/>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API headers</a:t>
            </a:r>
            <a:br>
              <a:rPr lang="en-US" sz="1600" dirty="0"/>
            </a:br>
            <a:r>
              <a:rPr lang="en-US" sz="1600" dirty="0"/>
              <a:t>(Definition)</a:t>
            </a:r>
            <a:endParaRPr lang="en-US" sz="1600" dirty="0">
              <a:cs typeface="Courier New" pitchFamily="49" charset="0"/>
            </a:endParaRPr>
          </a:p>
        </p:txBody>
      </p:sp>
      <p:sp>
        <p:nvSpPr>
          <p:cNvPr id="23" name="Rectangle 22">
            <a:extLst>
              <a:ext uri="{FF2B5EF4-FFF2-40B4-BE49-F238E27FC236}">
                <a16:creationId xmlns:a16="http://schemas.microsoft.com/office/drawing/2014/main" id="{8A6FE7DF-1288-418E-92D8-2E73F4F52F95}"/>
              </a:ext>
            </a:extLst>
          </p:cNvPr>
          <p:cNvSpPr/>
          <p:nvPr/>
        </p:nvSpPr>
        <p:spPr>
          <a:xfrm>
            <a:off x="588475" y="4708641"/>
            <a:ext cx="1620571" cy="1138626"/>
          </a:xfrm>
          <a:prstGeom prst="rect">
            <a:avLst/>
          </a:prstGeom>
          <a:solidFill>
            <a:srgbClr val="7D868C"/>
          </a:solidFill>
          <a:ln w="3810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b" anchorCtr="0"/>
          <a:lstStyle/>
          <a:p>
            <a:r>
              <a:rPr lang="en-US" sz="1400" dirty="0">
                <a:solidFill>
                  <a:schemeClr val="bg1"/>
                </a:solidFill>
              </a:rPr>
              <a:t>Implementation #1</a:t>
            </a:r>
            <a:endParaRPr lang="en-GB" sz="1400" dirty="0">
              <a:solidFill>
                <a:schemeClr val="bg1"/>
              </a:solidFill>
            </a:endParaRPr>
          </a:p>
        </p:txBody>
      </p:sp>
      <p:sp>
        <p:nvSpPr>
          <p:cNvPr id="24" name="Snip Single Corner Rectangle 8">
            <a:extLst>
              <a:ext uri="{FF2B5EF4-FFF2-40B4-BE49-F238E27FC236}">
                <a16:creationId xmlns:a16="http://schemas.microsoft.com/office/drawing/2014/main" id="{F5F7AAFE-B1C4-4700-951A-BA4710228F12}"/>
              </a:ext>
            </a:extLst>
          </p:cNvPr>
          <p:cNvSpPr/>
          <p:nvPr/>
        </p:nvSpPr>
        <p:spPr bwMode="auto">
          <a:xfrm>
            <a:off x="740950" y="4934406"/>
            <a:ext cx="1314187" cy="611273"/>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Source code/</a:t>
            </a:r>
          </a:p>
          <a:p>
            <a:pPr algn="ctr">
              <a:defRPr/>
            </a:pPr>
            <a:r>
              <a:rPr lang="en-US" sz="1600" dirty="0">
                <a:cs typeface="Courier New" pitchFamily="49" charset="0"/>
              </a:rPr>
              <a:t>libraries</a:t>
            </a:r>
          </a:p>
        </p:txBody>
      </p:sp>
      <p:cxnSp>
        <p:nvCxnSpPr>
          <p:cNvPr id="22" name="Straight Arrow Connector 21">
            <a:extLst>
              <a:ext uri="{FF2B5EF4-FFF2-40B4-BE49-F238E27FC236}">
                <a16:creationId xmlns:a16="http://schemas.microsoft.com/office/drawing/2014/main" id="{E36F0FC6-524F-4D6D-9B47-72A89C6919C4}"/>
              </a:ext>
            </a:extLst>
          </p:cNvPr>
          <p:cNvCxnSpPr>
            <a:cxnSpLocks/>
            <a:stCxn id="24" idx="3"/>
            <a:endCxn id="19" idx="1"/>
          </p:cNvCxnSpPr>
          <p:nvPr/>
        </p:nvCxnSpPr>
        <p:spPr>
          <a:xfrm flipV="1">
            <a:off x="1398044" y="4124417"/>
            <a:ext cx="1848627" cy="809989"/>
          </a:xfrm>
          <a:prstGeom prst="straightConnector1">
            <a:avLst/>
          </a:prstGeom>
          <a:ln w="4762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Snip Single Corner Rectangle 8">
            <a:extLst>
              <a:ext uri="{FF2B5EF4-FFF2-40B4-BE49-F238E27FC236}">
                <a16:creationId xmlns:a16="http://schemas.microsoft.com/office/drawing/2014/main" id="{398BAFA4-838A-4106-9D41-EBD624F3CC5C}"/>
              </a:ext>
            </a:extLst>
          </p:cNvPr>
          <p:cNvSpPr/>
          <p:nvPr/>
        </p:nvSpPr>
        <p:spPr bwMode="auto">
          <a:xfrm>
            <a:off x="2586678" y="4918523"/>
            <a:ext cx="1314187" cy="611273"/>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Source code/</a:t>
            </a:r>
          </a:p>
          <a:p>
            <a:pPr algn="ctr">
              <a:defRPr/>
            </a:pPr>
            <a:r>
              <a:rPr lang="en-US" sz="1600" dirty="0">
                <a:cs typeface="Courier New" pitchFamily="49" charset="0"/>
              </a:rPr>
              <a:t>libraries</a:t>
            </a:r>
          </a:p>
        </p:txBody>
      </p:sp>
      <p:sp>
        <p:nvSpPr>
          <p:cNvPr id="46" name="Snip Single Corner Rectangle 8">
            <a:extLst>
              <a:ext uri="{FF2B5EF4-FFF2-40B4-BE49-F238E27FC236}">
                <a16:creationId xmlns:a16="http://schemas.microsoft.com/office/drawing/2014/main" id="{5AA4E542-6816-412F-910C-FAFFE9C4DDA9}"/>
              </a:ext>
            </a:extLst>
          </p:cNvPr>
          <p:cNvSpPr/>
          <p:nvPr/>
        </p:nvSpPr>
        <p:spPr bwMode="auto">
          <a:xfrm>
            <a:off x="4394098" y="4918523"/>
            <a:ext cx="1314187" cy="611273"/>
          </a:xfrm>
          <a:prstGeom prst="snip1Rect">
            <a:avLst/>
          </a:prstGeom>
          <a:solidFill>
            <a:srgbClr val="E5ECEB"/>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Source code/</a:t>
            </a:r>
          </a:p>
          <a:p>
            <a:pPr algn="ctr">
              <a:defRPr/>
            </a:pPr>
            <a:r>
              <a:rPr lang="en-US" sz="1600" dirty="0">
                <a:cs typeface="Courier New" pitchFamily="49" charset="0"/>
              </a:rPr>
              <a:t>libraries</a:t>
            </a:r>
          </a:p>
        </p:txBody>
      </p:sp>
      <p:cxnSp>
        <p:nvCxnSpPr>
          <p:cNvPr id="48" name="Straight Arrow Connector 47">
            <a:extLst>
              <a:ext uri="{FF2B5EF4-FFF2-40B4-BE49-F238E27FC236}">
                <a16:creationId xmlns:a16="http://schemas.microsoft.com/office/drawing/2014/main" id="{FD6DB33E-12A8-48CB-B108-07168248A9FC}"/>
              </a:ext>
            </a:extLst>
          </p:cNvPr>
          <p:cNvCxnSpPr>
            <a:cxnSpLocks/>
            <a:stCxn id="46" idx="3"/>
            <a:endCxn id="19" idx="1"/>
          </p:cNvCxnSpPr>
          <p:nvPr/>
        </p:nvCxnSpPr>
        <p:spPr>
          <a:xfrm flipH="1" flipV="1">
            <a:off x="3246671" y="4124417"/>
            <a:ext cx="1804521" cy="794106"/>
          </a:xfrm>
          <a:prstGeom prst="straightConnector1">
            <a:avLst/>
          </a:prstGeom>
          <a:ln w="4762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831B1AEF-9A79-42D9-873D-FD90883784F4}"/>
              </a:ext>
            </a:extLst>
          </p:cNvPr>
          <p:cNvCxnSpPr>
            <a:cxnSpLocks/>
            <a:stCxn id="43" idx="3"/>
            <a:endCxn id="19" idx="1"/>
          </p:cNvCxnSpPr>
          <p:nvPr/>
        </p:nvCxnSpPr>
        <p:spPr>
          <a:xfrm flipV="1">
            <a:off x="3243772" y="4124417"/>
            <a:ext cx="0" cy="794106"/>
          </a:xfrm>
          <a:prstGeom prst="straightConnector1">
            <a:avLst/>
          </a:prstGeom>
          <a:ln w="4762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1" name="Snip Single Corner Rectangle 8">
            <a:extLst>
              <a:ext uri="{FF2B5EF4-FFF2-40B4-BE49-F238E27FC236}">
                <a16:creationId xmlns:a16="http://schemas.microsoft.com/office/drawing/2014/main" id="{A8696E9E-9E22-4281-A720-A96D7C60359E}"/>
              </a:ext>
            </a:extLst>
          </p:cNvPr>
          <p:cNvSpPr/>
          <p:nvPr/>
        </p:nvSpPr>
        <p:spPr bwMode="auto">
          <a:xfrm>
            <a:off x="4143337" y="3529991"/>
            <a:ext cx="1476000" cy="611274"/>
          </a:xfrm>
          <a:prstGeom prst="snip1Rect">
            <a:avLst/>
          </a:prstGeom>
          <a:solidFill>
            <a:schemeClr val="bg1"/>
          </a:solidFill>
          <a:ln w="38100" cap="flat" cmpd="sng" algn="ctr">
            <a:solidFill>
              <a:srgbClr val="333E48"/>
            </a:solidFill>
            <a:prstDash val="solid"/>
            <a:round/>
            <a:headEnd type="none" w="med" len="med"/>
            <a:tailEnd type="triangle" w="lg" len="med"/>
          </a:ln>
          <a:effectLst/>
        </p:spPr>
        <p:txBody>
          <a:bodyPr wrap="square" lIns="36000" rIns="36000" anchor="t" anchorCtr="0">
            <a:noAutofit/>
          </a:bodyPr>
          <a:lstStyle/>
          <a:p>
            <a:pPr algn="ctr">
              <a:defRPr/>
            </a:pPr>
            <a:r>
              <a:rPr lang="en-US" sz="1600" dirty="0"/>
              <a:t>Documentation</a:t>
            </a:r>
            <a:br>
              <a:rPr lang="en-US" sz="1600" dirty="0"/>
            </a:br>
            <a:r>
              <a:rPr lang="en-US" sz="1600" dirty="0"/>
              <a:t>of API</a:t>
            </a:r>
            <a:endParaRPr lang="en-US" sz="1600" dirty="0">
              <a:cs typeface="Courier New" pitchFamily="49" charset="0"/>
            </a:endParaRPr>
          </a:p>
        </p:txBody>
      </p:sp>
    </p:spTree>
    <p:extLst>
      <p:ext uri="{BB962C8B-B14F-4D97-AF65-F5344CB8AC3E}">
        <p14:creationId xmlns:p14="http://schemas.microsoft.com/office/powerpoint/2010/main" val="22940671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55F78-6B79-4924-98AF-FCAE71D0F670}"/>
              </a:ext>
            </a:extLst>
          </p:cNvPr>
          <p:cNvSpPr>
            <a:spLocks noGrp="1"/>
          </p:cNvSpPr>
          <p:nvPr>
            <p:ph type="title"/>
          </p:nvPr>
        </p:nvSpPr>
        <p:spPr/>
        <p:txBody>
          <a:bodyPr/>
          <a:lstStyle/>
          <a:p>
            <a:r>
              <a:rPr lang="en-US" dirty="0"/>
              <a:t>API components</a:t>
            </a:r>
          </a:p>
        </p:txBody>
      </p:sp>
      <p:sp>
        <p:nvSpPr>
          <p:cNvPr id="3" name="Content Placeholder 2">
            <a:extLst>
              <a:ext uri="{FF2B5EF4-FFF2-40B4-BE49-F238E27FC236}">
                <a16:creationId xmlns:a16="http://schemas.microsoft.com/office/drawing/2014/main" id="{1DBE1937-13F2-46E2-AE20-3E9C3171D2E0}"/>
              </a:ext>
            </a:extLst>
          </p:cNvPr>
          <p:cNvSpPr>
            <a:spLocks noGrp="1"/>
          </p:cNvSpPr>
          <p:nvPr>
            <p:ph idx="1"/>
          </p:nvPr>
        </p:nvSpPr>
        <p:spPr/>
        <p:txBody>
          <a:bodyPr/>
          <a:lstStyle/>
          <a:p>
            <a:r>
              <a:rPr lang="en-GB" dirty="0"/>
              <a:t>An API is a special form of a software component that only defines a C/C++ Application Programming Interface (API).</a:t>
            </a:r>
          </a:p>
          <a:p>
            <a:r>
              <a:rPr lang="en-GB" dirty="0"/>
              <a:t>An API does not contain the actual implementation (usually provided by source code or library files) and cannot be selected in a development tool. One example is the CMSIS-RTOS API, which is specified as part of CMSIS. However, the actual RTOS implementation is provided by different vendors.</a:t>
            </a:r>
          </a:p>
          <a:p>
            <a:r>
              <a:rPr lang="en-GB" dirty="0"/>
              <a:t>An API consists of a name, a brief description as well as one or more header files. It references a document containing the specification of the API.</a:t>
            </a:r>
            <a:endParaRPr lang="en-US" dirty="0"/>
          </a:p>
        </p:txBody>
      </p:sp>
    </p:spTree>
    <p:extLst>
      <p:ext uri="{BB962C8B-B14F-4D97-AF65-F5344CB8AC3E}">
        <p14:creationId xmlns:p14="http://schemas.microsoft.com/office/powerpoint/2010/main" val="25215267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35226-6D85-4BEB-B5EB-0781627E8CB6}"/>
              </a:ext>
            </a:extLst>
          </p:cNvPr>
          <p:cNvSpPr>
            <a:spLocks noGrp="1"/>
          </p:cNvSpPr>
          <p:nvPr>
            <p:ph type="title"/>
          </p:nvPr>
        </p:nvSpPr>
        <p:spPr/>
        <p:txBody>
          <a:bodyPr/>
          <a:lstStyle/>
          <a:p>
            <a:r>
              <a:rPr lang="en-US" dirty="0"/>
              <a:t>Application example: TCP/IP network</a:t>
            </a:r>
          </a:p>
        </p:txBody>
      </p:sp>
      <p:sp>
        <p:nvSpPr>
          <p:cNvPr id="3" name="Text Placeholder 2">
            <a:extLst>
              <a:ext uri="{FF2B5EF4-FFF2-40B4-BE49-F238E27FC236}">
                <a16:creationId xmlns:a16="http://schemas.microsoft.com/office/drawing/2014/main" id="{F9550976-2E32-400A-8737-9B498A3C074C}"/>
              </a:ext>
            </a:extLst>
          </p:cNvPr>
          <p:cNvSpPr>
            <a:spLocks noGrp="1"/>
          </p:cNvSpPr>
          <p:nvPr>
            <p:ph type="body" sz="quarter" idx="13"/>
          </p:nvPr>
        </p:nvSpPr>
        <p:spPr>
          <a:xfrm>
            <a:off x="492125" y="1040826"/>
            <a:ext cx="11180763" cy="344488"/>
          </a:xfrm>
        </p:spPr>
        <p:txBody>
          <a:bodyPr/>
          <a:lstStyle/>
          <a:p>
            <a:r>
              <a:rPr lang="en-US" dirty="0"/>
              <a:t>Using network stack on STM32F407IG with internal MAC</a:t>
            </a:r>
          </a:p>
        </p:txBody>
      </p:sp>
      <p:sp>
        <p:nvSpPr>
          <p:cNvPr id="5" name="Rectangle 4">
            <a:extLst>
              <a:ext uri="{FF2B5EF4-FFF2-40B4-BE49-F238E27FC236}">
                <a16:creationId xmlns:a16="http://schemas.microsoft.com/office/drawing/2014/main" id="{2AA7B0B0-3AE9-45DB-A4D8-D92136B99785}"/>
              </a:ext>
            </a:extLst>
          </p:cNvPr>
          <p:cNvSpPr/>
          <p:nvPr/>
        </p:nvSpPr>
        <p:spPr>
          <a:xfrm>
            <a:off x="6081032" y="1546326"/>
            <a:ext cx="2340000" cy="576000"/>
          </a:xfrm>
          <a:prstGeom prst="rect">
            <a:avLst/>
          </a:prstGeom>
          <a:solidFill>
            <a:srgbClr val="00C1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Network:Socket:TCP</a:t>
            </a:r>
            <a:endParaRPr lang="en-US" dirty="0"/>
          </a:p>
        </p:txBody>
      </p:sp>
      <p:sp>
        <p:nvSpPr>
          <p:cNvPr id="6" name="Rectangle 5">
            <a:extLst>
              <a:ext uri="{FF2B5EF4-FFF2-40B4-BE49-F238E27FC236}">
                <a16:creationId xmlns:a16="http://schemas.microsoft.com/office/drawing/2014/main" id="{DB662597-993E-4F7F-98C7-AD870E6F9CC5}"/>
              </a:ext>
            </a:extLst>
          </p:cNvPr>
          <p:cNvSpPr/>
          <p:nvPr/>
        </p:nvSpPr>
        <p:spPr>
          <a:xfrm>
            <a:off x="6081034" y="3909456"/>
            <a:ext cx="2340000" cy="576000"/>
          </a:xfrm>
          <a:prstGeom prst="rect">
            <a:avLst/>
          </a:prstGeom>
          <a:solidFill>
            <a:srgbClr val="95D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Ethernet MAC</a:t>
            </a:r>
          </a:p>
        </p:txBody>
      </p:sp>
      <p:sp>
        <p:nvSpPr>
          <p:cNvPr id="7" name="Rectangle 6">
            <a:extLst>
              <a:ext uri="{FF2B5EF4-FFF2-40B4-BE49-F238E27FC236}">
                <a16:creationId xmlns:a16="http://schemas.microsoft.com/office/drawing/2014/main" id="{FAD5EBF3-1BAD-4301-8965-FB78A5B4C097}"/>
              </a:ext>
            </a:extLst>
          </p:cNvPr>
          <p:cNvSpPr/>
          <p:nvPr/>
        </p:nvSpPr>
        <p:spPr>
          <a:xfrm>
            <a:off x="6081032" y="5091021"/>
            <a:ext cx="2340000" cy="576000"/>
          </a:xfrm>
          <a:prstGeom prst="rect">
            <a:avLst/>
          </a:prstGeom>
          <a:solidFill>
            <a:srgbClr val="7D8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Ethernet PHY</a:t>
            </a:r>
          </a:p>
        </p:txBody>
      </p:sp>
      <p:sp>
        <p:nvSpPr>
          <p:cNvPr id="8" name="Rectangle 7">
            <a:extLst>
              <a:ext uri="{FF2B5EF4-FFF2-40B4-BE49-F238E27FC236}">
                <a16:creationId xmlns:a16="http://schemas.microsoft.com/office/drawing/2014/main" id="{5F559EC6-3CEC-4D25-B715-B8E89680E8C5}"/>
              </a:ext>
            </a:extLst>
          </p:cNvPr>
          <p:cNvSpPr/>
          <p:nvPr/>
        </p:nvSpPr>
        <p:spPr>
          <a:xfrm>
            <a:off x="6081032" y="2727891"/>
            <a:ext cx="2340000" cy="576000"/>
          </a:xfrm>
          <a:prstGeom prst="rect">
            <a:avLst/>
          </a:prstGeom>
          <a:solidFill>
            <a:srgbClr val="00C1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Network:Interface:ETH</a:t>
            </a:r>
            <a:endParaRPr lang="en-US" dirty="0"/>
          </a:p>
        </p:txBody>
      </p:sp>
      <p:sp>
        <p:nvSpPr>
          <p:cNvPr id="9" name="Rectangle 8">
            <a:extLst>
              <a:ext uri="{FF2B5EF4-FFF2-40B4-BE49-F238E27FC236}">
                <a16:creationId xmlns:a16="http://schemas.microsoft.com/office/drawing/2014/main" id="{B207CCC3-4ED3-4808-AC5F-679961343F18}"/>
              </a:ext>
            </a:extLst>
          </p:cNvPr>
          <p:cNvSpPr/>
          <p:nvPr/>
        </p:nvSpPr>
        <p:spPr>
          <a:xfrm>
            <a:off x="8826510" y="2727891"/>
            <a:ext cx="2340000" cy="576000"/>
          </a:xfrm>
          <a:prstGeom prst="rect">
            <a:avLst/>
          </a:prstGeom>
          <a:solidFill>
            <a:srgbClr val="00C1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Network:CORE</a:t>
            </a:r>
            <a:endParaRPr lang="en-US" dirty="0"/>
          </a:p>
        </p:txBody>
      </p:sp>
      <p:sp>
        <p:nvSpPr>
          <p:cNvPr id="10" name="Rectangle 9">
            <a:extLst>
              <a:ext uri="{FF2B5EF4-FFF2-40B4-BE49-F238E27FC236}">
                <a16:creationId xmlns:a16="http://schemas.microsoft.com/office/drawing/2014/main" id="{2CDE035B-84AF-42A2-B82A-010BB662026D}"/>
              </a:ext>
            </a:extLst>
          </p:cNvPr>
          <p:cNvSpPr/>
          <p:nvPr/>
        </p:nvSpPr>
        <p:spPr>
          <a:xfrm>
            <a:off x="3335554" y="2727891"/>
            <a:ext cx="2340000" cy="57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CMSIS:CMSIS-RTOS</a:t>
            </a:r>
          </a:p>
        </p:txBody>
      </p:sp>
      <p:sp>
        <p:nvSpPr>
          <p:cNvPr id="13" name="Rectangle 12">
            <a:extLst>
              <a:ext uri="{FF2B5EF4-FFF2-40B4-BE49-F238E27FC236}">
                <a16:creationId xmlns:a16="http://schemas.microsoft.com/office/drawing/2014/main" id="{DF483133-57B3-4A5B-8C13-C8965A2AE528}"/>
              </a:ext>
            </a:extLst>
          </p:cNvPr>
          <p:cNvSpPr/>
          <p:nvPr/>
        </p:nvSpPr>
        <p:spPr>
          <a:xfrm>
            <a:off x="492125" y="5970134"/>
            <a:ext cx="2340000" cy="360000"/>
          </a:xfrm>
          <a:prstGeom prst="rect">
            <a:avLst/>
          </a:prstGeom>
          <a:solidFill>
            <a:srgbClr val="95D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Vendor 1 Pack</a:t>
            </a:r>
          </a:p>
        </p:txBody>
      </p:sp>
      <p:sp>
        <p:nvSpPr>
          <p:cNvPr id="14" name="Rectangle 13">
            <a:extLst>
              <a:ext uri="{FF2B5EF4-FFF2-40B4-BE49-F238E27FC236}">
                <a16:creationId xmlns:a16="http://schemas.microsoft.com/office/drawing/2014/main" id="{84D731BA-FED1-47F7-8C06-A0F55512B766}"/>
              </a:ext>
            </a:extLst>
          </p:cNvPr>
          <p:cNvSpPr/>
          <p:nvPr/>
        </p:nvSpPr>
        <p:spPr>
          <a:xfrm>
            <a:off x="492125" y="4563646"/>
            <a:ext cx="2340000" cy="360000"/>
          </a:xfrm>
          <a:prstGeom prst="rect">
            <a:avLst/>
          </a:prstGeom>
          <a:solidFill>
            <a:srgbClr val="00C1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Middleware Pack</a:t>
            </a:r>
          </a:p>
        </p:txBody>
      </p:sp>
      <p:sp>
        <p:nvSpPr>
          <p:cNvPr id="15" name="Rectangle 14">
            <a:extLst>
              <a:ext uri="{FF2B5EF4-FFF2-40B4-BE49-F238E27FC236}">
                <a16:creationId xmlns:a16="http://schemas.microsoft.com/office/drawing/2014/main" id="{EEF119FA-77B9-42E5-9480-DD7AF7C23C56}"/>
              </a:ext>
            </a:extLst>
          </p:cNvPr>
          <p:cNvSpPr/>
          <p:nvPr/>
        </p:nvSpPr>
        <p:spPr>
          <a:xfrm>
            <a:off x="492125" y="5031646"/>
            <a:ext cx="234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CMSIS Pack</a:t>
            </a:r>
          </a:p>
        </p:txBody>
      </p:sp>
      <p:sp>
        <p:nvSpPr>
          <p:cNvPr id="16" name="Rectangle 15">
            <a:extLst>
              <a:ext uri="{FF2B5EF4-FFF2-40B4-BE49-F238E27FC236}">
                <a16:creationId xmlns:a16="http://schemas.microsoft.com/office/drawing/2014/main" id="{3600944F-B5ED-4B70-8823-1BBBC5B66604}"/>
              </a:ext>
            </a:extLst>
          </p:cNvPr>
          <p:cNvSpPr/>
          <p:nvPr/>
        </p:nvSpPr>
        <p:spPr>
          <a:xfrm>
            <a:off x="492125" y="5500890"/>
            <a:ext cx="2340000" cy="360000"/>
          </a:xfrm>
          <a:prstGeom prst="rect">
            <a:avLst/>
          </a:prstGeom>
          <a:solidFill>
            <a:srgbClr val="7D8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External Driver Pack</a:t>
            </a:r>
          </a:p>
        </p:txBody>
      </p:sp>
      <p:sp>
        <p:nvSpPr>
          <p:cNvPr id="25" name="Rectangle 24">
            <a:extLst>
              <a:ext uri="{FF2B5EF4-FFF2-40B4-BE49-F238E27FC236}">
                <a16:creationId xmlns:a16="http://schemas.microsoft.com/office/drawing/2014/main" id="{35A30E91-7022-4A14-A8FB-EEE8AC983F2A}"/>
              </a:ext>
            </a:extLst>
          </p:cNvPr>
          <p:cNvSpPr/>
          <p:nvPr/>
        </p:nvSpPr>
        <p:spPr>
          <a:xfrm>
            <a:off x="3335554" y="3909456"/>
            <a:ext cx="2340000" cy="57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CMSIS:CORE</a:t>
            </a:r>
          </a:p>
        </p:txBody>
      </p:sp>
      <p:sp>
        <p:nvSpPr>
          <p:cNvPr id="29" name="Rectangle 28">
            <a:extLst>
              <a:ext uri="{FF2B5EF4-FFF2-40B4-BE49-F238E27FC236}">
                <a16:creationId xmlns:a16="http://schemas.microsoft.com/office/drawing/2014/main" id="{518A626B-3FEB-446A-8F12-166EAA2B5037}"/>
              </a:ext>
            </a:extLst>
          </p:cNvPr>
          <p:cNvSpPr/>
          <p:nvPr/>
        </p:nvSpPr>
        <p:spPr>
          <a:xfrm>
            <a:off x="3335554" y="5091021"/>
            <a:ext cx="2340000" cy="576000"/>
          </a:xfrm>
          <a:prstGeom prst="rect">
            <a:avLst/>
          </a:prstGeom>
          <a:solidFill>
            <a:srgbClr val="95D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Device:Startup</a:t>
            </a:r>
            <a:endParaRPr lang="en-US" dirty="0"/>
          </a:p>
        </p:txBody>
      </p:sp>
      <p:cxnSp>
        <p:nvCxnSpPr>
          <p:cNvPr id="12" name="Connector: Elbow 11">
            <a:extLst>
              <a:ext uri="{FF2B5EF4-FFF2-40B4-BE49-F238E27FC236}">
                <a16:creationId xmlns:a16="http://schemas.microsoft.com/office/drawing/2014/main" id="{A9194A58-33A7-4CFA-A274-5B332AFEC377}"/>
              </a:ext>
            </a:extLst>
          </p:cNvPr>
          <p:cNvCxnSpPr>
            <a:stCxn id="5" idx="2"/>
            <a:endCxn id="9" idx="0"/>
          </p:cNvCxnSpPr>
          <p:nvPr/>
        </p:nvCxnSpPr>
        <p:spPr>
          <a:xfrm rot="16200000" flipH="1">
            <a:off x="8320989" y="1052369"/>
            <a:ext cx="605565" cy="2745478"/>
          </a:xfrm>
          <a:prstGeom prst="bentConnector3">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CC3E8335-0031-485B-919E-7FA742C1129C}"/>
              </a:ext>
            </a:extLst>
          </p:cNvPr>
          <p:cNvCxnSpPr>
            <a:endCxn id="8" idx="0"/>
          </p:cNvCxnSpPr>
          <p:nvPr/>
        </p:nvCxnSpPr>
        <p:spPr>
          <a:xfrm rot="5400000">
            <a:off x="6948250" y="2425108"/>
            <a:ext cx="605565" cy="12700"/>
          </a:xfrm>
          <a:prstGeom prst="bentConnector3">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6AFC32B8-2CE8-4EE7-AC46-9FB1F8F31ABE}"/>
              </a:ext>
            </a:extLst>
          </p:cNvPr>
          <p:cNvCxnSpPr>
            <a:stCxn id="5" idx="2"/>
            <a:endCxn id="10" idx="0"/>
          </p:cNvCxnSpPr>
          <p:nvPr/>
        </p:nvCxnSpPr>
        <p:spPr>
          <a:xfrm rot="5400000">
            <a:off x="5575511" y="1052369"/>
            <a:ext cx="605565" cy="2745478"/>
          </a:xfrm>
          <a:prstGeom prst="bentConnector3">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F3316F5-F3ED-4B5F-806A-7C520DBDD3D1}"/>
              </a:ext>
            </a:extLst>
          </p:cNvPr>
          <p:cNvCxnSpPr>
            <a:stCxn id="10" idx="2"/>
            <a:endCxn id="25" idx="0"/>
          </p:cNvCxnSpPr>
          <p:nvPr/>
        </p:nvCxnSpPr>
        <p:spPr>
          <a:xfrm>
            <a:off x="4505554" y="3303891"/>
            <a:ext cx="0" cy="60556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A0D5F88-50BE-4BC0-8A8F-65FAE663B038}"/>
              </a:ext>
            </a:extLst>
          </p:cNvPr>
          <p:cNvCxnSpPr>
            <a:stCxn id="25" idx="2"/>
            <a:endCxn id="29" idx="0"/>
          </p:cNvCxnSpPr>
          <p:nvPr/>
        </p:nvCxnSpPr>
        <p:spPr>
          <a:xfrm>
            <a:off x="4505554" y="4485456"/>
            <a:ext cx="0" cy="60556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C8148D9-38C9-46EC-8AF1-58438ADC9610}"/>
              </a:ext>
            </a:extLst>
          </p:cNvPr>
          <p:cNvCxnSpPr>
            <a:stCxn id="8" idx="2"/>
            <a:endCxn id="6" idx="0"/>
          </p:cNvCxnSpPr>
          <p:nvPr/>
        </p:nvCxnSpPr>
        <p:spPr>
          <a:xfrm>
            <a:off x="7251032" y="3303891"/>
            <a:ext cx="2" cy="60556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63BA002A-C537-40F7-8784-48D4B8E1D616}"/>
              </a:ext>
            </a:extLst>
          </p:cNvPr>
          <p:cNvCxnSpPr>
            <a:stCxn id="6" idx="2"/>
            <a:endCxn id="7" idx="0"/>
          </p:cNvCxnSpPr>
          <p:nvPr/>
        </p:nvCxnSpPr>
        <p:spPr>
          <a:xfrm flipH="1">
            <a:off x="7251032" y="4485456"/>
            <a:ext cx="2" cy="60556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DE0541B1-2D50-4F32-BA0B-B027A6898714}"/>
              </a:ext>
            </a:extLst>
          </p:cNvPr>
          <p:cNvCxnSpPr>
            <a:stCxn id="8" idx="3"/>
            <a:endCxn id="9" idx="1"/>
          </p:cNvCxnSpPr>
          <p:nvPr/>
        </p:nvCxnSpPr>
        <p:spPr>
          <a:xfrm>
            <a:off x="8421032" y="3015891"/>
            <a:ext cx="405478"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50912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35226-6D85-4BEB-B5EB-0781627E8CB6}"/>
              </a:ext>
            </a:extLst>
          </p:cNvPr>
          <p:cNvSpPr>
            <a:spLocks noGrp="1"/>
          </p:cNvSpPr>
          <p:nvPr>
            <p:ph type="title"/>
          </p:nvPr>
        </p:nvSpPr>
        <p:spPr/>
        <p:txBody>
          <a:bodyPr/>
          <a:lstStyle/>
          <a:p>
            <a:r>
              <a:rPr lang="en-US" dirty="0"/>
              <a:t>Application example: TCP/IP network</a:t>
            </a:r>
          </a:p>
        </p:txBody>
      </p:sp>
      <p:sp>
        <p:nvSpPr>
          <p:cNvPr id="3" name="Text Placeholder 2">
            <a:extLst>
              <a:ext uri="{FF2B5EF4-FFF2-40B4-BE49-F238E27FC236}">
                <a16:creationId xmlns:a16="http://schemas.microsoft.com/office/drawing/2014/main" id="{F9550976-2E32-400A-8737-9B498A3C074C}"/>
              </a:ext>
            </a:extLst>
          </p:cNvPr>
          <p:cNvSpPr>
            <a:spLocks noGrp="1"/>
          </p:cNvSpPr>
          <p:nvPr>
            <p:ph type="body" sz="quarter" idx="13"/>
          </p:nvPr>
        </p:nvSpPr>
        <p:spPr>
          <a:xfrm>
            <a:off x="492125" y="1040826"/>
            <a:ext cx="11180763" cy="344488"/>
          </a:xfrm>
        </p:spPr>
        <p:txBody>
          <a:bodyPr/>
          <a:lstStyle/>
          <a:p>
            <a:r>
              <a:rPr lang="en-US" dirty="0"/>
              <a:t>Using network stack on an NXP LPC54108 without MAC</a:t>
            </a:r>
          </a:p>
        </p:txBody>
      </p:sp>
      <p:sp>
        <p:nvSpPr>
          <p:cNvPr id="5" name="Rectangle 4">
            <a:extLst>
              <a:ext uri="{FF2B5EF4-FFF2-40B4-BE49-F238E27FC236}">
                <a16:creationId xmlns:a16="http://schemas.microsoft.com/office/drawing/2014/main" id="{2AA7B0B0-3AE9-45DB-A4D8-D92136B99785}"/>
              </a:ext>
            </a:extLst>
          </p:cNvPr>
          <p:cNvSpPr/>
          <p:nvPr/>
        </p:nvSpPr>
        <p:spPr>
          <a:xfrm>
            <a:off x="3579664" y="1639076"/>
            <a:ext cx="2340000" cy="576000"/>
          </a:xfrm>
          <a:prstGeom prst="rect">
            <a:avLst/>
          </a:prstGeom>
          <a:solidFill>
            <a:srgbClr val="00C1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 component:</a:t>
            </a:r>
            <a:br>
              <a:rPr lang="en-US" sz="1600" dirty="0"/>
            </a:br>
            <a:r>
              <a:rPr lang="en-US" sz="1600" dirty="0"/>
              <a:t>  </a:t>
            </a:r>
            <a:r>
              <a:rPr lang="en-US" sz="1600" dirty="0" err="1"/>
              <a:t>Network:Socket:TCP</a:t>
            </a:r>
            <a:endParaRPr lang="en-US" sz="1600" dirty="0"/>
          </a:p>
        </p:txBody>
      </p:sp>
      <p:sp>
        <p:nvSpPr>
          <p:cNvPr id="6" name="Rectangle 5">
            <a:extLst>
              <a:ext uri="{FF2B5EF4-FFF2-40B4-BE49-F238E27FC236}">
                <a16:creationId xmlns:a16="http://schemas.microsoft.com/office/drawing/2014/main" id="{DB662597-993E-4F7F-98C7-AD870E6F9CC5}"/>
              </a:ext>
            </a:extLst>
          </p:cNvPr>
          <p:cNvSpPr/>
          <p:nvPr/>
        </p:nvSpPr>
        <p:spPr>
          <a:xfrm>
            <a:off x="3582634" y="3995856"/>
            <a:ext cx="2340000" cy="576000"/>
          </a:xfrm>
          <a:prstGeom prst="rect">
            <a:avLst/>
          </a:prstGeom>
          <a:solidFill>
            <a:srgbClr val="7D8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Ethernet MAC and PHY</a:t>
            </a:r>
          </a:p>
        </p:txBody>
      </p:sp>
      <p:sp>
        <p:nvSpPr>
          <p:cNvPr id="7" name="Rectangle 6">
            <a:extLst>
              <a:ext uri="{FF2B5EF4-FFF2-40B4-BE49-F238E27FC236}">
                <a16:creationId xmlns:a16="http://schemas.microsoft.com/office/drawing/2014/main" id="{FAD5EBF3-1BAD-4301-8965-FB78A5B4C097}"/>
              </a:ext>
            </a:extLst>
          </p:cNvPr>
          <p:cNvSpPr/>
          <p:nvPr/>
        </p:nvSpPr>
        <p:spPr>
          <a:xfrm>
            <a:off x="3582632" y="5177421"/>
            <a:ext cx="2340000" cy="576000"/>
          </a:xfrm>
          <a:prstGeom prst="rect">
            <a:avLst/>
          </a:prstGeom>
          <a:solidFill>
            <a:srgbClr val="FF6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CMSIS-Driver SPI</a:t>
            </a:r>
          </a:p>
        </p:txBody>
      </p:sp>
      <p:sp>
        <p:nvSpPr>
          <p:cNvPr id="8" name="Rectangle 7">
            <a:extLst>
              <a:ext uri="{FF2B5EF4-FFF2-40B4-BE49-F238E27FC236}">
                <a16:creationId xmlns:a16="http://schemas.microsoft.com/office/drawing/2014/main" id="{5F559EC6-3CEC-4D25-B715-B8E89680E8C5}"/>
              </a:ext>
            </a:extLst>
          </p:cNvPr>
          <p:cNvSpPr/>
          <p:nvPr/>
        </p:nvSpPr>
        <p:spPr>
          <a:xfrm>
            <a:off x="3582632" y="2814291"/>
            <a:ext cx="2340000" cy="576000"/>
          </a:xfrm>
          <a:prstGeom prst="rect">
            <a:avLst/>
          </a:prstGeom>
          <a:solidFill>
            <a:srgbClr val="00C1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 component:</a:t>
            </a:r>
            <a:br>
              <a:rPr lang="en-US" sz="1600" dirty="0"/>
            </a:br>
            <a:r>
              <a:rPr lang="en-US" sz="1600" dirty="0"/>
              <a:t>  </a:t>
            </a:r>
            <a:r>
              <a:rPr lang="en-US" sz="1600" dirty="0" err="1"/>
              <a:t>Network:Interface:ETH</a:t>
            </a:r>
            <a:endParaRPr lang="en-US" sz="1600" dirty="0"/>
          </a:p>
        </p:txBody>
      </p:sp>
      <p:sp>
        <p:nvSpPr>
          <p:cNvPr id="9" name="Rectangle 8">
            <a:extLst>
              <a:ext uri="{FF2B5EF4-FFF2-40B4-BE49-F238E27FC236}">
                <a16:creationId xmlns:a16="http://schemas.microsoft.com/office/drawing/2014/main" id="{B207CCC3-4ED3-4808-AC5F-679961343F18}"/>
              </a:ext>
            </a:extLst>
          </p:cNvPr>
          <p:cNvSpPr/>
          <p:nvPr/>
        </p:nvSpPr>
        <p:spPr>
          <a:xfrm>
            <a:off x="6328110" y="2814291"/>
            <a:ext cx="2340000" cy="576000"/>
          </a:xfrm>
          <a:prstGeom prst="rect">
            <a:avLst/>
          </a:prstGeom>
          <a:solidFill>
            <a:srgbClr val="00C1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 component</a:t>
            </a:r>
          </a:p>
          <a:p>
            <a:r>
              <a:rPr lang="en-US" sz="1600" dirty="0"/>
              <a:t>  </a:t>
            </a:r>
            <a:r>
              <a:rPr lang="en-US" sz="1600" dirty="0" err="1"/>
              <a:t>Network:CORE</a:t>
            </a:r>
            <a:endParaRPr lang="en-US" sz="1600" dirty="0"/>
          </a:p>
        </p:txBody>
      </p:sp>
      <p:sp>
        <p:nvSpPr>
          <p:cNvPr id="10" name="Rectangle 9">
            <a:extLst>
              <a:ext uri="{FF2B5EF4-FFF2-40B4-BE49-F238E27FC236}">
                <a16:creationId xmlns:a16="http://schemas.microsoft.com/office/drawing/2014/main" id="{2CDE035B-84AF-42A2-B82A-010BB662026D}"/>
              </a:ext>
            </a:extLst>
          </p:cNvPr>
          <p:cNvSpPr/>
          <p:nvPr/>
        </p:nvSpPr>
        <p:spPr>
          <a:xfrm>
            <a:off x="837154" y="2814291"/>
            <a:ext cx="2340000" cy="57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 component:</a:t>
            </a:r>
            <a:br>
              <a:rPr lang="en-US" sz="1600" dirty="0"/>
            </a:br>
            <a:r>
              <a:rPr lang="en-US" sz="1600" dirty="0"/>
              <a:t>  CMSIS:CMSIS-RTOS2:RTX</a:t>
            </a:r>
          </a:p>
        </p:txBody>
      </p:sp>
      <p:sp>
        <p:nvSpPr>
          <p:cNvPr id="13" name="Rectangle 12">
            <a:extLst>
              <a:ext uri="{FF2B5EF4-FFF2-40B4-BE49-F238E27FC236}">
                <a16:creationId xmlns:a16="http://schemas.microsoft.com/office/drawing/2014/main" id="{DF483133-57B3-4A5B-8C13-C8965A2AE528}"/>
              </a:ext>
            </a:extLst>
          </p:cNvPr>
          <p:cNvSpPr/>
          <p:nvPr/>
        </p:nvSpPr>
        <p:spPr>
          <a:xfrm>
            <a:off x="6741724" y="5854934"/>
            <a:ext cx="3799075" cy="360000"/>
          </a:xfrm>
          <a:prstGeom prst="rect">
            <a:avLst/>
          </a:prstGeom>
          <a:solidFill>
            <a:srgbClr val="FF6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 pack: Device Family Pack</a:t>
            </a:r>
          </a:p>
        </p:txBody>
      </p:sp>
      <p:sp>
        <p:nvSpPr>
          <p:cNvPr id="14" name="Rectangle 13">
            <a:extLst>
              <a:ext uri="{FF2B5EF4-FFF2-40B4-BE49-F238E27FC236}">
                <a16:creationId xmlns:a16="http://schemas.microsoft.com/office/drawing/2014/main" id="{84D731BA-FED1-47F7-8C06-A0F55512B766}"/>
              </a:ext>
            </a:extLst>
          </p:cNvPr>
          <p:cNvSpPr/>
          <p:nvPr/>
        </p:nvSpPr>
        <p:spPr>
          <a:xfrm>
            <a:off x="6741724" y="4448446"/>
            <a:ext cx="3799075" cy="360000"/>
          </a:xfrm>
          <a:prstGeom prst="rect">
            <a:avLst/>
          </a:prstGeom>
          <a:solidFill>
            <a:srgbClr val="00C1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 pack: Middleware Pack</a:t>
            </a:r>
          </a:p>
        </p:txBody>
      </p:sp>
      <p:sp>
        <p:nvSpPr>
          <p:cNvPr id="15" name="Rectangle 14">
            <a:extLst>
              <a:ext uri="{FF2B5EF4-FFF2-40B4-BE49-F238E27FC236}">
                <a16:creationId xmlns:a16="http://schemas.microsoft.com/office/drawing/2014/main" id="{EEF119FA-77B9-42E5-9480-DD7AF7C23C56}"/>
              </a:ext>
            </a:extLst>
          </p:cNvPr>
          <p:cNvSpPr/>
          <p:nvPr/>
        </p:nvSpPr>
        <p:spPr>
          <a:xfrm>
            <a:off x="6741724" y="4916446"/>
            <a:ext cx="3799075"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 pack: CMSIS Pack</a:t>
            </a:r>
          </a:p>
        </p:txBody>
      </p:sp>
      <p:sp>
        <p:nvSpPr>
          <p:cNvPr id="16" name="Rectangle 15">
            <a:extLst>
              <a:ext uri="{FF2B5EF4-FFF2-40B4-BE49-F238E27FC236}">
                <a16:creationId xmlns:a16="http://schemas.microsoft.com/office/drawing/2014/main" id="{3600944F-B5ED-4B70-8823-1BBBC5B66604}"/>
              </a:ext>
            </a:extLst>
          </p:cNvPr>
          <p:cNvSpPr/>
          <p:nvPr/>
        </p:nvSpPr>
        <p:spPr>
          <a:xfrm>
            <a:off x="6741724" y="5385690"/>
            <a:ext cx="3799075" cy="360000"/>
          </a:xfrm>
          <a:prstGeom prst="rect">
            <a:avLst/>
          </a:prstGeom>
          <a:solidFill>
            <a:srgbClr val="7D86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 pack: External Driver Pack</a:t>
            </a:r>
          </a:p>
        </p:txBody>
      </p:sp>
      <p:sp>
        <p:nvSpPr>
          <p:cNvPr id="25" name="Rectangle 24">
            <a:extLst>
              <a:ext uri="{FF2B5EF4-FFF2-40B4-BE49-F238E27FC236}">
                <a16:creationId xmlns:a16="http://schemas.microsoft.com/office/drawing/2014/main" id="{35A30E91-7022-4A14-A8FB-EEE8AC983F2A}"/>
              </a:ext>
            </a:extLst>
          </p:cNvPr>
          <p:cNvSpPr/>
          <p:nvPr/>
        </p:nvSpPr>
        <p:spPr>
          <a:xfrm>
            <a:off x="837154" y="3995856"/>
            <a:ext cx="2340000" cy="57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 component:</a:t>
            </a:r>
            <a:br>
              <a:rPr lang="en-US" sz="1600" dirty="0"/>
            </a:br>
            <a:r>
              <a:rPr lang="en-US" sz="1600" dirty="0"/>
              <a:t>  CMSIS:CORE</a:t>
            </a:r>
          </a:p>
        </p:txBody>
      </p:sp>
      <p:sp>
        <p:nvSpPr>
          <p:cNvPr id="29" name="Rectangle 28">
            <a:extLst>
              <a:ext uri="{FF2B5EF4-FFF2-40B4-BE49-F238E27FC236}">
                <a16:creationId xmlns:a16="http://schemas.microsoft.com/office/drawing/2014/main" id="{518A626B-3FEB-446A-8F12-166EAA2B5037}"/>
              </a:ext>
            </a:extLst>
          </p:cNvPr>
          <p:cNvSpPr/>
          <p:nvPr/>
        </p:nvSpPr>
        <p:spPr>
          <a:xfrm>
            <a:off x="837154" y="5177421"/>
            <a:ext cx="2340000" cy="576000"/>
          </a:xfrm>
          <a:prstGeom prst="rect">
            <a:avLst/>
          </a:prstGeom>
          <a:solidFill>
            <a:srgbClr val="FF6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a:t>Device:Startup</a:t>
            </a:r>
            <a:endParaRPr lang="en-US" sz="1600" dirty="0"/>
          </a:p>
        </p:txBody>
      </p:sp>
      <p:cxnSp>
        <p:nvCxnSpPr>
          <p:cNvPr id="12" name="Connector: Elbow 11">
            <a:extLst>
              <a:ext uri="{FF2B5EF4-FFF2-40B4-BE49-F238E27FC236}">
                <a16:creationId xmlns:a16="http://schemas.microsoft.com/office/drawing/2014/main" id="{A9194A58-33A7-4CFA-A274-5B332AFEC377}"/>
              </a:ext>
            </a:extLst>
          </p:cNvPr>
          <p:cNvCxnSpPr>
            <a:cxnSpLocks/>
            <a:stCxn id="5" idx="2"/>
            <a:endCxn id="9" idx="0"/>
          </p:cNvCxnSpPr>
          <p:nvPr/>
        </p:nvCxnSpPr>
        <p:spPr>
          <a:xfrm rot="16200000" flipH="1">
            <a:off x="5824280" y="1140460"/>
            <a:ext cx="599215" cy="2748446"/>
          </a:xfrm>
          <a:prstGeom prst="bentConnector3">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CC3E8335-0031-485B-919E-7FA742C1129C}"/>
              </a:ext>
            </a:extLst>
          </p:cNvPr>
          <p:cNvCxnSpPr>
            <a:cxnSpLocks/>
            <a:endCxn id="8" idx="0"/>
          </p:cNvCxnSpPr>
          <p:nvPr/>
        </p:nvCxnSpPr>
        <p:spPr>
          <a:xfrm rot="5400000">
            <a:off x="4456201" y="2511507"/>
            <a:ext cx="599215" cy="6352"/>
          </a:xfrm>
          <a:prstGeom prst="bentConnector3">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6AFC32B8-2CE8-4EE7-AC46-9FB1F8F31ABE}"/>
              </a:ext>
            </a:extLst>
          </p:cNvPr>
          <p:cNvCxnSpPr>
            <a:cxnSpLocks/>
            <a:stCxn id="5" idx="2"/>
            <a:endCxn id="10" idx="0"/>
          </p:cNvCxnSpPr>
          <p:nvPr/>
        </p:nvCxnSpPr>
        <p:spPr>
          <a:xfrm rot="5400000">
            <a:off x="3078802" y="1143428"/>
            <a:ext cx="599215" cy="2742510"/>
          </a:xfrm>
          <a:prstGeom prst="bentConnector3">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F3316F5-F3ED-4B5F-806A-7C520DBDD3D1}"/>
              </a:ext>
            </a:extLst>
          </p:cNvPr>
          <p:cNvCxnSpPr>
            <a:stCxn id="10" idx="2"/>
            <a:endCxn id="25" idx="0"/>
          </p:cNvCxnSpPr>
          <p:nvPr/>
        </p:nvCxnSpPr>
        <p:spPr>
          <a:xfrm>
            <a:off x="2007154" y="3390291"/>
            <a:ext cx="0" cy="60556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A0D5F88-50BE-4BC0-8A8F-65FAE663B038}"/>
              </a:ext>
            </a:extLst>
          </p:cNvPr>
          <p:cNvCxnSpPr>
            <a:stCxn id="25" idx="2"/>
            <a:endCxn id="29" idx="0"/>
          </p:cNvCxnSpPr>
          <p:nvPr/>
        </p:nvCxnSpPr>
        <p:spPr>
          <a:xfrm>
            <a:off x="2007154" y="4571856"/>
            <a:ext cx="0" cy="60556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C8148D9-38C9-46EC-8AF1-58438ADC9610}"/>
              </a:ext>
            </a:extLst>
          </p:cNvPr>
          <p:cNvCxnSpPr>
            <a:cxnSpLocks/>
            <a:stCxn id="8" idx="2"/>
            <a:endCxn id="6" idx="0"/>
          </p:cNvCxnSpPr>
          <p:nvPr/>
        </p:nvCxnSpPr>
        <p:spPr>
          <a:xfrm>
            <a:off x="4752632" y="3390291"/>
            <a:ext cx="2" cy="60556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63BA002A-C537-40F7-8784-48D4B8E1D616}"/>
              </a:ext>
            </a:extLst>
          </p:cNvPr>
          <p:cNvCxnSpPr>
            <a:stCxn id="6" idx="2"/>
            <a:endCxn id="7" idx="0"/>
          </p:cNvCxnSpPr>
          <p:nvPr/>
        </p:nvCxnSpPr>
        <p:spPr>
          <a:xfrm flipH="1">
            <a:off x="4752632" y="4571856"/>
            <a:ext cx="2" cy="60556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DE0541B1-2D50-4F32-BA0B-B027A6898714}"/>
              </a:ext>
            </a:extLst>
          </p:cNvPr>
          <p:cNvCxnSpPr>
            <a:cxnSpLocks/>
            <a:stCxn id="8" idx="3"/>
            <a:endCxn id="9" idx="1"/>
          </p:cNvCxnSpPr>
          <p:nvPr/>
        </p:nvCxnSpPr>
        <p:spPr>
          <a:xfrm>
            <a:off x="5922632" y="3102291"/>
            <a:ext cx="405478"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05819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7D59C-BB6D-42FE-A3A5-D019DC03E4FF}"/>
              </a:ext>
            </a:extLst>
          </p:cNvPr>
          <p:cNvSpPr>
            <a:spLocks noGrp="1"/>
          </p:cNvSpPr>
          <p:nvPr>
            <p:ph type="title"/>
          </p:nvPr>
        </p:nvSpPr>
        <p:spPr/>
        <p:txBody>
          <a:bodyPr/>
          <a:lstStyle/>
          <a:p>
            <a:r>
              <a:rPr lang="en-US" dirty="0"/>
              <a:t>Managing software components in a project</a:t>
            </a:r>
          </a:p>
        </p:txBody>
      </p:sp>
      <p:sp>
        <p:nvSpPr>
          <p:cNvPr id="3" name="Text Placeholder 2">
            <a:extLst>
              <a:ext uri="{FF2B5EF4-FFF2-40B4-BE49-F238E27FC236}">
                <a16:creationId xmlns:a16="http://schemas.microsoft.com/office/drawing/2014/main" id="{3FCC22BB-A86D-4681-922B-6B604BB6113F}"/>
              </a:ext>
            </a:extLst>
          </p:cNvPr>
          <p:cNvSpPr>
            <a:spLocks noGrp="1"/>
          </p:cNvSpPr>
          <p:nvPr>
            <p:ph type="body" sz="quarter" idx="13"/>
          </p:nvPr>
        </p:nvSpPr>
        <p:spPr/>
        <p:txBody>
          <a:bodyPr/>
          <a:lstStyle/>
          <a:p>
            <a:r>
              <a:rPr lang="en-US" dirty="0"/>
              <a:t>Pack manager creates </a:t>
            </a:r>
            <a:r>
              <a:rPr lang="en-US" dirty="0" err="1"/>
              <a:t>RTE_Components.h</a:t>
            </a:r>
            <a:r>
              <a:rPr lang="en-US" dirty="0"/>
              <a:t> header file</a:t>
            </a:r>
          </a:p>
        </p:txBody>
      </p:sp>
      <p:sp>
        <p:nvSpPr>
          <p:cNvPr id="4" name="Content Placeholder 3">
            <a:extLst>
              <a:ext uri="{FF2B5EF4-FFF2-40B4-BE49-F238E27FC236}">
                <a16:creationId xmlns:a16="http://schemas.microsoft.com/office/drawing/2014/main" id="{582F8A5D-C2FA-4986-AF3D-208CFCB73F21}"/>
              </a:ext>
            </a:extLst>
          </p:cNvPr>
          <p:cNvSpPr>
            <a:spLocks noGrp="1"/>
          </p:cNvSpPr>
          <p:nvPr>
            <p:ph idx="1"/>
          </p:nvPr>
        </p:nvSpPr>
        <p:spPr/>
        <p:txBody>
          <a:bodyPr/>
          <a:lstStyle/>
          <a:p>
            <a:pPr marL="0" indent="0">
              <a:buNone/>
            </a:pPr>
            <a:r>
              <a:rPr lang="en-US" dirty="0" err="1"/>
              <a:t>RTE_Components.h</a:t>
            </a:r>
            <a:r>
              <a:rPr lang="en-US" dirty="0"/>
              <a:t> is an inventory file that contains:</a:t>
            </a:r>
          </a:p>
          <a:p>
            <a:r>
              <a:rPr lang="en-US" dirty="0" err="1"/>
              <a:t>CMSIS_device_header</a:t>
            </a:r>
            <a:r>
              <a:rPr lang="en-US" dirty="0"/>
              <a:t> #define for generic access to the selected device’s header file</a:t>
            </a:r>
          </a:p>
          <a:p>
            <a:r>
              <a:rPr lang="en-US" dirty="0"/>
              <a:t>All defines that are generated out of components from PDSC files:</a:t>
            </a:r>
          </a:p>
          <a:p>
            <a:pPr marL="0" lvl="0" indent="0" eaLnBrk="0" hangingPunct="0">
              <a:spcBef>
                <a:spcPct val="0"/>
              </a:spcBef>
              <a:spcAft>
                <a:spcPct val="0"/>
              </a:spcAft>
              <a:buClrTx/>
              <a:buNone/>
            </a:pPr>
            <a:r>
              <a:rPr lang="en-US" sz="1200" b="1" dirty="0">
                <a:solidFill>
                  <a:srgbClr val="0000FF"/>
                </a:solidFill>
                <a:latin typeface="Courier New" panose="02070309020205020404" pitchFamily="49" charset="0"/>
                <a:ea typeface="ＭＳ Ｐゴシック" panose="020B0600070205080204" pitchFamily="34" charset="-128"/>
                <a:cs typeface="+mn-cs"/>
              </a:rPr>
              <a:t>&lt;component</a:t>
            </a:r>
            <a:r>
              <a:rPr lang="en-US" sz="1200" b="1" dirty="0">
                <a:solidFill>
                  <a:srgbClr val="000000"/>
                </a:solidFill>
                <a:latin typeface="Courier New" panose="02070309020205020404" pitchFamily="49" charset="0"/>
                <a:ea typeface="ＭＳ Ｐゴシック" panose="020B0600070205080204" pitchFamily="34" charset="-128"/>
                <a:cs typeface="+mn-cs"/>
              </a:rPr>
              <a:t> </a:t>
            </a:r>
            <a:r>
              <a:rPr lang="en-US" sz="1200" b="1" dirty="0" err="1">
                <a:solidFill>
                  <a:srgbClr val="FF0000"/>
                </a:solidFill>
                <a:latin typeface="Courier New" panose="02070309020205020404" pitchFamily="49" charset="0"/>
                <a:ea typeface="ＭＳ Ｐゴシック" panose="020B0600070205080204" pitchFamily="34" charset="-128"/>
                <a:cs typeface="+mn-cs"/>
              </a:rPr>
              <a:t>Cgroup</a:t>
            </a:r>
            <a:r>
              <a:rPr lang="en-US" sz="1200" b="1" dirty="0">
                <a:solidFill>
                  <a:srgbClr val="000000"/>
                </a:solidFill>
                <a:latin typeface="Courier New" panose="02070309020205020404" pitchFamily="49" charset="0"/>
                <a:ea typeface="ＭＳ Ｐゴシック" panose="020B0600070205080204" pitchFamily="34" charset="-128"/>
                <a:cs typeface="+mn-cs"/>
              </a:rPr>
              <a:t>=</a:t>
            </a:r>
            <a:r>
              <a:rPr lang="en-US" sz="1200" b="1" dirty="0">
                <a:solidFill>
                  <a:srgbClr val="8000FF"/>
                </a:solidFill>
                <a:latin typeface="Courier New" panose="02070309020205020404" pitchFamily="49" charset="0"/>
                <a:ea typeface="ＭＳ Ｐゴシック" panose="020B0600070205080204" pitchFamily="34" charset="-128"/>
                <a:cs typeface="+mn-cs"/>
              </a:rPr>
              <a:t>"Core"</a:t>
            </a:r>
            <a:r>
              <a:rPr lang="en-US" sz="1200" b="1" dirty="0">
                <a:solidFill>
                  <a:srgbClr val="000000"/>
                </a:solidFill>
                <a:latin typeface="Courier New" panose="02070309020205020404" pitchFamily="49" charset="0"/>
                <a:ea typeface="ＭＳ Ｐゴシック" panose="020B0600070205080204" pitchFamily="34" charset="-128"/>
                <a:cs typeface="+mn-cs"/>
              </a:rPr>
              <a:t> </a:t>
            </a:r>
            <a:r>
              <a:rPr lang="en-US" sz="1200" b="1" dirty="0" err="1">
                <a:solidFill>
                  <a:srgbClr val="FF0000"/>
                </a:solidFill>
                <a:latin typeface="Courier New" panose="02070309020205020404" pitchFamily="49" charset="0"/>
                <a:ea typeface="ＭＳ Ｐゴシック" panose="020B0600070205080204" pitchFamily="34" charset="-128"/>
                <a:cs typeface="+mn-cs"/>
              </a:rPr>
              <a:t>Cversion</a:t>
            </a:r>
            <a:r>
              <a:rPr lang="en-US" sz="1200" b="1" dirty="0">
                <a:solidFill>
                  <a:srgbClr val="000000"/>
                </a:solidFill>
                <a:latin typeface="Courier New" panose="02070309020205020404" pitchFamily="49" charset="0"/>
                <a:ea typeface="ＭＳ Ｐゴシック" panose="020B0600070205080204" pitchFamily="34" charset="-128"/>
                <a:cs typeface="+mn-cs"/>
              </a:rPr>
              <a:t>=</a:t>
            </a:r>
            <a:r>
              <a:rPr lang="en-US" sz="1200" b="1" dirty="0">
                <a:solidFill>
                  <a:srgbClr val="8000FF"/>
                </a:solidFill>
                <a:latin typeface="Courier New" panose="02070309020205020404" pitchFamily="49" charset="0"/>
                <a:ea typeface="ＭＳ Ｐゴシック" panose="020B0600070205080204" pitchFamily="34" charset="-128"/>
                <a:cs typeface="+mn-cs"/>
              </a:rPr>
              <a:t>"10.0.1"</a:t>
            </a:r>
            <a:r>
              <a:rPr lang="en-US" sz="1200" b="1" dirty="0">
                <a:solidFill>
                  <a:srgbClr val="000000"/>
                </a:solidFill>
                <a:latin typeface="Courier New" panose="02070309020205020404" pitchFamily="49" charset="0"/>
                <a:ea typeface="ＭＳ Ｐゴシック" panose="020B0600070205080204" pitchFamily="34" charset="-128"/>
                <a:cs typeface="+mn-cs"/>
              </a:rPr>
              <a:t> </a:t>
            </a:r>
            <a:r>
              <a:rPr lang="en-US" sz="1200" b="1" dirty="0">
                <a:solidFill>
                  <a:srgbClr val="FF0000"/>
                </a:solidFill>
                <a:latin typeface="Courier New" panose="02070309020205020404" pitchFamily="49" charset="0"/>
                <a:ea typeface="ＭＳ Ｐゴシック" panose="020B0600070205080204" pitchFamily="34" charset="-128"/>
                <a:cs typeface="+mn-cs"/>
              </a:rPr>
              <a:t>condition</a:t>
            </a:r>
            <a:r>
              <a:rPr lang="en-US" sz="1200" b="1" dirty="0">
                <a:solidFill>
                  <a:srgbClr val="000000"/>
                </a:solidFill>
                <a:latin typeface="Courier New" panose="02070309020205020404" pitchFamily="49" charset="0"/>
                <a:ea typeface="ＭＳ Ｐゴシック" panose="020B0600070205080204" pitchFamily="34" charset="-128"/>
                <a:cs typeface="+mn-cs"/>
              </a:rPr>
              <a:t>=</a:t>
            </a:r>
            <a:r>
              <a:rPr lang="en-US" sz="1200" b="1" dirty="0">
                <a:solidFill>
                  <a:srgbClr val="8000FF"/>
                </a:solidFill>
                <a:latin typeface="Courier New" panose="02070309020205020404" pitchFamily="49" charset="0"/>
                <a:ea typeface="ＭＳ Ｐゴシック" panose="020B0600070205080204" pitchFamily="34" charset="-128"/>
                <a:cs typeface="+mn-cs"/>
              </a:rPr>
              <a:t>"</a:t>
            </a:r>
            <a:r>
              <a:rPr lang="en-US" sz="1200" b="1" dirty="0" err="1">
                <a:solidFill>
                  <a:srgbClr val="8000FF"/>
                </a:solidFill>
                <a:latin typeface="Courier New" panose="02070309020205020404" pitchFamily="49" charset="0"/>
                <a:ea typeface="ＭＳ Ｐゴシック" panose="020B0600070205080204" pitchFamily="34" charset="-128"/>
                <a:cs typeface="+mn-cs"/>
              </a:rPr>
              <a:t>FreeRTOS</a:t>
            </a:r>
            <a:r>
              <a:rPr lang="en-US" sz="1200" b="1" dirty="0">
                <a:solidFill>
                  <a:srgbClr val="8000FF"/>
                </a:solidFill>
                <a:latin typeface="Courier New" panose="02070309020205020404" pitchFamily="49" charset="0"/>
                <a:ea typeface="ＭＳ Ｐゴシック" panose="020B0600070205080204" pitchFamily="34" charset="-128"/>
                <a:cs typeface="+mn-cs"/>
              </a:rPr>
              <a:t>"</a:t>
            </a:r>
            <a:r>
              <a:rPr lang="en-US" sz="1200" b="1" dirty="0">
                <a:solidFill>
                  <a:srgbClr val="0000FF"/>
                </a:solidFill>
                <a:latin typeface="Courier New" panose="02070309020205020404" pitchFamily="49" charset="0"/>
                <a:ea typeface="ＭＳ Ｐゴシック" panose="020B0600070205080204" pitchFamily="34" charset="-128"/>
                <a:cs typeface="+mn-cs"/>
              </a:rPr>
              <a:t>&gt;</a:t>
            </a:r>
            <a:br>
              <a:rPr lang="en-US" sz="1200" b="1" dirty="0">
                <a:solidFill>
                  <a:srgbClr val="000000"/>
                </a:solidFill>
                <a:latin typeface="Courier New" panose="02070309020205020404" pitchFamily="49" charset="0"/>
                <a:ea typeface="ＭＳ Ｐゴシック" panose="020B0600070205080204" pitchFamily="34" charset="-128"/>
                <a:cs typeface="+mn-cs"/>
              </a:rPr>
            </a:br>
            <a:r>
              <a:rPr lang="en-US" sz="1200" b="1" dirty="0">
                <a:solidFill>
                  <a:srgbClr val="000000"/>
                </a:solidFill>
                <a:latin typeface="Courier New" panose="02070309020205020404" pitchFamily="49" charset="0"/>
                <a:ea typeface="ＭＳ Ｐゴシック" panose="020B0600070205080204" pitchFamily="34" charset="-128"/>
                <a:cs typeface="+mn-cs"/>
              </a:rPr>
              <a:t>  </a:t>
            </a:r>
            <a:r>
              <a:rPr lang="en-US" sz="1200" b="1" dirty="0">
                <a:solidFill>
                  <a:srgbClr val="0000FF"/>
                </a:solidFill>
                <a:latin typeface="Courier New" panose="02070309020205020404" pitchFamily="49" charset="0"/>
                <a:ea typeface="ＭＳ Ｐゴシック" panose="020B0600070205080204" pitchFamily="34" charset="-128"/>
                <a:cs typeface="+mn-cs"/>
              </a:rPr>
              <a:t>&lt;description&gt;</a:t>
            </a:r>
            <a:r>
              <a:rPr lang="en-US" sz="1200" b="1" dirty="0">
                <a:solidFill>
                  <a:srgbClr val="000000"/>
                </a:solidFill>
                <a:latin typeface="Courier New" panose="02070309020205020404" pitchFamily="49" charset="0"/>
                <a:ea typeface="ＭＳ Ｐゴシック" panose="020B0600070205080204" pitchFamily="34" charset="-128"/>
                <a:cs typeface="+mn-cs"/>
              </a:rPr>
              <a:t>Core components API (Kernel, Tasks, Semaphores, Mutexes, Queues)</a:t>
            </a:r>
            <a:r>
              <a:rPr lang="en-US" sz="1200" b="1" dirty="0">
                <a:solidFill>
                  <a:srgbClr val="0000FF"/>
                </a:solidFill>
                <a:latin typeface="Courier New" panose="02070309020205020404" pitchFamily="49" charset="0"/>
                <a:ea typeface="ＭＳ Ｐゴシック" panose="020B0600070205080204" pitchFamily="34" charset="-128"/>
                <a:cs typeface="+mn-cs"/>
              </a:rPr>
              <a:t>&lt;/description&gt;</a:t>
            </a:r>
            <a:br>
              <a:rPr lang="en-US" sz="1200" b="1" dirty="0">
                <a:solidFill>
                  <a:srgbClr val="000000"/>
                </a:solidFill>
                <a:latin typeface="Courier New" panose="02070309020205020404" pitchFamily="49" charset="0"/>
                <a:ea typeface="ＭＳ Ｐゴシック" panose="020B0600070205080204" pitchFamily="34" charset="-128"/>
                <a:cs typeface="+mn-cs"/>
              </a:rPr>
            </a:br>
            <a:r>
              <a:rPr lang="en-US" sz="1200" b="1" dirty="0">
                <a:solidFill>
                  <a:srgbClr val="000000"/>
                </a:solidFill>
                <a:latin typeface="Courier New" panose="02070309020205020404" pitchFamily="49" charset="0"/>
                <a:ea typeface="ＭＳ Ｐゴシック" panose="020B0600070205080204" pitchFamily="34" charset="-128"/>
                <a:cs typeface="+mn-cs"/>
              </a:rPr>
              <a:t>  </a:t>
            </a:r>
            <a:r>
              <a:rPr lang="en-US" sz="1200" b="1" dirty="0">
                <a:solidFill>
                  <a:srgbClr val="0000FF"/>
                </a:solidFill>
                <a:latin typeface="Courier New" panose="02070309020205020404" pitchFamily="49" charset="0"/>
                <a:ea typeface="ＭＳ Ｐゴシック" panose="020B0600070205080204" pitchFamily="34" charset="-128"/>
                <a:cs typeface="+mn-cs"/>
              </a:rPr>
              <a:t>&lt;</a:t>
            </a:r>
            <a:r>
              <a:rPr lang="en-US" sz="1200" b="1" dirty="0" err="1">
                <a:solidFill>
                  <a:srgbClr val="0000FF"/>
                </a:solidFill>
                <a:latin typeface="Courier New" panose="02070309020205020404" pitchFamily="49" charset="0"/>
                <a:ea typeface="ＭＳ Ｐゴシック" panose="020B0600070205080204" pitchFamily="34" charset="-128"/>
                <a:cs typeface="+mn-cs"/>
              </a:rPr>
              <a:t>RTE_Components_h</a:t>
            </a:r>
            <a:r>
              <a:rPr lang="en-US" sz="1200" b="1" dirty="0">
                <a:solidFill>
                  <a:srgbClr val="0000FF"/>
                </a:solidFill>
                <a:latin typeface="Courier New" panose="02070309020205020404" pitchFamily="49" charset="0"/>
                <a:ea typeface="ＭＳ Ｐゴシック" panose="020B0600070205080204" pitchFamily="34" charset="-128"/>
                <a:cs typeface="+mn-cs"/>
              </a:rPr>
              <a:t>&gt;</a:t>
            </a:r>
            <a:r>
              <a:rPr lang="en-US" sz="1200" b="1" dirty="0">
                <a:solidFill>
                  <a:srgbClr val="000000"/>
                </a:solidFill>
                <a:latin typeface="Courier New" panose="02070309020205020404" pitchFamily="49" charset="0"/>
                <a:ea typeface="ＭＳ Ｐゴシック" panose="020B0600070205080204" pitchFamily="34" charset="-128"/>
                <a:cs typeface="+mn-cs"/>
              </a:rPr>
              <a:t> #define </a:t>
            </a:r>
            <a:r>
              <a:rPr lang="en-US" sz="1200" b="1" dirty="0" err="1">
                <a:solidFill>
                  <a:srgbClr val="000000"/>
                </a:solidFill>
                <a:latin typeface="Courier New" panose="02070309020205020404" pitchFamily="49" charset="0"/>
                <a:ea typeface="ＭＳ Ｐゴシック" panose="020B0600070205080204" pitchFamily="34" charset="-128"/>
                <a:cs typeface="+mn-cs"/>
              </a:rPr>
              <a:t>RTE_RTOS_FreeRTOS_CORE</a:t>
            </a:r>
            <a:r>
              <a:rPr lang="en-US" sz="1200" b="1" dirty="0">
                <a:solidFill>
                  <a:srgbClr val="000000"/>
                </a:solidFill>
                <a:latin typeface="Courier New" panose="02070309020205020404" pitchFamily="49" charset="0"/>
                <a:ea typeface="ＭＳ Ｐゴシック" panose="020B0600070205080204" pitchFamily="34" charset="-128"/>
                <a:cs typeface="+mn-cs"/>
              </a:rPr>
              <a:t> /* RTOS </a:t>
            </a:r>
            <a:r>
              <a:rPr lang="en-US" sz="1200" b="1" dirty="0" err="1">
                <a:solidFill>
                  <a:srgbClr val="000000"/>
                </a:solidFill>
                <a:latin typeface="Courier New" panose="02070309020205020404" pitchFamily="49" charset="0"/>
                <a:ea typeface="ＭＳ Ｐゴシック" panose="020B0600070205080204" pitchFamily="34" charset="-128"/>
                <a:cs typeface="+mn-cs"/>
              </a:rPr>
              <a:t>FreeRTOS</a:t>
            </a:r>
            <a:r>
              <a:rPr lang="en-US" sz="1200" b="1" dirty="0">
                <a:solidFill>
                  <a:srgbClr val="000000"/>
                </a:solidFill>
                <a:latin typeface="Courier New" panose="02070309020205020404" pitchFamily="49" charset="0"/>
                <a:ea typeface="ＭＳ Ｐゴシック" panose="020B0600070205080204" pitchFamily="34" charset="-128"/>
                <a:cs typeface="+mn-cs"/>
              </a:rPr>
              <a:t> Core */ </a:t>
            </a:r>
            <a:r>
              <a:rPr lang="en-US" sz="1200" b="1" dirty="0">
                <a:solidFill>
                  <a:srgbClr val="0000FF"/>
                </a:solidFill>
                <a:latin typeface="Courier New" panose="02070309020205020404" pitchFamily="49" charset="0"/>
                <a:ea typeface="ＭＳ Ｐゴシック" panose="020B0600070205080204" pitchFamily="34" charset="-128"/>
                <a:cs typeface="+mn-cs"/>
              </a:rPr>
              <a:t>&lt;/</a:t>
            </a:r>
            <a:r>
              <a:rPr lang="en-US" sz="1200" b="1" dirty="0" err="1">
                <a:solidFill>
                  <a:srgbClr val="0000FF"/>
                </a:solidFill>
                <a:latin typeface="Courier New" panose="02070309020205020404" pitchFamily="49" charset="0"/>
                <a:ea typeface="ＭＳ Ｐゴシック" panose="020B0600070205080204" pitchFamily="34" charset="-128"/>
                <a:cs typeface="+mn-cs"/>
              </a:rPr>
              <a:t>RTE_Components_h</a:t>
            </a:r>
            <a:r>
              <a:rPr lang="en-US" sz="1200" b="1" dirty="0">
                <a:solidFill>
                  <a:srgbClr val="0000FF"/>
                </a:solidFill>
                <a:latin typeface="Courier New" panose="02070309020205020404" pitchFamily="49" charset="0"/>
                <a:ea typeface="ＭＳ Ｐゴシック" panose="020B0600070205080204" pitchFamily="34" charset="-128"/>
                <a:cs typeface="+mn-cs"/>
              </a:rPr>
              <a:t>&gt;</a:t>
            </a:r>
            <a:br>
              <a:rPr lang="en-US" sz="1200" b="1" dirty="0">
                <a:solidFill>
                  <a:srgbClr val="0000FF"/>
                </a:solidFill>
                <a:latin typeface="Courier New" panose="02070309020205020404" pitchFamily="49" charset="0"/>
                <a:ea typeface="ＭＳ Ｐゴシック" panose="020B0600070205080204" pitchFamily="34" charset="-128"/>
                <a:cs typeface="+mn-cs"/>
              </a:rPr>
            </a:br>
            <a:r>
              <a:rPr lang="en-US" sz="1200" b="1" dirty="0">
                <a:solidFill>
                  <a:srgbClr val="0000FF"/>
                </a:solidFill>
                <a:latin typeface="Courier New" panose="02070309020205020404" pitchFamily="49" charset="0"/>
                <a:ea typeface="ＭＳ Ｐゴシック" panose="020B0600070205080204" pitchFamily="34" charset="-128"/>
                <a:cs typeface="+mn-cs"/>
              </a:rPr>
              <a:t>  . . .</a:t>
            </a:r>
            <a:br>
              <a:rPr lang="en-US" sz="1200" b="1" dirty="0">
                <a:solidFill>
                  <a:srgbClr val="0000FF"/>
                </a:solidFill>
                <a:latin typeface="Courier New" panose="02070309020205020404" pitchFamily="49" charset="0"/>
                <a:ea typeface="ＭＳ Ｐゴシック" panose="020B0600070205080204" pitchFamily="34" charset="-128"/>
                <a:cs typeface="+mn-cs"/>
              </a:rPr>
            </a:br>
            <a:r>
              <a:rPr lang="en-US" sz="1200" b="1" dirty="0">
                <a:solidFill>
                  <a:srgbClr val="0000FF"/>
                </a:solidFill>
                <a:latin typeface="Courier New" panose="02070309020205020404" pitchFamily="49" charset="0"/>
                <a:ea typeface="ＭＳ Ｐゴシック" panose="020B0600070205080204" pitchFamily="34" charset="-128"/>
                <a:cs typeface="+mn-cs"/>
              </a:rPr>
              <a:t>&lt;/component&gt;</a:t>
            </a:r>
            <a:endParaRPr lang="en-US" sz="1200" dirty="0">
              <a:solidFill>
                <a:prstClr val="black"/>
              </a:solidFill>
              <a:latin typeface="Calibri" panose="020F0502020204030204" pitchFamily="34" charset="0"/>
              <a:ea typeface="ＭＳ Ｐゴシック" panose="020B0600070205080204" pitchFamily="34" charset="-128"/>
              <a:cs typeface="+mn-cs"/>
            </a:endParaRPr>
          </a:p>
          <a:p>
            <a:r>
              <a:rPr lang="en-US" dirty="0"/>
              <a:t>Is added to the </a:t>
            </a:r>
            <a:r>
              <a:rPr lang="en-US" dirty="0" err="1"/>
              <a:t>RTE_Components.h</a:t>
            </a:r>
            <a:r>
              <a:rPr lang="en-US" dirty="0"/>
              <a:t> file:</a:t>
            </a:r>
          </a:p>
          <a:p>
            <a:pPr marL="0" indent="0">
              <a:buNone/>
            </a:pPr>
            <a:r>
              <a:rPr lang="en-US" sz="1200" dirty="0">
                <a:solidFill>
                  <a:srgbClr val="008000"/>
                </a:solidFill>
                <a:latin typeface="Courier New" panose="02070309020205020404" pitchFamily="49" charset="0"/>
              </a:rPr>
              <a:t>/*</a:t>
            </a:r>
            <a:br>
              <a:rPr lang="en-US" sz="1200" dirty="0">
                <a:solidFill>
                  <a:srgbClr val="008000"/>
                </a:solidFill>
                <a:latin typeface="Courier New" panose="02070309020205020404" pitchFamily="49" charset="0"/>
              </a:rPr>
            </a:br>
            <a:r>
              <a:rPr lang="en-US" sz="1200" dirty="0">
                <a:solidFill>
                  <a:srgbClr val="008000"/>
                </a:solidFill>
                <a:latin typeface="Courier New" panose="02070309020205020404" pitchFamily="49" charset="0"/>
              </a:rPr>
              <a:t> * Auto generated Run-Time-Environment Component Configuration File</a:t>
            </a:r>
            <a:br>
              <a:rPr lang="en-US" sz="1200" dirty="0">
                <a:solidFill>
                  <a:srgbClr val="008000"/>
                </a:solidFill>
                <a:latin typeface="Courier New" panose="02070309020205020404" pitchFamily="49" charset="0"/>
              </a:rPr>
            </a:br>
            <a:r>
              <a:rPr lang="en-US" sz="1200" dirty="0">
                <a:solidFill>
                  <a:srgbClr val="008000"/>
                </a:solidFill>
                <a:latin typeface="Courier New" panose="02070309020205020404" pitchFamily="49" charset="0"/>
              </a:rPr>
              <a:t> * *** Do not modify ! ***</a:t>
            </a:r>
            <a:br>
              <a:rPr lang="en-US" sz="1200" dirty="0">
                <a:solidFill>
                  <a:srgbClr val="008000"/>
                </a:solidFill>
                <a:latin typeface="Courier New" panose="02070309020205020404" pitchFamily="49" charset="0"/>
              </a:rPr>
            </a:br>
            <a:r>
              <a:rPr lang="en-US" sz="1200" dirty="0">
                <a:solidFill>
                  <a:srgbClr val="008000"/>
                </a:solidFill>
                <a:latin typeface="Courier New" panose="02070309020205020404" pitchFamily="49" charset="0"/>
              </a:rPr>
              <a:t>*/</a:t>
            </a:r>
            <a:br>
              <a:rPr lang="en-US" sz="1200" dirty="0">
                <a:solidFill>
                  <a:srgbClr val="008000"/>
                </a:solidFill>
                <a:latin typeface="Courier New" panose="02070309020205020404" pitchFamily="49" charset="0"/>
              </a:rPr>
            </a:br>
            <a:r>
              <a:rPr lang="en-US" sz="1200" dirty="0">
                <a:solidFill>
                  <a:srgbClr val="804000"/>
                </a:solidFill>
                <a:latin typeface="Courier New" panose="02070309020205020404" pitchFamily="49" charset="0"/>
              </a:rPr>
              <a:t>#</a:t>
            </a:r>
            <a:r>
              <a:rPr lang="en-US" sz="1200" dirty="0" err="1">
                <a:solidFill>
                  <a:srgbClr val="804000"/>
                </a:solidFill>
                <a:latin typeface="Courier New" panose="02070309020205020404" pitchFamily="49" charset="0"/>
              </a:rPr>
              <a:t>ifndef</a:t>
            </a:r>
            <a:r>
              <a:rPr lang="en-US" sz="1200" dirty="0">
                <a:solidFill>
                  <a:srgbClr val="804000"/>
                </a:solidFill>
                <a:latin typeface="Courier New" panose="02070309020205020404" pitchFamily="49" charset="0"/>
              </a:rPr>
              <a:t> RTE_COMPONENTS_H</a:t>
            </a:r>
            <a:br>
              <a:rPr lang="en-US" sz="1200" dirty="0">
                <a:solidFill>
                  <a:srgbClr val="804000"/>
                </a:solidFill>
                <a:latin typeface="Courier New" panose="02070309020205020404" pitchFamily="49" charset="0"/>
              </a:rPr>
            </a:br>
            <a:r>
              <a:rPr lang="en-US" sz="1200" dirty="0">
                <a:solidFill>
                  <a:srgbClr val="804000"/>
                </a:solidFill>
                <a:latin typeface="Courier New" panose="02070309020205020404" pitchFamily="49" charset="0"/>
              </a:rPr>
              <a:t>#define RTE_COMPONENTS_H</a:t>
            </a:r>
            <a:br>
              <a:rPr lang="en-US" sz="1200" dirty="0">
                <a:solidFill>
                  <a:srgbClr val="804000"/>
                </a:solidFill>
                <a:latin typeface="Courier New" panose="02070309020205020404" pitchFamily="49" charset="0"/>
              </a:rPr>
            </a:br>
            <a:r>
              <a:rPr lang="en-US" sz="1200" dirty="0">
                <a:solidFill>
                  <a:srgbClr val="008000"/>
                </a:solidFill>
                <a:latin typeface="Courier New" panose="02070309020205020404" pitchFamily="49" charset="0"/>
              </a:rPr>
              <a:t>/* Define the Device Header File: */</a:t>
            </a:r>
            <a:br>
              <a:rPr lang="en-US" sz="1200" dirty="0">
                <a:solidFill>
                  <a:srgbClr val="008000"/>
                </a:solidFill>
                <a:latin typeface="Courier New" panose="02070309020205020404" pitchFamily="49" charset="0"/>
              </a:rPr>
            </a:br>
            <a:r>
              <a:rPr lang="en-US" sz="1200" dirty="0">
                <a:solidFill>
                  <a:srgbClr val="804000"/>
                </a:solidFill>
                <a:latin typeface="Courier New" panose="02070309020205020404" pitchFamily="49" charset="0"/>
              </a:rPr>
              <a:t>#define </a:t>
            </a:r>
            <a:r>
              <a:rPr lang="en-US" sz="1200" dirty="0" err="1">
                <a:solidFill>
                  <a:srgbClr val="804000"/>
                </a:solidFill>
                <a:latin typeface="Courier New" panose="02070309020205020404" pitchFamily="49" charset="0"/>
              </a:rPr>
              <a:t>CMSIS_device_header</a:t>
            </a:r>
            <a:r>
              <a:rPr lang="en-US" sz="1200" dirty="0">
                <a:solidFill>
                  <a:srgbClr val="804000"/>
                </a:solidFill>
                <a:latin typeface="Courier New" panose="02070309020205020404" pitchFamily="49" charset="0"/>
              </a:rPr>
              <a:t> "ARMCM3.h“</a:t>
            </a:r>
            <a:br>
              <a:rPr lang="en-US" sz="1200" dirty="0">
                <a:solidFill>
                  <a:srgbClr val="804000"/>
                </a:solidFill>
                <a:latin typeface="Courier New" panose="02070309020205020404" pitchFamily="49" charset="0"/>
              </a:rPr>
            </a:br>
            <a:br>
              <a:rPr lang="en-US" sz="1200" dirty="0">
                <a:solidFill>
                  <a:srgbClr val="804000"/>
                </a:solidFill>
                <a:latin typeface="Courier New" panose="02070309020205020404" pitchFamily="49" charset="0"/>
              </a:rPr>
            </a:br>
            <a:r>
              <a:rPr lang="en-US" sz="1200" dirty="0">
                <a:solidFill>
                  <a:srgbClr val="804000"/>
                </a:solidFill>
                <a:latin typeface="Courier New" panose="02070309020205020404" pitchFamily="49" charset="0"/>
              </a:rPr>
              <a:t>#define </a:t>
            </a:r>
            <a:r>
              <a:rPr lang="en-US" sz="1200" dirty="0" err="1">
                <a:solidFill>
                  <a:srgbClr val="804000"/>
                </a:solidFill>
                <a:latin typeface="Courier New" panose="02070309020205020404" pitchFamily="49" charset="0"/>
              </a:rPr>
              <a:t>RTE_RTOS_FreeRTOS_CORE</a:t>
            </a:r>
            <a:r>
              <a:rPr lang="en-US" sz="1200" dirty="0">
                <a:solidFill>
                  <a:srgbClr val="804000"/>
                </a:solidFill>
                <a:latin typeface="Courier New" panose="02070309020205020404" pitchFamily="49" charset="0"/>
              </a:rPr>
              <a:t> </a:t>
            </a:r>
            <a:r>
              <a:rPr lang="en-US" sz="1200" dirty="0">
                <a:solidFill>
                  <a:srgbClr val="008000"/>
                </a:solidFill>
                <a:latin typeface="Courier New" panose="02070309020205020404" pitchFamily="49" charset="0"/>
              </a:rPr>
              <a:t>/* RTOS </a:t>
            </a:r>
            <a:r>
              <a:rPr lang="en-US" sz="1200" dirty="0" err="1">
                <a:solidFill>
                  <a:srgbClr val="008000"/>
                </a:solidFill>
                <a:latin typeface="Courier New" panose="02070309020205020404" pitchFamily="49" charset="0"/>
              </a:rPr>
              <a:t>FreeRTOS</a:t>
            </a:r>
            <a:r>
              <a:rPr lang="en-US" sz="1200" dirty="0">
                <a:solidFill>
                  <a:srgbClr val="008000"/>
                </a:solidFill>
                <a:latin typeface="Courier New" panose="02070309020205020404" pitchFamily="49" charset="0"/>
              </a:rPr>
              <a:t> Core */</a:t>
            </a:r>
            <a:br>
              <a:rPr lang="en-US" sz="1200" dirty="0">
                <a:solidFill>
                  <a:srgbClr val="008000"/>
                </a:solidFill>
                <a:latin typeface="Courier New" panose="02070309020205020404" pitchFamily="49" charset="0"/>
              </a:rPr>
            </a:br>
            <a:r>
              <a:rPr lang="en-US" sz="1200" dirty="0">
                <a:solidFill>
                  <a:srgbClr val="804000"/>
                </a:solidFill>
                <a:latin typeface="Courier New" panose="02070309020205020404" pitchFamily="49" charset="0"/>
              </a:rPr>
              <a:t>#endif </a:t>
            </a:r>
            <a:r>
              <a:rPr lang="en-US" sz="1200" dirty="0">
                <a:solidFill>
                  <a:srgbClr val="008000"/>
                </a:solidFill>
                <a:latin typeface="Courier New" panose="02070309020205020404" pitchFamily="49" charset="0"/>
              </a:rPr>
              <a:t>/* RTE_COMPONENTS_H */</a:t>
            </a:r>
            <a:r>
              <a:rPr lang="en-US" sz="1200" dirty="0">
                <a:solidFill>
                  <a:srgbClr val="804000"/>
                </a:solidFill>
                <a:latin typeface="Courier New" panose="02070309020205020404" pitchFamily="49" charset="0"/>
              </a:rPr>
              <a:t> </a:t>
            </a:r>
            <a:endParaRPr lang="en-US" sz="1200" dirty="0"/>
          </a:p>
        </p:txBody>
      </p:sp>
    </p:spTree>
    <p:extLst>
      <p:ext uri="{BB962C8B-B14F-4D97-AF65-F5344CB8AC3E}">
        <p14:creationId xmlns:p14="http://schemas.microsoft.com/office/powerpoint/2010/main" val="32166714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4B1B9FE-372F-1699-74BB-71073E9DB2DF}"/>
              </a:ext>
            </a:extLst>
          </p:cNvPr>
          <p:cNvPicPr>
            <a:picLocks noChangeAspect="1"/>
          </p:cNvPicPr>
          <p:nvPr/>
        </p:nvPicPr>
        <p:blipFill>
          <a:blip r:embed="rId3"/>
          <a:stretch>
            <a:fillRect/>
          </a:stretch>
        </p:blipFill>
        <p:spPr>
          <a:xfrm>
            <a:off x="9515697" y="2469389"/>
            <a:ext cx="2857500" cy="1600200"/>
          </a:xfrm>
          <a:prstGeom prst="rect">
            <a:avLst/>
          </a:prstGeom>
        </p:spPr>
      </p:pic>
      <p:sp>
        <p:nvSpPr>
          <p:cNvPr id="20" name="Rectangle 19">
            <a:extLst>
              <a:ext uri="{FF2B5EF4-FFF2-40B4-BE49-F238E27FC236}">
                <a16:creationId xmlns:a16="http://schemas.microsoft.com/office/drawing/2014/main" id="{09FC7FE9-C280-13C7-8D24-59B0A9956337}"/>
              </a:ext>
            </a:extLst>
          </p:cNvPr>
          <p:cNvSpPr/>
          <p:nvPr/>
        </p:nvSpPr>
        <p:spPr>
          <a:xfrm>
            <a:off x="479426" y="3621748"/>
            <a:ext cx="6317615" cy="2257107"/>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defTabSz="914377"/>
            <a:r>
              <a:rPr lang="en-US">
                <a:solidFill>
                  <a:srgbClr val="000000"/>
                </a:solidFill>
                <a:latin typeface="Calibri"/>
              </a:rPr>
              <a:t>Sensor SDK Pack</a:t>
            </a:r>
          </a:p>
        </p:txBody>
      </p:sp>
      <p:sp>
        <p:nvSpPr>
          <p:cNvPr id="24" name="Rectangle 23">
            <a:extLst>
              <a:ext uri="{FF2B5EF4-FFF2-40B4-BE49-F238E27FC236}">
                <a16:creationId xmlns:a16="http://schemas.microsoft.com/office/drawing/2014/main" id="{A287A678-3DBB-E5A7-735D-1A3D25D92A99}"/>
              </a:ext>
            </a:extLst>
          </p:cNvPr>
          <p:cNvSpPr/>
          <p:nvPr/>
        </p:nvSpPr>
        <p:spPr>
          <a:xfrm>
            <a:off x="479426" y="4683761"/>
            <a:ext cx="3340735" cy="1195095"/>
          </a:xfrm>
          <a:prstGeom prst="rect">
            <a:avLst/>
          </a:prstGeom>
          <a:solidFill>
            <a:schemeClr val="accent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defTabSz="914377"/>
            <a:r>
              <a:rPr lang="en-US">
                <a:solidFill>
                  <a:srgbClr val="000000"/>
                </a:solidFill>
                <a:latin typeface="Calibri"/>
              </a:rPr>
              <a:t>BSP Pack</a:t>
            </a:r>
          </a:p>
        </p:txBody>
      </p:sp>
      <p:sp>
        <p:nvSpPr>
          <p:cNvPr id="2" name="Title 1">
            <a:extLst>
              <a:ext uri="{FF2B5EF4-FFF2-40B4-BE49-F238E27FC236}">
                <a16:creationId xmlns:a16="http://schemas.microsoft.com/office/drawing/2014/main" id="{06C70444-14E9-4412-920E-BE212187115D}"/>
              </a:ext>
            </a:extLst>
          </p:cNvPr>
          <p:cNvSpPr>
            <a:spLocks noGrp="1"/>
          </p:cNvSpPr>
          <p:nvPr>
            <p:ph type="title"/>
          </p:nvPr>
        </p:nvSpPr>
        <p:spPr/>
        <p:txBody>
          <a:bodyPr/>
          <a:lstStyle/>
          <a:p>
            <a:r>
              <a:rPr lang="en-US" sz="3200"/>
              <a:t>Distribution of Reference Applications</a:t>
            </a:r>
            <a:endParaRPr lang="en-GB" sz="3200"/>
          </a:p>
        </p:txBody>
      </p:sp>
      <p:sp>
        <p:nvSpPr>
          <p:cNvPr id="6" name="Rectangle 5">
            <a:extLst>
              <a:ext uri="{FF2B5EF4-FFF2-40B4-BE49-F238E27FC236}">
                <a16:creationId xmlns:a16="http://schemas.microsoft.com/office/drawing/2014/main" id="{5B91937D-F19D-B446-238D-9B3F5079E5AE}"/>
              </a:ext>
            </a:extLst>
          </p:cNvPr>
          <p:cNvSpPr/>
          <p:nvPr/>
        </p:nvSpPr>
        <p:spPr>
          <a:xfrm>
            <a:off x="936385" y="4055822"/>
            <a:ext cx="5639673" cy="473559"/>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a:solidFill>
                  <a:srgbClr val="FFFFFF"/>
                </a:solidFill>
                <a:latin typeface="Calibri"/>
              </a:rPr>
              <a:t>Reference Application</a:t>
            </a:r>
            <a:br>
              <a:rPr lang="en-US" sz="1400">
                <a:solidFill>
                  <a:srgbClr val="FFFFFF"/>
                </a:solidFill>
                <a:latin typeface="Calibri"/>
              </a:rPr>
            </a:br>
            <a:r>
              <a:rPr lang="en-US" sz="1400">
                <a:solidFill>
                  <a:srgbClr val="FFFFFF"/>
                </a:solidFill>
                <a:latin typeface="Calibri"/>
              </a:rPr>
              <a:t>(&lt;sensor&gt;.</a:t>
            </a:r>
            <a:r>
              <a:rPr lang="en-US" sz="1400" err="1">
                <a:solidFill>
                  <a:srgbClr val="FFFFFF"/>
                </a:solidFill>
                <a:latin typeface="Calibri"/>
              </a:rPr>
              <a:t>csolution.yml</a:t>
            </a:r>
            <a:r>
              <a:rPr lang="en-US" sz="1400">
                <a:solidFill>
                  <a:srgbClr val="FFFFFF"/>
                </a:solidFill>
                <a:latin typeface="Calibri"/>
              </a:rPr>
              <a:t> / &lt;sensor&gt;.</a:t>
            </a:r>
            <a:r>
              <a:rPr lang="en-US" sz="1400" err="1">
                <a:solidFill>
                  <a:srgbClr val="FFFFFF"/>
                </a:solidFill>
                <a:latin typeface="Calibri"/>
              </a:rPr>
              <a:t>cproject.yml</a:t>
            </a:r>
            <a:r>
              <a:rPr lang="en-US" sz="1400">
                <a:solidFill>
                  <a:srgbClr val="FFFFFF"/>
                </a:solidFill>
                <a:latin typeface="Calibri"/>
              </a:rPr>
              <a:t>)</a:t>
            </a:r>
          </a:p>
        </p:txBody>
      </p:sp>
      <p:sp>
        <p:nvSpPr>
          <p:cNvPr id="11" name="Rectangle 10">
            <a:extLst>
              <a:ext uri="{FF2B5EF4-FFF2-40B4-BE49-F238E27FC236}">
                <a16:creationId xmlns:a16="http://schemas.microsoft.com/office/drawing/2014/main" id="{D635B518-621D-69AE-09B7-61BA9EBE0C2C}"/>
              </a:ext>
            </a:extLst>
          </p:cNvPr>
          <p:cNvSpPr/>
          <p:nvPr/>
        </p:nvSpPr>
        <p:spPr>
          <a:xfrm>
            <a:off x="936383" y="5058314"/>
            <a:ext cx="2799307" cy="47355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a:solidFill>
                  <a:srgbClr val="FFFFFF"/>
                </a:solidFill>
                <a:latin typeface="Calibri"/>
              </a:rPr>
              <a:t>Layer Type: Board</a:t>
            </a:r>
            <a:br>
              <a:rPr lang="en-US" sz="1400">
                <a:solidFill>
                  <a:srgbClr val="FFFFFF"/>
                </a:solidFill>
                <a:latin typeface="Calibri"/>
              </a:rPr>
            </a:br>
            <a:r>
              <a:rPr lang="en-US" sz="1200">
                <a:solidFill>
                  <a:srgbClr val="FFFFFF"/>
                </a:solidFill>
                <a:latin typeface="Calibri"/>
              </a:rPr>
              <a:t>(&lt;board-name&gt;.</a:t>
            </a:r>
            <a:r>
              <a:rPr lang="en-US" sz="1200" err="1">
                <a:solidFill>
                  <a:srgbClr val="FFFFFF"/>
                </a:solidFill>
                <a:latin typeface="Calibri"/>
              </a:rPr>
              <a:t>clayer.yml</a:t>
            </a:r>
            <a:r>
              <a:rPr lang="en-US" sz="1200">
                <a:solidFill>
                  <a:srgbClr val="FFFFFF"/>
                </a:solidFill>
                <a:latin typeface="Calibri"/>
              </a:rPr>
              <a:t>)</a:t>
            </a:r>
          </a:p>
        </p:txBody>
      </p:sp>
      <p:sp>
        <p:nvSpPr>
          <p:cNvPr id="4" name="Rectangle 3">
            <a:extLst>
              <a:ext uri="{FF2B5EF4-FFF2-40B4-BE49-F238E27FC236}">
                <a16:creationId xmlns:a16="http://schemas.microsoft.com/office/drawing/2014/main" id="{3D09EB5A-9FF8-9C03-3E56-2B15AF16267F}"/>
              </a:ext>
            </a:extLst>
          </p:cNvPr>
          <p:cNvSpPr/>
          <p:nvPr/>
        </p:nvSpPr>
        <p:spPr>
          <a:xfrm>
            <a:off x="936383" y="4798414"/>
            <a:ext cx="2799307" cy="264183"/>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a:solidFill>
                  <a:srgbClr val="FFFFFF"/>
                </a:solidFill>
                <a:latin typeface="Calibri"/>
              </a:rPr>
              <a:t> Driver APIs</a:t>
            </a:r>
          </a:p>
        </p:txBody>
      </p:sp>
      <p:sp>
        <p:nvSpPr>
          <p:cNvPr id="17" name="Rectangle 16">
            <a:extLst>
              <a:ext uri="{FF2B5EF4-FFF2-40B4-BE49-F238E27FC236}">
                <a16:creationId xmlns:a16="http://schemas.microsoft.com/office/drawing/2014/main" id="{9F5E5A3B-7539-9B55-9C6A-4891B6EE15D3}"/>
              </a:ext>
            </a:extLst>
          </p:cNvPr>
          <p:cNvSpPr/>
          <p:nvPr/>
        </p:nvSpPr>
        <p:spPr>
          <a:xfrm>
            <a:off x="3903278" y="5058314"/>
            <a:ext cx="2685311" cy="47355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a:solidFill>
                  <a:srgbClr val="FFFFFF"/>
                </a:solidFill>
                <a:latin typeface="Calibri"/>
              </a:rPr>
              <a:t>Layer Type: Shield</a:t>
            </a:r>
            <a:br>
              <a:rPr lang="en-US" sz="1400">
                <a:solidFill>
                  <a:srgbClr val="FFFFFF"/>
                </a:solidFill>
                <a:latin typeface="Calibri"/>
              </a:rPr>
            </a:br>
            <a:r>
              <a:rPr lang="en-US" sz="1200">
                <a:solidFill>
                  <a:srgbClr val="FFFFFF"/>
                </a:solidFill>
                <a:latin typeface="Calibri"/>
              </a:rPr>
              <a:t>(&lt;shield-name&gt;.</a:t>
            </a:r>
            <a:r>
              <a:rPr lang="en-US" sz="1200" err="1">
                <a:solidFill>
                  <a:srgbClr val="FFFFFF"/>
                </a:solidFill>
                <a:latin typeface="Calibri"/>
              </a:rPr>
              <a:t>clayer.yml</a:t>
            </a:r>
            <a:r>
              <a:rPr lang="en-US" sz="1200">
                <a:solidFill>
                  <a:srgbClr val="FFFFFF"/>
                </a:solidFill>
                <a:latin typeface="Calibri"/>
              </a:rPr>
              <a:t>)</a:t>
            </a:r>
          </a:p>
        </p:txBody>
      </p:sp>
      <p:sp>
        <p:nvSpPr>
          <p:cNvPr id="19" name="Rectangle 18">
            <a:extLst>
              <a:ext uri="{FF2B5EF4-FFF2-40B4-BE49-F238E27FC236}">
                <a16:creationId xmlns:a16="http://schemas.microsoft.com/office/drawing/2014/main" id="{1B42125C-DD62-A635-44F1-5F7CDA2D1A1C}"/>
              </a:ext>
            </a:extLst>
          </p:cNvPr>
          <p:cNvSpPr/>
          <p:nvPr/>
        </p:nvSpPr>
        <p:spPr>
          <a:xfrm>
            <a:off x="3903274" y="4796647"/>
            <a:ext cx="2685311" cy="26418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a:solidFill>
                  <a:srgbClr val="FFFFFF"/>
                </a:solidFill>
                <a:latin typeface="Calibri"/>
              </a:rPr>
              <a:t>Shield-specific API</a:t>
            </a:r>
            <a:endParaRPr lang="en-US" sz="1200">
              <a:solidFill>
                <a:srgbClr val="FFFFFF"/>
              </a:solidFill>
              <a:latin typeface="Calibri"/>
            </a:endParaRPr>
          </a:p>
        </p:txBody>
      </p:sp>
      <p:sp>
        <p:nvSpPr>
          <p:cNvPr id="9" name="TextBox 8">
            <a:extLst>
              <a:ext uri="{FF2B5EF4-FFF2-40B4-BE49-F238E27FC236}">
                <a16:creationId xmlns:a16="http://schemas.microsoft.com/office/drawing/2014/main" id="{2EBD8F02-77A3-16C4-C037-8CC27BB32C4F}"/>
              </a:ext>
            </a:extLst>
          </p:cNvPr>
          <p:cNvSpPr txBox="1"/>
          <p:nvPr/>
        </p:nvSpPr>
        <p:spPr>
          <a:xfrm>
            <a:off x="479426" y="1106440"/>
            <a:ext cx="10930255" cy="2129814"/>
          </a:xfrm>
          <a:prstGeom prst="rect">
            <a:avLst/>
          </a:prstGeom>
          <a:noFill/>
        </p:spPr>
        <p:txBody>
          <a:bodyPr wrap="square" lIns="0" tIns="0" rIns="0" bIns="0" rtlCol="0">
            <a:spAutoFit/>
          </a:bodyPr>
          <a:lstStyle/>
          <a:p>
            <a:pPr defTabSz="914377">
              <a:lnSpc>
                <a:spcPct val="90000"/>
              </a:lnSpc>
              <a:spcAft>
                <a:spcPts val="600"/>
              </a:spcAft>
            </a:pPr>
            <a:r>
              <a:rPr lang="en-US" sz="2100" dirty="0">
                <a:solidFill>
                  <a:srgbClr val="333E48"/>
                </a:solidFill>
                <a:latin typeface="Calibri"/>
              </a:rPr>
              <a:t>Example: Sensor SDK Pack (</a:t>
            </a:r>
            <a:r>
              <a:rPr lang="en-US" sz="2100" dirty="0">
                <a:solidFill>
                  <a:srgbClr val="333E48"/>
                </a:solidFill>
                <a:latin typeface="Calibri"/>
                <a:hlinkClick r:id="rId4"/>
              </a:rPr>
              <a:t>github.com/</a:t>
            </a:r>
            <a:r>
              <a:rPr lang="en-US" sz="2100" dirty="0" err="1">
                <a:solidFill>
                  <a:srgbClr val="333E48"/>
                </a:solidFill>
                <a:latin typeface="Calibri"/>
                <a:hlinkClick r:id="rId4"/>
              </a:rPr>
              <a:t>RobertRostohar</a:t>
            </a:r>
            <a:r>
              <a:rPr lang="en-US" sz="2100" dirty="0">
                <a:solidFill>
                  <a:srgbClr val="333E48"/>
                </a:solidFill>
                <a:latin typeface="Calibri"/>
                <a:hlinkClick r:id="rId4"/>
              </a:rPr>
              <a:t>/</a:t>
            </a:r>
            <a:r>
              <a:rPr lang="en-US" sz="2100" dirty="0" err="1">
                <a:solidFill>
                  <a:srgbClr val="333E48"/>
                </a:solidFill>
                <a:latin typeface="Calibri"/>
                <a:hlinkClick r:id="rId4"/>
              </a:rPr>
              <a:t>NXP_Sensor_SDK</a:t>
            </a:r>
            <a:r>
              <a:rPr lang="en-US" sz="2100" dirty="0">
                <a:solidFill>
                  <a:srgbClr val="333E48"/>
                </a:solidFill>
                <a:latin typeface="Calibri"/>
              </a:rPr>
              <a:t>) that contains:</a:t>
            </a:r>
          </a:p>
          <a:p>
            <a:pPr marL="342891" indent="-342891" defTabSz="914377">
              <a:lnSpc>
                <a:spcPct val="90000"/>
              </a:lnSpc>
              <a:spcAft>
                <a:spcPts val="600"/>
              </a:spcAft>
              <a:buFont typeface="Arial" panose="020B0604020202020204" pitchFamily="34" charset="0"/>
              <a:buChar char="•"/>
            </a:pPr>
            <a:r>
              <a:rPr lang="en-US" sz="2100" dirty="0">
                <a:solidFill>
                  <a:srgbClr val="333E48"/>
                </a:solidFill>
                <a:latin typeface="Calibri"/>
                <a:hlinkClick r:id="rId5"/>
              </a:rPr>
              <a:t>Agnostic middleware</a:t>
            </a:r>
            <a:r>
              <a:rPr lang="en-US" sz="2100" dirty="0">
                <a:solidFill>
                  <a:srgbClr val="333E48"/>
                </a:solidFill>
                <a:latin typeface="Calibri"/>
              </a:rPr>
              <a:t> for a sensor that is configurable (part of the Reference Application)</a:t>
            </a:r>
          </a:p>
          <a:p>
            <a:pPr marL="342891" indent="-342891" defTabSz="914377">
              <a:lnSpc>
                <a:spcPct val="90000"/>
              </a:lnSpc>
              <a:spcAft>
                <a:spcPts val="600"/>
              </a:spcAft>
              <a:buFont typeface="Arial" panose="020B0604020202020204" pitchFamily="34" charset="0"/>
              <a:buChar char="•"/>
            </a:pPr>
            <a:r>
              <a:rPr lang="en-US" sz="2100" dirty="0">
                <a:solidFill>
                  <a:srgbClr val="333E48"/>
                </a:solidFill>
                <a:latin typeface="Calibri"/>
                <a:hlinkClick r:id="rId6"/>
              </a:rPr>
              <a:t>Board/Device agnostic examples</a:t>
            </a:r>
            <a:r>
              <a:rPr lang="en-US" sz="2100" dirty="0">
                <a:solidFill>
                  <a:srgbClr val="333E48"/>
                </a:solidFill>
                <a:latin typeface="Calibri"/>
              </a:rPr>
              <a:t> that use this middleware  (part of the Reference Application)</a:t>
            </a:r>
          </a:p>
          <a:p>
            <a:pPr marL="342891" indent="-342891" defTabSz="914377">
              <a:lnSpc>
                <a:spcPct val="90000"/>
              </a:lnSpc>
              <a:spcAft>
                <a:spcPts val="600"/>
              </a:spcAft>
              <a:buFont typeface="Arial" panose="020B0604020202020204" pitchFamily="34" charset="0"/>
              <a:buChar char="•"/>
            </a:pPr>
            <a:r>
              <a:rPr lang="en-US" sz="2100" dirty="0">
                <a:solidFill>
                  <a:srgbClr val="333E48"/>
                </a:solidFill>
                <a:latin typeface="Calibri"/>
                <a:hlinkClick r:id="rId7"/>
              </a:rPr>
              <a:t>One or more Shield layers</a:t>
            </a:r>
            <a:r>
              <a:rPr lang="en-US" sz="2100" dirty="0">
                <a:solidFill>
                  <a:srgbClr val="333E48"/>
                </a:solidFill>
                <a:latin typeface="Calibri"/>
              </a:rPr>
              <a:t> that provides configuration settings for the agnostic middleware</a:t>
            </a:r>
          </a:p>
          <a:p>
            <a:pPr marL="342891" indent="-342891" defTabSz="914377">
              <a:lnSpc>
                <a:spcPct val="90000"/>
              </a:lnSpc>
              <a:spcAft>
                <a:spcPts val="600"/>
              </a:spcAft>
              <a:buFont typeface="Arial" panose="020B0604020202020204" pitchFamily="34" charset="0"/>
              <a:buChar char="•"/>
            </a:pPr>
            <a:endParaRPr lang="en-US" sz="2100" dirty="0">
              <a:solidFill>
                <a:srgbClr val="333E48"/>
              </a:solidFill>
              <a:latin typeface="Calibri"/>
            </a:endParaRPr>
          </a:p>
          <a:p>
            <a:pPr defTabSz="914377">
              <a:lnSpc>
                <a:spcPct val="90000"/>
              </a:lnSpc>
              <a:spcAft>
                <a:spcPts val="600"/>
              </a:spcAft>
            </a:pPr>
            <a:r>
              <a:rPr lang="en-US" sz="2100" dirty="0">
                <a:solidFill>
                  <a:srgbClr val="333E48"/>
                </a:solidFill>
                <a:latin typeface="Calibri"/>
              </a:rPr>
              <a:t>Board Layers are provided by a Board Support BSP Pack that is board specific</a:t>
            </a:r>
          </a:p>
        </p:txBody>
      </p:sp>
      <p:sp>
        <p:nvSpPr>
          <p:cNvPr id="26" name="TextBox 25">
            <a:extLst>
              <a:ext uri="{FF2B5EF4-FFF2-40B4-BE49-F238E27FC236}">
                <a16:creationId xmlns:a16="http://schemas.microsoft.com/office/drawing/2014/main" id="{EF770D56-7043-5F6F-0A62-9A2F12A77B83}"/>
              </a:ext>
            </a:extLst>
          </p:cNvPr>
          <p:cNvSpPr txBox="1"/>
          <p:nvPr/>
        </p:nvSpPr>
        <p:spPr>
          <a:xfrm>
            <a:off x="7069695" y="4055822"/>
            <a:ext cx="4185920" cy="2900794"/>
          </a:xfrm>
          <a:prstGeom prst="rect">
            <a:avLst/>
          </a:prstGeom>
          <a:noFill/>
        </p:spPr>
        <p:txBody>
          <a:bodyPr wrap="square" lIns="0" tIns="0" rIns="0" bIns="0" rtlCol="0">
            <a:spAutoFit/>
          </a:bodyPr>
          <a:lstStyle/>
          <a:p>
            <a:pPr defTabSz="914377">
              <a:lnSpc>
                <a:spcPct val="90000"/>
              </a:lnSpc>
              <a:spcAft>
                <a:spcPts val="600"/>
              </a:spcAft>
            </a:pPr>
            <a:r>
              <a:rPr lang="en-US" sz="2100" b="1" dirty="0">
                <a:solidFill>
                  <a:srgbClr val="333E48"/>
                </a:solidFill>
                <a:latin typeface="Calibri"/>
              </a:rPr>
              <a:t>Sensor SDK Pack PDSC:</a:t>
            </a:r>
          </a:p>
          <a:p>
            <a:pPr defTabSz="914377">
              <a:lnSpc>
                <a:spcPct val="90000"/>
              </a:lnSpc>
              <a:spcAft>
                <a:spcPts val="600"/>
              </a:spcAft>
            </a:pPr>
            <a:r>
              <a:rPr lang="en-US" dirty="0">
                <a:solidFill>
                  <a:srgbClr val="333E48"/>
                </a:solidFill>
                <a:latin typeface="Calibri"/>
                <a:hlinkClick r:id="rId8"/>
              </a:rPr>
              <a:t>&lt;example&gt;</a:t>
            </a:r>
            <a:r>
              <a:rPr lang="en-US" b="1" dirty="0">
                <a:solidFill>
                  <a:srgbClr val="333E48"/>
                </a:solidFill>
                <a:latin typeface="Calibri"/>
              </a:rPr>
              <a:t> </a:t>
            </a:r>
            <a:r>
              <a:rPr lang="en-US" dirty="0">
                <a:solidFill>
                  <a:srgbClr val="333E48"/>
                </a:solidFill>
                <a:latin typeface="Calibri"/>
              </a:rPr>
              <a:t>describes Reference Application</a:t>
            </a:r>
          </a:p>
          <a:p>
            <a:pPr defTabSz="914377">
              <a:lnSpc>
                <a:spcPct val="90000"/>
              </a:lnSpc>
              <a:spcAft>
                <a:spcPts val="600"/>
              </a:spcAft>
            </a:pPr>
            <a:r>
              <a:rPr lang="en-US" dirty="0">
                <a:solidFill>
                  <a:srgbClr val="333E48"/>
                </a:solidFill>
                <a:latin typeface="Calibri"/>
                <a:hlinkClick r:id="rId9"/>
              </a:rPr>
              <a:t>&lt;</a:t>
            </a:r>
            <a:r>
              <a:rPr lang="en-US" dirty="0" err="1">
                <a:solidFill>
                  <a:srgbClr val="333E48"/>
                </a:solidFill>
                <a:latin typeface="Calibri"/>
                <a:hlinkClick r:id="rId9"/>
              </a:rPr>
              <a:t>clayer</a:t>
            </a:r>
            <a:r>
              <a:rPr lang="en-US" dirty="0">
                <a:solidFill>
                  <a:srgbClr val="333E48"/>
                </a:solidFill>
                <a:latin typeface="Calibri"/>
                <a:hlinkClick r:id="rId9"/>
              </a:rPr>
              <a:t>&gt;</a:t>
            </a:r>
            <a:r>
              <a:rPr lang="en-US" dirty="0">
                <a:solidFill>
                  <a:srgbClr val="333E48"/>
                </a:solidFill>
                <a:latin typeface="Calibri"/>
              </a:rPr>
              <a:t> describes &lt;shield-name&gt;.</a:t>
            </a:r>
            <a:r>
              <a:rPr lang="en-US" dirty="0" err="1">
                <a:solidFill>
                  <a:srgbClr val="333E48"/>
                </a:solidFill>
                <a:latin typeface="Calibri"/>
              </a:rPr>
              <a:t>clayer.yml</a:t>
            </a:r>
            <a:endParaRPr lang="en-US" dirty="0">
              <a:solidFill>
                <a:srgbClr val="333E48"/>
              </a:solidFill>
              <a:latin typeface="Calibri"/>
            </a:endParaRPr>
          </a:p>
          <a:p>
            <a:pPr defTabSz="914377">
              <a:lnSpc>
                <a:spcPct val="90000"/>
              </a:lnSpc>
              <a:spcAft>
                <a:spcPts val="600"/>
              </a:spcAft>
            </a:pPr>
            <a:endParaRPr lang="en-US" dirty="0">
              <a:solidFill>
                <a:srgbClr val="333E48"/>
              </a:solidFill>
              <a:latin typeface="Calibri"/>
            </a:endParaRPr>
          </a:p>
          <a:p>
            <a:pPr defTabSz="914377">
              <a:lnSpc>
                <a:spcPct val="90000"/>
              </a:lnSpc>
              <a:spcAft>
                <a:spcPts val="600"/>
              </a:spcAft>
            </a:pPr>
            <a:r>
              <a:rPr lang="en-US" b="1" dirty="0">
                <a:solidFill>
                  <a:srgbClr val="333E48"/>
                </a:solidFill>
                <a:latin typeface="Calibri"/>
              </a:rPr>
              <a:t>BSP Pack PDSC:</a:t>
            </a:r>
          </a:p>
          <a:p>
            <a:pPr defTabSz="914377">
              <a:lnSpc>
                <a:spcPct val="90000"/>
              </a:lnSpc>
              <a:spcAft>
                <a:spcPts val="600"/>
              </a:spcAft>
            </a:pPr>
            <a:r>
              <a:rPr lang="en-US" dirty="0">
                <a:solidFill>
                  <a:srgbClr val="333E48"/>
                </a:solidFill>
                <a:latin typeface="Calibri"/>
                <a:hlinkClick r:id="rId9"/>
              </a:rPr>
              <a:t>&lt;</a:t>
            </a:r>
            <a:r>
              <a:rPr lang="en-US" dirty="0" err="1">
                <a:solidFill>
                  <a:srgbClr val="333E48"/>
                </a:solidFill>
                <a:latin typeface="Calibri"/>
                <a:hlinkClick r:id="rId9"/>
              </a:rPr>
              <a:t>clayer</a:t>
            </a:r>
            <a:r>
              <a:rPr lang="en-US" dirty="0">
                <a:solidFill>
                  <a:srgbClr val="333E48"/>
                </a:solidFill>
                <a:latin typeface="Calibri"/>
                <a:hlinkClick r:id="rId9"/>
              </a:rPr>
              <a:t>&gt;</a:t>
            </a:r>
            <a:r>
              <a:rPr lang="en-US" dirty="0">
                <a:solidFill>
                  <a:srgbClr val="333E48"/>
                </a:solidFill>
                <a:latin typeface="Calibri"/>
              </a:rPr>
              <a:t> describes &lt;board-name&gt;.</a:t>
            </a:r>
            <a:r>
              <a:rPr lang="en-US" dirty="0" err="1">
                <a:solidFill>
                  <a:srgbClr val="333E48"/>
                </a:solidFill>
                <a:latin typeface="Calibri"/>
              </a:rPr>
              <a:t>clayer.yml</a:t>
            </a:r>
            <a:endParaRPr lang="en-US" dirty="0">
              <a:solidFill>
                <a:srgbClr val="333E48"/>
              </a:solidFill>
              <a:latin typeface="Calibri"/>
            </a:endParaRPr>
          </a:p>
          <a:p>
            <a:pPr defTabSz="914377">
              <a:lnSpc>
                <a:spcPct val="90000"/>
              </a:lnSpc>
              <a:spcAft>
                <a:spcPts val="600"/>
              </a:spcAft>
            </a:pPr>
            <a:endParaRPr lang="en-US" dirty="0">
              <a:solidFill>
                <a:srgbClr val="333E48"/>
              </a:solidFill>
              <a:latin typeface="Calibri"/>
            </a:endParaRPr>
          </a:p>
          <a:p>
            <a:pPr defTabSz="914377">
              <a:lnSpc>
                <a:spcPct val="90000"/>
              </a:lnSpc>
              <a:spcAft>
                <a:spcPts val="600"/>
              </a:spcAft>
            </a:pPr>
            <a:endParaRPr lang="en-US" dirty="0">
              <a:solidFill>
                <a:srgbClr val="333E48"/>
              </a:solidFill>
              <a:latin typeface="Calibri"/>
            </a:endParaRPr>
          </a:p>
          <a:p>
            <a:pPr defTabSz="914377">
              <a:lnSpc>
                <a:spcPct val="90000"/>
              </a:lnSpc>
              <a:spcAft>
                <a:spcPts val="600"/>
              </a:spcAft>
            </a:pPr>
            <a:endParaRPr lang="en-US" dirty="0">
              <a:solidFill>
                <a:srgbClr val="333E48"/>
              </a:solidFill>
              <a:latin typeface="Calibri"/>
            </a:endParaRPr>
          </a:p>
        </p:txBody>
      </p:sp>
    </p:spTree>
    <p:extLst>
      <p:ext uri="{BB962C8B-B14F-4D97-AF65-F5344CB8AC3E}">
        <p14:creationId xmlns:p14="http://schemas.microsoft.com/office/powerpoint/2010/main" val="2916942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9FC7FE9-C280-13C7-8D24-59B0A9956337}"/>
              </a:ext>
            </a:extLst>
          </p:cNvPr>
          <p:cNvSpPr/>
          <p:nvPr/>
        </p:nvSpPr>
        <p:spPr>
          <a:xfrm>
            <a:off x="479426" y="2686493"/>
            <a:ext cx="6041876" cy="3192362"/>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defTabSz="914377"/>
            <a:r>
              <a:rPr lang="en-US" dirty="0">
                <a:solidFill>
                  <a:srgbClr val="000000"/>
                </a:solidFill>
                <a:latin typeface="Calibri"/>
              </a:rPr>
              <a:t>MDK Middleware Pack</a:t>
            </a:r>
          </a:p>
        </p:txBody>
      </p:sp>
      <p:sp>
        <p:nvSpPr>
          <p:cNvPr id="24" name="Rectangle 23">
            <a:extLst>
              <a:ext uri="{FF2B5EF4-FFF2-40B4-BE49-F238E27FC236}">
                <a16:creationId xmlns:a16="http://schemas.microsoft.com/office/drawing/2014/main" id="{A287A678-3DBB-E5A7-735D-1A3D25D92A99}"/>
              </a:ext>
            </a:extLst>
          </p:cNvPr>
          <p:cNvSpPr/>
          <p:nvPr/>
        </p:nvSpPr>
        <p:spPr>
          <a:xfrm>
            <a:off x="479426" y="4683761"/>
            <a:ext cx="6041876" cy="1195095"/>
          </a:xfrm>
          <a:prstGeom prst="rect">
            <a:avLst/>
          </a:prstGeom>
          <a:solidFill>
            <a:schemeClr val="accent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defTabSz="914377"/>
            <a:r>
              <a:rPr lang="en-US">
                <a:solidFill>
                  <a:srgbClr val="000000"/>
                </a:solidFill>
                <a:latin typeface="Calibri"/>
              </a:rPr>
              <a:t>BSP Pack</a:t>
            </a:r>
          </a:p>
        </p:txBody>
      </p:sp>
      <p:sp>
        <p:nvSpPr>
          <p:cNvPr id="2" name="Title 1">
            <a:extLst>
              <a:ext uri="{FF2B5EF4-FFF2-40B4-BE49-F238E27FC236}">
                <a16:creationId xmlns:a16="http://schemas.microsoft.com/office/drawing/2014/main" id="{06C70444-14E9-4412-920E-BE212187115D}"/>
              </a:ext>
            </a:extLst>
          </p:cNvPr>
          <p:cNvSpPr>
            <a:spLocks noGrp="1"/>
          </p:cNvSpPr>
          <p:nvPr>
            <p:ph type="title"/>
          </p:nvPr>
        </p:nvSpPr>
        <p:spPr/>
        <p:txBody>
          <a:bodyPr/>
          <a:lstStyle/>
          <a:p>
            <a:r>
              <a:rPr lang="en-US" sz="3200"/>
              <a:t>Distribution of Reference Applications</a:t>
            </a:r>
            <a:endParaRPr lang="en-GB" sz="3200"/>
          </a:p>
        </p:txBody>
      </p:sp>
      <p:sp>
        <p:nvSpPr>
          <p:cNvPr id="6" name="Rectangle 5">
            <a:extLst>
              <a:ext uri="{FF2B5EF4-FFF2-40B4-BE49-F238E27FC236}">
                <a16:creationId xmlns:a16="http://schemas.microsoft.com/office/drawing/2014/main" id="{5B91937D-F19D-B446-238D-9B3F5079E5AE}"/>
              </a:ext>
            </a:extLst>
          </p:cNvPr>
          <p:cNvSpPr/>
          <p:nvPr/>
        </p:nvSpPr>
        <p:spPr>
          <a:xfrm>
            <a:off x="936384" y="3125972"/>
            <a:ext cx="2740006" cy="1325459"/>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defTabSz="914377"/>
            <a:r>
              <a:rPr lang="en-US" sz="1400" dirty="0">
                <a:solidFill>
                  <a:srgbClr val="FFFFFF"/>
                </a:solidFill>
                <a:latin typeface="Calibri"/>
              </a:rPr>
              <a:t>Reference Application Example</a:t>
            </a:r>
          </a:p>
          <a:p>
            <a:pPr algn="ctr" defTabSz="914377"/>
            <a:endParaRPr lang="en-US" sz="1400" dirty="0">
              <a:solidFill>
                <a:srgbClr val="FFFFFF"/>
              </a:solidFill>
              <a:latin typeface="Calibri"/>
            </a:endParaRPr>
          </a:p>
          <a:p>
            <a:pPr algn="ctr" defTabSz="914377"/>
            <a:br>
              <a:rPr lang="en-US" sz="1400" dirty="0">
                <a:solidFill>
                  <a:srgbClr val="FFFFFF"/>
                </a:solidFill>
                <a:latin typeface="Calibri"/>
              </a:rPr>
            </a:br>
            <a:endParaRPr lang="en-US" sz="1400" dirty="0">
              <a:solidFill>
                <a:srgbClr val="FFFFFF"/>
              </a:solidFill>
              <a:latin typeface="Calibri"/>
            </a:endParaRPr>
          </a:p>
        </p:txBody>
      </p:sp>
      <p:sp>
        <p:nvSpPr>
          <p:cNvPr id="11" name="Rectangle 10">
            <a:extLst>
              <a:ext uri="{FF2B5EF4-FFF2-40B4-BE49-F238E27FC236}">
                <a16:creationId xmlns:a16="http://schemas.microsoft.com/office/drawing/2014/main" id="{D635B518-621D-69AE-09B7-61BA9EBE0C2C}"/>
              </a:ext>
            </a:extLst>
          </p:cNvPr>
          <p:cNvSpPr/>
          <p:nvPr/>
        </p:nvSpPr>
        <p:spPr>
          <a:xfrm>
            <a:off x="936383" y="5058314"/>
            <a:ext cx="2799307" cy="47355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a:solidFill>
                  <a:srgbClr val="FFFFFF"/>
                </a:solidFill>
                <a:latin typeface="Calibri"/>
              </a:rPr>
              <a:t>Layer Type: Board</a:t>
            </a:r>
            <a:br>
              <a:rPr lang="en-US" sz="1400">
                <a:solidFill>
                  <a:srgbClr val="FFFFFF"/>
                </a:solidFill>
                <a:latin typeface="Calibri"/>
              </a:rPr>
            </a:br>
            <a:r>
              <a:rPr lang="en-US" sz="1200">
                <a:solidFill>
                  <a:srgbClr val="FFFFFF"/>
                </a:solidFill>
                <a:latin typeface="Calibri"/>
              </a:rPr>
              <a:t>(&lt;board-name&gt;.</a:t>
            </a:r>
            <a:r>
              <a:rPr lang="en-US" sz="1200" err="1">
                <a:solidFill>
                  <a:srgbClr val="FFFFFF"/>
                </a:solidFill>
                <a:latin typeface="Calibri"/>
              </a:rPr>
              <a:t>clayer.yml</a:t>
            </a:r>
            <a:r>
              <a:rPr lang="en-US" sz="1200">
                <a:solidFill>
                  <a:srgbClr val="FFFFFF"/>
                </a:solidFill>
                <a:latin typeface="Calibri"/>
              </a:rPr>
              <a:t>)</a:t>
            </a:r>
          </a:p>
        </p:txBody>
      </p:sp>
      <p:sp>
        <p:nvSpPr>
          <p:cNvPr id="4" name="Rectangle 3">
            <a:extLst>
              <a:ext uri="{FF2B5EF4-FFF2-40B4-BE49-F238E27FC236}">
                <a16:creationId xmlns:a16="http://schemas.microsoft.com/office/drawing/2014/main" id="{3D09EB5A-9FF8-9C03-3E56-2B15AF16267F}"/>
              </a:ext>
            </a:extLst>
          </p:cNvPr>
          <p:cNvSpPr/>
          <p:nvPr/>
        </p:nvSpPr>
        <p:spPr>
          <a:xfrm>
            <a:off x="936383" y="4798414"/>
            <a:ext cx="2799307" cy="264183"/>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dirty="0">
                <a:solidFill>
                  <a:srgbClr val="FFFFFF"/>
                </a:solidFill>
                <a:latin typeface="Calibri"/>
              </a:rPr>
              <a:t> Driver APIs</a:t>
            </a:r>
          </a:p>
        </p:txBody>
      </p:sp>
      <p:sp>
        <p:nvSpPr>
          <p:cNvPr id="7" name="Rectangle 6">
            <a:extLst>
              <a:ext uri="{FF2B5EF4-FFF2-40B4-BE49-F238E27FC236}">
                <a16:creationId xmlns:a16="http://schemas.microsoft.com/office/drawing/2014/main" id="{12C71B8D-9105-3DDA-C788-BFB46E7018D4}"/>
              </a:ext>
            </a:extLst>
          </p:cNvPr>
          <p:cNvSpPr/>
          <p:nvPr/>
        </p:nvSpPr>
        <p:spPr>
          <a:xfrm>
            <a:off x="1223006" y="3517803"/>
            <a:ext cx="1039660" cy="3233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USB Device</a:t>
            </a:r>
          </a:p>
        </p:txBody>
      </p:sp>
      <p:sp>
        <p:nvSpPr>
          <p:cNvPr id="8" name="Rectangle 7">
            <a:extLst>
              <a:ext uri="{FF2B5EF4-FFF2-40B4-BE49-F238E27FC236}">
                <a16:creationId xmlns:a16="http://schemas.microsoft.com/office/drawing/2014/main" id="{60D3EE59-D7AA-A43A-60A1-A5E30C67145B}"/>
              </a:ext>
            </a:extLst>
          </p:cNvPr>
          <p:cNvSpPr/>
          <p:nvPr/>
        </p:nvSpPr>
        <p:spPr>
          <a:xfrm>
            <a:off x="2411192" y="3517803"/>
            <a:ext cx="1039660" cy="3233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RTOS</a:t>
            </a:r>
          </a:p>
        </p:txBody>
      </p:sp>
      <p:sp>
        <p:nvSpPr>
          <p:cNvPr id="10" name="Rectangle 9">
            <a:extLst>
              <a:ext uri="{FF2B5EF4-FFF2-40B4-BE49-F238E27FC236}">
                <a16:creationId xmlns:a16="http://schemas.microsoft.com/office/drawing/2014/main" id="{3ABCF094-7C4B-C125-B6FE-EEC01FD5464D}"/>
              </a:ext>
            </a:extLst>
          </p:cNvPr>
          <p:cNvSpPr/>
          <p:nvPr/>
        </p:nvSpPr>
        <p:spPr>
          <a:xfrm>
            <a:off x="1223006" y="3939364"/>
            <a:ext cx="1039660" cy="3233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HID Class</a:t>
            </a:r>
          </a:p>
        </p:txBody>
      </p:sp>
      <p:sp>
        <p:nvSpPr>
          <p:cNvPr id="12" name="Rectangle 11">
            <a:extLst>
              <a:ext uri="{FF2B5EF4-FFF2-40B4-BE49-F238E27FC236}">
                <a16:creationId xmlns:a16="http://schemas.microsoft.com/office/drawing/2014/main" id="{2484B7CF-2B92-FD91-B413-E9C7532F8B9D}"/>
              </a:ext>
            </a:extLst>
          </p:cNvPr>
          <p:cNvSpPr/>
          <p:nvPr/>
        </p:nvSpPr>
        <p:spPr>
          <a:xfrm>
            <a:off x="2400384" y="3954530"/>
            <a:ext cx="1039660" cy="3233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CMSIS-View</a:t>
            </a:r>
          </a:p>
        </p:txBody>
      </p:sp>
      <p:sp>
        <p:nvSpPr>
          <p:cNvPr id="14" name="TextBox 13">
            <a:extLst>
              <a:ext uri="{FF2B5EF4-FFF2-40B4-BE49-F238E27FC236}">
                <a16:creationId xmlns:a16="http://schemas.microsoft.com/office/drawing/2014/main" id="{966C9427-0A2A-7286-D263-51B2D0107D75}"/>
              </a:ext>
            </a:extLst>
          </p:cNvPr>
          <p:cNvSpPr txBox="1"/>
          <p:nvPr/>
        </p:nvSpPr>
        <p:spPr>
          <a:xfrm>
            <a:off x="3814109" y="3217236"/>
            <a:ext cx="2593780" cy="1046440"/>
          </a:xfrm>
          <a:prstGeom prst="rect">
            <a:avLst/>
          </a:prstGeom>
          <a:noFill/>
        </p:spPr>
        <p:txBody>
          <a:bodyPr wrap="square">
            <a:spAutoFit/>
          </a:bodyPr>
          <a:lstStyle/>
          <a:p>
            <a:r>
              <a:rPr lang="en-US" b="0" dirty="0">
                <a:solidFill>
                  <a:srgbClr val="000000"/>
                </a:solidFill>
                <a:effectLst/>
                <a:latin typeface="Consolas" panose="020B0609020204030204" pitchFamily="49" charset="0"/>
              </a:rPr>
              <a:t>  </a:t>
            </a:r>
            <a:r>
              <a:rPr lang="en-US" sz="1100" b="0" dirty="0">
                <a:solidFill>
                  <a:srgbClr val="800000"/>
                </a:solidFill>
                <a:effectLst/>
                <a:latin typeface="Consolas" panose="020B0609020204030204" pitchFamily="49" charset="0"/>
              </a:rPr>
              <a:t>connections</a:t>
            </a:r>
            <a:r>
              <a:rPr lang="en-US" sz="1100" b="0" dirty="0">
                <a:solidFill>
                  <a:srgbClr val="000000"/>
                </a:solidFill>
                <a:effectLst/>
                <a:latin typeface="Consolas" panose="020B0609020204030204" pitchFamily="49" charset="0"/>
              </a:rPr>
              <a:t>:</a:t>
            </a:r>
          </a:p>
          <a:p>
            <a:r>
              <a:rPr lang="en-US" sz="1100" b="0" dirty="0">
                <a:solidFill>
                  <a:srgbClr val="000000"/>
                </a:solidFill>
                <a:effectLst/>
                <a:latin typeface="Consolas" panose="020B0609020204030204" pitchFamily="49" charset="0"/>
              </a:rPr>
              <a:t>    - </a:t>
            </a:r>
            <a:r>
              <a:rPr lang="en-US" sz="1100" b="0" dirty="0">
                <a:solidFill>
                  <a:srgbClr val="800000"/>
                </a:solidFill>
                <a:effectLst/>
                <a:latin typeface="Consolas" panose="020B0609020204030204" pitchFamily="49" charset="0"/>
              </a:rPr>
              <a:t>connect</a:t>
            </a:r>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USB Device HID</a:t>
            </a:r>
            <a:endParaRPr lang="en-US" sz="1100" b="0" dirty="0">
              <a:solidFill>
                <a:srgbClr val="000000"/>
              </a:solidFill>
              <a:effectLst/>
              <a:latin typeface="Consolas" panose="020B0609020204030204" pitchFamily="49" charset="0"/>
            </a:endParaRPr>
          </a:p>
          <a:p>
            <a:r>
              <a:rPr lang="en-US" sz="1100" b="0" dirty="0">
                <a:solidFill>
                  <a:srgbClr val="000000"/>
                </a:solidFill>
                <a:effectLst/>
                <a:latin typeface="Consolas" panose="020B0609020204030204" pitchFamily="49" charset="0"/>
              </a:rPr>
              <a:t>      </a:t>
            </a:r>
            <a:r>
              <a:rPr lang="en-US" sz="1100" b="0" dirty="0">
                <a:solidFill>
                  <a:srgbClr val="800000"/>
                </a:solidFill>
                <a:effectLst/>
                <a:latin typeface="Consolas" panose="020B0609020204030204" pitchFamily="49" charset="0"/>
              </a:rPr>
              <a:t>consumes</a:t>
            </a:r>
            <a:r>
              <a:rPr lang="en-US" sz="1100" b="0" dirty="0">
                <a:solidFill>
                  <a:srgbClr val="000000"/>
                </a:solidFill>
                <a:effectLst/>
                <a:latin typeface="Consolas" panose="020B0609020204030204" pitchFamily="49" charset="0"/>
              </a:rPr>
              <a:t>:</a:t>
            </a:r>
          </a:p>
          <a:p>
            <a:r>
              <a:rPr lang="en-US" sz="1100" b="0" dirty="0">
                <a:solidFill>
                  <a:srgbClr val="000000"/>
                </a:solidFill>
                <a:effectLst/>
                <a:latin typeface="Consolas" panose="020B0609020204030204" pitchFamily="49" charset="0"/>
              </a:rPr>
              <a:t>        - </a:t>
            </a:r>
            <a:r>
              <a:rPr lang="en-US" sz="1100" dirty="0">
                <a:solidFill>
                  <a:srgbClr val="0000FF"/>
                </a:solidFill>
                <a:latin typeface="Consolas" panose="020B0609020204030204" pitchFamily="49" charset="0"/>
              </a:rPr>
              <a:t>CMSIS_USB_Device</a:t>
            </a:r>
          </a:p>
          <a:p>
            <a:r>
              <a:rPr lang="en-US" sz="1100" b="0" dirty="0">
                <a:solidFill>
                  <a:srgbClr val="000000"/>
                </a:solidFill>
                <a:effectLst/>
                <a:latin typeface="Consolas" panose="020B0609020204030204" pitchFamily="49" charset="0"/>
              </a:rPr>
              <a:t>        - </a:t>
            </a:r>
            <a:r>
              <a:rPr lang="en-US" sz="1100" b="0" dirty="0">
                <a:solidFill>
                  <a:srgbClr val="0000FF"/>
                </a:solidFill>
                <a:effectLst/>
                <a:latin typeface="Consolas" panose="020B0609020204030204" pitchFamily="49" charset="0"/>
              </a:rPr>
              <a:t>CMSIS_VIO</a:t>
            </a:r>
            <a:endParaRPr lang="en-US" sz="1100" b="0" dirty="0">
              <a:solidFill>
                <a:srgbClr val="000000"/>
              </a:solidFill>
              <a:effectLst/>
              <a:latin typeface="Consolas" panose="020B0609020204030204" pitchFamily="49" charset="0"/>
            </a:endParaRPr>
          </a:p>
        </p:txBody>
      </p:sp>
      <p:sp>
        <p:nvSpPr>
          <p:cNvPr id="15" name="TextBox 14">
            <a:extLst>
              <a:ext uri="{FF2B5EF4-FFF2-40B4-BE49-F238E27FC236}">
                <a16:creationId xmlns:a16="http://schemas.microsoft.com/office/drawing/2014/main" id="{3233994E-8BAB-B676-EF9B-CB69262B9182}"/>
              </a:ext>
            </a:extLst>
          </p:cNvPr>
          <p:cNvSpPr txBox="1"/>
          <p:nvPr/>
        </p:nvSpPr>
        <p:spPr>
          <a:xfrm>
            <a:off x="3814109" y="4665283"/>
            <a:ext cx="3075789" cy="1046440"/>
          </a:xfrm>
          <a:prstGeom prst="rect">
            <a:avLst/>
          </a:prstGeom>
          <a:noFill/>
        </p:spPr>
        <p:txBody>
          <a:bodyPr wrap="square">
            <a:spAutoFit/>
          </a:bodyPr>
          <a:lstStyle/>
          <a:p>
            <a:r>
              <a:rPr lang="en-US" b="0" dirty="0">
                <a:solidFill>
                  <a:srgbClr val="000000"/>
                </a:solidFill>
                <a:effectLst/>
                <a:latin typeface="Consolas" panose="020B0609020204030204" pitchFamily="49" charset="0"/>
              </a:rPr>
              <a:t>  </a:t>
            </a:r>
            <a:r>
              <a:rPr lang="en-US" sz="1100" b="0" dirty="0">
                <a:solidFill>
                  <a:srgbClr val="800000"/>
                </a:solidFill>
                <a:effectLst/>
                <a:latin typeface="Consolas" panose="020B0609020204030204" pitchFamily="49" charset="0"/>
              </a:rPr>
              <a:t>connections</a:t>
            </a:r>
            <a:r>
              <a:rPr lang="en-US" sz="1100" b="0" dirty="0">
                <a:solidFill>
                  <a:srgbClr val="000000"/>
                </a:solidFill>
                <a:effectLst/>
                <a:latin typeface="Consolas" panose="020B0609020204030204" pitchFamily="49" charset="0"/>
              </a:rPr>
              <a:t>:</a:t>
            </a:r>
          </a:p>
          <a:p>
            <a:r>
              <a:rPr lang="en-US" sz="1100" b="0" dirty="0">
                <a:solidFill>
                  <a:srgbClr val="000000"/>
                </a:solidFill>
                <a:effectLst/>
                <a:latin typeface="Consolas" panose="020B0609020204030204" pitchFamily="49" charset="0"/>
              </a:rPr>
              <a:t>    - </a:t>
            </a:r>
            <a:r>
              <a:rPr lang="en-US" sz="1100" b="0" dirty="0">
                <a:solidFill>
                  <a:srgbClr val="800000"/>
                </a:solidFill>
                <a:effectLst/>
                <a:latin typeface="Consolas" panose="020B0609020204030204" pitchFamily="49" charset="0"/>
              </a:rPr>
              <a:t>connect</a:t>
            </a:r>
            <a:r>
              <a:rPr lang="en-US" sz="1100" b="0" dirty="0">
                <a:solidFill>
                  <a:srgbClr val="000000"/>
                </a:solidFill>
                <a:effectLst/>
                <a:latin typeface="Consolas" panose="020B0609020204030204" pitchFamily="49" charset="0"/>
              </a:rPr>
              <a:t>: </a:t>
            </a:r>
            <a:r>
              <a:rPr lang="en-US" sz="1100" b="0" dirty="0">
                <a:solidFill>
                  <a:srgbClr val="0000FF"/>
                </a:solidFill>
                <a:effectLst/>
                <a:latin typeface="Consolas" panose="020B0609020204030204" pitchFamily="49" charset="0"/>
              </a:rPr>
              <a:t>Board with USB</a:t>
            </a:r>
            <a:endParaRPr lang="en-US" sz="1100" b="0" dirty="0">
              <a:solidFill>
                <a:srgbClr val="000000"/>
              </a:solidFill>
              <a:effectLst/>
              <a:latin typeface="Consolas" panose="020B0609020204030204" pitchFamily="49" charset="0"/>
            </a:endParaRPr>
          </a:p>
          <a:p>
            <a:r>
              <a:rPr lang="en-US" sz="1100" b="0" dirty="0">
                <a:solidFill>
                  <a:srgbClr val="000000"/>
                </a:solidFill>
                <a:effectLst/>
                <a:latin typeface="Consolas" panose="020B0609020204030204" pitchFamily="49" charset="0"/>
              </a:rPr>
              <a:t>      </a:t>
            </a:r>
            <a:r>
              <a:rPr lang="en-US" sz="1100" b="0" dirty="0">
                <a:solidFill>
                  <a:srgbClr val="800000"/>
                </a:solidFill>
                <a:effectLst/>
                <a:latin typeface="Consolas" panose="020B0609020204030204" pitchFamily="49" charset="0"/>
              </a:rPr>
              <a:t>provides</a:t>
            </a:r>
            <a:r>
              <a:rPr lang="en-US" sz="1100" b="0" dirty="0">
                <a:solidFill>
                  <a:srgbClr val="000000"/>
                </a:solidFill>
                <a:effectLst/>
                <a:latin typeface="Consolas" panose="020B0609020204030204" pitchFamily="49" charset="0"/>
              </a:rPr>
              <a:t>:</a:t>
            </a:r>
          </a:p>
          <a:p>
            <a:r>
              <a:rPr lang="en-US" sz="1100" b="0" dirty="0">
                <a:solidFill>
                  <a:srgbClr val="000000"/>
                </a:solidFill>
                <a:effectLst/>
                <a:latin typeface="Consolas" panose="020B0609020204030204" pitchFamily="49" charset="0"/>
              </a:rPr>
              <a:t>        - </a:t>
            </a:r>
            <a:r>
              <a:rPr lang="en-US" sz="1100" dirty="0">
                <a:solidFill>
                  <a:srgbClr val="0000FF"/>
                </a:solidFill>
                <a:latin typeface="Consolas" panose="020B0609020204030204" pitchFamily="49" charset="0"/>
              </a:rPr>
              <a:t>CMSIS_USB_Device</a:t>
            </a:r>
          </a:p>
          <a:p>
            <a:r>
              <a:rPr lang="en-US" sz="1100" b="0" dirty="0">
                <a:solidFill>
                  <a:srgbClr val="000000"/>
                </a:solidFill>
                <a:effectLst/>
                <a:latin typeface="Consolas" panose="020B0609020204030204" pitchFamily="49" charset="0"/>
              </a:rPr>
              <a:t>        - </a:t>
            </a:r>
            <a:r>
              <a:rPr lang="en-US" sz="1100" b="0" dirty="0">
                <a:solidFill>
                  <a:srgbClr val="0000FF"/>
                </a:solidFill>
                <a:effectLst/>
                <a:latin typeface="Consolas" panose="020B0609020204030204" pitchFamily="49" charset="0"/>
              </a:rPr>
              <a:t>CMSIS_VIO</a:t>
            </a:r>
            <a:endParaRPr lang="en-US" sz="11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806539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70444-14E9-4412-920E-BE212187115D}"/>
              </a:ext>
            </a:extLst>
          </p:cNvPr>
          <p:cNvSpPr>
            <a:spLocks noGrp="1"/>
          </p:cNvSpPr>
          <p:nvPr>
            <p:ph type="title"/>
          </p:nvPr>
        </p:nvSpPr>
        <p:spPr/>
        <p:txBody>
          <a:bodyPr/>
          <a:lstStyle/>
          <a:p>
            <a:r>
              <a:rPr lang="en-US" sz="3200" dirty="0"/>
              <a:t>Header File Structure</a:t>
            </a:r>
            <a:endParaRPr lang="en-GB" sz="3200" dirty="0"/>
          </a:p>
        </p:txBody>
      </p:sp>
      <p:sp>
        <p:nvSpPr>
          <p:cNvPr id="19" name="Flowchart: Document 18">
            <a:extLst>
              <a:ext uri="{FF2B5EF4-FFF2-40B4-BE49-F238E27FC236}">
                <a16:creationId xmlns:a16="http://schemas.microsoft.com/office/drawing/2014/main" id="{23D68936-4904-8109-0856-DFD650B50ED3}"/>
              </a:ext>
            </a:extLst>
          </p:cNvPr>
          <p:cNvSpPr/>
          <p:nvPr/>
        </p:nvSpPr>
        <p:spPr>
          <a:xfrm>
            <a:off x="616813" y="2128723"/>
            <a:ext cx="1729324" cy="826718"/>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err="1"/>
              <a:t>CMSIS_target_header</a:t>
            </a:r>
            <a:br>
              <a:rPr lang="en-US" sz="1400" dirty="0"/>
            </a:br>
            <a:r>
              <a:rPr lang="en-US" sz="1200" dirty="0"/>
              <a:t>Driver configuration</a:t>
            </a:r>
          </a:p>
        </p:txBody>
      </p:sp>
      <p:sp>
        <p:nvSpPr>
          <p:cNvPr id="23" name="Rectangle 22">
            <a:extLst>
              <a:ext uri="{FF2B5EF4-FFF2-40B4-BE49-F238E27FC236}">
                <a16:creationId xmlns:a16="http://schemas.microsoft.com/office/drawing/2014/main" id="{2112E2C7-CC6B-D090-3579-B8B4D86C7247}"/>
              </a:ext>
            </a:extLst>
          </p:cNvPr>
          <p:cNvSpPr/>
          <p:nvPr/>
        </p:nvSpPr>
        <p:spPr>
          <a:xfrm>
            <a:off x="2527127" y="4761554"/>
            <a:ext cx="1743500" cy="473559"/>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dirty="0">
                <a:solidFill>
                  <a:srgbClr val="FFFFFF"/>
                </a:solidFill>
                <a:latin typeface="Calibri"/>
              </a:rPr>
              <a:t>Device Registers</a:t>
            </a:r>
            <a:endParaRPr lang="en-US" sz="1200" dirty="0">
              <a:solidFill>
                <a:srgbClr val="FFFFFF"/>
              </a:solidFill>
              <a:latin typeface="Calibri"/>
            </a:endParaRPr>
          </a:p>
        </p:txBody>
      </p:sp>
      <p:cxnSp>
        <p:nvCxnSpPr>
          <p:cNvPr id="28" name="Straight Arrow Connector 27">
            <a:extLst>
              <a:ext uri="{FF2B5EF4-FFF2-40B4-BE49-F238E27FC236}">
                <a16:creationId xmlns:a16="http://schemas.microsoft.com/office/drawing/2014/main" id="{E751E19B-1D6A-8BD2-82F8-348F3AE08FEF}"/>
              </a:ext>
            </a:extLst>
          </p:cNvPr>
          <p:cNvCxnSpPr>
            <a:cxnSpLocks/>
          </p:cNvCxnSpPr>
          <p:nvPr/>
        </p:nvCxnSpPr>
        <p:spPr>
          <a:xfrm>
            <a:off x="1502736" y="1892596"/>
            <a:ext cx="0" cy="2467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D53EE7AE-8ACB-3E17-D3EA-22837EAB7620}"/>
              </a:ext>
            </a:extLst>
          </p:cNvPr>
          <p:cNvCxnSpPr>
            <a:cxnSpLocks/>
          </p:cNvCxnSpPr>
          <p:nvPr/>
        </p:nvCxnSpPr>
        <p:spPr>
          <a:xfrm>
            <a:off x="3421079" y="1892596"/>
            <a:ext cx="0" cy="2467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7A7D1050-8E63-749F-1E15-4FAA43E88754}"/>
              </a:ext>
            </a:extLst>
          </p:cNvPr>
          <p:cNvSpPr/>
          <p:nvPr/>
        </p:nvSpPr>
        <p:spPr>
          <a:xfrm>
            <a:off x="616814" y="1488369"/>
            <a:ext cx="3653814" cy="473559"/>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4377"/>
            <a:r>
              <a:rPr lang="en-US" sz="1400" dirty="0">
                <a:solidFill>
                  <a:srgbClr val="FFFFFF"/>
                </a:solidFill>
                <a:latin typeface="Calibri"/>
              </a:rPr>
              <a:t>Reference Application</a:t>
            </a:r>
          </a:p>
        </p:txBody>
      </p:sp>
      <p:cxnSp>
        <p:nvCxnSpPr>
          <p:cNvPr id="33" name="Straight Arrow Connector 32">
            <a:extLst>
              <a:ext uri="{FF2B5EF4-FFF2-40B4-BE49-F238E27FC236}">
                <a16:creationId xmlns:a16="http://schemas.microsoft.com/office/drawing/2014/main" id="{63B4661B-8596-655B-02BC-C41193ED9919}"/>
              </a:ext>
            </a:extLst>
          </p:cNvPr>
          <p:cNvCxnSpPr>
            <a:cxnSpLocks/>
          </p:cNvCxnSpPr>
          <p:nvPr/>
        </p:nvCxnSpPr>
        <p:spPr>
          <a:xfrm>
            <a:off x="3410447" y="2852660"/>
            <a:ext cx="0" cy="2467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1C4FD3E7-ADBC-F45F-A8C3-BD718707E738}"/>
              </a:ext>
            </a:extLst>
          </p:cNvPr>
          <p:cNvCxnSpPr>
            <a:cxnSpLocks/>
          </p:cNvCxnSpPr>
          <p:nvPr/>
        </p:nvCxnSpPr>
        <p:spPr>
          <a:xfrm>
            <a:off x="3397000" y="3515861"/>
            <a:ext cx="0" cy="2467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740A576E-511D-CDFA-7473-137921EAA4EB}"/>
              </a:ext>
            </a:extLst>
          </p:cNvPr>
          <p:cNvCxnSpPr>
            <a:cxnSpLocks/>
          </p:cNvCxnSpPr>
          <p:nvPr/>
        </p:nvCxnSpPr>
        <p:spPr>
          <a:xfrm>
            <a:off x="3389913" y="4338084"/>
            <a:ext cx="0" cy="42347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B3A0639D-C23C-A008-798F-1EF45A3D94D0}"/>
              </a:ext>
            </a:extLst>
          </p:cNvPr>
          <p:cNvSpPr/>
          <p:nvPr/>
        </p:nvSpPr>
        <p:spPr>
          <a:xfrm>
            <a:off x="2527128" y="3098401"/>
            <a:ext cx="1743500" cy="47355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377"/>
            <a:r>
              <a:rPr lang="en-US" sz="1200" dirty="0">
                <a:solidFill>
                  <a:srgbClr val="FFFFFF"/>
                </a:solidFill>
                <a:latin typeface="Calibri"/>
              </a:rPr>
              <a:t>Hardware Abstraction</a:t>
            </a:r>
          </a:p>
          <a:p>
            <a:pPr algn="ctr" defTabSz="914377"/>
            <a:r>
              <a:rPr lang="en-US" sz="1200" dirty="0">
                <a:solidFill>
                  <a:srgbClr val="FFFFFF"/>
                </a:solidFill>
                <a:latin typeface="Calibri"/>
              </a:rPr>
              <a:t>Driver implementation</a:t>
            </a:r>
            <a:endParaRPr lang="en-US" sz="1100" dirty="0">
              <a:solidFill>
                <a:srgbClr val="FFFFFF"/>
              </a:solidFill>
              <a:latin typeface="Calibri"/>
            </a:endParaRPr>
          </a:p>
        </p:txBody>
      </p:sp>
      <p:sp>
        <p:nvSpPr>
          <p:cNvPr id="49" name="Rectangle 48">
            <a:extLst>
              <a:ext uri="{FF2B5EF4-FFF2-40B4-BE49-F238E27FC236}">
                <a16:creationId xmlns:a16="http://schemas.microsoft.com/office/drawing/2014/main" id="{1985BBD9-902F-CA36-39A8-8F80DF9248C8}"/>
              </a:ext>
            </a:extLst>
          </p:cNvPr>
          <p:cNvSpPr/>
          <p:nvPr/>
        </p:nvSpPr>
        <p:spPr>
          <a:xfrm>
            <a:off x="7089938" y="3095001"/>
            <a:ext cx="1743500" cy="246731"/>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200" dirty="0">
                <a:solidFill>
                  <a:srgbClr val="FFFFFF"/>
                </a:solidFill>
                <a:latin typeface="Calibri"/>
              </a:rPr>
              <a:t>Driver API Shim Interface</a:t>
            </a:r>
          </a:p>
        </p:txBody>
      </p:sp>
      <p:sp>
        <p:nvSpPr>
          <p:cNvPr id="3" name="Flowchart: Document 2">
            <a:extLst>
              <a:ext uri="{FF2B5EF4-FFF2-40B4-BE49-F238E27FC236}">
                <a16:creationId xmlns:a16="http://schemas.microsoft.com/office/drawing/2014/main" id="{F6BC9819-ABB8-73C4-507C-BFBA3155EE61}"/>
              </a:ext>
            </a:extLst>
          </p:cNvPr>
          <p:cNvSpPr/>
          <p:nvPr/>
        </p:nvSpPr>
        <p:spPr>
          <a:xfrm>
            <a:off x="595163" y="3102502"/>
            <a:ext cx="1729324" cy="826718"/>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err="1"/>
              <a:t>CMSIS_shield_header</a:t>
            </a:r>
            <a:br>
              <a:rPr lang="en-US" sz="1400" dirty="0"/>
            </a:br>
            <a:r>
              <a:rPr lang="en-US" sz="1200" dirty="0"/>
              <a:t>Shield configuration</a:t>
            </a:r>
          </a:p>
        </p:txBody>
      </p:sp>
      <p:cxnSp>
        <p:nvCxnSpPr>
          <p:cNvPr id="4" name="Straight Arrow Connector 3">
            <a:extLst>
              <a:ext uri="{FF2B5EF4-FFF2-40B4-BE49-F238E27FC236}">
                <a16:creationId xmlns:a16="http://schemas.microsoft.com/office/drawing/2014/main" id="{3F5FB02F-9FC9-9090-CEFB-E77B551F48B4}"/>
              </a:ext>
            </a:extLst>
          </p:cNvPr>
          <p:cNvCxnSpPr>
            <a:cxnSpLocks/>
          </p:cNvCxnSpPr>
          <p:nvPr/>
        </p:nvCxnSpPr>
        <p:spPr>
          <a:xfrm>
            <a:off x="1485016" y="2859067"/>
            <a:ext cx="0" cy="2467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4" name="Flowchart: Document 23">
            <a:extLst>
              <a:ext uri="{FF2B5EF4-FFF2-40B4-BE49-F238E27FC236}">
                <a16:creationId xmlns:a16="http://schemas.microsoft.com/office/drawing/2014/main" id="{3B6B43BF-4762-8693-275F-D1642FAECE68}"/>
              </a:ext>
            </a:extLst>
          </p:cNvPr>
          <p:cNvSpPr/>
          <p:nvPr/>
        </p:nvSpPr>
        <p:spPr>
          <a:xfrm>
            <a:off x="5181074" y="2128723"/>
            <a:ext cx="1729324" cy="826718"/>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err="1"/>
              <a:t>CMSIS_target_header</a:t>
            </a:r>
            <a:br>
              <a:rPr lang="en-US" sz="1400" dirty="0"/>
            </a:br>
            <a:r>
              <a:rPr lang="en-US" sz="1200" dirty="0"/>
              <a:t>Driver configuration</a:t>
            </a:r>
          </a:p>
        </p:txBody>
      </p:sp>
      <p:sp>
        <p:nvSpPr>
          <p:cNvPr id="27" name="Rectangle 26">
            <a:extLst>
              <a:ext uri="{FF2B5EF4-FFF2-40B4-BE49-F238E27FC236}">
                <a16:creationId xmlns:a16="http://schemas.microsoft.com/office/drawing/2014/main" id="{E871CC41-D9F8-B106-1421-4E4577424230}"/>
              </a:ext>
            </a:extLst>
          </p:cNvPr>
          <p:cNvSpPr/>
          <p:nvPr/>
        </p:nvSpPr>
        <p:spPr>
          <a:xfrm>
            <a:off x="7091388" y="4761554"/>
            <a:ext cx="1743500" cy="473559"/>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dirty="0">
                <a:solidFill>
                  <a:srgbClr val="FFFFFF"/>
                </a:solidFill>
                <a:latin typeface="Calibri"/>
              </a:rPr>
              <a:t>Device Registers</a:t>
            </a:r>
            <a:endParaRPr lang="en-US" sz="1200" dirty="0">
              <a:solidFill>
                <a:srgbClr val="FFFFFF"/>
              </a:solidFill>
              <a:latin typeface="Calibri"/>
            </a:endParaRPr>
          </a:p>
        </p:txBody>
      </p:sp>
      <p:cxnSp>
        <p:nvCxnSpPr>
          <p:cNvPr id="30" name="Straight Arrow Connector 29">
            <a:extLst>
              <a:ext uri="{FF2B5EF4-FFF2-40B4-BE49-F238E27FC236}">
                <a16:creationId xmlns:a16="http://schemas.microsoft.com/office/drawing/2014/main" id="{BCDC4700-4324-EE72-5CE6-80F9A2D65FBE}"/>
              </a:ext>
            </a:extLst>
          </p:cNvPr>
          <p:cNvCxnSpPr>
            <a:cxnSpLocks/>
          </p:cNvCxnSpPr>
          <p:nvPr/>
        </p:nvCxnSpPr>
        <p:spPr>
          <a:xfrm>
            <a:off x="6066997" y="1892596"/>
            <a:ext cx="0" cy="2467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2BA20D4-DE7A-04FA-6D56-11D34AAE1B4F}"/>
              </a:ext>
            </a:extLst>
          </p:cNvPr>
          <p:cNvCxnSpPr>
            <a:cxnSpLocks/>
          </p:cNvCxnSpPr>
          <p:nvPr/>
        </p:nvCxnSpPr>
        <p:spPr>
          <a:xfrm>
            <a:off x="7985340" y="1892596"/>
            <a:ext cx="0" cy="2467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FCD2AD4F-5240-6443-EFB1-0395F9D9B639}"/>
              </a:ext>
            </a:extLst>
          </p:cNvPr>
          <p:cNvSpPr/>
          <p:nvPr/>
        </p:nvSpPr>
        <p:spPr>
          <a:xfrm>
            <a:off x="5181075" y="1488369"/>
            <a:ext cx="3653814" cy="473559"/>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4377"/>
            <a:r>
              <a:rPr lang="en-US" sz="1400" dirty="0">
                <a:solidFill>
                  <a:srgbClr val="FFFFFF"/>
                </a:solidFill>
                <a:latin typeface="Calibri"/>
              </a:rPr>
              <a:t>Reference Application</a:t>
            </a:r>
          </a:p>
        </p:txBody>
      </p:sp>
      <p:cxnSp>
        <p:nvCxnSpPr>
          <p:cNvPr id="36" name="Straight Arrow Connector 35">
            <a:extLst>
              <a:ext uri="{FF2B5EF4-FFF2-40B4-BE49-F238E27FC236}">
                <a16:creationId xmlns:a16="http://schemas.microsoft.com/office/drawing/2014/main" id="{916C4FC3-50AE-630F-5785-F30BF53B8168}"/>
              </a:ext>
            </a:extLst>
          </p:cNvPr>
          <p:cNvCxnSpPr>
            <a:cxnSpLocks/>
          </p:cNvCxnSpPr>
          <p:nvPr/>
        </p:nvCxnSpPr>
        <p:spPr>
          <a:xfrm>
            <a:off x="7974708" y="2852660"/>
            <a:ext cx="0" cy="2467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0C74836B-88B4-F7DA-CBBD-407C24E380AA}"/>
              </a:ext>
            </a:extLst>
          </p:cNvPr>
          <p:cNvCxnSpPr>
            <a:cxnSpLocks/>
          </p:cNvCxnSpPr>
          <p:nvPr/>
        </p:nvCxnSpPr>
        <p:spPr>
          <a:xfrm>
            <a:off x="7968349" y="3515861"/>
            <a:ext cx="0" cy="2467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B72913F7-91D5-D944-08AC-1385A73B9E05}"/>
              </a:ext>
            </a:extLst>
          </p:cNvPr>
          <p:cNvCxnSpPr>
            <a:cxnSpLocks/>
          </p:cNvCxnSpPr>
          <p:nvPr/>
        </p:nvCxnSpPr>
        <p:spPr>
          <a:xfrm>
            <a:off x="7961262" y="4338084"/>
            <a:ext cx="0" cy="42347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2" name="Flowchart: Document 51">
            <a:extLst>
              <a:ext uri="{FF2B5EF4-FFF2-40B4-BE49-F238E27FC236}">
                <a16:creationId xmlns:a16="http://schemas.microsoft.com/office/drawing/2014/main" id="{6546C961-7E45-D4EE-3BD3-7D11AC9A51D4}"/>
              </a:ext>
            </a:extLst>
          </p:cNvPr>
          <p:cNvSpPr/>
          <p:nvPr/>
        </p:nvSpPr>
        <p:spPr>
          <a:xfrm>
            <a:off x="5159424" y="3102502"/>
            <a:ext cx="1729324" cy="826718"/>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err="1"/>
              <a:t>CMSIS_shield_header</a:t>
            </a:r>
            <a:br>
              <a:rPr lang="en-US" sz="1400" dirty="0"/>
            </a:br>
            <a:r>
              <a:rPr lang="en-US" sz="1200" dirty="0"/>
              <a:t>Shield configuration</a:t>
            </a:r>
          </a:p>
        </p:txBody>
      </p:sp>
      <p:cxnSp>
        <p:nvCxnSpPr>
          <p:cNvPr id="53" name="Straight Arrow Connector 52">
            <a:extLst>
              <a:ext uri="{FF2B5EF4-FFF2-40B4-BE49-F238E27FC236}">
                <a16:creationId xmlns:a16="http://schemas.microsoft.com/office/drawing/2014/main" id="{382FBB87-5584-2884-2F1B-08C424AB10A9}"/>
              </a:ext>
            </a:extLst>
          </p:cNvPr>
          <p:cNvCxnSpPr>
            <a:cxnSpLocks/>
          </p:cNvCxnSpPr>
          <p:nvPr/>
        </p:nvCxnSpPr>
        <p:spPr>
          <a:xfrm>
            <a:off x="6049277" y="2859067"/>
            <a:ext cx="0" cy="2467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2" name="Flowchart: Document 21">
            <a:extLst>
              <a:ext uri="{FF2B5EF4-FFF2-40B4-BE49-F238E27FC236}">
                <a16:creationId xmlns:a16="http://schemas.microsoft.com/office/drawing/2014/main" id="{F259E8F4-C68B-944A-FACF-501654578BFB}"/>
              </a:ext>
            </a:extLst>
          </p:cNvPr>
          <p:cNvSpPr/>
          <p:nvPr/>
        </p:nvSpPr>
        <p:spPr>
          <a:xfrm>
            <a:off x="2527127" y="3762592"/>
            <a:ext cx="1743500" cy="826718"/>
          </a:xfrm>
          <a:prstGeom prst="flowChartDocumen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err="1"/>
              <a:t>CMSIS_device_header</a:t>
            </a:r>
            <a:br>
              <a:rPr lang="en-US" sz="1400" dirty="0"/>
            </a:br>
            <a:r>
              <a:rPr lang="en-US" sz="1200" dirty="0"/>
              <a:t>Processor and Peripherals</a:t>
            </a:r>
          </a:p>
        </p:txBody>
      </p:sp>
      <p:sp>
        <p:nvSpPr>
          <p:cNvPr id="48" name="Rectangle 47">
            <a:extLst>
              <a:ext uri="{FF2B5EF4-FFF2-40B4-BE49-F238E27FC236}">
                <a16:creationId xmlns:a16="http://schemas.microsoft.com/office/drawing/2014/main" id="{E4C54126-87DF-2842-59EA-90DCAEBBAF3D}"/>
              </a:ext>
            </a:extLst>
          </p:cNvPr>
          <p:cNvSpPr/>
          <p:nvPr/>
        </p:nvSpPr>
        <p:spPr>
          <a:xfrm>
            <a:off x="7089938" y="3346126"/>
            <a:ext cx="1743500" cy="225838"/>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200" dirty="0">
                <a:solidFill>
                  <a:srgbClr val="FFFFFF"/>
                </a:solidFill>
                <a:latin typeface="Calibri"/>
              </a:rPr>
              <a:t>STM32 HAL Drivers</a:t>
            </a:r>
          </a:p>
        </p:txBody>
      </p:sp>
      <p:sp>
        <p:nvSpPr>
          <p:cNvPr id="26" name="Flowchart: Document 25">
            <a:extLst>
              <a:ext uri="{FF2B5EF4-FFF2-40B4-BE49-F238E27FC236}">
                <a16:creationId xmlns:a16="http://schemas.microsoft.com/office/drawing/2014/main" id="{1B497F9F-7F9C-F400-F3D7-C49BB55BDA8F}"/>
              </a:ext>
            </a:extLst>
          </p:cNvPr>
          <p:cNvSpPr/>
          <p:nvPr/>
        </p:nvSpPr>
        <p:spPr>
          <a:xfrm>
            <a:off x="7091388" y="3762592"/>
            <a:ext cx="1743500" cy="826718"/>
          </a:xfrm>
          <a:prstGeom prst="flowChartDocumen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err="1"/>
              <a:t>CMSIS_device_header</a:t>
            </a:r>
            <a:br>
              <a:rPr lang="en-US" sz="1400" dirty="0"/>
            </a:br>
            <a:r>
              <a:rPr lang="en-US" sz="1200" dirty="0"/>
              <a:t>Processor and Peripherals</a:t>
            </a:r>
          </a:p>
        </p:txBody>
      </p:sp>
      <p:sp>
        <p:nvSpPr>
          <p:cNvPr id="21" name="Flowchart: Document 20">
            <a:extLst>
              <a:ext uri="{FF2B5EF4-FFF2-40B4-BE49-F238E27FC236}">
                <a16:creationId xmlns:a16="http://schemas.microsoft.com/office/drawing/2014/main" id="{D381B13A-0A7A-27A8-750E-ED726CF0F309}"/>
              </a:ext>
            </a:extLst>
          </p:cNvPr>
          <p:cNvSpPr/>
          <p:nvPr/>
        </p:nvSpPr>
        <p:spPr>
          <a:xfrm>
            <a:off x="2541303" y="2133117"/>
            <a:ext cx="1729324" cy="826718"/>
          </a:xfrm>
          <a:prstGeom prst="flowChartDocumen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CMSIS-Driver API</a:t>
            </a:r>
            <a:br>
              <a:rPr lang="en-US" sz="1400" dirty="0"/>
            </a:br>
            <a:r>
              <a:rPr lang="en-US" sz="1400" dirty="0"/>
              <a:t>header files</a:t>
            </a:r>
          </a:p>
        </p:txBody>
      </p:sp>
      <p:sp>
        <p:nvSpPr>
          <p:cNvPr id="25" name="Flowchart: Document 24">
            <a:extLst>
              <a:ext uri="{FF2B5EF4-FFF2-40B4-BE49-F238E27FC236}">
                <a16:creationId xmlns:a16="http://schemas.microsoft.com/office/drawing/2014/main" id="{F5287E91-2A32-51FD-F309-A22D2ECC9AEB}"/>
              </a:ext>
            </a:extLst>
          </p:cNvPr>
          <p:cNvSpPr/>
          <p:nvPr/>
        </p:nvSpPr>
        <p:spPr>
          <a:xfrm>
            <a:off x="7105564" y="2133117"/>
            <a:ext cx="1729324" cy="826718"/>
          </a:xfrm>
          <a:prstGeom prst="flowChartDocumen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CMSIS-Driver API</a:t>
            </a:r>
            <a:br>
              <a:rPr lang="en-US" sz="1400" dirty="0"/>
            </a:br>
            <a:r>
              <a:rPr lang="en-US" sz="1400" dirty="0"/>
              <a:t>header files</a:t>
            </a:r>
          </a:p>
        </p:txBody>
      </p:sp>
    </p:spTree>
    <p:extLst>
      <p:ext uri="{BB962C8B-B14F-4D97-AF65-F5344CB8AC3E}">
        <p14:creationId xmlns:p14="http://schemas.microsoft.com/office/powerpoint/2010/main" val="417265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Arrow Connector 14">
            <a:extLst>
              <a:ext uri="{FF2B5EF4-FFF2-40B4-BE49-F238E27FC236}">
                <a16:creationId xmlns:a16="http://schemas.microsoft.com/office/drawing/2014/main" id="{2476C516-819E-638E-8822-4E085F87FE68}"/>
              </a:ext>
            </a:extLst>
          </p:cNvPr>
          <p:cNvCxnSpPr>
            <a:cxnSpLocks/>
          </p:cNvCxnSpPr>
          <p:nvPr/>
        </p:nvCxnSpPr>
        <p:spPr>
          <a:xfrm flipV="1">
            <a:off x="5486204" y="3110963"/>
            <a:ext cx="0" cy="122304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1985BBD9-902F-CA36-39A8-8F80DF9248C8}"/>
              </a:ext>
            </a:extLst>
          </p:cNvPr>
          <p:cNvSpPr/>
          <p:nvPr/>
        </p:nvSpPr>
        <p:spPr>
          <a:xfrm>
            <a:off x="2517938" y="2734393"/>
            <a:ext cx="1743500" cy="246731"/>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200" dirty="0">
                <a:solidFill>
                  <a:srgbClr val="FFFFFF"/>
                </a:solidFill>
                <a:latin typeface="Calibri"/>
              </a:rPr>
              <a:t>Driver API Shim Interface</a:t>
            </a:r>
          </a:p>
        </p:txBody>
      </p:sp>
      <p:sp>
        <p:nvSpPr>
          <p:cNvPr id="24" name="Flowchart: Document 23">
            <a:extLst>
              <a:ext uri="{FF2B5EF4-FFF2-40B4-BE49-F238E27FC236}">
                <a16:creationId xmlns:a16="http://schemas.microsoft.com/office/drawing/2014/main" id="{3B6B43BF-4762-8693-275F-D1642FAECE68}"/>
              </a:ext>
            </a:extLst>
          </p:cNvPr>
          <p:cNvSpPr/>
          <p:nvPr/>
        </p:nvSpPr>
        <p:spPr>
          <a:xfrm>
            <a:off x="609074" y="1768115"/>
            <a:ext cx="1729324" cy="826718"/>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err="1"/>
              <a:t>CMSIS_target_header</a:t>
            </a:r>
            <a:br>
              <a:rPr lang="en-US" sz="1400" dirty="0"/>
            </a:br>
            <a:r>
              <a:rPr lang="en-US" sz="1200" dirty="0"/>
              <a:t>Driver configuration</a:t>
            </a:r>
          </a:p>
        </p:txBody>
      </p:sp>
      <p:sp>
        <p:nvSpPr>
          <p:cNvPr id="27" name="Rectangle 26">
            <a:extLst>
              <a:ext uri="{FF2B5EF4-FFF2-40B4-BE49-F238E27FC236}">
                <a16:creationId xmlns:a16="http://schemas.microsoft.com/office/drawing/2014/main" id="{E871CC41-D9F8-B106-1421-4E4577424230}"/>
              </a:ext>
            </a:extLst>
          </p:cNvPr>
          <p:cNvSpPr/>
          <p:nvPr/>
        </p:nvSpPr>
        <p:spPr>
          <a:xfrm>
            <a:off x="2519388" y="4400946"/>
            <a:ext cx="1743500" cy="473559"/>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dirty="0">
                <a:solidFill>
                  <a:srgbClr val="FFFFFF"/>
                </a:solidFill>
                <a:latin typeface="Calibri"/>
              </a:rPr>
              <a:t>Device Registers</a:t>
            </a:r>
            <a:endParaRPr lang="en-US" sz="1200" dirty="0">
              <a:solidFill>
                <a:srgbClr val="FFFFFF"/>
              </a:solidFill>
              <a:latin typeface="Calibri"/>
            </a:endParaRPr>
          </a:p>
        </p:txBody>
      </p:sp>
      <p:cxnSp>
        <p:nvCxnSpPr>
          <p:cNvPr id="30" name="Straight Arrow Connector 29">
            <a:extLst>
              <a:ext uri="{FF2B5EF4-FFF2-40B4-BE49-F238E27FC236}">
                <a16:creationId xmlns:a16="http://schemas.microsoft.com/office/drawing/2014/main" id="{BCDC4700-4324-EE72-5CE6-80F9A2D65FBE}"/>
              </a:ext>
            </a:extLst>
          </p:cNvPr>
          <p:cNvCxnSpPr>
            <a:cxnSpLocks/>
          </p:cNvCxnSpPr>
          <p:nvPr/>
        </p:nvCxnSpPr>
        <p:spPr>
          <a:xfrm>
            <a:off x="1494997" y="1531988"/>
            <a:ext cx="0" cy="2467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2BA20D4-DE7A-04FA-6D56-11D34AAE1B4F}"/>
              </a:ext>
            </a:extLst>
          </p:cNvPr>
          <p:cNvCxnSpPr>
            <a:cxnSpLocks/>
          </p:cNvCxnSpPr>
          <p:nvPr/>
        </p:nvCxnSpPr>
        <p:spPr>
          <a:xfrm>
            <a:off x="3413340" y="1531988"/>
            <a:ext cx="0" cy="2467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FCD2AD4F-5240-6443-EFB1-0395F9D9B639}"/>
              </a:ext>
            </a:extLst>
          </p:cNvPr>
          <p:cNvSpPr/>
          <p:nvPr/>
        </p:nvSpPr>
        <p:spPr>
          <a:xfrm>
            <a:off x="609075" y="1127761"/>
            <a:ext cx="3653814" cy="473559"/>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4377"/>
            <a:r>
              <a:rPr lang="en-US" sz="1400" dirty="0">
                <a:solidFill>
                  <a:srgbClr val="FFFFFF"/>
                </a:solidFill>
                <a:latin typeface="Calibri"/>
              </a:rPr>
              <a:t>Reference Application</a:t>
            </a:r>
          </a:p>
        </p:txBody>
      </p:sp>
      <p:cxnSp>
        <p:nvCxnSpPr>
          <p:cNvPr id="36" name="Straight Arrow Connector 35">
            <a:extLst>
              <a:ext uri="{FF2B5EF4-FFF2-40B4-BE49-F238E27FC236}">
                <a16:creationId xmlns:a16="http://schemas.microsoft.com/office/drawing/2014/main" id="{916C4FC3-50AE-630F-5785-F30BF53B8168}"/>
              </a:ext>
            </a:extLst>
          </p:cNvPr>
          <p:cNvCxnSpPr>
            <a:cxnSpLocks/>
          </p:cNvCxnSpPr>
          <p:nvPr/>
        </p:nvCxnSpPr>
        <p:spPr>
          <a:xfrm>
            <a:off x="3402708" y="2492052"/>
            <a:ext cx="0" cy="2467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0C74836B-88B4-F7DA-CBBD-407C24E380AA}"/>
              </a:ext>
            </a:extLst>
          </p:cNvPr>
          <p:cNvCxnSpPr>
            <a:cxnSpLocks/>
          </p:cNvCxnSpPr>
          <p:nvPr/>
        </p:nvCxnSpPr>
        <p:spPr>
          <a:xfrm>
            <a:off x="3396349" y="3155253"/>
            <a:ext cx="0" cy="2467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B72913F7-91D5-D944-08AC-1385A73B9E05}"/>
              </a:ext>
            </a:extLst>
          </p:cNvPr>
          <p:cNvCxnSpPr>
            <a:cxnSpLocks/>
          </p:cNvCxnSpPr>
          <p:nvPr/>
        </p:nvCxnSpPr>
        <p:spPr>
          <a:xfrm>
            <a:off x="3389262" y="3977476"/>
            <a:ext cx="0" cy="42347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2" name="Flowchart: Document 51">
            <a:extLst>
              <a:ext uri="{FF2B5EF4-FFF2-40B4-BE49-F238E27FC236}">
                <a16:creationId xmlns:a16="http://schemas.microsoft.com/office/drawing/2014/main" id="{6546C961-7E45-D4EE-3BD3-7D11AC9A51D4}"/>
              </a:ext>
            </a:extLst>
          </p:cNvPr>
          <p:cNvSpPr/>
          <p:nvPr/>
        </p:nvSpPr>
        <p:spPr>
          <a:xfrm>
            <a:off x="606213" y="2741894"/>
            <a:ext cx="1729324" cy="826718"/>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err="1"/>
              <a:t>CMSIS_shield_header</a:t>
            </a:r>
            <a:br>
              <a:rPr lang="en-US" sz="1400" dirty="0"/>
            </a:br>
            <a:r>
              <a:rPr lang="en-US" sz="1200" dirty="0"/>
              <a:t>Shield configuration</a:t>
            </a:r>
          </a:p>
        </p:txBody>
      </p:sp>
      <p:cxnSp>
        <p:nvCxnSpPr>
          <p:cNvPr id="53" name="Straight Arrow Connector 52">
            <a:extLst>
              <a:ext uri="{FF2B5EF4-FFF2-40B4-BE49-F238E27FC236}">
                <a16:creationId xmlns:a16="http://schemas.microsoft.com/office/drawing/2014/main" id="{382FBB87-5584-2884-2F1B-08C424AB10A9}"/>
              </a:ext>
            </a:extLst>
          </p:cNvPr>
          <p:cNvCxnSpPr>
            <a:cxnSpLocks/>
          </p:cNvCxnSpPr>
          <p:nvPr/>
        </p:nvCxnSpPr>
        <p:spPr>
          <a:xfrm>
            <a:off x="1477277" y="2498459"/>
            <a:ext cx="0" cy="2467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E4C54126-87DF-2842-59EA-90DCAEBBAF3D}"/>
              </a:ext>
            </a:extLst>
          </p:cNvPr>
          <p:cNvSpPr/>
          <p:nvPr/>
        </p:nvSpPr>
        <p:spPr>
          <a:xfrm>
            <a:off x="2517938" y="2985518"/>
            <a:ext cx="1743500" cy="225838"/>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200" dirty="0">
                <a:solidFill>
                  <a:srgbClr val="FFFFFF"/>
                </a:solidFill>
                <a:latin typeface="Calibri"/>
              </a:rPr>
              <a:t>STM32 HAL Drivers</a:t>
            </a:r>
          </a:p>
        </p:txBody>
      </p:sp>
      <p:sp>
        <p:nvSpPr>
          <p:cNvPr id="26" name="Flowchart: Document 25">
            <a:extLst>
              <a:ext uri="{FF2B5EF4-FFF2-40B4-BE49-F238E27FC236}">
                <a16:creationId xmlns:a16="http://schemas.microsoft.com/office/drawing/2014/main" id="{1B497F9F-7F9C-F400-F3D7-C49BB55BDA8F}"/>
              </a:ext>
            </a:extLst>
          </p:cNvPr>
          <p:cNvSpPr/>
          <p:nvPr/>
        </p:nvSpPr>
        <p:spPr>
          <a:xfrm>
            <a:off x="2519388" y="3401984"/>
            <a:ext cx="1743500" cy="826718"/>
          </a:xfrm>
          <a:prstGeom prst="flowChartDocumen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err="1"/>
              <a:t>CMSIS_device_header</a:t>
            </a:r>
            <a:br>
              <a:rPr lang="en-US" sz="1400" dirty="0"/>
            </a:br>
            <a:r>
              <a:rPr lang="en-US" sz="1200" dirty="0"/>
              <a:t>Processor and Peripherals</a:t>
            </a:r>
          </a:p>
        </p:txBody>
      </p:sp>
      <p:sp>
        <p:nvSpPr>
          <p:cNvPr id="25" name="Flowchart: Document 24">
            <a:extLst>
              <a:ext uri="{FF2B5EF4-FFF2-40B4-BE49-F238E27FC236}">
                <a16:creationId xmlns:a16="http://schemas.microsoft.com/office/drawing/2014/main" id="{F5287E91-2A32-51FD-F309-A22D2ECC9AEB}"/>
              </a:ext>
            </a:extLst>
          </p:cNvPr>
          <p:cNvSpPr/>
          <p:nvPr/>
        </p:nvSpPr>
        <p:spPr>
          <a:xfrm>
            <a:off x="2533564" y="1772509"/>
            <a:ext cx="1729324" cy="826718"/>
          </a:xfrm>
          <a:prstGeom prst="flowChartDocumen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CMSIS-Driver API</a:t>
            </a:r>
            <a:br>
              <a:rPr lang="en-US" sz="1400" dirty="0"/>
            </a:br>
            <a:r>
              <a:rPr lang="en-US" sz="1400" dirty="0"/>
              <a:t>header files</a:t>
            </a:r>
          </a:p>
        </p:txBody>
      </p:sp>
      <p:sp>
        <p:nvSpPr>
          <p:cNvPr id="7" name="Rectangle 6">
            <a:extLst>
              <a:ext uri="{FF2B5EF4-FFF2-40B4-BE49-F238E27FC236}">
                <a16:creationId xmlns:a16="http://schemas.microsoft.com/office/drawing/2014/main" id="{799263F4-9815-D495-2CD9-E63B7B5585A0}"/>
              </a:ext>
            </a:extLst>
          </p:cNvPr>
          <p:cNvSpPr/>
          <p:nvPr/>
        </p:nvSpPr>
        <p:spPr>
          <a:xfrm>
            <a:off x="4528158" y="4283903"/>
            <a:ext cx="1540042" cy="771512"/>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000" dirty="0">
                <a:solidFill>
                  <a:schemeClr val="tx2"/>
                </a:solidFill>
                <a:latin typeface="Calibri"/>
              </a:rPr>
              <a:t>Generator Bridge</a:t>
            </a:r>
            <a:endParaRPr kumimoji="0" lang="en-GB" sz="1000" b="0" i="0" u="none" strike="noStrike" kern="1200" cap="none" spc="0" normalizeH="0" baseline="0" noProof="0" dirty="0">
              <a:ln>
                <a:noFill/>
              </a:ln>
              <a:solidFill>
                <a:schemeClr val="tx2"/>
              </a:solidFill>
              <a:effectLst/>
              <a:uLnTx/>
              <a:uFillTx/>
              <a:latin typeface="Calibri"/>
              <a:ea typeface="+mn-ea"/>
              <a:cs typeface="+mn-cs"/>
            </a:endParaRPr>
          </a:p>
        </p:txBody>
      </p:sp>
      <p:sp>
        <p:nvSpPr>
          <p:cNvPr id="8" name="Rectangle 7">
            <a:extLst>
              <a:ext uri="{FF2B5EF4-FFF2-40B4-BE49-F238E27FC236}">
                <a16:creationId xmlns:a16="http://schemas.microsoft.com/office/drawing/2014/main" id="{E668CCF2-369A-289E-71D2-A432DF5169CA}"/>
              </a:ext>
            </a:extLst>
          </p:cNvPr>
          <p:cNvSpPr/>
          <p:nvPr/>
        </p:nvSpPr>
        <p:spPr>
          <a:xfrm>
            <a:off x="4629648" y="4399666"/>
            <a:ext cx="1350233" cy="474839"/>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err="1">
                <a:ln>
                  <a:noFill/>
                </a:ln>
                <a:solidFill>
                  <a:srgbClr val="FFFFFF"/>
                </a:solidFill>
                <a:effectLst/>
                <a:uLnTx/>
                <a:uFillTx/>
                <a:latin typeface="Calibri"/>
                <a:ea typeface="+mn-ea"/>
                <a:cs typeface="+mn-cs"/>
              </a:rPr>
              <a:t>CubeMX</a:t>
            </a:r>
            <a:br>
              <a:rPr kumimoji="0" lang="en-US" sz="1600" b="1" i="0" u="none" strike="noStrike" kern="1200" cap="none" spc="0" normalizeH="0" baseline="0" noProof="0" dirty="0">
                <a:ln>
                  <a:noFill/>
                </a:ln>
                <a:solidFill>
                  <a:srgbClr val="FFFFFF"/>
                </a:solidFill>
                <a:effectLst/>
                <a:uLnTx/>
                <a:uFillTx/>
                <a:latin typeface="Calibri"/>
                <a:ea typeface="+mn-ea"/>
                <a:cs typeface="+mn-cs"/>
              </a:rPr>
            </a:br>
            <a:r>
              <a:rPr lang="en-US" sz="1000" dirty="0">
                <a:solidFill>
                  <a:srgbClr val="FFFFFF"/>
                </a:solidFill>
                <a:latin typeface="Calibri"/>
              </a:rPr>
              <a:t>Generator</a:t>
            </a:r>
            <a:endParaRPr lang="en-GB" sz="1000" dirty="0">
              <a:solidFill>
                <a:srgbClr val="FFFFFF"/>
              </a:solidFill>
              <a:latin typeface="Calibri"/>
            </a:endParaRPr>
          </a:p>
        </p:txBody>
      </p:sp>
      <p:cxnSp>
        <p:nvCxnSpPr>
          <p:cNvPr id="12" name="Straight Arrow Connector 11">
            <a:extLst>
              <a:ext uri="{FF2B5EF4-FFF2-40B4-BE49-F238E27FC236}">
                <a16:creationId xmlns:a16="http://schemas.microsoft.com/office/drawing/2014/main" id="{32D73C07-F3B0-8D65-4AF8-45DAD61E7659}"/>
              </a:ext>
            </a:extLst>
          </p:cNvPr>
          <p:cNvCxnSpPr>
            <a:cxnSpLocks/>
          </p:cNvCxnSpPr>
          <p:nvPr/>
        </p:nvCxnSpPr>
        <p:spPr>
          <a:xfrm flipV="1">
            <a:off x="5020653" y="4077691"/>
            <a:ext cx="0" cy="32325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0" name="Flowchart: Document 19">
            <a:extLst>
              <a:ext uri="{FF2B5EF4-FFF2-40B4-BE49-F238E27FC236}">
                <a16:creationId xmlns:a16="http://schemas.microsoft.com/office/drawing/2014/main" id="{33DF98DF-7B65-52A6-BDC8-12656686E4D5}"/>
              </a:ext>
            </a:extLst>
          </p:cNvPr>
          <p:cNvSpPr/>
          <p:nvPr/>
        </p:nvSpPr>
        <p:spPr>
          <a:xfrm>
            <a:off x="4585729" y="2515341"/>
            <a:ext cx="1419204" cy="684834"/>
          </a:xfrm>
          <a:prstGeom prst="flowChartDocumen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dirty="0" err="1">
                <a:solidFill>
                  <a:schemeClr val="bg2">
                    <a:lumMod val="25000"/>
                  </a:schemeClr>
                </a:solidFill>
                <a:latin typeface="Calibri"/>
              </a:rPr>
              <a:t>MX_Device.h</a:t>
            </a:r>
            <a:endParaRPr lang="en-US" sz="1200" dirty="0">
              <a:solidFill>
                <a:schemeClr val="bg2">
                  <a:lumMod val="25000"/>
                </a:schemeClr>
              </a:solidFill>
              <a:latin typeface="Calibri"/>
            </a:endParaRPr>
          </a:p>
          <a:p>
            <a:pPr algn="ctr"/>
            <a:r>
              <a:rPr lang="en-US" sz="1000" dirty="0">
                <a:solidFill>
                  <a:schemeClr val="bg2">
                    <a:lumMod val="25000"/>
                  </a:schemeClr>
                </a:solidFill>
                <a:latin typeface="Calibri"/>
              </a:rPr>
              <a:t>configuration information</a:t>
            </a:r>
          </a:p>
        </p:txBody>
      </p:sp>
      <p:sp>
        <p:nvSpPr>
          <p:cNvPr id="9" name="Flowchart: Multidocument 8">
            <a:extLst>
              <a:ext uri="{FF2B5EF4-FFF2-40B4-BE49-F238E27FC236}">
                <a16:creationId xmlns:a16="http://schemas.microsoft.com/office/drawing/2014/main" id="{9AF69BA8-90EE-7F76-76D1-9F68F172F7D6}"/>
              </a:ext>
            </a:extLst>
          </p:cNvPr>
          <p:cNvSpPr/>
          <p:nvPr/>
        </p:nvSpPr>
        <p:spPr>
          <a:xfrm>
            <a:off x="4538582" y="3358612"/>
            <a:ext cx="1529618" cy="719079"/>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*.c/*.</a:t>
            </a:r>
            <a:r>
              <a:rPr lang="en-US" sz="1200" dirty="0">
                <a:solidFill>
                  <a:schemeClr val="bg2">
                    <a:lumMod val="25000"/>
                  </a:schemeClr>
                </a:solidFill>
                <a:latin typeface="Calibri"/>
              </a:rPr>
              <a:t>h</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generated source files</a:t>
            </a:r>
          </a:p>
        </p:txBody>
      </p:sp>
      <p:cxnSp>
        <p:nvCxnSpPr>
          <p:cNvPr id="38" name="Straight Arrow Connector 37">
            <a:extLst>
              <a:ext uri="{FF2B5EF4-FFF2-40B4-BE49-F238E27FC236}">
                <a16:creationId xmlns:a16="http://schemas.microsoft.com/office/drawing/2014/main" id="{75BB6D81-28D6-38FD-E80E-1C17F6F87A8E}"/>
              </a:ext>
            </a:extLst>
          </p:cNvPr>
          <p:cNvCxnSpPr>
            <a:cxnSpLocks/>
            <a:stCxn id="20" idx="1"/>
            <a:endCxn id="49" idx="3"/>
          </p:cNvCxnSpPr>
          <p:nvPr/>
        </p:nvCxnSpPr>
        <p:spPr>
          <a:xfrm flipH="1">
            <a:off x="4261438" y="2857758"/>
            <a:ext cx="32429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2312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Arrow: Right 31">
            <a:extLst>
              <a:ext uri="{FF2B5EF4-FFF2-40B4-BE49-F238E27FC236}">
                <a16:creationId xmlns:a16="http://schemas.microsoft.com/office/drawing/2014/main" id="{8DCE06D2-5B11-472B-8D45-3B327EA1669E}"/>
              </a:ext>
            </a:extLst>
          </p:cNvPr>
          <p:cNvSpPr/>
          <p:nvPr/>
        </p:nvSpPr>
        <p:spPr>
          <a:xfrm>
            <a:off x="6625392" y="3053516"/>
            <a:ext cx="605587" cy="204537"/>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29" name="Rectangle 28">
            <a:extLst>
              <a:ext uri="{FF2B5EF4-FFF2-40B4-BE49-F238E27FC236}">
                <a16:creationId xmlns:a16="http://schemas.microsoft.com/office/drawing/2014/main" id="{EC3CC268-843C-42DC-9FAB-259824F90297}"/>
              </a:ext>
            </a:extLst>
          </p:cNvPr>
          <p:cNvSpPr/>
          <p:nvPr/>
        </p:nvSpPr>
        <p:spPr>
          <a:xfrm>
            <a:off x="4849688" y="1212527"/>
            <a:ext cx="1786690" cy="3956387"/>
          </a:xfrm>
          <a:prstGeom prst="rect">
            <a:avLst/>
          </a:prstGeom>
          <a:solidFill>
            <a:schemeClr val="accent5">
              <a:lumMod val="40000"/>
              <a:lumOff val="6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6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rPr>
              <a:t>Generator Information</a:t>
            </a:r>
          </a:p>
        </p:txBody>
      </p:sp>
      <p:sp>
        <p:nvSpPr>
          <p:cNvPr id="22" name="Rectangle 21">
            <a:extLst>
              <a:ext uri="{FF2B5EF4-FFF2-40B4-BE49-F238E27FC236}">
                <a16:creationId xmlns:a16="http://schemas.microsoft.com/office/drawing/2014/main" id="{5487FEAB-7D2D-4E65-8BF8-9C55DAECCD8A}"/>
              </a:ext>
            </a:extLst>
          </p:cNvPr>
          <p:cNvSpPr/>
          <p:nvPr/>
        </p:nvSpPr>
        <p:spPr>
          <a:xfrm>
            <a:off x="9596746" y="1212527"/>
            <a:ext cx="1786690" cy="3956387"/>
          </a:xfrm>
          <a:prstGeom prst="rect">
            <a:avLst/>
          </a:prstGeom>
          <a:solidFill>
            <a:schemeClr val="bg2">
              <a:lumMod val="9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lang="en-US" sz="1600" b="1" dirty="0">
                <a:solidFill>
                  <a:srgbClr val="333E48"/>
                </a:solidFill>
                <a:latin typeface="Calibri"/>
                <a:ea typeface="ＭＳ Ｐゴシック" panose="020B0600070205080204" pitchFamily="34" charset="-128"/>
              </a:rPr>
              <a:t>Generator Output</a:t>
            </a:r>
            <a:endParaRPr kumimoji="0" lang="en-US" sz="1600" b="1" i="0" u="none" strike="noStrike" kern="1200" cap="none" spc="0" normalizeH="0" baseline="0" noProof="0" dirty="0">
              <a:ln>
                <a:noFill/>
              </a:ln>
              <a:solidFill>
                <a:srgbClr val="333E48"/>
              </a:solidFill>
              <a:effectLst/>
              <a:uLnTx/>
              <a:uFillTx/>
              <a:latin typeface="Calibri"/>
              <a:ea typeface="ＭＳ Ｐゴシック" panose="020B0600070205080204" pitchFamily="34" charset="-128"/>
              <a:cs typeface="+mn-cs"/>
            </a:endParaRPr>
          </a:p>
        </p:txBody>
      </p:sp>
      <p:sp>
        <p:nvSpPr>
          <p:cNvPr id="6" name="Flowchart: Document 5">
            <a:extLst>
              <a:ext uri="{FF2B5EF4-FFF2-40B4-BE49-F238E27FC236}">
                <a16:creationId xmlns:a16="http://schemas.microsoft.com/office/drawing/2014/main" id="{05CB531E-7400-4A1A-9853-81AF2D7E5608}"/>
              </a:ext>
            </a:extLst>
          </p:cNvPr>
          <p:cNvSpPr/>
          <p:nvPr/>
        </p:nvSpPr>
        <p:spPr>
          <a:xfrm>
            <a:off x="9803374" y="1633963"/>
            <a:ext cx="1333416" cy="884321"/>
          </a:xfrm>
          <a:prstGeom prst="flowChartDocumen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ioc</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lang="en-US" sz="1000" dirty="0">
                <a:solidFill>
                  <a:schemeClr val="bg2">
                    <a:lumMod val="25000"/>
                  </a:schemeClr>
                </a:solidFill>
                <a:latin typeface="Calibri"/>
              </a:rPr>
              <a:t>Generator Project</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7" name="Flowchart: Multidocument 6">
            <a:extLst>
              <a:ext uri="{FF2B5EF4-FFF2-40B4-BE49-F238E27FC236}">
                <a16:creationId xmlns:a16="http://schemas.microsoft.com/office/drawing/2014/main" id="{0FCC1B91-99A1-4E45-AE23-2D8F8B8DFEBE}"/>
              </a:ext>
            </a:extLst>
          </p:cNvPr>
          <p:cNvSpPr/>
          <p:nvPr/>
        </p:nvSpPr>
        <p:spPr>
          <a:xfrm>
            <a:off x="9760776" y="2711978"/>
            <a:ext cx="1449805" cy="1010653"/>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*.c/*.</a:t>
            </a:r>
            <a:r>
              <a:rPr lang="en-US" sz="1200" dirty="0">
                <a:solidFill>
                  <a:schemeClr val="bg2">
                    <a:lumMod val="25000"/>
                  </a:schemeClr>
                </a:solidFill>
                <a:latin typeface="Calibri"/>
              </a:rPr>
              <a:t>h</a:t>
            </a:r>
            <a:b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rPr>
              <a:t>generated source files</a:t>
            </a:r>
          </a:p>
        </p:txBody>
      </p:sp>
      <p:sp>
        <p:nvSpPr>
          <p:cNvPr id="10" name="Flowchart: Multidocument 9">
            <a:extLst>
              <a:ext uri="{FF2B5EF4-FFF2-40B4-BE49-F238E27FC236}">
                <a16:creationId xmlns:a16="http://schemas.microsoft.com/office/drawing/2014/main" id="{063DD4F5-6984-4CA0-9BAE-639DAB72225F}"/>
              </a:ext>
            </a:extLst>
          </p:cNvPr>
          <p:cNvSpPr/>
          <p:nvPr/>
        </p:nvSpPr>
        <p:spPr>
          <a:xfrm>
            <a:off x="5044282" y="3437335"/>
            <a:ext cx="1449805" cy="1010653"/>
          </a:xfrm>
          <a:prstGeom prst="flowChartMulti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a:solidFill>
                  <a:schemeClr val="bg2">
                    <a:lumMod val="25000"/>
                  </a:schemeClr>
                </a:solidFill>
                <a:latin typeface="Calibri"/>
              </a:rPr>
              <a:t>&lt;project&gt;</a:t>
            </a: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cbuild-gen.yml</a:t>
            </a:r>
            <a:endParaRPr kumimoji="0" lang="en-GB" sz="12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17" name="Straight Arrow Connector 16">
            <a:extLst>
              <a:ext uri="{FF2B5EF4-FFF2-40B4-BE49-F238E27FC236}">
                <a16:creationId xmlns:a16="http://schemas.microsoft.com/office/drawing/2014/main" id="{8700C784-4ABC-4B94-A393-C72FD280887C}"/>
              </a:ext>
            </a:extLst>
          </p:cNvPr>
          <p:cNvCxnSpPr>
            <a:cxnSpLocks/>
            <a:endCxn id="18" idx="1"/>
          </p:cNvCxnSpPr>
          <p:nvPr/>
        </p:nvCxnSpPr>
        <p:spPr>
          <a:xfrm>
            <a:off x="8682705" y="3558843"/>
            <a:ext cx="1128203" cy="86818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 name="Flowchart: Multidocument 17">
            <a:extLst>
              <a:ext uri="{FF2B5EF4-FFF2-40B4-BE49-F238E27FC236}">
                <a16:creationId xmlns:a16="http://schemas.microsoft.com/office/drawing/2014/main" id="{F193B99D-00C8-43D5-A8CC-0E46D2AFFC10}"/>
              </a:ext>
            </a:extLst>
          </p:cNvPr>
          <p:cNvSpPr/>
          <p:nvPr/>
        </p:nvSpPr>
        <p:spPr>
          <a:xfrm>
            <a:off x="9810908" y="3881337"/>
            <a:ext cx="1399674" cy="1091386"/>
          </a:xfrm>
          <a:prstGeom prst="flowChartMultidocumen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150" b="0" i="0" u="none" strike="noStrike" kern="1200" cap="none" spc="0" normalizeH="0" baseline="0" noProof="0" dirty="0">
                <a:ln>
                  <a:noFill/>
                </a:ln>
                <a:solidFill>
                  <a:schemeClr val="bg2">
                    <a:lumMod val="25000"/>
                  </a:schemeClr>
                </a:solidFill>
                <a:effectLst/>
                <a:uLnTx/>
                <a:uFillTx/>
                <a:latin typeface="Calibri"/>
                <a:ea typeface="+mn-ea"/>
                <a:cs typeface="+mn-cs"/>
              </a:rPr>
              <a:t>&lt;project&gt;.</a:t>
            </a:r>
            <a:br>
              <a:rPr lang="en-US" sz="1150" dirty="0">
                <a:solidFill>
                  <a:schemeClr val="bg2">
                    <a:lumMod val="25000"/>
                  </a:schemeClr>
                </a:solidFill>
                <a:latin typeface="Calibri"/>
              </a:rPr>
            </a:br>
            <a:r>
              <a:rPr kumimoji="0" lang="en-US" sz="1150" b="0" i="0" u="none" strike="noStrike" kern="1200" cap="none" spc="0" normalizeH="0" baseline="0" noProof="0" dirty="0" err="1">
                <a:ln>
                  <a:noFill/>
                </a:ln>
                <a:solidFill>
                  <a:schemeClr val="bg2">
                    <a:lumMod val="25000"/>
                  </a:schemeClr>
                </a:solidFill>
                <a:effectLst/>
                <a:uLnTx/>
                <a:uFillTx/>
                <a:latin typeface="Calibri"/>
                <a:ea typeface="+mn-ea"/>
                <a:cs typeface="+mn-cs"/>
              </a:rPr>
              <a:t>cgen.yml</a:t>
            </a:r>
            <a:br>
              <a:rPr kumimoji="0" lang="en-US" sz="1100" b="0" i="0" u="none" strike="noStrike" kern="1200" cap="none" spc="0" normalizeH="0" baseline="0" noProof="0" dirty="0">
                <a:ln>
                  <a:noFill/>
                </a:ln>
                <a:solidFill>
                  <a:schemeClr val="bg2">
                    <a:lumMod val="25000"/>
                  </a:schemeClr>
                </a:solidFill>
                <a:effectLst/>
                <a:uLnTx/>
                <a:uFillTx/>
                <a:latin typeface="Calibri"/>
                <a:ea typeface="+mn-ea"/>
                <a:cs typeface="+mn-cs"/>
              </a:rPr>
            </a:br>
            <a:r>
              <a:rPr lang="en-US" sz="950" dirty="0">
                <a:solidFill>
                  <a:schemeClr val="bg2">
                    <a:lumMod val="25000"/>
                  </a:schemeClr>
                </a:solidFill>
                <a:latin typeface="Calibri"/>
              </a:rPr>
              <a:t>Import data for CMSIS-Toolbox</a:t>
            </a:r>
            <a:endParaRPr kumimoji="0" lang="en-GB" sz="95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23" name="Rectangle 22">
            <a:extLst>
              <a:ext uri="{FF2B5EF4-FFF2-40B4-BE49-F238E27FC236}">
                <a16:creationId xmlns:a16="http://schemas.microsoft.com/office/drawing/2014/main" id="{8119DA75-D395-4806-9923-A60C1658B62A}"/>
              </a:ext>
            </a:extLst>
          </p:cNvPr>
          <p:cNvSpPr/>
          <p:nvPr/>
        </p:nvSpPr>
        <p:spPr>
          <a:xfrm>
            <a:off x="7230982" y="2488468"/>
            <a:ext cx="1540042" cy="1253706"/>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err="1">
                <a:solidFill>
                  <a:schemeClr val="tx2"/>
                </a:solidFill>
                <a:latin typeface="Calibri"/>
              </a:rPr>
              <a:t>cbridge</a:t>
            </a:r>
            <a:br>
              <a:rPr lang="en-US" b="1" dirty="0">
                <a:solidFill>
                  <a:schemeClr val="tx2"/>
                </a:solidFill>
                <a:latin typeface="Calibri"/>
              </a:rPr>
            </a:br>
            <a:r>
              <a:rPr lang="en-US" sz="1000" dirty="0">
                <a:solidFill>
                  <a:schemeClr val="tx2"/>
                </a:solidFill>
                <a:latin typeface="Calibri"/>
              </a:rPr>
              <a:t>Generator Bridge</a:t>
            </a:r>
            <a:endParaRPr kumimoji="0" lang="en-GB" sz="1000" b="0" i="0" u="none" strike="noStrike" kern="1200" cap="none" spc="0" normalizeH="0" baseline="0" noProof="0" dirty="0">
              <a:ln>
                <a:noFill/>
              </a:ln>
              <a:solidFill>
                <a:schemeClr val="tx2"/>
              </a:solidFill>
              <a:effectLst/>
              <a:uLnTx/>
              <a:uFillTx/>
              <a:latin typeface="Calibri"/>
              <a:ea typeface="+mn-ea"/>
              <a:cs typeface="+mn-cs"/>
            </a:endParaRPr>
          </a:p>
        </p:txBody>
      </p:sp>
      <p:sp>
        <p:nvSpPr>
          <p:cNvPr id="11" name="Flowchart: Document 10">
            <a:extLst>
              <a:ext uri="{FF2B5EF4-FFF2-40B4-BE49-F238E27FC236}">
                <a16:creationId xmlns:a16="http://schemas.microsoft.com/office/drawing/2014/main" id="{057A4819-CEB0-A8FD-8A56-C9A078D7B8A2}"/>
              </a:ext>
            </a:extLst>
          </p:cNvPr>
          <p:cNvSpPr/>
          <p:nvPr/>
        </p:nvSpPr>
        <p:spPr>
          <a:xfrm>
            <a:off x="5092503" y="2349468"/>
            <a:ext cx="1333416" cy="884321"/>
          </a:xfrm>
          <a:prstGeom prst="flowChartDocumen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cbuild</a:t>
            </a: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-gen-</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idx.yml</a:t>
            </a: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4" name="Straight Arrow Connector 3">
            <a:extLst>
              <a:ext uri="{FF2B5EF4-FFF2-40B4-BE49-F238E27FC236}">
                <a16:creationId xmlns:a16="http://schemas.microsoft.com/office/drawing/2014/main" id="{1B738DEF-D013-6026-AFE3-E7B42433B06B}"/>
              </a:ext>
            </a:extLst>
          </p:cNvPr>
          <p:cNvCxnSpPr>
            <a:cxnSpLocks/>
          </p:cNvCxnSpPr>
          <p:nvPr/>
        </p:nvCxnSpPr>
        <p:spPr>
          <a:xfrm>
            <a:off x="5755876" y="3160609"/>
            <a:ext cx="0" cy="2767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71752413-9444-8A2E-D325-5EE15401C75F}"/>
              </a:ext>
            </a:extLst>
          </p:cNvPr>
          <p:cNvSpPr/>
          <p:nvPr/>
        </p:nvSpPr>
        <p:spPr>
          <a:xfrm>
            <a:off x="7332472" y="2664172"/>
            <a:ext cx="1350233" cy="503321"/>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err="1">
                <a:ln>
                  <a:noFill/>
                </a:ln>
                <a:solidFill>
                  <a:srgbClr val="FFFFFF"/>
                </a:solidFill>
                <a:effectLst/>
                <a:uLnTx/>
                <a:uFillTx/>
                <a:latin typeface="Calibri"/>
                <a:ea typeface="+mn-ea"/>
                <a:cs typeface="+mn-cs"/>
              </a:rPr>
              <a:t>CubeMX</a:t>
            </a:r>
            <a:br>
              <a:rPr kumimoji="0" lang="en-US" sz="1800" b="1" i="0" u="none" strike="noStrike" kern="1200" cap="none" spc="0" normalizeH="0" baseline="0" noProof="0" dirty="0">
                <a:ln>
                  <a:noFill/>
                </a:ln>
                <a:solidFill>
                  <a:srgbClr val="FFFFFF"/>
                </a:solidFill>
                <a:effectLst/>
                <a:uLnTx/>
                <a:uFillTx/>
                <a:latin typeface="Calibri"/>
                <a:ea typeface="+mn-ea"/>
                <a:cs typeface="+mn-cs"/>
              </a:rPr>
            </a:br>
            <a:r>
              <a:rPr lang="en-US" sz="1000" dirty="0">
                <a:solidFill>
                  <a:srgbClr val="FFFFFF"/>
                </a:solidFill>
                <a:latin typeface="Calibri"/>
              </a:rPr>
              <a:t>Generator</a:t>
            </a:r>
            <a:endParaRPr lang="en-GB" sz="1000" dirty="0">
              <a:solidFill>
                <a:srgbClr val="FFFFFF"/>
              </a:solidFill>
              <a:latin typeface="Calibri"/>
            </a:endParaRPr>
          </a:p>
        </p:txBody>
      </p:sp>
      <p:cxnSp>
        <p:nvCxnSpPr>
          <p:cNvPr id="14" name="Straight Arrow Connector 13">
            <a:extLst>
              <a:ext uri="{FF2B5EF4-FFF2-40B4-BE49-F238E27FC236}">
                <a16:creationId xmlns:a16="http://schemas.microsoft.com/office/drawing/2014/main" id="{0CA20441-F3C2-440A-892E-1359E8990DC5}"/>
              </a:ext>
            </a:extLst>
          </p:cNvPr>
          <p:cNvCxnSpPr>
            <a:cxnSpLocks/>
            <a:endCxn id="7" idx="1"/>
          </p:cNvCxnSpPr>
          <p:nvPr/>
        </p:nvCxnSpPr>
        <p:spPr>
          <a:xfrm>
            <a:off x="8682705" y="3014604"/>
            <a:ext cx="1078071" cy="20270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EE598C1-5713-C80E-B797-F277D97B1CB4}"/>
              </a:ext>
            </a:extLst>
          </p:cNvPr>
          <p:cNvCxnSpPr>
            <a:cxnSpLocks/>
          </p:cNvCxnSpPr>
          <p:nvPr/>
        </p:nvCxnSpPr>
        <p:spPr>
          <a:xfrm flipV="1">
            <a:off x="8682705" y="2076123"/>
            <a:ext cx="1132886" cy="72473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93053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F452A-145C-AD8B-2324-F3827450D642}"/>
              </a:ext>
            </a:extLst>
          </p:cNvPr>
          <p:cNvSpPr>
            <a:spLocks noGrp="1"/>
          </p:cNvSpPr>
          <p:nvPr>
            <p:ph type="title"/>
          </p:nvPr>
        </p:nvSpPr>
        <p:spPr/>
        <p:txBody>
          <a:bodyPr/>
          <a:lstStyle/>
          <a:p>
            <a:r>
              <a:rPr lang="en-US"/>
              <a:t>Configuration of Reference Applications</a:t>
            </a:r>
          </a:p>
        </p:txBody>
      </p:sp>
      <p:sp>
        <p:nvSpPr>
          <p:cNvPr id="3" name="Text Placeholder 2">
            <a:extLst>
              <a:ext uri="{FF2B5EF4-FFF2-40B4-BE49-F238E27FC236}">
                <a16:creationId xmlns:a16="http://schemas.microsoft.com/office/drawing/2014/main" id="{75BA81ED-7102-ED78-1A62-041236EE2C1E}"/>
              </a:ext>
            </a:extLst>
          </p:cNvPr>
          <p:cNvSpPr>
            <a:spLocks noGrp="1"/>
          </p:cNvSpPr>
          <p:nvPr>
            <p:ph type="body" sz="quarter" idx="13"/>
          </p:nvPr>
        </p:nvSpPr>
        <p:spPr/>
        <p:txBody>
          <a:bodyPr/>
          <a:lstStyle/>
          <a:p>
            <a:r>
              <a:rPr lang="en-US"/>
              <a:t>Initially contains empty target-type setting</a:t>
            </a:r>
          </a:p>
        </p:txBody>
      </p:sp>
      <p:sp>
        <p:nvSpPr>
          <p:cNvPr id="4" name="Content Placeholder 3">
            <a:extLst>
              <a:ext uri="{FF2B5EF4-FFF2-40B4-BE49-F238E27FC236}">
                <a16:creationId xmlns:a16="http://schemas.microsoft.com/office/drawing/2014/main" id="{865FF123-822A-9425-C870-B5F10747FD2A}"/>
              </a:ext>
            </a:extLst>
          </p:cNvPr>
          <p:cNvSpPr>
            <a:spLocks noGrp="1"/>
          </p:cNvSpPr>
          <p:nvPr>
            <p:ph idx="1"/>
          </p:nvPr>
        </p:nvSpPr>
        <p:spPr>
          <a:xfrm>
            <a:off x="479426" y="1554490"/>
            <a:ext cx="5169813" cy="3800388"/>
          </a:xfrm>
          <a:solidFill>
            <a:schemeClr val="bg1">
              <a:lumMod val="95000"/>
            </a:schemeClr>
          </a:solidFill>
        </p:spPr>
        <p:txBody>
          <a:bodyPr/>
          <a:lstStyle/>
          <a:p>
            <a:pPr marL="0" indent="0">
              <a:spcBef>
                <a:spcPts val="0"/>
              </a:spcBef>
              <a:buNone/>
            </a:pPr>
            <a:r>
              <a:rPr lang="en-US" sz="1000" dirty="0">
                <a:solidFill>
                  <a:srgbClr val="800000"/>
                </a:solidFill>
                <a:latin typeface="Consolas" panose="020B0609020204030204" pitchFamily="49" charset="0"/>
              </a:rPr>
              <a:t>solution</a:t>
            </a:r>
            <a:r>
              <a:rPr lang="en-US" sz="1000" dirty="0">
                <a:solidFill>
                  <a:srgbClr val="000000"/>
                </a:solidFill>
                <a:latin typeface="Consolas" panose="020B0609020204030204" pitchFamily="49" charset="0"/>
              </a:rPr>
              <a:t>:</a:t>
            </a:r>
          </a:p>
          <a:p>
            <a:pPr marL="0" indent="0">
              <a:spcBef>
                <a:spcPts val="0"/>
              </a:spcBef>
              <a:buNone/>
            </a:pPr>
            <a:r>
              <a:rPr lang="en-US" sz="1000" dirty="0">
                <a:solidFill>
                  <a:srgbClr val="000000"/>
                </a:solidFill>
                <a:latin typeface="Consolas" panose="020B0609020204030204" pitchFamily="49" charset="0"/>
              </a:rPr>
              <a:t>  </a:t>
            </a:r>
            <a:r>
              <a:rPr lang="en-US" sz="1000" dirty="0" err="1">
                <a:solidFill>
                  <a:srgbClr val="800000"/>
                </a:solidFill>
                <a:latin typeface="Consolas" panose="020B0609020204030204" pitchFamily="49" charset="0"/>
              </a:rPr>
              <a:t>cdefault</a:t>
            </a:r>
            <a:r>
              <a:rPr lang="en-US" sz="1000" dirty="0">
                <a:solidFill>
                  <a:srgbClr val="000000"/>
                </a:solidFill>
                <a:latin typeface="Consolas" panose="020B0609020204030204" pitchFamily="49" charset="0"/>
              </a:rPr>
              <a:t>:</a:t>
            </a:r>
          </a:p>
          <a:p>
            <a:pPr marL="0" indent="0">
              <a:spcBef>
                <a:spcPts val="0"/>
              </a:spcBef>
              <a:buNone/>
            </a:pP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800000"/>
                </a:solidFill>
                <a:latin typeface="Consolas" panose="020B0609020204030204" pitchFamily="49" charset="0"/>
              </a:rPr>
              <a:t>target-types</a:t>
            </a:r>
            <a:r>
              <a:rPr lang="en-US" sz="1000" dirty="0">
                <a:solidFill>
                  <a:srgbClr val="000000"/>
                </a:solidFill>
                <a:latin typeface="Consolas" panose="020B0609020204030204" pitchFamily="49" charset="0"/>
              </a:rPr>
              <a:t>:</a:t>
            </a:r>
          </a:p>
          <a:p>
            <a:pPr marL="0" indent="0">
              <a:spcBef>
                <a:spcPts val="0"/>
              </a:spcBef>
              <a:buNone/>
            </a:pPr>
            <a:r>
              <a:rPr lang="en-US" sz="1000" dirty="0">
                <a:solidFill>
                  <a:srgbClr val="008000"/>
                </a:solidFill>
                <a:latin typeface="Consolas" panose="020B0609020204030204" pitchFamily="49" charset="0"/>
              </a:rPr>
              <a:t># Step 1: Specify your board, for example with:</a:t>
            </a:r>
            <a:br>
              <a:rPr lang="en-US" sz="1000" dirty="0">
                <a:solidFill>
                  <a:srgbClr val="000000"/>
                </a:solidFill>
                <a:latin typeface="Consolas" panose="020B0609020204030204" pitchFamily="49" charset="0"/>
              </a:rPr>
            </a:br>
            <a:r>
              <a:rPr lang="en-US" sz="1000" dirty="0">
                <a:solidFill>
                  <a:srgbClr val="008000"/>
                </a:solidFill>
                <a:latin typeface="Consolas" panose="020B0609020204030204" pitchFamily="49" charset="0"/>
              </a:rPr>
              <a:t>#   - type: LPCXpresso54114</a:t>
            </a:r>
            <a:endParaRPr lang="en-US" sz="1000" dirty="0">
              <a:solidFill>
                <a:srgbClr val="000000"/>
              </a:solidFill>
              <a:latin typeface="Consolas" panose="020B0609020204030204" pitchFamily="49" charset="0"/>
            </a:endParaRPr>
          </a:p>
          <a:p>
            <a:pPr marL="0" indent="0">
              <a:spcBef>
                <a:spcPts val="0"/>
              </a:spcBef>
              <a:buNone/>
            </a:pPr>
            <a:r>
              <a:rPr lang="en-US" sz="1000" dirty="0">
                <a:solidFill>
                  <a:srgbClr val="008000"/>
                </a:solidFill>
                <a:latin typeface="Consolas" panose="020B0609020204030204" pitchFamily="49" charset="0"/>
              </a:rPr>
              <a:t>#     board: NXP::LPCXpresso54114</a:t>
            </a:r>
          </a:p>
          <a:p>
            <a:pPr marL="0" indent="0">
              <a:spcBef>
                <a:spcPts val="0"/>
              </a:spcBef>
              <a:buNone/>
            </a:pPr>
            <a:r>
              <a:rPr lang="en-US" sz="1000" dirty="0">
                <a:solidFill>
                  <a:srgbClr val="008000"/>
                </a:solidFill>
                <a:latin typeface="Consolas" panose="020B0609020204030204" pitchFamily="49" charset="0"/>
              </a:rPr>
              <a:t># Step 2: Run `</a:t>
            </a:r>
            <a:r>
              <a:rPr lang="en-US" sz="1000" dirty="0" err="1">
                <a:solidFill>
                  <a:srgbClr val="008000"/>
                </a:solidFill>
                <a:latin typeface="Consolas" panose="020B0609020204030204" pitchFamily="49" charset="0"/>
              </a:rPr>
              <a:t>cbuild</a:t>
            </a:r>
            <a:r>
              <a:rPr lang="en-US" sz="1000" dirty="0">
                <a:solidFill>
                  <a:srgbClr val="008000"/>
                </a:solidFill>
                <a:latin typeface="Consolas" panose="020B0609020204030204" pitchFamily="49" charset="0"/>
              </a:rPr>
              <a:t> setup` and use </a:t>
            </a:r>
            <a:r>
              <a:rPr lang="en-US" sz="1000" dirty="0" err="1">
                <a:solidFill>
                  <a:srgbClr val="008000"/>
                </a:solidFill>
                <a:latin typeface="Consolas" panose="020B0609020204030204" pitchFamily="49" charset="0"/>
              </a:rPr>
              <a:t>cbuild-idx.yml</a:t>
            </a:r>
            <a:r>
              <a:rPr lang="en-US" sz="1000" dirty="0">
                <a:solidFill>
                  <a:srgbClr val="008000"/>
                </a:solidFill>
                <a:latin typeface="Consolas" panose="020B0609020204030204" pitchFamily="49" charset="0"/>
              </a:rPr>
              <a:t> to identify variables</a:t>
            </a:r>
          </a:p>
          <a:p>
            <a:pPr marL="0" indent="0">
              <a:spcBef>
                <a:spcPts val="0"/>
              </a:spcBef>
              <a:buNone/>
            </a:pPr>
            <a:r>
              <a:rPr lang="en-US" sz="1000" dirty="0">
                <a:solidFill>
                  <a:srgbClr val="008000"/>
                </a:solidFill>
                <a:latin typeface="Consolas" panose="020B0609020204030204" pitchFamily="49" charset="0"/>
              </a:rPr>
              <a:t>#     variables:</a:t>
            </a:r>
          </a:p>
          <a:p>
            <a:pPr marL="0" indent="0">
              <a:spcBef>
                <a:spcPts val="0"/>
              </a:spcBef>
              <a:buNone/>
            </a:pPr>
            <a:r>
              <a:rPr lang="en-US" sz="1000" dirty="0">
                <a:solidFill>
                  <a:srgbClr val="008000"/>
                </a:solidFill>
                <a:latin typeface="Consolas" panose="020B0609020204030204" pitchFamily="49" charset="0"/>
              </a:rPr>
              <a:t>#       - Board-Layer:  ./layer/board/frdmk22f/frdmk22f.clayer.yml</a:t>
            </a:r>
          </a:p>
          <a:p>
            <a:pPr marL="0" indent="0">
              <a:spcBef>
                <a:spcPts val="0"/>
              </a:spcBef>
              <a:buNone/>
            </a:pPr>
            <a:r>
              <a:rPr lang="en-US" sz="1000" dirty="0">
                <a:solidFill>
                  <a:srgbClr val="008000"/>
                </a:solidFill>
                <a:latin typeface="Consolas" panose="020B0609020204030204" pitchFamily="49" charset="0"/>
              </a:rPr>
              <a:t>#       - Shield-Layer: ./layer/shield/agmp03/agmp03.clayer.yml</a:t>
            </a:r>
          </a:p>
          <a:p>
            <a:pPr marL="0" indent="0">
              <a:spcBef>
                <a:spcPts val="0"/>
              </a:spcBef>
              <a:buNone/>
            </a:pP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800000"/>
                </a:solidFill>
                <a:latin typeface="Consolas" panose="020B0609020204030204" pitchFamily="49" charset="0"/>
              </a:rPr>
              <a:t>build-types</a:t>
            </a:r>
            <a:r>
              <a:rPr lang="en-US" sz="1000" dirty="0">
                <a:solidFill>
                  <a:srgbClr val="000000"/>
                </a:solidFill>
                <a:latin typeface="Consolas" panose="020B0609020204030204" pitchFamily="49" charset="0"/>
              </a:rPr>
              <a:t>:</a:t>
            </a:r>
          </a:p>
          <a:p>
            <a:pPr marL="0" indent="0">
              <a:spcBef>
                <a:spcPts val="0"/>
              </a:spcBef>
              <a:buNone/>
            </a:pPr>
            <a:r>
              <a:rPr lang="en-US" sz="1000" dirty="0">
                <a:solidFill>
                  <a:srgbClr val="000000"/>
                </a:solidFill>
                <a:latin typeface="Consolas" panose="020B0609020204030204" pitchFamily="49" charset="0"/>
              </a:rPr>
              <a:t>    - type: Debug</a:t>
            </a:r>
          </a:p>
          <a:p>
            <a:pPr marL="0" indent="0">
              <a:spcBef>
                <a:spcPts val="0"/>
              </a:spcBef>
              <a:buNone/>
            </a:pPr>
            <a:r>
              <a:rPr lang="en-US" sz="1000" dirty="0">
                <a:solidFill>
                  <a:srgbClr val="000000"/>
                </a:solidFill>
                <a:latin typeface="Consolas" panose="020B0609020204030204" pitchFamily="49" charset="0"/>
              </a:rPr>
              <a:t>       :</a:t>
            </a:r>
          </a:p>
          <a:p>
            <a:pPr marL="0" indent="0">
              <a:spcBef>
                <a:spcPts val="0"/>
              </a:spcBef>
              <a:buNone/>
            </a:pPr>
            <a:r>
              <a:rPr lang="en-US" sz="1000" dirty="0">
                <a:solidFill>
                  <a:srgbClr val="000000"/>
                </a:solidFill>
                <a:latin typeface="Consolas" panose="020B0609020204030204" pitchFamily="49" charset="0"/>
              </a:rPr>
              <a:t>    - type: Release</a:t>
            </a:r>
          </a:p>
          <a:p>
            <a:pPr marL="0" indent="0">
              <a:spcBef>
                <a:spcPts val="0"/>
              </a:spcBef>
              <a:buNone/>
            </a:pPr>
            <a:r>
              <a:rPr lang="en-US" sz="1000" dirty="0">
                <a:solidFill>
                  <a:srgbClr val="000000"/>
                </a:solidFill>
                <a:latin typeface="Consolas" panose="020B0609020204030204" pitchFamily="49" charset="0"/>
              </a:rPr>
              <a:t>       :</a:t>
            </a:r>
          </a:p>
          <a:p>
            <a:pPr marL="0" indent="0">
              <a:spcBef>
                <a:spcPts val="0"/>
              </a:spcBef>
              <a:buNone/>
            </a:pPr>
            <a:br>
              <a:rPr lang="en-US" sz="1000" dirty="0">
                <a:solidFill>
                  <a:srgbClr val="000000"/>
                </a:solidFill>
                <a:latin typeface="Consolas" panose="020B0609020204030204" pitchFamily="49" charset="0"/>
              </a:rPr>
            </a:br>
            <a:r>
              <a:rPr lang="en-US" sz="1000" dirty="0">
                <a:solidFill>
                  <a:srgbClr val="000000"/>
                </a:solidFill>
                <a:latin typeface="Consolas" panose="020B0609020204030204" pitchFamily="49" charset="0"/>
              </a:rPr>
              <a:t>  </a:t>
            </a:r>
            <a:r>
              <a:rPr lang="en-US" sz="1000" dirty="0">
                <a:solidFill>
                  <a:srgbClr val="800000"/>
                </a:solidFill>
                <a:latin typeface="Consolas" panose="020B0609020204030204" pitchFamily="49" charset="0"/>
              </a:rPr>
              <a:t>projects</a:t>
            </a:r>
            <a:r>
              <a:rPr lang="en-US" sz="1000" dirty="0">
                <a:solidFill>
                  <a:srgbClr val="000000"/>
                </a:solidFill>
                <a:latin typeface="Consolas" panose="020B0609020204030204" pitchFamily="49" charset="0"/>
              </a:rPr>
              <a:t>:</a:t>
            </a:r>
          </a:p>
          <a:p>
            <a:pPr marL="0" indent="0">
              <a:spcBef>
                <a:spcPts val="0"/>
              </a:spcBef>
              <a:buNone/>
            </a:pPr>
            <a:r>
              <a:rPr lang="en-US" sz="1000" dirty="0">
                <a:solidFill>
                  <a:srgbClr val="000000"/>
                </a:solidFill>
                <a:latin typeface="Consolas" panose="020B0609020204030204" pitchFamily="49" charset="0"/>
              </a:rPr>
              <a:t>    - </a:t>
            </a:r>
            <a:r>
              <a:rPr lang="en-US" sz="1000" dirty="0">
                <a:solidFill>
                  <a:srgbClr val="800000"/>
                </a:solidFill>
                <a:latin typeface="Consolas" panose="020B0609020204030204" pitchFamily="49" charset="0"/>
              </a:rPr>
              <a:t>project</a:t>
            </a:r>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./freefall/fxls8962_freefall.cproject.yml</a:t>
            </a:r>
            <a:endParaRPr lang="en-US" sz="1000" dirty="0">
              <a:solidFill>
                <a:srgbClr val="000000"/>
              </a:solidFill>
              <a:latin typeface="Consolas" panose="020B0609020204030204" pitchFamily="49" charset="0"/>
            </a:endParaRPr>
          </a:p>
          <a:p>
            <a:pPr marL="0" indent="0">
              <a:spcBef>
                <a:spcPts val="0"/>
              </a:spcBef>
              <a:buNone/>
            </a:pPr>
            <a:r>
              <a:rPr lang="en-US" sz="1000" dirty="0">
                <a:solidFill>
                  <a:srgbClr val="000000"/>
                </a:solidFill>
                <a:latin typeface="Consolas" panose="020B0609020204030204" pitchFamily="49" charset="0"/>
              </a:rPr>
              <a:t>    - </a:t>
            </a:r>
            <a:r>
              <a:rPr lang="en-US" sz="1000" dirty="0">
                <a:solidFill>
                  <a:srgbClr val="800000"/>
                </a:solidFill>
                <a:latin typeface="Consolas" panose="020B0609020204030204" pitchFamily="49" charset="0"/>
              </a:rPr>
              <a:t>project</a:t>
            </a:r>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a:t>
            </a:r>
            <a:r>
              <a:rPr lang="en-US" sz="1000" dirty="0" err="1">
                <a:solidFill>
                  <a:srgbClr val="0000FF"/>
                </a:solidFill>
                <a:latin typeface="Consolas" panose="020B0609020204030204" pitchFamily="49" charset="0"/>
              </a:rPr>
              <a:t>freemaster_demo</a:t>
            </a:r>
            <a:r>
              <a:rPr lang="en-US" sz="1000" dirty="0">
                <a:solidFill>
                  <a:srgbClr val="0000FF"/>
                </a:solidFill>
                <a:latin typeface="Consolas" panose="020B0609020204030204" pitchFamily="49" charset="0"/>
              </a:rPr>
              <a:t>/fxls8962_freemaster_demo.cproject.yml</a:t>
            </a:r>
            <a:endParaRPr lang="en-US" sz="1000" dirty="0">
              <a:solidFill>
                <a:srgbClr val="000000"/>
              </a:solidFill>
              <a:latin typeface="Consolas" panose="020B0609020204030204" pitchFamily="49" charset="0"/>
            </a:endParaRPr>
          </a:p>
          <a:p>
            <a:pPr marL="0" indent="0">
              <a:spcBef>
                <a:spcPts val="0"/>
              </a:spcBef>
              <a:buNone/>
            </a:pPr>
            <a:r>
              <a:rPr lang="en-US" sz="1000" dirty="0">
                <a:solidFill>
                  <a:srgbClr val="000000"/>
                </a:solidFill>
                <a:latin typeface="Consolas" panose="020B0609020204030204" pitchFamily="49" charset="0"/>
              </a:rPr>
              <a:t>    - </a:t>
            </a:r>
            <a:r>
              <a:rPr lang="en-US" sz="1000" dirty="0">
                <a:solidFill>
                  <a:srgbClr val="800000"/>
                </a:solidFill>
                <a:latin typeface="Consolas" panose="020B0609020204030204" pitchFamily="49" charset="0"/>
              </a:rPr>
              <a:t>project</a:t>
            </a:r>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./interrupt/fxls8962_interrupt.cproject.yml</a:t>
            </a:r>
            <a:endParaRPr lang="en-US" sz="1000" dirty="0">
              <a:solidFill>
                <a:srgbClr val="000000"/>
              </a:solidFill>
              <a:latin typeface="Consolas" panose="020B0609020204030204" pitchFamily="49" charset="0"/>
            </a:endParaRPr>
          </a:p>
          <a:p>
            <a:pPr marL="0" indent="0">
              <a:spcBef>
                <a:spcPts val="0"/>
              </a:spcBef>
              <a:buNone/>
            </a:pPr>
            <a:r>
              <a:rPr lang="en-US" sz="1000" dirty="0">
                <a:solidFill>
                  <a:srgbClr val="000000"/>
                </a:solidFill>
                <a:latin typeface="Consolas" panose="020B0609020204030204" pitchFamily="49" charset="0"/>
              </a:rPr>
              <a:t>    - </a:t>
            </a:r>
            <a:r>
              <a:rPr lang="en-US" sz="1000" dirty="0">
                <a:solidFill>
                  <a:srgbClr val="800000"/>
                </a:solidFill>
                <a:latin typeface="Consolas" panose="020B0609020204030204" pitchFamily="49" charset="0"/>
              </a:rPr>
              <a:t>project</a:t>
            </a:r>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./normal/fxls8962_normal.cproject.yml</a:t>
            </a:r>
            <a:endParaRPr lang="en-US" sz="1000" dirty="0">
              <a:solidFill>
                <a:srgbClr val="000000"/>
              </a:solidFill>
              <a:latin typeface="Consolas" panose="020B0609020204030204" pitchFamily="49" charset="0"/>
            </a:endParaRPr>
          </a:p>
          <a:p>
            <a:pPr marL="0" indent="0">
              <a:spcBef>
                <a:spcPts val="0"/>
              </a:spcBef>
              <a:buNone/>
            </a:pPr>
            <a:r>
              <a:rPr lang="en-US" sz="1000" dirty="0">
                <a:solidFill>
                  <a:srgbClr val="000000"/>
                </a:solidFill>
                <a:latin typeface="Consolas" panose="020B0609020204030204" pitchFamily="49" charset="0"/>
              </a:rPr>
              <a:t>    - </a:t>
            </a:r>
            <a:r>
              <a:rPr lang="en-US" sz="1000" dirty="0">
                <a:solidFill>
                  <a:srgbClr val="800000"/>
                </a:solidFill>
                <a:latin typeface="Consolas" panose="020B0609020204030204" pitchFamily="49" charset="0"/>
              </a:rPr>
              <a:t>project</a:t>
            </a:r>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a:t>
            </a:r>
            <a:r>
              <a:rPr lang="en-US" sz="1000" dirty="0" err="1">
                <a:solidFill>
                  <a:srgbClr val="0000FF"/>
                </a:solidFill>
                <a:latin typeface="Consolas" panose="020B0609020204030204" pitchFamily="49" charset="0"/>
              </a:rPr>
              <a:t>normal_spi</a:t>
            </a:r>
            <a:r>
              <a:rPr lang="en-US" sz="1000" dirty="0">
                <a:solidFill>
                  <a:srgbClr val="0000FF"/>
                </a:solidFill>
                <a:latin typeface="Consolas" panose="020B0609020204030204" pitchFamily="49" charset="0"/>
              </a:rPr>
              <a:t>/fxls8962_normal_spi.cproject.yml</a:t>
            </a:r>
            <a:br>
              <a:rPr lang="en-US" sz="700" dirty="0">
                <a:solidFill>
                  <a:srgbClr val="000000"/>
                </a:solidFill>
                <a:latin typeface="Consolas" panose="020B0609020204030204" pitchFamily="49" charset="0"/>
              </a:rPr>
            </a:br>
            <a:endParaRPr lang="en-US" sz="700" dirty="0">
              <a:solidFill>
                <a:srgbClr val="000000"/>
              </a:solidFill>
              <a:latin typeface="Consolas" panose="020B0609020204030204" pitchFamily="49" charset="0"/>
            </a:endParaRPr>
          </a:p>
          <a:p>
            <a:pPr marL="0" indent="0">
              <a:buNone/>
            </a:pPr>
            <a:endParaRPr lang="en-US" dirty="0"/>
          </a:p>
        </p:txBody>
      </p:sp>
      <p:sp>
        <p:nvSpPr>
          <p:cNvPr id="5" name="TextBox 4">
            <a:extLst>
              <a:ext uri="{FF2B5EF4-FFF2-40B4-BE49-F238E27FC236}">
                <a16:creationId xmlns:a16="http://schemas.microsoft.com/office/drawing/2014/main" id="{2453A9A4-A559-FF9C-3262-E681E1B81D9B}"/>
              </a:ext>
            </a:extLst>
          </p:cNvPr>
          <p:cNvSpPr txBox="1"/>
          <p:nvPr/>
        </p:nvSpPr>
        <p:spPr>
          <a:xfrm>
            <a:off x="5958215" y="1549490"/>
            <a:ext cx="5536504" cy="221599"/>
          </a:xfrm>
          <a:prstGeom prst="rect">
            <a:avLst/>
          </a:prstGeom>
          <a:noFill/>
        </p:spPr>
        <p:txBody>
          <a:bodyPr wrap="square" lIns="0" tIns="0" rIns="0" bIns="0" rtlCol="0">
            <a:spAutoFit/>
          </a:bodyPr>
          <a:lstStyle/>
          <a:p>
            <a:pPr defTabSz="914377">
              <a:lnSpc>
                <a:spcPct val="90000"/>
              </a:lnSpc>
              <a:spcAft>
                <a:spcPts val="600"/>
              </a:spcAft>
            </a:pPr>
            <a:r>
              <a:rPr lang="en-US" sz="1600" b="1">
                <a:solidFill>
                  <a:srgbClr val="333E48"/>
                </a:solidFill>
                <a:latin typeface="Calibri"/>
              </a:rPr>
              <a:t>Command-line workflow:</a:t>
            </a:r>
          </a:p>
        </p:txBody>
      </p:sp>
      <p:sp>
        <p:nvSpPr>
          <p:cNvPr id="6" name="TextBox 5">
            <a:extLst>
              <a:ext uri="{FF2B5EF4-FFF2-40B4-BE49-F238E27FC236}">
                <a16:creationId xmlns:a16="http://schemas.microsoft.com/office/drawing/2014/main" id="{5A35CFD5-B553-DA29-7502-5A2DBA979931}"/>
              </a:ext>
            </a:extLst>
          </p:cNvPr>
          <p:cNvSpPr txBox="1"/>
          <p:nvPr/>
        </p:nvSpPr>
        <p:spPr>
          <a:xfrm>
            <a:off x="5958216" y="1898978"/>
            <a:ext cx="5754361" cy="1298817"/>
          </a:xfrm>
          <a:prstGeom prst="rect">
            <a:avLst/>
          </a:prstGeom>
          <a:noFill/>
        </p:spPr>
        <p:txBody>
          <a:bodyPr wrap="square" lIns="0" tIns="0" rIns="0" bIns="0" rtlCol="0">
            <a:spAutoFit/>
          </a:bodyPr>
          <a:lstStyle/>
          <a:p>
            <a:pPr marL="231769" indent="-231769" defTabSz="914377">
              <a:lnSpc>
                <a:spcPct val="90000"/>
              </a:lnSpc>
              <a:spcAft>
                <a:spcPts val="600"/>
              </a:spcAft>
              <a:buFont typeface="+mj-lt"/>
              <a:buAutoNum type="arabicPeriod"/>
            </a:pPr>
            <a:r>
              <a:rPr lang="en-US" sz="1100" dirty="0">
                <a:solidFill>
                  <a:srgbClr val="333E48"/>
                </a:solidFill>
                <a:latin typeface="Calibri"/>
              </a:rPr>
              <a:t>User enters target type and specifies board in `</a:t>
            </a:r>
            <a:r>
              <a:rPr lang="en-US" sz="1100" dirty="0" err="1">
                <a:solidFill>
                  <a:srgbClr val="333E48"/>
                </a:solidFill>
                <a:latin typeface="Calibri"/>
              </a:rPr>
              <a:t>csolution.yml</a:t>
            </a:r>
            <a:r>
              <a:rPr lang="en-US" sz="1100" dirty="0">
                <a:solidFill>
                  <a:srgbClr val="333E48"/>
                </a:solidFill>
                <a:latin typeface="Calibri"/>
              </a:rPr>
              <a:t>`</a:t>
            </a:r>
          </a:p>
          <a:p>
            <a:pPr marL="231769" indent="-231769" defTabSz="914377">
              <a:lnSpc>
                <a:spcPct val="90000"/>
              </a:lnSpc>
              <a:spcAft>
                <a:spcPts val="600"/>
              </a:spcAft>
              <a:buFont typeface="+mj-lt"/>
              <a:buAutoNum type="arabicPeriod"/>
            </a:pPr>
            <a:r>
              <a:rPr lang="en-US" sz="1100" dirty="0">
                <a:solidFill>
                  <a:srgbClr val="333E48"/>
                </a:solidFill>
                <a:latin typeface="Calibri"/>
              </a:rPr>
              <a:t>User runs `</a:t>
            </a:r>
            <a:r>
              <a:rPr lang="en-US" sz="1100" dirty="0" err="1">
                <a:solidFill>
                  <a:srgbClr val="333E48"/>
                </a:solidFill>
                <a:latin typeface="Calibri"/>
              </a:rPr>
              <a:t>cbuild</a:t>
            </a:r>
            <a:r>
              <a:rPr lang="en-US" sz="1100" dirty="0">
                <a:solidFill>
                  <a:srgbClr val="333E48"/>
                </a:solidFill>
                <a:latin typeface="Calibri"/>
              </a:rPr>
              <a:t> setup` command, this generates `</a:t>
            </a:r>
            <a:r>
              <a:rPr lang="en-US" sz="1100" dirty="0" err="1">
                <a:solidFill>
                  <a:srgbClr val="333E48"/>
                </a:solidFill>
                <a:latin typeface="Calibri"/>
              </a:rPr>
              <a:t>cbuild-idx.yml</a:t>
            </a:r>
            <a:r>
              <a:rPr lang="en-US" sz="1100" dirty="0">
                <a:solidFill>
                  <a:srgbClr val="333E48"/>
                </a:solidFill>
                <a:latin typeface="Calibri"/>
              </a:rPr>
              <a:t>` with variable settings</a:t>
            </a:r>
          </a:p>
          <a:p>
            <a:pPr marL="688957" lvl="1" indent="-231769" defTabSz="914377">
              <a:lnSpc>
                <a:spcPct val="90000"/>
              </a:lnSpc>
              <a:spcAft>
                <a:spcPts val="600"/>
              </a:spcAft>
              <a:buFont typeface="Arial" panose="020B0604020202020204" pitchFamily="34" charset="0"/>
              <a:buChar char="•"/>
            </a:pPr>
            <a:r>
              <a:rPr lang="en-US" sz="1100" dirty="0">
                <a:solidFill>
                  <a:srgbClr val="333E48"/>
                </a:solidFill>
                <a:latin typeface="Calibri"/>
              </a:rPr>
              <a:t>This command installs a potential missing BSP and DFP pack</a:t>
            </a:r>
          </a:p>
          <a:p>
            <a:pPr marL="688957" lvl="1" indent="-231769" defTabSz="914377">
              <a:lnSpc>
                <a:spcPct val="90000"/>
              </a:lnSpc>
              <a:spcAft>
                <a:spcPts val="600"/>
              </a:spcAft>
              <a:buFont typeface="Arial" panose="020B0604020202020204" pitchFamily="34" charset="0"/>
              <a:buChar char="•"/>
            </a:pPr>
            <a:r>
              <a:rPr lang="en-US" sz="1100" dirty="0">
                <a:solidFill>
                  <a:srgbClr val="333E48"/>
                </a:solidFill>
                <a:latin typeface="Calibri"/>
              </a:rPr>
              <a:t>It delivers one or more potential configurations with variable settings</a:t>
            </a:r>
          </a:p>
          <a:p>
            <a:pPr marL="231769" indent="-231769" defTabSz="914377">
              <a:lnSpc>
                <a:spcPct val="90000"/>
              </a:lnSpc>
              <a:spcAft>
                <a:spcPts val="600"/>
              </a:spcAft>
              <a:buFont typeface="+mj-lt"/>
              <a:buAutoNum type="arabicPeriod"/>
            </a:pPr>
            <a:r>
              <a:rPr lang="en-US" sz="1100" dirty="0">
                <a:solidFill>
                  <a:srgbClr val="333E48"/>
                </a:solidFill>
                <a:latin typeface="Calibri"/>
              </a:rPr>
              <a:t>User selects on configuration and copies variable settings in `</a:t>
            </a:r>
            <a:r>
              <a:rPr lang="en-US" sz="1100" dirty="0" err="1">
                <a:solidFill>
                  <a:srgbClr val="333E48"/>
                </a:solidFill>
                <a:latin typeface="Calibri"/>
              </a:rPr>
              <a:t>csolution.yml</a:t>
            </a:r>
            <a:r>
              <a:rPr lang="en-US" sz="1100" dirty="0">
                <a:solidFill>
                  <a:srgbClr val="333E48"/>
                </a:solidFill>
                <a:latin typeface="Calibri"/>
              </a:rPr>
              <a:t>` which adds the layers</a:t>
            </a:r>
          </a:p>
          <a:p>
            <a:pPr marL="688957" lvl="1" indent="-231769" defTabSz="914377">
              <a:lnSpc>
                <a:spcPct val="90000"/>
              </a:lnSpc>
              <a:spcAft>
                <a:spcPts val="600"/>
              </a:spcAft>
              <a:buFont typeface="Arial" panose="020B0604020202020204" pitchFamily="34" charset="0"/>
              <a:buChar char="•"/>
            </a:pPr>
            <a:r>
              <a:rPr lang="en-US" sz="1100" dirty="0">
                <a:solidFill>
                  <a:srgbClr val="333E48"/>
                </a:solidFill>
                <a:latin typeface="Calibri"/>
              </a:rPr>
              <a:t>Note: layers are not copied in this scenario and may be taken from pack location</a:t>
            </a:r>
          </a:p>
        </p:txBody>
      </p:sp>
      <p:sp>
        <p:nvSpPr>
          <p:cNvPr id="7" name="TextBox 6">
            <a:extLst>
              <a:ext uri="{FF2B5EF4-FFF2-40B4-BE49-F238E27FC236}">
                <a16:creationId xmlns:a16="http://schemas.microsoft.com/office/drawing/2014/main" id="{588B34AB-A6CA-677A-CDEE-AE2F1F28958A}"/>
              </a:ext>
            </a:extLst>
          </p:cNvPr>
          <p:cNvSpPr txBox="1"/>
          <p:nvPr/>
        </p:nvSpPr>
        <p:spPr>
          <a:xfrm>
            <a:off x="5958215" y="3661153"/>
            <a:ext cx="5536504" cy="520142"/>
          </a:xfrm>
          <a:prstGeom prst="rect">
            <a:avLst/>
          </a:prstGeom>
          <a:noFill/>
        </p:spPr>
        <p:txBody>
          <a:bodyPr wrap="square" lIns="0" tIns="0" rIns="0" bIns="0" rtlCol="0">
            <a:spAutoFit/>
          </a:bodyPr>
          <a:lstStyle/>
          <a:p>
            <a:pPr defTabSz="914377">
              <a:lnSpc>
                <a:spcPct val="90000"/>
              </a:lnSpc>
              <a:spcAft>
                <a:spcPts val="600"/>
              </a:spcAft>
            </a:pPr>
            <a:r>
              <a:rPr lang="en-US" sz="1600" b="1">
                <a:solidFill>
                  <a:srgbClr val="333E48"/>
                </a:solidFill>
                <a:latin typeface="Calibri"/>
              </a:rPr>
              <a:t>IDE workflow:</a:t>
            </a:r>
          </a:p>
          <a:p>
            <a:pPr defTabSz="914377">
              <a:lnSpc>
                <a:spcPct val="90000"/>
              </a:lnSpc>
              <a:spcAft>
                <a:spcPts val="600"/>
              </a:spcAft>
            </a:pPr>
            <a:endParaRPr lang="en-US" sz="1600" b="1">
              <a:solidFill>
                <a:srgbClr val="333E48"/>
              </a:solidFill>
              <a:latin typeface="Calibri"/>
            </a:endParaRPr>
          </a:p>
        </p:txBody>
      </p:sp>
      <p:sp>
        <p:nvSpPr>
          <p:cNvPr id="8" name="TextBox 7">
            <a:extLst>
              <a:ext uri="{FF2B5EF4-FFF2-40B4-BE49-F238E27FC236}">
                <a16:creationId xmlns:a16="http://schemas.microsoft.com/office/drawing/2014/main" id="{96B87080-6E34-C7DA-686F-BE4EA5E0E7A4}"/>
              </a:ext>
            </a:extLst>
          </p:cNvPr>
          <p:cNvSpPr txBox="1"/>
          <p:nvPr/>
        </p:nvSpPr>
        <p:spPr>
          <a:xfrm>
            <a:off x="5958216" y="3946854"/>
            <a:ext cx="5754361" cy="1986698"/>
          </a:xfrm>
          <a:prstGeom prst="rect">
            <a:avLst/>
          </a:prstGeom>
          <a:noFill/>
        </p:spPr>
        <p:txBody>
          <a:bodyPr wrap="square" lIns="0" tIns="0" rIns="0" bIns="0" rtlCol="0">
            <a:spAutoFit/>
          </a:bodyPr>
          <a:lstStyle/>
          <a:p>
            <a:pPr marL="231769" indent="-231769" defTabSz="914377">
              <a:lnSpc>
                <a:spcPct val="90000"/>
              </a:lnSpc>
              <a:spcAft>
                <a:spcPts val="600"/>
              </a:spcAft>
              <a:buFont typeface="+mj-lt"/>
              <a:buAutoNum type="arabicPeriod"/>
            </a:pPr>
            <a:r>
              <a:rPr lang="en-US" sz="1100" b="1">
                <a:solidFill>
                  <a:srgbClr val="333E48"/>
                </a:solidFill>
                <a:latin typeface="Calibri"/>
              </a:rPr>
              <a:t>User selects a reference example and specifies a board</a:t>
            </a:r>
          </a:p>
          <a:p>
            <a:pPr marL="231769" indent="-231769" defTabSz="914377">
              <a:lnSpc>
                <a:spcPct val="90000"/>
              </a:lnSpc>
              <a:spcAft>
                <a:spcPts val="600"/>
              </a:spcAft>
              <a:buFont typeface="+mj-lt"/>
              <a:buAutoNum type="arabicPeriod"/>
            </a:pPr>
            <a:r>
              <a:rPr lang="en-US" sz="1100">
                <a:solidFill>
                  <a:srgbClr val="333E48"/>
                </a:solidFill>
                <a:latin typeface="Calibri"/>
              </a:rPr>
              <a:t>IDE runs `</a:t>
            </a:r>
            <a:r>
              <a:rPr lang="en-US" sz="1100" err="1">
                <a:solidFill>
                  <a:srgbClr val="333E48"/>
                </a:solidFill>
                <a:latin typeface="Calibri"/>
              </a:rPr>
              <a:t>cbuild</a:t>
            </a:r>
            <a:r>
              <a:rPr lang="en-US" sz="1100">
                <a:solidFill>
                  <a:srgbClr val="333E48"/>
                </a:solidFill>
                <a:latin typeface="Calibri"/>
              </a:rPr>
              <a:t> setup` command, this generates `</a:t>
            </a:r>
            <a:r>
              <a:rPr lang="en-US" sz="1100" err="1">
                <a:solidFill>
                  <a:srgbClr val="333E48"/>
                </a:solidFill>
                <a:latin typeface="Calibri"/>
              </a:rPr>
              <a:t>cbuild-idx.yml</a:t>
            </a:r>
            <a:r>
              <a:rPr lang="en-US" sz="1100">
                <a:solidFill>
                  <a:srgbClr val="333E48"/>
                </a:solidFill>
                <a:latin typeface="Calibri"/>
              </a:rPr>
              <a:t>` with variable settings</a:t>
            </a:r>
          </a:p>
          <a:p>
            <a:pPr marL="688957" lvl="1" indent="-231769" defTabSz="914377">
              <a:lnSpc>
                <a:spcPct val="90000"/>
              </a:lnSpc>
              <a:spcAft>
                <a:spcPts val="600"/>
              </a:spcAft>
              <a:buFont typeface="Arial" panose="020B0604020202020204" pitchFamily="34" charset="0"/>
              <a:buChar char="•"/>
            </a:pPr>
            <a:r>
              <a:rPr lang="en-US" sz="1100">
                <a:solidFill>
                  <a:srgbClr val="333E48"/>
                </a:solidFill>
                <a:latin typeface="Calibri"/>
              </a:rPr>
              <a:t>This command installs a potential missing BSP and DFP pack</a:t>
            </a:r>
          </a:p>
          <a:p>
            <a:pPr marL="688957" lvl="1" indent="-231769" defTabSz="914377">
              <a:lnSpc>
                <a:spcPct val="90000"/>
              </a:lnSpc>
              <a:spcAft>
                <a:spcPts val="600"/>
              </a:spcAft>
              <a:buFont typeface="Arial" panose="020B0604020202020204" pitchFamily="34" charset="0"/>
              <a:buChar char="•"/>
            </a:pPr>
            <a:r>
              <a:rPr lang="en-US" sz="1100">
                <a:solidFill>
                  <a:srgbClr val="333E48"/>
                </a:solidFill>
                <a:latin typeface="Calibri"/>
              </a:rPr>
              <a:t>IDE shows one or more potential configurations</a:t>
            </a:r>
          </a:p>
          <a:p>
            <a:pPr marL="231769" indent="-231769" defTabSz="914377">
              <a:lnSpc>
                <a:spcPct val="90000"/>
              </a:lnSpc>
              <a:spcAft>
                <a:spcPts val="600"/>
              </a:spcAft>
              <a:buFont typeface="+mj-lt"/>
              <a:buAutoNum type="arabicPeriod"/>
            </a:pPr>
            <a:r>
              <a:rPr lang="en-US" sz="1100" b="1">
                <a:solidFill>
                  <a:srgbClr val="333E48"/>
                </a:solidFill>
                <a:latin typeface="Calibri"/>
              </a:rPr>
              <a:t>User selects a configuration</a:t>
            </a:r>
          </a:p>
          <a:p>
            <a:pPr marL="231769" indent="-231769" defTabSz="914377">
              <a:lnSpc>
                <a:spcPct val="90000"/>
              </a:lnSpc>
              <a:spcAft>
                <a:spcPts val="600"/>
              </a:spcAft>
              <a:buFont typeface="+mj-lt"/>
              <a:buAutoNum type="arabicPeriod"/>
            </a:pPr>
            <a:r>
              <a:rPr lang="en-US" sz="1100">
                <a:solidFill>
                  <a:srgbClr val="333E48"/>
                </a:solidFill>
                <a:latin typeface="Calibri"/>
              </a:rPr>
              <a:t>IDE copies variable settings from `</a:t>
            </a:r>
            <a:r>
              <a:rPr lang="en-US" sz="1100" err="1">
                <a:solidFill>
                  <a:srgbClr val="333E48"/>
                </a:solidFill>
                <a:latin typeface="Calibri"/>
              </a:rPr>
              <a:t>cbuild-idx.yml</a:t>
            </a:r>
            <a:r>
              <a:rPr lang="en-US" sz="1100">
                <a:solidFill>
                  <a:srgbClr val="333E48"/>
                </a:solidFill>
                <a:latin typeface="Calibri"/>
              </a:rPr>
              <a:t>` to `</a:t>
            </a:r>
            <a:r>
              <a:rPr lang="en-US" sz="1100" err="1">
                <a:solidFill>
                  <a:srgbClr val="333E48"/>
                </a:solidFill>
                <a:latin typeface="Calibri"/>
              </a:rPr>
              <a:t>csolution.yml</a:t>
            </a:r>
            <a:r>
              <a:rPr lang="en-US" sz="1100">
                <a:solidFill>
                  <a:srgbClr val="333E48"/>
                </a:solidFill>
                <a:latin typeface="Calibri"/>
              </a:rPr>
              <a:t>` which adds the layers</a:t>
            </a:r>
          </a:p>
          <a:p>
            <a:pPr marL="688957" lvl="1" indent="-231769" defTabSz="914377">
              <a:lnSpc>
                <a:spcPct val="90000"/>
              </a:lnSpc>
              <a:spcAft>
                <a:spcPts val="600"/>
              </a:spcAft>
              <a:buFont typeface="Arial" panose="020B0604020202020204" pitchFamily="34" charset="0"/>
              <a:buChar char="•"/>
            </a:pPr>
            <a:r>
              <a:rPr lang="en-US" sz="1100">
                <a:solidFill>
                  <a:srgbClr val="333E48"/>
                </a:solidFill>
                <a:latin typeface="Calibri"/>
              </a:rPr>
              <a:t>Note: layers may be copied to </a:t>
            </a:r>
            <a:r>
              <a:rPr lang="en-US" sz="1100" err="1">
                <a:solidFill>
                  <a:srgbClr val="333E48"/>
                </a:solidFill>
                <a:latin typeface="Calibri"/>
              </a:rPr>
              <a:t>csolution</a:t>
            </a:r>
            <a:r>
              <a:rPr lang="en-US" sz="1100">
                <a:solidFill>
                  <a:srgbClr val="333E48"/>
                </a:solidFill>
                <a:latin typeface="Calibri"/>
              </a:rPr>
              <a:t> workspace and paths adjusted</a:t>
            </a:r>
          </a:p>
          <a:p>
            <a:pPr marL="231769" indent="-231769" defTabSz="914377">
              <a:lnSpc>
                <a:spcPct val="90000"/>
              </a:lnSpc>
              <a:spcAft>
                <a:spcPts val="600"/>
              </a:spcAft>
              <a:buFont typeface="+mj-lt"/>
              <a:buAutoNum type="arabicPeriod"/>
            </a:pPr>
            <a:r>
              <a:rPr lang="en-US" sz="1100">
                <a:solidFill>
                  <a:srgbClr val="333E48"/>
                </a:solidFill>
                <a:latin typeface="Calibri"/>
              </a:rPr>
              <a:t>IDE runs again `</a:t>
            </a:r>
            <a:r>
              <a:rPr lang="en-US" sz="1100" err="1">
                <a:solidFill>
                  <a:srgbClr val="333E48"/>
                </a:solidFill>
                <a:latin typeface="Calibri"/>
              </a:rPr>
              <a:t>cbuild</a:t>
            </a:r>
            <a:r>
              <a:rPr lang="en-US" sz="1100">
                <a:solidFill>
                  <a:srgbClr val="333E48"/>
                </a:solidFill>
                <a:latin typeface="Calibri"/>
              </a:rPr>
              <a:t> setup` command which completes the example configuration</a:t>
            </a:r>
          </a:p>
          <a:p>
            <a:pPr marL="688957" lvl="1" indent="-231769" defTabSz="914377">
              <a:lnSpc>
                <a:spcPct val="90000"/>
              </a:lnSpc>
              <a:spcAft>
                <a:spcPts val="600"/>
              </a:spcAft>
              <a:buFont typeface="Arial" panose="020B0604020202020204" pitchFamily="34" charset="0"/>
              <a:buChar char="•"/>
            </a:pPr>
            <a:r>
              <a:rPr lang="en-US" sz="1100">
                <a:solidFill>
                  <a:srgbClr val="333E48"/>
                </a:solidFill>
                <a:latin typeface="Calibri"/>
              </a:rPr>
              <a:t>IDE shows the `settings` required for the example </a:t>
            </a:r>
          </a:p>
        </p:txBody>
      </p:sp>
    </p:spTree>
    <p:extLst>
      <p:ext uri="{BB962C8B-B14F-4D97-AF65-F5344CB8AC3E}">
        <p14:creationId xmlns:p14="http://schemas.microsoft.com/office/powerpoint/2010/main" val="20322702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CD473-7CB2-8480-C302-4C6EF3DF1AB2}"/>
              </a:ext>
            </a:extLst>
          </p:cNvPr>
          <p:cNvSpPr>
            <a:spLocks noGrp="1"/>
          </p:cNvSpPr>
          <p:nvPr>
            <p:ph type="title"/>
          </p:nvPr>
        </p:nvSpPr>
        <p:spPr/>
        <p:txBody>
          <a:bodyPr/>
          <a:lstStyle/>
          <a:p>
            <a:r>
              <a:rPr lang="en-US" err="1"/>
              <a:t>cbuild-idx.yml</a:t>
            </a:r>
            <a:r>
              <a:rPr lang="en-US"/>
              <a:t> – variable settings</a:t>
            </a:r>
          </a:p>
        </p:txBody>
      </p:sp>
      <p:sp>
        <p:nvSpPr>
          <p:cNvPr id="3" name="Text Placeholder 2">
            <a:extLst>
              <a:ext uri="{FF2B5EF4-FFF2-40B4-BE49-F238E27FC236}">
                <a16:creationId xmlns:a16="http://schemas.microsoft.com/office/drawing/2014/main" id="{DDB7AFE4-9224-B6CE-E0A8-B8FDF79AAD6F}"/>
              </a:ext>
            </a:extLst>
          </p:cNvPr>
          <p:cNvSpPr>
            <a:spLocks noGrp="1"/>
          </p:cNvSpPr>
          <p:nvPr>
            <p:ph type="body" sz="quarter" idx="13"/>
          </p:nvPr>
        </p:nvSpPr>
        <p:spPr/>
        <p:txBody>
          <a:bodyPr/>
          <a:lstStyle/>
          <a:p>
            <a:r>
              <a:rPr lang="en-US"/>
              <a:t>Potential content of </a:t>
            </a:r>
            <a:r>
              <a:rPr lang="en-US" err="1"/>
              <a:t>cbuild-idx.yml</a:t>
            </a:r>
            <a:r>
              <a:rPr lang="en-US"/>
              <a:t> for user configuration</a:t>
            </a:r>
          </a:p>
        </p:txBody>
      </p:sp>
      <p:sp>
        <p:nvSpPr>
          <p:cNvPr id="4" name="Content Placeholder 3">
            <a:extLst>
              <a:ext uri="{FF2B5EF4-FFF2-40B4-BE49-F238E27FC236}">
                <a16:creationId xmlns:a16="http://schemas.microsoft.com/office/drawing/2014/main" id="{8585AA68-0221-F984-BB06-06F05A3483C5}"/>
              </a:ext>
            </a:extLst>
          </p:cNvPr>
          <p:cNvSpPr>
            <a:spLocks noGrp="1"/>
          </p:cNvSpPr>
          <p:nvPr>
            <p:ph idx="1"/>
          </p:nvPr>
        </p:nvSpPr>
        <p:spPr>
          <a:xfrm>
            <a:off x="479427" y="1554491"/>
            <a:ext cx="7948536" cy="3854501"/>
          </a:xfrm>
          <a:solidFill>
            <a:schemeClr val="bg1">
              <a:lumMod val="95000"/>
            </a:schemeClr>
          </a:solidFill>
        </p:spPr>
        <p:txBody>
          <a:bodyPr/>
          <a:lstStyle/>
          <a:p>
            <a:pPr marL="0" indent="0">
              <a:spcBef>
                <a:spcPts val="0"/>
              </a:spcBef>
              <a:buNone/>
            </a:pPr>
            <a:r>
              <a:rPr lang="en-US" sz="1333">
                <a:solidFill>
                  <a:srgbClr val="800000"/>
                </a:solidFill>
                <a:latin typeface="Consolas" panose="020B0609020204030204" pitchFamily="49" charset="0"/>
              </a:rPr>
              <a:t>build-</a:t>
            </a:r>
            <a:r>
              <a:rPr lang="en-US" sz="1333" err="1">
                <a:solidFill>
                  <a:srgbClr val="800000"/>
                </a:solidFill>
                <a:latin typeface="Consolas" panose="020B0609020204030204" pitchFamily="49" charset="0"/>
              </a:rPr>
              <a:t>idx</a:t>
            </a:r>
            <a:r>
              <a:rPr lang="en-US" sz="1333">
                <a:solidFill>
                  <a:srgbClr val="000000"/>
                </a:solidFill>
                <a:latin typeface="Consolas" panose="020B0609020204030204" pitchFamily="49" charset="0"/>
              </a:rPr>
              <a:t>:</a:t>
            </a:r>
          </a:p>
          <a:p>
            <a:pPr marL="0" indent="0">
              <a:spcBef>
                <a:spcPts val="0"/>
              </a:spcBef>
              <a:buNone/>
            </a:pPr>
            <a:r>
              <a:rPr lang="en-US" sz="1333">
                <a:solidFill>
                  <a:srgbClr val="000000"/>
                </a:solidFill>
                <a:latin typeface="Consolas" panose="020B0609020204030204" pitchFamily="49" charset="0"/>
              </a:rPr>
              <a:t>  </a:t>
            </a:r>
            <a:r>
              <a:rPr lang="en-US" sz="1333">
                <a:solidFill>
                  <a:srgbClr val="800000"/>
                </a:solidFill>
                <a:latin typeface="Consolas" panose="020B0609020204030204" pitchFamily="49" charset="0"/>
              </a:rPr>
              <a:t>generated-by</a:t>
            </a:r>
            <a:r>
              <a:rPr lang="en-US" sz="1333">
                <a:solidFill>
                  <a:srgbClr val="000000"/>
                </a:solidFill>
                <a:latin typeface="Consolas" panose="020B0609020204030204" pitchFamily="49" charset="0"/>
              </a:rPr>
              <a:t>: </a:t>
            </a:r>
            <a:r>
              <a:rPr lang="en-US" sz="1333" err="1">
                <a:solidFill>
                  <a:srgbClr val="0000FF"/>
                </a:solidFill>
                <a:latin typeface="Consolas" panose="020B0609020204030204" pitchFamily="49" charset="0"/>
              </a:rPr>
              <a:t>csolution</a:t>
            </a:r>
            <a:r>
              <a:rPr lang="en-US" sz="1333">
                <a:solidFill>
                  <a:srgbClr val="0000FF"/>
                </a:solidFill>
                <a:latin typeface="Consolas" panose="020B0609020204030204" pitchFamily="49" charset="0"/>
              </a:rPr>
              <a:t> version 2.4.0</a:t>
            </a:r>
            <a:endParaRPr lang="en-US" sz="1333">
              <a:solidFill>
                <a:srgbClr val="000000"/>
              </a:solidFill>
              <a:latin typeface="Consolas" panose="020B0609020204030204" pitchFamily="49" charset="0"/>
            </a:endParaRPr>
          </a:p>
          <a:p>
            <a:pPr marL="0" indent="0">
              <a:spcBef>
                <a:spcPts val="0"/>
              </a:spcBef>
              <a:buNone/>
            </a:pPr>
            <a:r>
              <a:rPr lang="en-US" sz="1333">
                <a:solidFill>
                  <a:srgbClr val="000000"/>
                </a:solidFill>
                <a:latin typeface="Consolas" panose="020B0609020204030204" pitchFamily="49" charset="0"/>
              </a:rPr>
              <a:t>  </a:t>
            </a:r>
            <a:r>
              <a:rPr lang="en-US" sz="1333" err="1">
                <a:solidFill>
                  <a:srgbClr val="800000"/>
                </a:solidFill>
                <a:latin typeface="Consolas" panose="020B0609020204030204" pitchFamily="49" charset="0"/>
              </a:rPr>
              <a:t>cdefault</a:t>
            </a:r>
            <a:r>
              <a:rPr lang="en-US" sz="1333">
                <a:solidFill>
                  <a:srgbClr val="000000"/>
                </a:solidFill>
                <a:latin typeface="Consolas" panose="020B0609020204030204" pitchFamily="49" charset="0"/>
              </a:rPr>
              <a:t>: </a:t>
            </a:r>
            <a:r>
              <a:rPr lang="en-US" sz="1333" err="1">
                <a:solidFill>
                  <a:srgbClr val="0000FF"/>
                </a:solidFill>
                <a:latin typeface="Consolas" panose="020B0609020204030204" pitchFamily="49" charset="0"/>
              </a:rPr>
              <a:t>cdefault.yml</a:t>
            </a:r>
            <a:endParaRPr lang="en-US" sz="1333">
              <a:solidFill>
                <a:srgbClr val="000000"/>
              </a:solidFill>
              <a:latin typeface="Consolas" panose="020B0609020204030204" pitchFamily="49" charset="0"/>
            </a:endParaRPr>
          </a:p>
          <a:p>
            <a:pPr marL="0" indent="0">
              <a:spcBef>
                <a:spcPts val="0"/>
              </a:spcBef>
              <a:buNone/>
            </a:pPr>
            <a:r>
              <a:rPr lang="en-US" sz="1333">
                <a:solidFill>
                  <a:srgbClr val="000000"/>
                </a:solidFill>
                <a:latin typeface="Consolas" panose="020B0609020204030204" pitchFamily="49" charset="0"/>
              </a:rPr>
              <a:t>  </a:t>
            </a:r>
            <a:r>
              <a:rPr lang="en-US" sz="1333" err="1">
                <a:solidFill>
                  <a:srgbClr val="800000"/>
                </a:solidFill>
                <a:latin typeface="Consolas" panose="020B0609020204030204" pitchFamily="49" charset="0"/>
              </a:rPr>
              <a:t>csolution</a:t>
            </a:r>
            <a:r>
              <a:rPr lang="en-US" sz="1333">
                <a:solidFill>
                  <a:srgbClr val="000000"/>
                </a:solidFill>
                <a:latin typeface="Consolas" panose="020B0609020204030204" pitchFamily="49" charset="0"/>
              </a:rPr>
              <a:t>: </a:t>
            </a:r>
            <a:r>
              <a:rPr lang="en-US" sz="1333">
                <a:solidFill>
                  <a:srgbClr val="0000FF"/>
                </a:solidFill>
                <a:latin typeface="Consolas" panose="020B0609020204030204" pitchFamily="49" charset="0"/>
              </a:rPr>
              <a:t>fxls8962.csolution.yml</a:t>
            </a:r>
          </a:p>
          <a:p>
            <a:pPr marL="0" indent="0">
              <a:spcBef>
                <a:spcPts val="0"/>
              </a:spcBef>
              <a:buNone/>
            </a:pPr>
            <a:r>
              <a:rPr lang="en-US" sz="1333">
                <a:solidFill>
                  <a:srgbClr val="0000FF"/>
                </a:solidFill>
                <a:latin typeface="Consolas" panose="020B0609020204030204" pitchFamily="49" charset="0"/>
              </a:rPr>
              <a:t>  configurations:</a:t>
            </a:r>
          </a:p>
          <a:p>
            <a:pPr marL="0" indent="0">
              <a:spcBef>
                <a:spcPts val="0"/>
              </a:spcBef>
              <a:buNone/>
            </a:pPr>
            <a:r>
              <a:rPr lang="en-US" sz="1333">
                <a:solidFill>
                  <a:srgbClr val="0000FF"/>
                </a:solidFill>
                <a:latin typeface="Consolas" panose="020B0609020204030204" pitchFamily="49" charset="0"/>
              </a:rPr>
              <a:t>    - configuration:</a:t>
            </a:r>
          </a:p>
          <a:p>
            <a:pPr marL="0" indent="0">
              <a:spcBef>
                <a:spcPts val="0"/>
              </a:spcBef>
              <a:buNone/>
            </a:pPr>
            <a:r>
              <a:rPr lang="en-US" sz="1333">
                <a:solidFill>
                  <a:srgbClr val="0000FF"/>
                </a:solidFill>
                <a:latin typeface="Consolas" panose="020B0609020204030204" pitchFamily="49" charset="0"/>
              </a:rPr>
              <a:t>      variables:</a:t>
            </a:r>
          </a:p>
          <a:p>
            <a:pPr marL="0" indent="0">
              <a:spcBef>
                <a:spcPts val="0"/>
              </a:spcBef>
              <a:buNone/>
            </a:pPr>
            <a:r>
              <a:rPr lang="en-US" sz="1333">
                <a:solidFill>
                  <a:srgbClr val="008000"/>
                </a:solidFill>
                <a:latin typeface="Consolas" panose="020B0609020204030204" pitchFamily="49" charset="0"/>
              </a:rPr>
              <a:t>        - Board-Layer:  ./layer/board/frdmk22f/frdmk22f.clayer.yml</a:t>
            </a:r>
          </a:p>
          <a:p>
            <a:pPr marL="0" indent="0">
              <a:spcBef>
                <a:spcPts val="0"/>
              </a:spcBef>
              <a:buNone/>
            </a:pPr>
            <a:r>
              <a:rPr lang="en-US" sz="1333">
                <a:solidFill>
                  <a:srgbClr val="008000"/>
                </a:solidFill>
                <a:latin typeface="Consolas" panose="020B0609020204030204" pitchFamily="49" charset="0"/>
              </a:rPr>
              <a:t>        - Shield-Layer: ./layer/shield/agmp03/agmp03.clayer.yml</a:t>
            </a:r>
          </a:p>
          <a:p>
            <a:pPr marL="0" indent="0">
              <a:spcBef>
                <a:spcPts val="0"/>
              </a:spcBef>
              <a:buNone/>
            </a:pPr>
            <a:r>
              <a:rPr lang="en-US" sz="1333">
                <a:solidFill>
                  <a:srgbClr val="008000"/>
                </a:solidFill>
                <a:latin typeface="Consolas" panose="020B0609020204030204" pitchFamily="49" charset="0"/>
              </a:rPr>
              <a:t>      settings:</a:t>
            </a:r>
            <a:br>
              <a:rPr lang="en-US" sz="1333">
                <a:solidFill>
                  <a:srgbClr val="008000"/>
                </a:solidFill>
                <a:latin typeface="Consolas" panose="020B0609020204030204" pitchFamily="49" charset="0"/>
              </a:rPr>
            </a:br>
            <a:r>
              <a:rPr lang="en-US" sz="1333">
                <a:solidFill>
                  <a:srgbClr val="008000"/>
                </a:solidFill>
                <a:latin typeface="Consolas" panose="020B0609020204030204" pitchFamily="49" charset="0"/>
              </a:rPr>
              <a:t>       </a:t>
            </a:r>
            <a:r>
              <a:rPr lang="en-US" sz="1333">
                <a:solidFill>
                  <a:srgbClr val="0000FF"/>
                </a:solidFill>
                <a:latin typeface="Consolas" panose="020B0609020204030204" pitchFamily="49" charset="0"/>
              </a:rPr>
              <a:t> - Board-Layer:</a:t>
            </a:r>
          </a:p>
          <a:p>
            <a:pPr marL="0" indent="0">
              <a:spcBef>
                <a:spcPts val="0"/>
              </a:spcBef>
              <a:buNone/>
            </a:pPr>
            <a:r>
              <a:rPr lang="en-US" sz="1333">
                <a:solidFill>
                  <a:srgbClr val="0000FF"/>
                </a:solidFill>
                <a:latin typeface="Consolas" panose="020B0609020204030204" pitchFamily="49" charset="0"/>
              </a:rPr>
              <a:t>          - set: </a:t>
            </a:r>
            <a:r>
              <a:rPr lang="en-US" sz="1333" err="1">
                <a:solidFill>
                  <a:srgbClr val="0000FF"/>
                </a:solidFill>
                <a:latin typeface="Consolas" panose="020B0609020204030204" pitchFamily="49" charset="0"/>
              </a:rPr>
              <a:t>Bus.SPI</a:t>
            </a:r>
            <a:r>
              <a:rPr lang="en-US" sz="1333">
                <a:solidFill>
                  <a:srgbClr val="0000FF"/>
                </a:solidFill>
                <a:latin typeface="Consolas" panose="020B0609020204030204" pitchFamily="49" charset="0"/>
              </a:rPr>
              <a:t> (FXLS8962 SPI Bus - Jumper configuration: I2C/SPI=SPI)</a:t>
            </a:r>
          </a:p>
          <a:p>
            <a:pPr marL="0" indent="0">
              <a:spcBef>
                <a:spcPts val="0"/>
              </a:spcBef>
              <a:buNone/>
            </a:pPr>
            <a:r>
              <a:rPr lang="en-US" sz="1333">
                <a:solidFill>
                  <a:srgbClr val="0000FF"/>
                </a:solidFill>
                <a:latin typeface="Consolas" panose="020B0609020204030204" pitchFamily="49" charset="0"/>
              </a:rPr>
              <a:t>          - set: </a:t>
            </a:r>
            <a:r>
              <a:rPr lang="en-US" sz="1333" err="1">
                <a:solidFill>
                  <a:srgbClr val="0000FF"/>
                </a:solidFill>
                <a:latin typeface="Consolas" panose="020B0609020204030204" pitchFamily="49" charset="0"/>
              </a:rPr>
              <a:t>Bus.SPI</a:t>
            </a:r>
            <a:r>
              <a:rPr lang="en-US" sz="1333">
                <a:solidFill>
                  <a:srgbClr val="0000FF"/>
                </a:solidFill>
                <a:latin typeface="Consolas" panose="020B0609020204030204" pitchFamily="49" charset="0"/>
              </a:rPr>
              <a:t> (FXAS21002 SPI Bus - Jumper configuration: I2C/SPI=SPI)</a:t>
            </a:r>
            <a:endParaRPr lang="en-US" sz="1333">
              <a:solidFill>
                <a:srgbClr val="008000"/>
              </a:solidFill>
              <a:latin typeface="Consolas" panose="020B0609020204030204" pitchFamily="49" charset="0"/>
            </a:endParaRPr>
          </a:p>
          <a:p>
            <a:pPr marL="0" indent="0">
              <a:spcBef>
                <a:spcPts val="0"/>
              </a:spcBef>
              <a:buNone/>
            </a:pPr>
            <a:endParaRPr lang="en-US" sz="1333">
              <a:solidFill>
                <a:srgbClr val="0000FF"/>
              </a:solidFill>
              <a:latin typeface="Consolas" panose="020B0609020204030204" pitchFamily="49" charset="0"/>
            </a:endParaRPr>
          </a:p>
          <a:p>
            <a:pPr marL="0" indent="0">
              <a:spcBef>
                <a:spcPts val="0"/>
              </a:spcBef>
              <a:buNone/>
            </a:pPr>
            <a:r>
              <a:rPr lang="en-US" sz="1333">
                <a:solidFill>
                  <a:srgbClr val="0000FF"/>
                </a:solidFill>
                <a:latin typeface="Consolas" panose="020B0609020204030204" pitchFamily="49" charset="0"/>
              </a:rPr>
              <a:t>    - configuration:</a:t>
            </a:r>
          </a:p>
          <a:p>
            <a:pPr marL="0" indent="0">
              <a:spcBef>
                <a:spcPts val="0"/>
              </a:spcBef>
              <a:buNone/>
            </a:pPr>
            <a:r>
              <a:rPr lang="en-US" sz="1333">
                <a:solidFill>
                  <a:srgbClr val="0000FF"/>
                </a:solidFill>
                <a:latin typeface="Consolas" panose="020B0609020204030204" pitchFamily="49" charset="0"/>
              </a:rPr>
              <a:t>      variables:</a:t>
            </a:r>
          </a:p>
          <a:p>
            <a:pPr marL="0" indent="0">
              <a:spcBef>
                <a:spcPts val="0"/>
              </a:spcBef>
              <a:buNone/>
            </a:pPr>
            <a:r>
              <a:rPr lang="en-US" sz="1333">
                <a:solidFill>
                  <a:srgbClr val="008000"/>
                </a:solidFill>
                <a:latin typeface="Consolas" panose="020B0609020204030204" pitchFamily="49" charset="0"/>
              </a:rPr>
              <a:t>        - Board-Layer:  ./layer/board/frdmk22f/frdmk22f.clayer.yml</a:t>
            </a:r>
          </a:p>
          <a:p>
            <a:pPr marL="0" indent="0">
              <a:spcBef>
                <a:spcPts val="0"/>
              </a:spcBef>
              <a:buNone/>
            </a:pPr>
            <a:r>
              <a:rPr lang="en-US" sz="1333">
                <a:solidFill>
                  <a:srgbClr val="008000"/>
                </a:solidFill>
                <a:latin typeface="Consolas" panose="020B0609020204030204" pitchFamily="49" charset="0"/>
              </a:rPr>
              <a:t>        - Shield-Layer: ./layer/shield/fxls8962/fxls8961.clayer.yml</a:t>
            </a:r>
            <a:endParaRPr lang="en-US" sz="1333">
              <a:solidFill>
                <a:srgbClr val="0000FF"/>
              </a:solidFill>
              <a:latin typeface="Consolas" panose="020B0609020204030204" pitchFamily="49" charset="0"/>
            </a:endParaRPr>
          </a:p>
          <a:p>
            <a:pPr marL="0" indent="0">
              <a:spcBef>
                <a:spcPts val="0"/>
              </a:spcBef>
              <a:buNone/>
            </a:pPr>
            <a:r>
              <a:rPr lang="en-US" sz="1333">
                <a:solidFill>
                  <a:srgbClr val="0000FF"/>
                </a:solidFill>
                <a:latin typeface="Consolas" panose="020B0609020204030204" pitchFamily="49" charset="0"/>
              </a:rPr>
              <a:t>        </a:t>
            </a:r>
          </a:p>
          <a:p>
            <a:pPr marL="0" indent="0">
              <a:spcBef>
                <a:spcPts val="0"/>
              </a:spcBef>
              <a:buNone/>
            </a:pPr>
            <a:r>
              <a:rPr lang="en-US" sz="1333">
                <a:solidFill>
                  <a:srgbClr val="0000FF"/>
                </a:solidFill>
                <a:latin typeface="Consolas" panose="020B0609020204030204" pitchFamily="49" charset="0"/>
              </a:rPr>
              <a:t>        </a:t>
            </a:r>
          </a:p>
          <a:p>
            <a:endParaRPr lang="en-US"/>
          </a:p>
        </p:txBody>
      </p:sp>
    </p:spTree>
    <p:extLst>
      <p:ext uri="{BB962C8B-B14F-4D97-AF65-F5344CB8AC3E}">
        <p14:creationId xmlns:p14="http://schemas.microsoft.com/office/powerpoint/2010/main" val="26211495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99BAC2B-AFD4-6E3A-0720-D050DB27D7BF}"/>
              </a:ext>
            </a:extLst>
          </p:cNvPr>
          <p:cNvSpPr/>
          <p:nvPr/>
        </p:nvSpPr>
        <p:spPr>
          <a:xfrm>
            <a:off x="716464" y="2462241"/>
            <a:ext cx="2394702" cy="1985611"/>
          </a:xfrm>
          <a:prstGeom prst="rect">
            <a:avLst/>
          </a:prstGeom>
          <a:solidFill>
            <a:schemeClr val="accent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defRPr/>
            </a:pPr>
            <a:r>
              <a:rPr lang="en-US" sz="1400" b="1" dirty="0">
                <a:solidFill>
                  <a:schemeClr val="bg1"/>
                </a:solidFill>
                <a:latin typeface="Calibri"/>
                <a:ea typeface="ＭＳ Ｐゴシック"/>
              </a:rPr>
              <a:t>Board Support Pack (BSP)</a:t>
            </a:r>
          </a:p>
          <a:p>
            <a:pPr algn="ctr">
              <a:defRPr/>
            </a:pPr>
            <a:endParaRPr kumimoji="0" lang="en-US" sz="1400" i="0" u="none" strike="noStrike" kern="1200" cap="none" spc="0" normalizeH="0" baseline="0" noProof="0" dirty="0">
              <a:ln>
                <a:noFill/>
              </a:ln>
              <a:solidFill>
                <a:schemeClr val="bg1"/>
              </a:solidFill>
              <a:effectLst/>
              <a:uLnTx/>
              <a:uFillTx/>
              <a:latin typeface="Calibri"/>
              <a:ea typeface="ＭＳ Ｐゴシック"/>
              <a:cs typeface="+mn-cs"/>
            </a:endParaRPr>
          </a:p>
          <a:p>
            <a:pPr algn="ctr">
              <a:defRPr/>
            </a:pPr>
            <a:endParaRPr lang="en-US" sz="1400" dirty="0">
              <a:solidFill>
                <a:schemeClr val="bg1"/>
              </a:solidFill>
              <a:latin typeface="Calibri"/>
              <a:ea typeface="ＭＳ Ｐゴシック"/>
            </a:endParaRPr>
          </a:p>
          <a:p>
            <a:pPr algn="ctr">
              <a:defRPr/>
            </a:pPr>
            <a:endParaRPr kumimoji="0" lang="en-US" sz="1400" i="0" u="none" strike="noStrike" kern="1200" cap="none" spc="0" normalizeH="0" baseline="0" noProof="0" dirty="0">
              <a:ln>
                <a:noFill/>
              </a:ln>
              <a:solidFill>
                <a:schemeClr val="bg1"/>
              </a:solidFill>
              <a:effectLst/>
              <a:uLnTx/>
              <a:uFillTx/>
              <a:latin typeface="Calibri"/>
              <a:ea typeface="ＭＳ Ｐゴシック"/>
              <a:cs typeface="+mn-cs"/>
            </a:endParaRPr>
          </a:p>
          <a:p>
            <a:pPr algn="ctr">
              <a:defRPr/>
            </a:pPr>
            <a:endParaRPr lang="en-US" sz="1400" dirty="0">
              <a:solidFill>
                <a:schemeClr val="bg1"/>
              </a:solidFill>
              <a:latin typeface="Calibri"/>
              <a:ea typeface="ＭＳ Ｐゴシック"/>
            </a:endParaRPr>
          </a:p>
          <a:p>
            <a:pPr algn="ctr">
              <a:defRPr/>
            </a:pPr>
            <a:endParaRPr kumimoji="0" lang="en-US" sz="1400" i="0" u="none" strike="noStrike" kern="1200" cap="none" spc="0" normalizeH="0" baseline="0" noProof="0" dirty="0">
              <a:ln>
                <a:noFill/>
              </a:ln>
              <a:solidFill>
                <a:schemeClr val="bg1"/>
              </a:solidFill>
              <a:effectLst/>
              <a:uLnTx/>
              <a:uFillTx/>
              <a:latin typeface="Calibri"/>
              <a:ea typeface="ＭＳ Ｐゴシック"/>
              <a:cs typeface="+mn-cs"/>
            </a:endParaRPr>
          </a:p>
          <a:p>
            <a:pPr marL="114300" indent="-114300">
              <a:buFont typeface="Arial" panose="020B0604020202020204" pitchFamily="34" charset="0"/>
              <a:buChar char="•"/>
              <a:defRPr/>
            </a:pPr>
            <a:r>
              <a:rPr lang="en-US" sz="1200" dirty="0">
                <a:solidFill>
                  <a:schemeClr val="accent3">
                    <a:lumMod val="40000"/>
                    <a:lumOff val="60000"/>
                  </a:schemeClr>
                </a:solidFill>
                <a:latin typeface="Calibri"/>
                <a:ea typeface="ＭＳ Ｐゴシック"/>
                <a:cs typeface="Calibri"/>
              </a:rPr>
              <a:t>Examples that run on a board</a:t>
            </a:r>
          </a:p>
          <a:p>
            <a:pPr marL="114300" indent="-114300">
              <a:buFont typeface="Arial" panose="020B0604020202020204" pitchFamily="34" charset="0"/>
              <a:buChar char="•"/>
              <a:defRPr/>
            </a:pPr>
            <a:r>
              <a:rPr lang="en-US" sz="1200" dirty="0">
                <a:solidFill>
                  <a:schemeClr val="accent3">
                    <a:lumMod val="40000"/>
                    <a:lumOff val="60000"/>
                  </a:schemeClr>
                </a:solidFill>
                <a:latin typeface="Calibri"/>
                <a:ea typeface="ＭＳ Ｐゴシック"/>
                <a:cs typeface="Calibri"/>
              </a:rPr>
              <a:t>Board specific Template Projects</a:t>
            </a:r>
          </a:p>
          <a:p>
            <a:pPr marL="114300" indent="-114300">
              <a:buFont typeface="Arial" panose="020B0604020202020204" pitchFamily="34" charset="0"/>
              <a:buChar char="•"/>
              <a:defRPr/>
            </a:pPr>
            <a:r>
              <a:rPr lang="en-US" sz="1200" dirty="0">
                <a:solidFill>
                  <a:schemeClr val="accent3">
                    <a:lumMod val="40000"/>
                    <a:lumOff val="60000"/>
                  </a:schemeClr>
                </a:solidFill>
                <a:latin typeface="Calibri"/>
                <a:ea typeface="ＭＳ Ｐゴシック"/>
                <a:cs typeface="Calibri"/>
              </a:rPr>
              <a:t>Board Layer with HAL drivers</a:t>
            </a:r>
          </a:p>
        </p:txBody>
      </p:sp>
      <p:sp>
        <p:nvSpPr>
          <p:cNvPr id="2" name="Title 1">
            <a:extLst>
              <a:ext uri="{FF2B5EF4-FFF2-40B4-BE49-F238E27FC236}">
                <a16:creationId xmlns:a16="http://schemas.microsoft.com/office/drawing/2014/main" id="{66B49C65-9D93-0940-A2D2-FDC728ABEBFC}"/>
              </a:ext>
            </a:extLst>
          </p:cNvPr>
          <p:cNvSpPr>
            <a:spLocks noGrp="1"/>
          </p:cNvSpPr>
          <p:nvPr>
            <p:ph type="title"/>
          </p:nvPr>
        </p:nvSpPr>
        <p:spPr/>
        <p:txBody>
          <a:bodyPr/>
          <a:lstStyle/>
          <a:p>
            <a:r>
              <a:rPr lang="en-US">
                <a:ea typeface="ＭＳ Ｐゴシック"/>
              </a:rPr>
              <a:t>Developers </a:t>
            </a:r>
            <a:r>
              <a:rPr lang="en-US" dirty="0">
                <a:ea typeface="ＭＳ Ｐゴシック"/>
              </a:rPr>
              <a:t>want project examples</a:t>
            </a:r>
            <a:endParaRPr lang="en-US" dirty="0"/>
          </a:p>
        </p:txBody>
      </p:sp>
      <p:sp>
        <p:nvSpPr>
          <p:cNvPr id="4" name="Text Placeholder 3">
            <a:extLst>
              <a:ext uri="{FF2B5EF4-FFF2-40B4-BE49-F238E27FC236}">
                <a16:creationId xmlns:a16="http://schemas.microsoft.com/office/drawing/2014/main" id="{1D95ED6B-E70E-4E8A-B831-B20E053FA899}"/>
              </a:ext>
            </a:extLst>
          </p:cNvPr>
          <p:cNvSpPr>
            <a:spLocks noGrp="1"/>
          </p:cNvSpPr>
          <p:nvPr>
            <p:ph type="body" sz="quarter" idx="13"/>
          </p:nvPr>
        </p:nvSpPr>
        <p:spPr>
          <a:xfrm>
            <a:off x="479425" y="999790"/>
            <a:ext cx="11233150" cy="344488"/>
          </a:xfrm>
        </p:spPr>
        <p:txBody>
          <a:bodyPr vert="horz" lIns="0" tIns="0" rIns="0" bIns="0" rtlCol="0" anchor="t">
            <a:noAutofit/>
          </a:bodyPr>
          <a:lstStyle/>
          <a:p>
            <a:r>
              <a:rPr lang="en-US" dirty="0">
                <a:ea typeface="ＭＳ Ｐゴシック"/>
              </a:rPr>
              <a:t>Kick start application development with easy to access usage examples</a:t>
            </a:r>
            <a:endParaRPr lang="en-US" dirty="0"/>
          </a:p>
        </p:txBody>
      </p:sp>
      <p:pic>
        <p:nvPicPr>
          <p:cNvPr id="6" name="Picture 5" descr="i.MX RT1060 GUIs powered by Embedded Wizard">
            <a:extLst>
              <a:ext uri="{FF2B5EF4-FFF2-40B4-BE49-F238E27FC236}">
                <a16:creationId xmlns:a16="http://schemas.microsoft.com/office/drawing/2014/main" id="{3D3DAB74-1DC6-9B26-5571-21BEBD0B0DB7}"/>
              </a:ext>
            </a:extLst>
          </p:cNvPr>
          <p:cNvPicPr>
            <a:picLocks noChangeAspect="1"/>
          </p:cNvPicPr>
          <p:nvPr/>
        </p:nvPicPr>
        <p:blipFill>
          <a:blip r:embed="rId4"/>
          <a:stretch>
            <a:fillRect/>
          </a:stretch>
        </p:blipFill>
        <p:spPr>
          <a:xfrm>
            <a:off x="1194677" y="2746127"/>
            <a:ext cx="1438275" cy="876300"/>
          </a:xfrm>
          <a:prstGeom prst="rect">
            <a:avLst/>
          </a:prstGeom>
        </p:spPr>
      </p:pic>
      <p:sp>
        <p:nvSpPr>
          <p:cNvPr id="15" name="Rectangle 14">
            <a:extLst>
              <a:ext uri="{FF2B5EF4-FFF2-40B4-BE49-F238E27FC236}">
                <a16:creationId xmlns:a16="http://schemas.microsoft.com/office/drawing/2014/main" id="{1CEF5816-78EF-B53E-3B5E-E4C07A4B55AD}"/>
              </a:ext>
            </a:extLst>
          </p:cNvPr>
          <p:cNvSpPr/>
          <p:nvPr/>
        </p:nvSpPr>
        <p:spPr>
          <a:xfrm>
            <a:off x="716464" y="1574173"/>
            <a:ext cx="2394702" cy="674522"/>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defRPr/>
            </a:pPr>
            <a:r>
              <a:rPr lang="en-US" sz="1400" b="1" dirty="0">
                <a:solidFill>
                  <a:schemeClr val="bg1"/>
                </a:solidFill>
                <a:latin typeface="Calibri"/>
                <a:ea typeface="ＭＳ Ｐゴシック"/>
              </a:rPr>
              <a:t>Device Family Pack (DFP)</a:t>
            </a:r>
          </a:p>
          <a:p>
            <a:pPr algn="ctr">
              <a:defRPr/>
            </a:pPr>
            <a:endParaRPr lang="en-US" sz="700" dirty="0">
              <a:solidFill>
                <a:schemeClr val="bg1"/>
              </a:solidFill>
              <a:latin typeface="Calibri"/>
              <a:ea typeface="ＭＳ Ｐゴシック"/>
            </a:endParaRPr>
          </a:p>
          <a:p>
            <a:pPr marL="114300" indent="-114300">
              <a:buFont typeface="Arial" panose="020B0604020202020204" pitchFamily="34" charset="0"/>
              <a:buChar char="•"/>
              <a:defRPr/>
            </a:pPr>
            <a:r>
              <a:rPr lang="en-US" sz="1200" dirty="0">
                <a:solidFill>
                  <a:schemeClr val="accent3">
                    <a:lumMod val="40000"/>
                    <a:lumOff val="60000"/>
                  </a:schemeClr>
                </a:solidFill>
                <a:latin typeface="Calibri"/>
                <a:ea typeface="ＭＳ Ｐゴシック"/>
                <a:cs typeface="Calibri"/>
              </a:rPr>
              <a:t>Device Specific Template Projects</a:t>
            </a:r>
          </a:p>
          <a:p>
            <a:pPr algn="ctr">
              <a:defRPr/>
            </a:pPr>
            <a:endParaRPr lang="en-US" sz="1400" dirty="0">
              <a:solidFill>
                <a:schemeClr val="bg1"/>
              </a:solidFill>
              <a:latin typeface="Calibri"/>
              <a:ea typeface="ＭＳ Ｐゴシック"/>
              <a:cs typeface="Calibri"/>
            </a:endParaRPr>
          </a:p>
        </p:txBody>
      </p:sp>
      <p:sp>
        <p:nvSpPr>
          <p:cNvPr id="3" name="Rectangle 2">
            <a:extLst>
              <a:ext uri="{FF2B5EF4-FFF2-40B4-BE49-F238E27FC236}">
                <a16:creationId xmlns:a16="http://schemas.microsoft.com/office/drawing/2014/main" id="{E4D3F59D-5F7A-8B3C-CE30-94BF3D99CF8C}"/>
              </a:ext>
            </a:extLst>
          </p:cNvPr>
          <p:cNvSpPr/>
          <p:nvPr/>
        </p:nvSpPr>
        <p:spPr>
          <a:xfrm>
            <a:off x="716464" y="4679770"/>
            <a:ext cx="2394702" cy="129012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defRPr/>
            </a:pPr>
            <a:r>
              <a:rPr lang="en-US" sz="1400" b="1" dirty="0">
                <a:solidFill>
                  <a:schemeClr val="bg1"/>
                </a:solidFill>
                <a:latin typeface="Calibri"/>
                <a:ea typeface="ＭＳ Ｐゴシック"/>
              </a:rPr>
              <a:t>Generic Software Pack (GSP)</a:t>
            </a:r>
          </a:p>
          <a:p>
            <a:pPr algn="ctr">
              <a:defRPr/>
            </a:pPr>
            <a:endParaRPr kumimoji="0" lang="en-US" sz="1400" i="0" u="none" strike="noStrike" kern="1200" cap="none" spc="0" normalizeH="0" baseline="0" noProof="0" dirty="0">
              <a:ln>
                <a:noFill/>
              </a:ln>
              <a:solidFill>
                <a:schemeClr val="bg1"/>
              </a:solidFill>
              <a:effectLst/>
              <a:uLnTx/>
              <a:uFillTx/>
              <a:latin typeface="Calibri"/>
              <a:ea typeface="ＭＳ Ｐゴシック"/>
              <a:cs typeface="+mn-cs"/>
            </a:endParaRPr>
          </a:p>
          <a:p>
            <a:pPr algn="ctr">
              <a:defRPr/>
            </a:pPr>
            <a:endParaRPr lang="en-US" sz="1400" dirty="0">
              <a:solidFill>
                <a:schemeClr val="bg1"/>
              </a:solidFill>
              <a:latin typeface="Calibri"/>
              <a:ea typeface="ＭＳ Ｐゴシック"/>
            </a:endParaRPr>
          </a:p>
          <a:p>
            <a:pPr marL="114300" indent="-114300">
              <a:buFont typeface="Arial" panose="020B0604020202020204" pitchFamily="34" charset="0"/>
              <a:buChar char="•"/>
              <a:defRPr/>
            </a:pPr>
            <a:r>
              <a:rPr lang="en-US" sz="1200" dirty="0">
                <a:solidFill>
                  <a:schemeClr val="accent3">
                    <a:lumMod val="40000"/>
                    <a:lumOff val="60000"/>
                  </a:schemeClr>
                </a:solidFill>
                <a:latin typeface="Calibri"/>
                <a:ea typeface="ＭＳ Ｐゴシック"/>
                <a:cs typeface="Calibri"/>
              </a:rPr>
              <a:t>Examples that run on a board</a:t>
            </a:r>
          </a:p>
          <a:p>
            <a:pPr marL="114300" indent="-114300">
              <a:buFont typeface="Arial" panose="020B0604020202020204" pitchFamily="34" charset="0"/>
              <a:buChar char="•"/>
              <a:defRPr/>
            </a:pPr>
            <a:r>
              <a:rPr lang="en-US" sz="1200" dirty="0">
                <a:solidFill>
                  <a:schemeClr val="accent3">
                    <a:lumMod val="40000"/>
                    <a:lumOff val="60000"/>
                  </a:schemeClr>
                </a:solidFill>
                <a:latin typeface="Calibri"/>
                <a:ea typeface="ＭＳ Ｐゴシック"/>
                <a:cs typeface="Calibri"/>
              </a:rPr>
              <a:t>Reference Applications</a:t>
            </a:r>
          </a:p>
          <a:p>
            <a:pPr marL="114300" indent="-114300">
              <a:buFont typeface="Arial" panose="020B0604020202020204" pitchFamily="34" charset="0"/>
              <a:buChar char="•"/>
              <a:defRPr/>
            </a:pPr>
            <a:r>
              <a:rPr lang="en-US" sz="1200" dirty="0">
                <a:solidFill>
                  <a:schemeClr val="accent3">
                    <a:lumMod val="40000"/>
                    <a:lumOff val="60000"/>
                  </a:schemeClr>
                </a:solidFill>
                <a:latin typeface="Calibri"/>
                <a:ea typeface="ＭＳ Ｐゴシック"/>
                <a:cs typeface="Calibri"/>
              </a:rPr>
              <a:t>Code Templates for components</a:t>
            </a:r>
          </a:p>
        </p:txBody>
      </p:sp>
      <p:sp>
        <p:nvSpPr>
          <p:cNvPr id="8" name="Rectangle 7">
            <a:extLst>
              <a:ext uri="{FF2B5EF4-FFF2-40B4-BE49-F238E27FC236}">
                <a16:creationId xmlns:a16="http://schemas.microsoft.com/office/drawing/2014/main" id="{948D89C3-FA32-DB44-0B4C-E0A1DCEFE298}"/>
              </a:ext>
            </a:extLst>
          </p:cNvPr>
          <p:cNvSpPr/>
          <p:nvPr/>
        </p:nvSpPr>
        <p:spPr>
          <a:xfrm>
            <a:off x="816792" y="5048482"/>
            <a:ext cx="658906" cy="22512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100" dirty="0"/>
              <a:t>RTOS</a:t>
            </a:r>
          </a:p>
        </p:txBody>
      </p:sp>
      <p:sp>
        <p:nvSpPr>
          <p:cNvPr id="9" name="Rectangle 8">
            <a:extLst>
              <a:ext uri="{FF2B5EF4-FFF2-40B4-BE49-F238E27FC236}">
                <a16:creationId xmlns:a16="http://schemas.microsoft.com/office/drawing/2014/main" id="{F948E3DD-2D59-A261-461A-C9DB0AFB1916}"/>
              </a:ext>
            </a:extLst>
          </p:cNvPr>
          <p:cNvSpPr/>
          <p:nvPr/>
        </p:nvSpPr>
        <p:spPr>
          <a:xfrm>
            <a:off x="1563064" y="5048482"/>
            <a:ext cx="658906" cy="22512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dirty="0"/>
              <a:t>Graphic</a:t>
            </a:r>
          </a:p>
        </p:txBody>
      </p:sp>
      <p:sp>
        <p:nvSpPr>
          <p:cNvPr id="10" name="Rectangle 9">
            <a:extLst>
              <a:ext uri="{FF2B5EF4-FFF2-40B4-BE49-F238E27FC236}">
                <a16:creationId xmlns:a16="http://schemas.microsoft.com/office/drawing/2014/main" id="{79043BF6-5C10-B7C1-D5A9-C20B0B0C7DE7}"/>
              </a:ext>
            </a:extLst>
          </p:cNvPr>
          <p:cNvSpPr/>
          <p:nvPr/>
        </p:nvSpPr>
        <p:spPr>
          <a:xfrm>
            <a:off x="2316160" y="5048481"/>
            <a:ext cx="658906" cy="22512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dirty="0" err="1"/>
              <a:t>CAN</a:t>
            </a:r>
            <a:r>
              <a:rPr lang="en-US" sz="1200" i="1" dirty="0" err="1"/>
              <a:t>open</a:t>
            </a:r>
            <a:endParaRPr lang="en-US" sz="1200" i="1" dirty="0"/>
          </a:p>
        </p:txBody>
      </p:sp>
      <p:pic>
        <p:nvPicPr>
          <p:cNvPr id="13" name="Picture 12">
            <a:extLst>
              <a:ext uri="{FF2B5EF4-FFF2-40B4-BE49-F238E27FC236}">
                <a16:creationId xmlns:a16="http://schemas.microsoft.com/office/drawing/2014/main" id="{BC918269-2E9A-7419-BC1C-F0CB41739D63}"/>
              </a:ext>
            </a:extLst>
          </p:cNvPr>
          <p:cNvPicPr>
            <a:picLocks noChangeAspect="1"/>
          </p:cNvPicPr>
          <p:nvPr/>
        </p:nvPicPr>
        <p:blipFill>
          <a:blip r:embed="rId5"/>
          <a:srcRect r="2208"/>
          <a:stretch/>
        </p:blipFill>
        <p:spPr>
          <a:xfrm>
            <a:off x="3412904" y="1574173"/>
            <a:ext cx="4004268" cy="2994087"/>
          </a:xfrm>
          <a:prstGeom prst="rect">
            <a:avLst/>
          </a:prstGeom>
        </p:spPr>
      </p:pic>
      <p:pic>
        <p:nvPicPr>
          <p:cNvPr id="19" name="Picture 18">
            <a:extLst>
              <a:ext uri="{FF2B5EF4-FFF2-40B4-BE49-F238E27FC236}">
                <a16:creationId xmlns:a16="http://schemas.microsoft.com/office/drawing/2014/main" id="{350257A8-74FA-F792-A7A6-F5E05EC23899}"/>
              </a:ext>
            </a:extLst>
          </p:cNvPr>
          <p:cNvPicPr>
            <a:picLocks noChangeAspect="1"/>
          </p:cNvPicPr>
          <p:nvPr/>
        </p:nvPicPr>
        <p:blipFill>
          <a:blip r:embed="rId6"/>
          <a:srcRect t="12568"/>
          <a:stretch/>
        </p:blipFill>
        <p:spPr>
          <a:xfrm>
            <a:off x="3412904" y="4752723"/>
            <a:ext cx="4004268" cy="1253241"/>
          </a:xfrm>
          <a:prstGeom prst="rect">
            <a:avLst/>
          </a:prstGeom>
        </p:spPr>
      </p:pic>
      <p:sp>
        <p:nvSpPr>
          <p:cNvPr id="22" name="Content Placeholder 10">
            <a:extLst>
              <a:ext uri="{FF2B5EF4-FFF2-40B4-BE49-F238E27FC236}">
                <a16:creationId xmlns:a16="http://schemas.microsoft.com/office/drawing/2014/main" id="{DF213368-2AAC-CEB4-DA1D-059BE7679E65}"/>
              </a:ext>
            </a:extLst>
          </p:cNvPr>
          <p:cNvSpPr txBox="1">
            <a:spLocks/>
          </p:cNvSpPr>
          <p:nvPr/>
        </p:nvSpPr>
        <p:spPr>
          <a:xfrm>
            <a:off x="7917667" y="1574173"/>
            <a:ext cx="3794908" cy="4420771"/>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7"/>
                    </a:ext>
                  </a:extLst>
                </a:blip>
              </a:buBlip>
              <a:defRPr sz="24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8"/>
                    </a:ext>
                  </a:extLst>
                </a:blip>
              </a:buBlip>
              <a:defRPr kern="1200">
                <a:solidFill>
                  <a:schemeClr val="tx2"/>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chemeClr val="tx2"/>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8"/>
                    </a:ext>
                  </a:extLst>
                </a:blip>
              </a:buBlip>
              <a:defRPr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a:lstStyle>
          <a:p>
            <a:pPr marL="0" indent="0">
              <a:buNone/>
            </a:pPr>
            <a:r>
              <a:rPr lang="en-GB" sz="1600" b="1" dirty="0">
                <a:solidFill>
                  <a:schemeClr val="tx1">
                    <a:lumMod val="65000"/>
                    <a:lumOff val="35000"/>
                  </a:schemeClr>
                </a:solidFill>
              </a:rPr>
              <a:t>Example projects that run on eval boards</a:t>
            </a:r>
          </a:p>
          <a:p>
            <a:pPr marL="285750" indent="-285750"/>
            <a:r>
              <a:rPr lang="en-GB" sz="1400" dirty="0">
                <a:solidFill>
                  <a:schemeClr val="tx1">
                    <a:lumMod val="65000"/>
                    <a:lumOff val="35000"/>
                  </a:schemeClr>
                </a:solidFill>
              </a:rPr>
              <a:t>A </a:t>
            </a:r>
            <a:r>
              <a:rPr lang="en-GB" sz="1400" i="1" dirty="0" err="1">
                <a:solidFill>
                  <a:schemeClr val="tx1">
                    <a:lumMod val="65000"/>
                    <a:lumOff val="35000"/>
                  </a:schemeClr>
                </a:solidFill>
              </a:rPr>
              <a:t>csolution</a:t>
            </a:r>
            <a:r>
              <a:rPr lang="en-GB" sz="1400" i="1" dirty="0">
                <a:solidFill>
                  <a:schemeClr val="tx1">
                    <a:lumMod val="65000"/>
                    <a:lumOff val="35000"/>
                  </a:schemeClr>
                </a:solidFill>
              </a:rPr>
              <a:t> project</a:t>
            </a:r>
            <a:r>
              <a:rPr lang="en-GB" sz="1400" dirty="0">
                <a:solidFill>
                  <a:schemeClr val="tx1">
                    <a:lumMod val="65000"/>
                    <a:lumOff val="35000"/>
                  </a:schemeClr>
                </a:solidFill>
              </a:rPr>
              <a:t> may group </a:t>
            </a:r>
            <a:r>
              <a:rPr lang="en-GB" sz="1400" i="1" dirty="0">
                <a:solidFill>
                  <a:schemeClr val="tx1">
                    <a:lumMod val="65000"/>
                    <a:lumOff val="35000"/>
                  </a:schemeClr>
                </a:solidFill>
              </a:rPr>
              <a:t>s</a:t>
            </a:r>
            <a:r>
              <a:rPr lang="en-GB" sz="1400" dirty="0">
                <a:solidFill>
                  <a:schemeClr val="tx1">
                    <a:lumMod val="65000"/>
                    <a:lumOff val="35000"/>
                  </a:schemeClr>
                </a:solidFill>
              </a:rPr>
              <a:t>imilar examples</a:t>
            </a:r>
            <a:endParaRPr lang="en-GB" sz="1400" i="1" dirty="0">
              <a:solidFill>
                <a:schemeClr val="tx1">
                  <a:lumMod val="65000"/>
                  <a:lumOff val="35000"/>
                </a:schemeClr>
              </a:solidFill>
            </a:endParaRPr>
          </a:p>
          <a:p>
            <a:pPr marL="285750" indent="-285750"/>
            <a:r>
              <a:rPr lang="en-GB" sz="1400" dirty="0">
                <a:solidFill>
                  <a:schemeClr val="tx1">
                    <a:lumMod val="65000"/>
                    <a:lumOff val="35000"/>
                  </a:schemeClr>
                </a:solidFill>
              </a:rPr>
              <a:t>Examples for a board can be in different packs</a:t>
            </a:r>
          </a:p>
          <a:p>
            <a:pPr marL="285750" indent="-285750"/>
            <a:endParaRPr lang="en-GB" sz="1400" dirty="0">
              <a:solidFill>
                <a:schemeClr val="tx1">
                  <a:lumMod val="65000"/>
                  <a:lumOff val="35000"/>
                </a:schemeClr>
              </a:solidFill>
            </a:endParaRPr>
          </a:p>
          <a:p>
            <a:pPr marL="0" indent="0">
              <a:buNone/>
            </a:pPr>
            <a:r>
              <a:rPr lang="en-GB" sz="1600" b="1" dirty="0">
                <a:solidFill>
                  <a:schemeClr val="tx1">
                    <a:lumMod val="65000"/>
                    <a:lumOff val="35000"/>
                  </a:schemeClr>
                </a:solidFill>
              </a:rPr>
              <a:t>Template projects are user application stubs</a:t>
            </a:r>
          </a:p>
          <a:p>
            <a:pPr marL="285750" indent="-285750"/>
            <a:r>
              <a:rPr lang="en-GB" sz="1400" dirty="0">
                <a:solidFill>
                  <a:schemeClr val="tx1">
                    <a:lumMod val="65000"/>
                    <a:lumOff val="35000"/>
                  </a:schemeClr>
                </a:solidFill>
              </a:rPr>
              <a:t>Pre-configured for different use cases</a:t>
            </a:r>
          </a:p>
          <a:p>
            <a:pPr marL="285750" indent="-285750"/>
            <a:endParaRPr lang="en-GB" sz="1200" dirty="0">
              <a:solidFill>
                <a:schemeClr val="tx1">
                  <a:lumMod val="65000"/>
                  <a:lumOff val="35000"/>
                </a:schemeClr>
              </a:solidFill>
            </a:endParaRPr>
          </a:p>
          <a:p>
            <a:pPr marL="0" indent="0">
              <a:buNone/>
            </a:pPr>
            <a:r>
              <a:rPr lang="en-GB" sz="1600" b="1" dirty="0">
                <a:solidFill>
                  <a:schemeClr val="tx1">
                    <a:lumMod val="65000"/>
                    <a:lumOff val="35000"/>
                  </a:schemeClr>
                </a:solidFill>
              </a:rPr>
              <a:t>Code Templates for software components</a:t>
            </a:r>
          </a:p>
          <a:p>
            <a:pPr marL="285750" indent="-285750"/>
            <a:r>
              <a:rPr lang="en-GB" sz="1400" dirty="0">
                <a:solidFill>
                  <a:schemeClr val="tx1">
                    <a:lumMod val="65000"/>
                    <a:lumOff val="35000"/>
                  </a:schemeClr>
                </a:solidFill>
              </a:rPr>
              <a:t>Shows how to use a software component</a:t>
            </a:r>
          </a:p>
          <a:p>
            <a:pPr marL="285750" indent="-285750"/>
            <a:endParaRPr lang="en-GB" sz="1200" dirty="0">
              <a:solidFill>
                <a:schemeClr val="tx1">
                  <a:lumMod val="65000"/>
                  <a:lumOff val="35000"/>
                </a:schemeClr>
              </a:solidFill>
            </a:endParaRPr>
          </a:p>
          <a:p>
            <a:pPr marL="0" indent="0">
              <a:buNone/>
            </a:pPr>
            <a:r>
              <a:rPr lang="en-GB" sz="1600" b="1" dirty="0">
                <a:solidFill>
                  <a:schemeClr val="tx1">
                    <a:lumMod val="65000"/>
                    <a:lumOff val="35000"/>
                  </a:schemeClr>
                </a:solidFill>
              </a:rPr>
              <a:t>Reference Applications - hardware agnostic</a:t>
            </a:r>
          </a:p>
          <a:p>
            <a:pPr marL="285750" indent="-285750"/>
            <a:r>
              <a:rPr lang="en-GB" sz="1400" dirty="0">
                <a:solidFill>
                  <a:schemeClr val="tx1">
                    <a:lumMod val="65000"/>
                    <a:lumOff val="35000"/>
                  </a:schemeClr>
                </a:solidFill>
              </a:rPr>
              <a:t>Require HAL driver interfaces to run</a:t>
            </a:r>
          </a:p>
          <a:p>
            <a:pPr marL="285750" indent="-285750"/>
            <a:endParaRPr lang="en-GB" sz="1200" dirty="0">
              <a:solidFill>
                <a:schemeClr val="tx1">
                  <a:lumMod val="65000"/>
                  <a:lumOff val="35000"/>
                </a:schemeClr>
              </a:solidFill>
            </a:endParaRPr>
          </a:p>
          <a:p>
            <a:pPr marL="0" indent="0">
              <a:buNone/>
            </a:pPr>
            <a:r>
              <a:rPr lang="en-GB" sz="1600" b="1" dirty="0">
                <a:solidFill>
                  <a:schemeClr val="tx1">
                    <a:lumMod val="65000"/>
                    <a:lumOff val="35000"/>
                  </a:schemeClr>
                </a:solidFill>
              </a:rPr>
              <a:t>Board Layer with HAL drivers</a:t>
            </a:r>
          </a:p>
          <a:p>
            <a:pPr marL="285750" indent="-285750"/>
            <a:r>
              <a:rPr lang="en-GB" sz="1400" dirty="0">
                <a:solidFill>
                  <a:schemeClr val="tx1">
                    <a:lumMod val="65000"/>
                    <a:lumOff val="35000"/>
                  </a:schemeClr>
                </a:solidFill>
              </a:rPr>
              <a:t>Provides HAL driver interfaces</a:t>
            </a:r>
            <a:endParaRPr lang="en-GB" sz="1600" dirty="0">
              <a:solidFill>
                <a:schemeClr val="tx1">
                  <a:lumMod val="65000"/>
                  <a:lumOff val="35000"/>
                </a:schemeClr>
              </a:solidFill>
            </a:endParaRPr>
          </a:p>
          <a:p>
            <a:pPr marL="0" indent="0">
              <a:buNone/>
            </a:pPr>
            <a:endParaRPr lang="en-GB" sz="1400" dirty="0">
              <a:solidFill>
                <a:schemeClr val="tx1">
                  <a:lumMod val="65000"/>
                  <a:lumOff val="35000"/>
                </a:schemeClr>
              </a:solidFill>
            </a:endParaRPr>
          </a:p>
          <a:p>
            <a:pPr marL="285750" indent="-285750"/>
            <a:endParaRPr lang="en-GB" sz="1400" dirty="0">
              <a:solidFill>
                <a:schemeClr val="tx1">
                  <a:lumMod val="65000"/>
                  <a:lumOff val="35000"/>
                </a:schemeClr>
              </a:solidFill>
            </a:endParaRPr>
          </a:p>
          <a:p>
            <a:pPr marL="285750" indent="-285750"/>
            <a:endParaRPr lang="en-GB" sz="1400" dirty="0">
              <a:solidFill>
                <a:schemeClr val="tx1">
                  <a:lumMod val="65000"/>
                  <a:lumOff val="35000"/>
                </a:schemeClr>
              </a:solidFill>
            </a:endParaRPr>
          </a:p>
          <a:p>
            <a:pPr marL="0" indent="0">
              <a:buNone/>
            </a:pPr>
            <a:endParaRPr lang="en-GB" sz="1600" dirty="0">
              <a:solidFill>
                <a:schemeClr val="tx1">
                  <a:lumMod val="65000"/>
                  <a:lumOff val="35000"/>
                </a:schemeClr>
              </a:solidFill>
            </a:endParaRPr>
          </a:p>
          <a:p>
            <a:pPr marL="285750" indent="-285750"/>
            <a:endParaRPr lang="en-GB" sz="1600" dirty="0">
              <a:solidFill>
                <a:schemeClr val="tx1">
                  <a:lumMod val="65000"/>
                  <a:lumOff val="35000"/>
                </a:schemeClr>
              </a:solidFill>
            </a:endParaRPr>
          </a:p>
          <a:p>
            <a:pPr marL="524193" lvl="1" indent="-285750"/>
            <a:endParaRPr lang="en-GB" sz="1200" dirty="0">
              <a:solidFill>
                <a:schemeClr val="tx1">
                  <a:lumMod val="65000"/>
                  <a:lumOff val="35000"/>
                </a:schemeClr>
              </a:solidFill>
            </a:endParaRPr>
          </a:p>
          <a:p>
            <a:pPr marL="285750" indent="-285750"/>
            <a:endParaRPr lang="en-GB" sz="1600" dirty="0">
              <a:solidFill>
                <a:schemeClr val="tx1">
                  <a:lumMod val="65000"/>
                  <a:lumOff val="35000"/>
                </a:schemeClr>
              </a:solidFill>
            </a:endParaRPr>
          </a:p>
        </p:txBody>
      </p:sp>
      <p:sp>
        <p:nvSpPr>
          <p:cNvPr id="5" name="Arrow: Down 4">
            <a:extLst>
              <a:ext uri="{FF2B5EF4-FFF2-40B4-BE49-F238E27FC236}">
                <a16:creationId xmlns:a16="http://schemas.microsoft.com/office/drawing/2014/main" id="{5694DDBB-ABFA-8461-2C95-1DC785B96F8A}"/>
              </a:ext>
            </a:extLst>
          </p:cNvPr>
          <p:cNvSpPr/>
          <p:nvPr/>
        </p:nvSpPr>
        <p:spPr>
          <a:xfrm rot="10800000">
            <a:off x="1685254" y="2248694"/>
            <a:ext cx="454414" cy="213609"/>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Down 6">
            <a:extLst>
              <a:ext uri="{FF2B5EF4-FFF2-40B4-BE49-F238E27FC236}">
                <a16:creationId xmlns:a16="http://schemas.microsoft.com/office/drawing/2014/main" id="{57C448B7-BD75-B9E9-6A15-280D989FAB35}"/>
              </a:ext>
            </a:extLst>
          </p:cNvPr>
          <p:cNvSpPr/>
          <p:nvPr/>
        </p:nvSpPr>
        <p:spPr>
          <a:xfrm rot="10800000">
            <a:off x="1665310" y="4447852"/>
            <a:ext cx="454414" cy="234479"/>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6972540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Multidocument 4">
            <a:extLst>
              <a:ext uri="{FF2B5EF4-FFF2-40B4-BE49-F238E27FC236}">
                <a16:creationId xmlns:a16="http://schemas.microsoft.com/office/drawing/2014/main" id="{844DE146-1BA2-638D-92E9-04D7153AA5BE}"/>
              </a:ext>
            </a:extLst>
          </p:cNvPr>
          <p:cNvSpPr/>
          <p:nvPr/>
        </p:nvSpPr>
        <p:spPr>
          <a:xfrm>
            <a:off x="1730244" y="2937085"/>
            <a:ext cx="1616706" cy="1160511"/>
          </a:xfrm>
          <a:prstGeom prst="flowChartMultidocument">
            <a:avLst/>
          </a:prstGeom>
          <a:solidFill>
            <a:schemeClr val="accent3">
              <a:lumMod val="60000"/>
              <a:lumOff val="40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t>*.</a:t>
            </a:r>
            <a:r>
              <a:rPr kumimoji="0" lang="en-US" sz="1600" b="0" i="0" u="none" strike="noStrike" kern="1200" cap="none" spc="0" normalizeH="0" baseline="0" noProof="0" dirty="0" err="1">
                <a:ln>
                  <a:noFill/>
                </a:ln>
                <a:solidFill>
                  <a:srgbClr val="E5ECEB">
                    <a:lumMod val="25000"/>
                  </a:srgbClr>
                </a:solidFill>
                <a:effectLst/>
                <a:uLnTx/>
                <a:uFillTx/>
                <a:latin typeface="Calibri"/>
                <a:ea typeface="+mn-ea"/>
                <a:cs typeface="+mn-cs"/>
              </a:rPr>
              <a:t>cproject.yml</a:t>
            </a:r>
            <a:br>
              <a:rPr kumimoji="0" lang="en-US" sz="24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source files and </a:t>
            </a:r>
            <a:b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SW components</a:t>
            </a:r>
            <a:endParaRPr kumimoji="0" lang="en-GB" sz="1100" b="0" i="0" u="none" strike="noStrike" kern="1200" cap="none" spc="0" normalizeH="0" baseline="0" noProof="0" dirty="0">
              <a:ln>
                <a:noFill/>
              </a:ln>
              <a:solidFill>
                <a:srgbClr val="E5ECEB">
                  <a:lumMod val="25000"/>
                </a:srgbClr>
              </a:solidFill>
              <a:effectLst/>
              <a:uLnTx/>
              <a:uFillTx/>
              <a:latin typeface="Calibri"/>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899BAC2B-AFD4-6E3A-0720-D050DB27D7BF}"/>
              </a:ext>
            </a:extLst>
          </p:cNvPr>
          <p:cNvSpPr/>
          <p:nvPr/>
        </p:nvSpPr>
        <p:spPr>
          <a:xfrm>
            <a:off x="3653014" y="1479487"/>
            <a:ext cx="1927475" cy="16807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t>Software Packs</a:t>
            </a:r>
          </a:p>
        </p:txBody>
      </p:sp>
      <p:sp>
        <p:nvSpPr>
          <p:cNvPr id="7" name="Flowchart: Multidocument 6">
            <a:extLst>
              <a:ext uri="{FF2B5EF4-FFF2-40B4-BE49-F238E27FC236}">
                <a16:creationId xmlns:a16="http://schemas.microsoft.com/office/drawing/2014/main" id="{87679857-361C-EAF2-9C0D-ACC337EEA45E}"/>
              </a:ext>
            </a:extLst>
          </p:cNvPr>
          <p:cNvSpPr/>
          <p:nvPr/>
        </p:nvSpPr>
        <p:spPr>
          <a:xfrm>
            <a:off x="3799060" y="1822501"/>
            <a:ext cx="1653577" cy="1181703"/>
          </a:xfrm>
          <a:prstGeom prst="flowChartMultidocument">
            <a:avLst/>
          </a:prstGeom>
          <a:solidFill>
            <a:schemeClr val="bg1"/>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chemeClr val="bg2">
                    <a:lumMod val="25000"/>
                  </a:schemeClr>
                </a:solidFill>
                <a:effectLst/>
                <a:uLnTx/>
                <a:uFillTx/>
                <a:latin typeface="Calibri"/>
                <a:ea typeface="+mn-ea"/>
                <a:cs typeface="+mn-cs"/>
              </a:rPr>
              <a:t>Device/</a:t>
            </a:r>
            <a:r>
              <a:rPr lang="en-US" sz="1400" dirty="0">
                <a:solidFill>
                  <a:schemeClr val="bg2">
                    <a:lumMod val="25000"/>
                  </a:schemeClr>
                </a:solidFill>
                <a:latin typeface="Calibri"/>
              </a:rPr>
              <a:t>Board</a:t>
            </a:r>
            <a:br>
              <a:rPr lang="en-US" sz="1400" dirty="0">
                <a:solidFill>
                  <a:schemeClr val="bg2">
                    <a:lumMod val="25000"/>
                  </a:schemeClr>
                </a:solidFill>
                <a:latin typeface="Calibri"/>
              </a:rPr>
            </a:br>
            <a:r>
              <a:rPr lang="en-US" sz="1400" dirty="0">
                <a:solidFill>
                  <a:schemeClr val="bg2">
                    <a:lumMod val="25000"/>
                  </a:schemeClr>
                </a:solidFill>
                <a:latin typeface="Calibri"/>
              </a:rPr>
              <a:t>Generic </a:t>
            </a:r>
            <a:r>
              <a:rPr kumimoji="0" lang="en-US" sz="1400" b="0" i="0" u="none" strike="noStrike" kern="1200" cap="none" spc="0" normalizeH="0" baseline="0" noProof="0" dirty="0">
                <a:ln>
                  <a:noFill/>
                </a:ln>
                <a:solidFill>
                  <a:schemeClr val="bg2">
                    <a:lumMod val="25000"/>
                  </a:schemeClr>
                </a:solidFill>
                <a:effectLst/>
                <a:uLnTx/>
                <a:uFillTx/>
                <a:latin typeface="Calibri"/>
                <a:ea typeface="+mn-ea"/>
                <a:cs typeface="+mn-cs"/>
              </a:rPr>
              <a:t>Software</a:t>
            </a:r>
            <a:br>
              <a:rPr kumimoji="0" lang="en-US" sz="1100" b="0" i="0" u="none" strike="noStrike" kern="1200" cap="none" spc="0" normalizeH="0" baseline="0" noProof="0" dirty="0">
                <a:ln>
                  <a:noFill/>
                </a:ln>
                <a:solidFill>
                  <a:schemeClr val="bg2">
                    <a:lumMod val="25000"/>
                  </a:schemeClr>
                </a:solidFill>
                <a:effectLst/>
                <a:uLnTx/>
                <a:uFillTx/>
                <a:latin typeface="Calibri"/>
                <a:ea typeface="+mn-ea"/>
                <a:cs typeface="+mn-cs"/>
              </a:rPr>
            </a:br>
            <a:endParaRPr kumimoji="0" lang="en-US" sz="5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21" name="Rectangle 20">
            <a:extLst>
              <a:ext uri="{FF2B5EF4-FFF2-40B4-BE49-F238E27FC236}">
                <a16:creationId xmlns:a16="http://schemas.microsoft.com/office/drawing/2014/main" id="{8A9F90E5-92D0-5CB6-FB1E-0FDF39903545}"/>
              </a:ext>
            </a:extLst>
          </p:cNvPr>
          <p:cNvSpPr/>
          <p:nvPr/>
        </p:nvSpPr>
        <p:spPr>
          <a:xfrm>
            <a:off x="3653014" y="3308194"/>
            <a:ext cx="1938116" cy="1008488"/>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a:ea typeface="+mn-ea"/>
                <a:cs typeface="+mn-cs"/>
              </a:rPr>
              <a:t>CMSIS-Toolbox</a:t>
            </a:r>
          </a:p>
          <a:p>
            <a:pPr marL="0" marR="0" lvl="0" indent="0" algn="ctr" defTabSz="914400" rtl="0" eaLnBrk="0" fontAlgn="base" latinLnBrk="0" hangingPunct="0">
              <a:lnSpc>
                <a:spcPct val="100000"/>
              </a:lnSpc>
              <a:spcBef>
                <a:spcPct val="0"/>
              </a:spcBef>
              <a:spcAft>
                <a:spcPct val="0"/>
              </a:spcAft>
              <a:buClrTx/>
              <a:buSzTx/>
              <a:buFontTx/>
              <a:buNone/>
              <a:tabLst/>
              <a:defRPr/>
            </a:pPr>
            <a:r>
              <a:rPr lang="en-US" sz="1100" dirty="0" err="1">
                <a:solidFill>
                  <a:schemeClr val="bg1"/>
                </a:solidFill>
                <a:latin typeface="Calibri"/>
              </a:rPr>
              <a:t>cbuild</a:t>
            </a:r>
            <a:r>
              <a:rPr lang="en-US" sz="1100" dirty="0">
                <a:solidFill>
                  <a:schemeClr val="bg1"/>
                </a:solidFill>
                <a:latin typeface="Calibri"/>
              </a:rPr>
              <a:t>: Build Invocation</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chemeClr val="bg1"/>
              </a:solidFill>
              <a:effectLst/>
              <a:uLnTx/>
              <a:uFillTx/>
              <a:latin typeface="Calibri"/>
              <a:ea typeface="+mn-ea"/>
              <a:cs typeface="+mn-cs"/>
            </a:endParaRPr>
          </a:p>
          <a:p>
            <a:pPr algn="ctr" eaLnBrk="0" fontAlgn="base" hangingPunct="0">
              <a:spcBef>
                <a:spcPct val="0"/>
              </a:spcBef>
              <a:spcAft>
                <a:spcPct val="0"/>
              </a:spcAft>
              <a:defRPr/>
            </a:pPr>
            <a:r>
              <a:rPr kumimoji="0" lang="en-US" sz="1100" i="0" u="none" strike="noStrike" kern="1200" cap="none" spc="0" normalizeH="0" baseline="0" noProof="0" dirty="0" err="1">
                <a:ln>
                  <a:noFill/>
                </a:ln>
                <a:solidFill>
                  <a:schemeClr val="bg1"/>
                </a:solidFill>
                <a:effectLst/>
                <a:uLnTx/>
                <a:uFillTx/>
                <a:latin typeface="Calibri"/>
                <a:ea typeface="ＭＳ Ｐゴシック" panose="020B0600070205080204" pitchFamily="34" charset="-128"/>
                <a:cs typeface="+mn-cs"/>
              </a:rPr>
              <a:t>VSCode</a:t>
            </a:r>
            <a:r>
              <a:rPr kumimoji="0" lang="en-US" sz="11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t> Extension</a:t>
            </a:r>
          </a:p>
          <a:p>
            <a:pPr algn="ctr" eaLnBrk="0" fontAlgn="base" hangingPunct="0">
              <a:spcBef>
                <a:spcPct val="0"/>
              </a:spcBef>
              <a:spcAft>
                <a:spcPct val="0"/>
              </a:spcAft>
              <a:defRPr/>
            </a:pPr>
            <a:r>
              <a:rPr kumimoji="0" lang="en-US" sz="11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t>CMSIS-Solution</a:t>
            </a:r>
            <a:endParaRPr kumimoji="0" lang="en-GB" sz="1100" b="0" i="0" u="none" strike="noStrike" kern="1200" cap="none" spc="0" normalizeH="0" baseline="0" noProof="0" dirty="0">
              <a:ln>
                <a:noFill/>
              </a:ln>
              <a:solidFill>
                <a:schemeClr val="bg1"/>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54B5876B-51B0-2BDE-7A06-F5D84C84EFFB}"/>
              </a:ext>
            </a:extLst>
          </p:cNvPr>
          <p:cNvSpPr/>
          <p:nvPr/>
        </p:nvSpPr>
        <p:spPr>
          <a:xfrm>
            <a:off x="1594592" y="1464573"/>
            <a:ext cx="1851371" cy="2843212"/>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lang="en-US" sz="1400" dirty="0">
                <a:solidFill>
                  <a:schemeClr val="tx2"/>
                </a:solidFill>
                <a:latin typeface="Calibri"/>
                <a:ea typeface="ＭＳ Ｐゴシック" panose="020B0600070205080204" pitchFamily="34" charset="-128"/>
              </a:rPr>
              <a:t>csolution project</a:t>
            </a:r>
            <a:endParaRPr kumimoji="0" lang="en-US" sz="1400" i="0" u="none" strike="noStrike" kern="1200" cap="none" spc="0" normalizeH="0" baseline="0" noProof="0" dirty="0">
              <a:ln>
                <a:noFill/>
              </a:ln>
              <a:solidFill>
                <a:schemeClr val="tx2"/>
              </a:solidFill>
              <a:effectLst/>
              <a:uLnTx/>
              <a:uFillTx/>
              <a:latin typeface="Calibri"/>
              <a:ea typeface="ＭＳ Ｐゴシック" panose="020B0600070205080204" pitchFamily="34" charset="-128"/>
              <a:cs typeface="+mn-cs"/>
            </a:endParaRPr>
          </a:p>
        </p:txBody>
      </p:sp>
      <p:cxnSp>
        <p:nvCxnSpPr>
          <p:cNvPr id="32" name="Straight Arrow Connector 31">
            <a:extLst>
              <a:ext uri="{FF2B5EF4-FFF2-40B4-BE49-F238E27FC236}">
                <a16:creationId xmlns:a16="http://schemas.microsoft.com/office/drawing/2014/main" id="{A4E03051-9D48-5FDC-094D-FB58C9271ABF}"/>
              </a:ext>
            </a:extLst>
          </p:cNvPr>
          <p:cNvCxnSpPr>
            <a:cxnSpLocks/>
            <a:stCxn id="18" idx="2"/>
            <a:endCxn id="21" idx="0"/>
          </p:cNvCxnSpPr>
          <p:nvPr/>
        </p:nvCxnSpPr>
        <p:spPr>
          <a:xfrm>
            <a:off x="4616752" y="3160231"/>
            <a:ext cx="5320" cy="147963"/>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1F103DAD-F88D-C689-0560-1048D6540892}"/>
              </a:ext>
            </a:extLst>
          </p:cNvPr>
          <p:cNvCxnSpPr>
            <a:cxnSpLocks/>
          </p:cNvCxnSpPr>
          <p:nvPr/>
        </p:nvCxnSpPr>
        <p:spPr>
          <a:xfrm>
            <a:off x="3444548" y="3802402"/>
            <a:ext cx="208466" cy="0"/>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4" name="Flowchart: Document 13">
            <a:extLst>
              <a:ext uri="{FF2B5EF4-FFF2-40B4-BE49-F238E27FC236}">
                <a16:creationId xmlns:a16="http://schemas.microsoft.com/office/drawing/2014/main" id="{38BE52EA-280B-2318-A777-D46E816B79CA}"/>
              </a:ext>
            </a:extLst>
          </p:cNvPr>
          <p:cNvSpPr/>
          <p:nvPr/>
        </p:nvSpPr>
        <p:spPr>
          <a:xfrm>
            <a:off x="1710904" y="1842067"/>
            <a:ext cx="1616706" cy="926474"/>
          </a:xfrm>
          <a:prstGeom prst="flowChartDocument">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600" dirty="0">
                <a:solidFill>
                  <a:srgbClr val="E5ECEB">
                    <a:lumMod val="25000"/>
                  </a:srgbClr>
                </a:solidFill>
                <a:latin typeface="Calibri"/>
              </a:rPr>
              <a:t>My</a:t>
            </a:r>
            <a: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t>.csolution.yml</a:t>
            </a:r>
            <a:br>
              <a:rPr kumimoji="0" lang="en-US" sz="36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Target and Build</a:t>
            </a:r>
            <a:b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Parameters</a:t>
            </a:r>
            <a:endParaRPr kumimoji="0" lang="en-GB" sz="1100" b="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sp>
        <p:nvSpPr>
          <p:cNvPr id="27" name="Rectangle 26">
            <a:extLst>
              <a:ext uri="{FF2B5EF4-FFF2-40B4-BE49-F238E27FC236}">
                <a16:creationId xmlns:a16="http://schemas.microsoft.com/office/drawing/2014/main" id="{AEDC6FEF-B907-D2BA-933E-C0D83103854B}"/>
              </a:ext>
            </a:extLst>
          </p:cNvPr>
          <p:cNvSpPr/>
          <p:nvPr/>
        </p:nvSpPr>
        <p:spPr>
          <a:xfrm>
            <a:off x="5787541" y="1842068"/>
            <a:ext cx="1800598" cy="2477012"/>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400" i="0" u="none" strike="noStrike" kern="1200" cap="none" spc="0" normalizeH="0" baseline="0" noProof="0" dirty="0">
                <a:ln>
                  <a:noFill/>
                </a:ln>
                <a:solidFill>
                  <a:schemeClr val="tx2"/>
                </a:solidFill>
                <a:effectLst/>
                <a:uLnTx/>
                <a:uFillTx/>
                <a:latin typeface="Calibri"/>
                <a:ea typeface="ＭＳ Ｐゴシック" panose="020B0600070205080204" pitchFamily="34" charset="-128"/>
                <a:cs typeface="+mn-cs"/>
              </a:rPr>
              <a:t>output</a:t>
            </a:r>
          </a:p>
        </p:txBody>
      </p:sp>
      <p:sp>
        <p:nvSpPr>
          <p:cNvPr id="28" name="Flowchart: Multidocument 27">
            <a:extLst>
              <a:ext uri="{FF2B5EF4-FFF2-40B4-BE49-F238E27FC236}">
                <a16:creationId xmlns:a16="http://schemas.microsoft.com/office/drawing/2014/main" id="{191C805B-82A0-6C0C-646A-FF1789C6591F}"/>
              </a:ext>
            </a:extLst>
          </p:cNvPr>
          <p:cNvSpPr/>
          <p:nvPr/>
        </p:nvSpPr>
        <p:spPr>
          <a:xfrm>
            <a:off x="5893680" y="3252313"/>
            <a:ext cx="1616706" cy="954101"/>
          </a:xfrm>
          <a:prstGeom prst="flowChartMultidocument">
            <a:avLst/>
          </a:prstGeom>
          <a:solidFill>
            <a:schemeClr val="accent5">
              <a:lumMod val="60000"/>
              <a:lumOff val="40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t>ELF/DWARF</a:t>
            </a:r>
            <a:br>
              <a:rPr kumimoji="0" lang="en-US" sz="2400" b="0" i="0" u="none" strike="noStrike" kern="1200" cap="none" spc="0" normalizeH="0" baseline="0" noProof="0" dirty="0">
                <a:ln>
                  <a:noFill/>
                </a:ln>
                <a:solidFill>
                  <a:srgbClr val="E5ECEB">
                    <a:lumMod val="25000"/>
                  </a:srgbClr>
                </a:solidFill>
                <a:effectLst/>
                <a:uLnTx/>
                <a:uFillTx/>
                <a:latin typeface="Calibri"/>
                <a:ea typeface="+mn-ea"/>
                <a:cs typeface="+mn-cs"/>
              </a:rPr>
            </a:br>
            <a:r>
              <a:rPr lang="en-US" sz="1100" dirty="0">
                <a:solidFill>
                  <a:srgbClr val="E5ECEB">
                    <a:lumMod val="25000"/>
                  </a:srgbClr>
                </a:solidFill>
                <a:latin typeface="Calibri"/>
              </a:rPr>
              <a:t>HEX/binary files</a:t>
            </a:r>
            <a:br>
              <a:rPr lang="en-US" sz="1100" dirty="0">
                <a:solidFill>
                  <a:srgbClr val="E5ECEB">
                    <a:lumMod val="25000"/>
                  </a:srgbClr>
                </a:solidFill>
                <a:latin typeface="Calibri"/>
              </a:rPr>
            </a:br>
            <a:endParaRPr kumimoji="0" lang="en-US" sz="8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42" name="Straight Arrow Connector 41">
            <a:extLst>
              <a:ext uri="{FF2B5EF4-FFF2-40B4-BE49-F238E27FC236}">
                <a16:creationId xmlns:a16="http://schemas.microsoft.com/office/drawing/2014/main" id="{C50C2F2D-4852-0123-E9D8-3BB6987635A6}"/>
              </a:ext>
            </a:extLst>
          </p:cNvPr>
          <p:cNvCxnSpPr>
            <a:cxnSpLocks/>
            <a:stCxn id="21" idx="3"/>
          </p:cNvCxnSpPr>
          <p:nvPr/>
        </p:nvCxnSpPr>
        <p:spPr>
          <a:xfrm>
            <a:off x="5591130" y="3812438"/>
            <a:ext cx="196411" cy="0"/>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 name="Arrow: Right 2">
            <a:extLst>
              <a:ext uri="{FF2B5EF4-FFF2-40B4-BE49-F238E27FC236}">
                <a16:creationId xmlns:a16="http://schemas.microsoft.com/office/drawing/2014/main" id="{0113BAF6-BEEA-E903-AEEC-219B2BD6CBB9}"/>
              </a:ext>
            </a:extLst>
          </p:cNvPr>
          <p:cNvSpPr/>
          <p:nvPr/>
        </p:nvSpPr>
        <p:spPr>
          <a:xfrm>
            <a:off x="7588137" y="2933543"/>
            <a:ext cx="479335" cy="37465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row: Right 3">
            <a:extLst>
              <a:ext uri="{FF2B5EF4-FFF2-40B4-BE49-F238E27FC236}">
                <a16:creationId xmlns:a16="http://schemas.microsoft.com/office/drawing/2014/main" id="{9568CC81-3B04-6C9F-B6AE-D9030A9EDAC2}"/>
              </a:ext>
            </a:extLst>
          </p:cNvPr>
          <p:cNvSpPr/>
          <p:nvPr/>
        </p:nvSpPr>
        <p:spPr>
          <a:xfrm>
            <a:off x="7588138" y="3729364"/>
            <a:ext cx="479334" cy="37465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393DF23-D5D4-EFDD-09AC-612915FE082C}"/>
              </a:ext>
            </a:extLst>
          </p:cNvPr>
          <p:cNvSpPr txBox="1"/>
          <p:nvPr/>
        </p:nvSpPr>
        <p:spPr>
          <a:xfrm>
            <a:off x="7678105" y="2775575"/>
            <a:ext cx="638857"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kern="1200" dirty="0">
                <a:solidFill>
                  <a:schemeClr val="tx2"/>
                </a:solidFill>
                <a:latin typeface="+mn-lt"/>
                <a:ea typeface="+mn-ea"/>
                <a:cs typeface="+mn-cs"/>
              </a:rPr>
              <a:t>Run</a:t>
            </a:r>
          </a:p>
        </p:txBody>
      </p:sp>
      <p:sp>
        <p:nvSpPr>
          <p:cNvPr id="9" name="TextBox 8">
            <a:extLst>
              <a:ext uri="{FF2B5EF4-FFF2-40B4-BE49-F238E27FC236}">
                <a16:creationId xmlns:a16="http://schemas.microsoft.com/office/drawing/2014/main" id="{F4029150-7D64-A33A-BF88-B35A2BF4B1CB}"/>
              </a:ext>
            </a:extLst>
          </p:cNvPr>
          <p:cNvSpPr txBox="1"/>
          <p:nvPr/>
        </p:nvSpPr>
        <p:spPr>
          <a:xfrm>
            <a:off x="7631998" y="3538663"/>
            <a:ext cx="691016"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dirty="0">
                <a:solidFill>
                  <a:schemeClr val="tx2"/>
                </a:solidFill>
              </a:rPr>
              <a:t>Debug</a:t>
            </a:r>
            <a:endParaRPr lang="en-US" sz="1100" kern="1200" dirty="0">
              <a:solidFill>
                <a:schemeClr val="tx2"/>
              </a:solidFill>
              <a:latin typeface="+mn-lt"/>
              <a:ea typeface="+mn-ea"/>
              <a:cs typeface="+mn-cs"/>
            </a:endParaRPr>
          </a:p>
        </p:txBody>
      </p:sp>
      <p:sp>
        <p:nvSpPr>
          <p:cNvPr id="15" name="Flowchart: Document 14">
            <a:extLst>
              <a:ext uri="{FF2B5EF4-FFF2-40B4-BE49-F238E27FC236}">
                <a16:creationId xmlns:a16="http://schemas.microsoft.com/office/drawing/2014/main" id="{B351EB10-5DF1-0271-7B1C-73B54AA4C068}"/>
              </a:ext>
            </a:extLst>
          </p:cNvPr>
          <p:cNvSpPr/>
          <p:nvPr/>
        </p:nvSpPr>
        <p:spPr>
          <a:xfrm>
            <a:off x="5879711" y="2180299"/>
            <a:ext cx="1616706" cy="954101"/>
          </a:xfrm>
          <a:prstGeom prst="flowChartDocument">
            <a:avLst/>
          </a:prstGeom>
          <a:solidFill>
            <a:schemeClr val="accent5">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defRPr/>
            </a:pPr>
            <a:br>
              <a:rPr lang="en-US" sz="100" dirty="0">
                <a:solidFill>
                  <a:srgbClr val="E5ECEB">
                    <a:lumMod val="25000"/>
                  </a:srgbClr>
                </a:solidFill>
                <a:latin typeface="Calibri"/>
              </a:rPr>
            </a:br>
            <a:r>
              <a:rPr lang="en-US" sz="1400" dirty="0" err="1">
                <a:solidFill>
                  <a:srgbClr val="E5ECEB">
                    <a:lumMod val="25000"/>
                  </a:srgbClr>
                </a:solidFill>
                <a:latin typeface="Calibri"/>
              </a:rPr>
              <a:t>My+target</a:t>
            </a:r>
            <a:r>
              <a:rPr lang="en-US" sz="1400" dirty="0">
                <a:solidFill>
                  <a:srgbClr val="E5ECEB">
                    <a:lumMod val="25000"/>
                  </a:srgbClr>
                </a:solidFill>
                <a:latin typeface="Calibri"/>
              </a:rPr>
              <a:t>.</a:t>
            </a:r>
            <a:br>
              <a:rPr lang="en-US" sz="1400" dirty="0">
                <a:solidFill>
                  <a:srgbClr val="E5ECEB">
                    <a:lumMod val="25000"/>
                  </a:srgbClr>
                </a:solidFill>
                <a:latin typeface="Calibri"/>
              </a:rPr>
            </a:br>
            <a:r>
              <a:rPr lang="en-US" sz="1400" dirty="0" err="1">
                <a:solidFill>
                  <a:srgbClr val="E5ECEB">
                    <a:lumMod val="25000"/>
                  </a:srgbClr>
                </a:solidFill>
                <a:latin typeface="Calibri"/>
              </a:rPr>
              <a:t>cbuild-run.yml</a:t>
            </a:r>
            <a:br>
              <a:rPr kumimoji="0" lang="en-US" sz="36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chemeClr val="bg2">
                    <a:lumMod val="25000"/>
                  </a:schemeClr>
                </a:solidFill>
                <a:effectLst/>
                <a:uLnTx/>
                <a:uFillTx/>
                <a:latin typeface="Calibri"/>
                <a:ea typeface="+mn-ea"/>
                <a:cs typeface="+mn-cs"/>
              </a:rPr>
              <a:t>Run and D</a:t>
            </a:r>
            <a:r>
              <a:rPr lang="en-US" sz="1100" dirty="0" err="1">
                <a:solidFill>
                  <a:schemeClr val="bg2">
                    <a:lumMod val="25000"/>
                  </a:schemeClr>
                </a:solidFill>
                <a:latin typeface="Calibri"/>
              </a:rPr>
              <a:t>ebug</a:t>
            </a:r>
            <a:br>
              <a:rPr lang="en-US" sz="1100" dirty="0">
                <a:solidFill>
                  <a:schemeClr val="bg2">
                    <a:lumMod val="25000"/>
                  </a:schemeClr>
                </a:solidFill>
                <a:latin typeface="Calibri"/>
              </a:rPr>
            </a:br>
            <a:r>
              <a:rPr lang="en-US" sz="1100" dirty="0">
                <a:solidFill>
                  <a:schemeClr val="bg2">
                    <a:lumMod val="25000"/>
                  </a:schemeClr>
                </a:solidFill>
                <a:latin typeface="Calibri"/>
              </a:rPr>
              <a:t>Configuration</a:t>
            </a:r>
            <a:endParaRPr kumimoji="0" lang="en-GB" sz="1100" b="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sp>
        <p:nvSpPr>
          <p:cNvPr id="13" name="Flowchart: Document 12">
            <a:extLst>
              <a:ext uri="{FF2B5EF4-FFF2-40B4-BE49-F238E27FC236}">
                <a16:creationId xmlns:a16="http://schemas.microsoft.com/office/drawing/2014/main" id="{DFD686E7-79E0-8AF6-22BB-EEBB847876DE}"/>
              </a:ext>
            </a:extLst>
          </p:cNvPr>
          <p:cNvSpPr/>
          <p:nvPr/>
        </p:nvSpPr>
        <p:spPr>
          <a:xfrm>
            <a:off x="8067472" y="1458647"/>
            <a:ext cx="1651240" cy="926474"/>
          </a:xfrm>
          <a:prstGeom prst="flowChartDocument">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600" dirty="0">
                <a:solidFill>
                  <a:srgbClr val="E5ECEB">
                    <a:lumMod val="25000"/>
                  </a:srgbClr>
                </a:solidFill>
                <a:latin typeface="Calibri"/>
              </a:rPr>
              <a:t>*</a:t>
            </a:r>
            <a: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t>.</a:t>
            </a:r>
            <a:r>
              <a:rPr kumimoji="0" lang="en-US" sz="1600" b="0" i="0" u="none" strike="noStrike" kern="1200" cap="none" spc="0" normalizeH="0" baseline="0" noProof="0" dirty="0" err="1">
                <a:ln>
                  <a:noFill/>
                </a:ln>
                <a:solidFill>
                  <a:srgbClr val="E5ECEB">
                    <a:lumMod val="25000"/>
                  </a:srgbClr>
                </a:solidFill>
                <a:effectLst/>
                <a:uLnTx/>
                <a:uFillTx/>
                <a:latin typeface="Calibri"/>
                <a:ea typeface="+mn-ea"/>
                <a:cs typeface="+mn-cs"/>
              </a:rPr>
              <a:t>dbgconf</a:t>
            </a:r>
            <a:b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Device configuration for D</a:t>
            </a:r>
            <a:r>
              <a:rPr lang="en-US" sz="1100" dirty="0" err="1">
                <a:solidFill>
                  <a:srgbClr val="E5ECEB">
                    <a:lumMod val="25000"/>
                  </a:srgbClr>
                </a:solidFill>
                <a:latin typeface="Calibri"/>
              </a:rPr>
              <a:t>ebug</a:t>
            </a:r>
            <a:r>
              <a:rPr lang="en-US" sz="1100" dirty="0">
                <a:solidFill>
                  <a:srgbClr val="E5ECEB">
                    <a:lumMod val="25000"/>
                  </a:srgbClr>
                </a:solidFill>
                <a:latin typeface="Calibri"/>
              </a:rPr>
              <a:t>/Trace</a:t>
            </a:r>
            <a:endParaRPr kumimoji="0" lang="en-GB" sz="1100" b="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cxnSp>
        <p:nvCxnSpPr>
          <p:cNvPr id="16" name="Straight Arrow Connector 15">
            <a:extLst>
              <a:ext uri="{FF2B5EF4-FFF2-40B4-BE49-F238E27FC236}">
                <a16:creationId xmlns:a16="http://schemas.microsoft.com/office/drawing/2014/main" id="{A4BB0A40-0A8E-93A0-759A-E386D05DA142}"/>
              </a:ext>
            </a:extLst>
          </p:cNvPr>
          <p:cNvCxnSpPr>
            <a:cxnSpLocks/>
          </p:cNvCxnSpPr>
          <p:nvPr/>
        </p:nvCxnSpPr>
        <p:spPr>
          <a:xfrm>
            <a:off x="5580489" y="1689103"/>
            <a:ext cx="2486983" cy="0"/>
          </a:xfrm>
          <a:prstGeom prst="straightConnector1">
            <a:avLst/>
          </a:prstGeom>
          <a:ln w="158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7CEE5895-1B29-4423-3AE5-7C56E267D53C}"/>
              </a:ext>
            </a:extLst>
          </p:cNvPr>
          <p:cNvSpPr/>
          <p:nvPr/>
        </p:nvSpPr>
        <p:spPr>
          <a:xfrm>
            <a:off x="8067473" y="2676968"/>
            <a:ext cx="1651239" cy="163971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lang="en-US" b="1" dirty="0" err="1">
                <a:solidFill>
                  <a:schemeClr val="bg1"/>
                </a:solidFill>
                <a:latin typeface="Calibri"/>
              </a:rPr>
              <a:t>pyOCD</a:t>
            </a:r>
            <a:b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12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8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r>
              <a:rPr kumimoji="0" lang="en-US" sz="1100" i="0" u="none" strike="noStrike" kern="1200" cap="none" spc="0" normalizeH="0" baseline="0" noProof="0" dirty="0" err="1">
                <a:ln>
                  <a:noFill/>
                </a:ln>
                <a:solidFill>
                  <a:schemeClr val="bg1"/>
                </a:solidFill>
                <a:effectLst/>
                <a:uLnTx/>
                <a:uFillTx/>
                <a:latin typeface="Calibri"/>
                <a:ea typeface="ＭＳ Ｐゴシック" panose="020B0600070205080204" pitchFamily="34" charset="-128"/>
                <a:cs typeface="+mn-cs"/>
              </a:rPr>
              <a:t>VSCode</a:t>
            </a:r>
            <a:r>
              <a:rPr kumimoji="0" lang="en-US" sz="11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t> Extension</a:t>
            </a:r>
          </a:p>
          <a:p>
            <a:pPr algn="ctr" eaLnBrk="0" fontAlgn="base" hangingPunct="0">
              <a:spcBef>
                <a:spcPct val="0"/>
              </a:spcBef>
              <a:spcAft>
                <a:spcPct val="0"/>
              </a:spcAft>
              <a:defRPr/>
            </a:pPr>
            <a:r>
              <a:rPr kumimoji="0" lang="en-US" sz="11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t>CMSIS-Debug</a:t>
            </a:r>
          </a:p>
        </p:txBody>
      </p:sp>
      <p:pic>
        <p:nvPicPr>
          <p:cNvPr id="1026" name="Picture 2" descr="pyOCD">
            <a:extLst>
              <a:ext uri="{FF2B5EF4-FFF2-40B4-BE49-F238E27FC236}">
                <a16:creationId xmlns:a16="http://schemas.microsoft.com/office/drawing/2014/main" id="{BBD8DBCC-CB0E-DFC6-3B06-220E22A3F4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89939" y="3036629"/>
            <a:ext cx="691016" cy="911509"/>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Straight Arrow Connector 23">
            <a:extLst>
              <a:ext uri="{FF2B5EF4-FFF2-40B4-BE49-F238E27FC236}">
                <a16:creationId xmlns:a16="http://schemas.microsoft.com/office/drawing/2014/main" id="{F23AF814-22CA-54F1-E7FE-DB57E26408AF}"/>
              </a:ext>
            </a:extLst>
          </p:cNvPr>
          <p:cNvCxnSpPr>
            <a:cxnSpLocks/>
            <a:stCxn id="13" idx="2"/>
            <a:endCxn id="23" idx="0"/>
          </p:cNvCxnSpPr>
          <p:nvPr/>
        </p:nvCxnSpPr>
        <p:spPr>
          <a:xfrm>
            <a:off x="8893092" y="2323871"/>
            <a:ext cx="1" cy="353097"/>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795BB834-2560-9281-B17C-E886AB9C8C34}"/>
              </a:ext>
            </a:extLst>
          </p:cNvPr>
          <p:cNvSpPr/>
          <p:nvPr/>
        </p:nvSpPr>
        <p:spPr>
          <a:xfrm>
            <a:off x="5933475" y="4488152"/>
            <a:ext cx="201042" cy="204985"/>
          </a:xfrm>
          <a:prstGeom prst="rect">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E5ECEB">
                  <a:lumMod val="25000"/>
                </a:srgbClr>
              </a:solidFill>
              <a:latin typeface="Calibri"/>
            </a:endParaRPr>
          </a:p>
        </p:txBody>
      </p:sp>
      <p:sp>
        <p:nvSpPr>
          <p:cNvPr id="38" name="Rectangle 37">
            <a:extLst>
              <a:ext uri="{FF2B5EF4-FFF2-40B4-BE49-F238E27FC236}">
                <a16:creationId xmlns:a16="http://schemas.microsoft.com/office/drawing/2014/main" id="{9FA1BCA8-314A-FF1C-50A9-02988B73856D}"/>
              </a:ext>
            </a:extLst>
          </p:cNvPr>
          <p:cNvSpPr/>
          <p:nvPr/>
        </p:nvSpPr>
        <p:spPr>
          <a:xfrm>
            <a:off x="7934130" y="4488152"/>
            <a:ext cx="201042" cy="204985"/>
          </a:xfrm>
          <a:prstGeom prst="rect">
            <a:avLst/>
          </a:prstGeom>
          <a:solidFill>
            <a:schemeClr val="accent5">
              <a:lumMod val="60000"/>
              <a:lumOff val="40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eaLnBrk="0" fontAlgn="base" hangingPunct="0">
              <a:spcBef>
                <a:spcPct val="0"/>
              </a:spcBef>
              <a:spcAft>
                <a:spcPct val="0"/>
              </a:spcAft>
            </a:pPr>
            <a:endParaRPr lang="en-US" sz="1600">
              <a:solidFill>
                <a:srgbClr val="E5ECEB">
                  <a:lumMod val="25000"/>
                </a:srgbClr>
              </a:solidFill>
              <a:latin typeface="Calibri"/>
            </a:endParaRPr>
          </a:p>
        </p:txBody>
      </p:sp>
      <p:sp>
        <p:nvSpPr>
          <p:cNvPr id="39" name="Rectangle 38">
            <a:extLst>
              <a:ext uri="{FF2B5EF4-FFF2-40B4-BE49-F238E27FC236}">
                <a16:creationId xmlns:a16="http://schemas.microsoft.com/office/drawing/2014/main" id="{5565D11E-F361-A32A-3B7D-D4A663A2DB67}"/>
              </a:ext>
            </a:extLst>
          </p:cNvPr>
          <p:cNvSpPr/>
          <p:nvPr/>
        </p:nvSpPr>
        <p:spPr>
          <a:xfrm>
            <a:off x="1783404" y="4476329"/>
            <a:ext cx="201042" cy="204985"/>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b="1">
              <a:solidFill>
                <a:schemeClr val="bg1"/>
              </a:solidFill>
              <a:latin typeface="Calibri"/>
            </a:endParaRPr>
          </a:p>
        </p:txBody>
      </p:sp>
      <p:sp>
        <p:nvSpPr>
          <p:cNvPr id="40" name="Rectangle 39">
            <a:extLst>
              <a:ext uri="{FF2B5EF4-FFF2-40B4-BE49-F238E27FC236}">
                <a16:creationId xmlns:a16="http://schemas.microsoft.com/office/drawing/2014/main" id="{C4758272-BDFF-9DD7-8D07-A205BAF328F7}"/>
              </a:ext>
            </a:extLst>
          </p:cNvPr>
          <p:cNvSpPr/>
          <p:nvPr/>
        </p:nvSpPr>
        <p:spPr>
          <a:xfrm>
            <a:off x="3699754" y="4476329"/>
            <a:ext cx="201042" cy="20498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pPr>
            <a:endParaRPr lang="en-US" sz="1400">
              <a:solidFill>
                <a:schemeClr val="bg1"/>
              </a:solidFill>
              <a:latin typeface="Calibri"/>
              <a:ea typeface="ＭＳ Ｐゴシック" panose="020B0600070205080204" pitchFamily="34" charset="-128"/>
            </a:endParaRPr>
          </a:p>
        </p:txBody>
      </p:sp>
      <p:sp>
        <p:nvSpPr>
          <p:cNvPr id="41" name="TextBox 40">
            <a:extLst>
              <a:ext uri="{FF2B5EF4-FFF2-40B4-BE49-F238E27FC236}">
                <a16:creationId xmlns:a16="http://schemas.microsoft.com/office/drawing/2014/main" id="{059964D2-2E55-1F97-2380-BCD6981B45F5}"/>
              </a:ext>
            </a:extLst>
          </p:cNvPr>
          <p:cNvSpPr txBox="1"/>
          <p:nvPr/>
        </p:nvSpPr>
        <p:spPr>
          <a:xfrm>
            <a:off x="6218823" y="4528966"/>
            <a:ext cx="1369314"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dirty="0">
                <a:solidFill>
                  <a:schemeClr val="tx2"/>
                </a:solidFill>
              </a:rPr>
              <a:t>User created input files </a:t>
            </a:r>
          </a:p>
        </p:txBody>
      </p:sp>
      <p:sp>
        <p:nvSpPr>
          <p:cNvPr id="43" name="TextBox 42">
            <a:extLst>
              <a:ext uri="{FF2B5EF4-FFF2-40B4-BE49-F238E27FC236}">
                <a16:creationId xmlns:a16="http://schemas.microsoft.com/office/drawing/2014/main" id="{29D17685-0635-B2C0-45A2-E33493CB3CA4}"/>
              </a:ext>
            </a:extLst>
          </p:cNvPr>
          <p:cNvSpPr txBox="1"/>
          <p:nvPr/>
        </p:nvSpPr>
        <p:spPr>
          <a:xfrm>
            <a:off x="8237582" y="4528965"/>
            <a:ext cx="1369314"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dirty="0">
                <a:solidFill>
                  <a:schemeClr val="tx2"/>
                </a:solidFill>
              </a:rPr>
              <a:t>Generated output files</a:t>
            </a:r>
          </a:p>
        </p:txBody>
      </p:sp>
      <p:sp>
        <p:nvSpPr>
          <p:cNvPr id="44" name="TextBox 43">
            <a:extLst>
              <a:ext uri="{FF2B5EF4-FFF2-40B4-BE49-F238E27FC236}">
                <a16:creationId xmlns:a16="http://schemas.microsoft.com/office/drawing/2014/main" id="{C193D65C-CA60-BBD6-7ABC-CCA16604B940}"/>
              </a:ext>
            </a:extLst>
          </p:cNvPr>
          <p:cNvSpPr txBox="1"/>
          <p:nvPr/>
        </p:nvSpPr>
        <p:spPr>
          <a:xfrm>
            <a:off x="2074616" y="4510401"/>
            <a:ext cx="1369314"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dirty="0">
                <a:solidFill>
                  <a:schemeClr val="tx2"/>
                </a:solidFill>
              </a:rPr>
              <a:t>Open-CMSIS Tools</a:t>
            </a:r>
          </a:p>
        </p:txBody>
      </p:sp>
      <p:sp>
        <p:nvSpPr>
          <p:cNvPr id="45" name="TextBox 44">
            <a:extLst>
              <a:ext uri="{FF2B5EF4-FFF2-40B4-BE49-F238E27FC236}">
                <a16:creationId xmlns:a16="http://schemas.microsoft.com/office/drawing/2014/main" id="{812F9380-BF14-55F8-0861-B3E03A291C6A}"/>
              </a:ext>
            </a:extLst>
          </p:cNvPr>
          <p:cNvSpPr txBox="1"/>
          <p:nvPr/>
        </p:nvSpPr>
        <p:spPr>
          <a:xfrm>
            <a:off x="4012437" y="4517356"/>
            <a:ext cx="1636096"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dirty="0">
                <a:solidFill>
                  <a:schemeClr val="tx2"/>
                </a:solidFill>
              </a:rPr>
              <a:t>Published software packs</a:t>
            </a:r>
          </a:p>
        </p:txBody>
      </p:sp>
    </p:spTree>
    <p:custDataLst>
      <p:tags r:id="rId1"/>
    </p:custDataLst>
    <p:extLst>
      <p:ext uri="{BB962C8B-B14F-4D97-AF65-F5344CB8AC3E}">
        <p14:creationId xmlns:p14="http://schemas.microsoft.com/office/powerpoint/2010/main" val="3743762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0F744-25E4-B01F-81D7-281ACB94C267}"/>
            </a:ext>
          </a:extLst>
        </p:cNvPr>
        <p:cNvGrpSpPr/>
        <p:nvPr/>
      </p:nvGrpSpPr>
      <p:grpSpPr>
        <a:xfrm>
          <a:off x="0" y="0"/>
          <a:ext cx="0" cy="0"/>
          <a:chOff x="0" y="0"/>
          <a:chExt cx="0" cy="0"/>
        </a:xfrm>
      </p:grpSpPr>
      <p:sp>
        <p:nvSpPr>
          <p:cNvPr id="46" name="Rectangle 45">
            <a:extLst>
              <a:ext uri="{FF2B5EF4-FFF2-40B4-BE49-F238E27FC236}">
                <a16:creationId xmlns:a16="http://schemas.microsoft.com/office/drawing/2014/main" id="{ABCF2DF9-80C6-DDD9-9E06-B2B4ABF374C2}"/>
              </a:ext>
            </a:extLst>
          </p:cNvPr>
          <p:cNvSpPr/>
          <p:nvPr/>
        </p:nvSpPr>
        <p:spPr>
          <a:xfrm>
            <a:off x="5787541" y="4316682"/>
            <a:ext cx="1800596" cy="1181378"/>
          </a:xfrm>
          <a:prstGeom prst="rect">
            <a:avLst/>
          </a:prstGeom>
          <a:solidFill>
            <a:srgbClr val="0091BD">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lowchart: Multidocument 4">
            <a:extLst>
              <a:ext uri="{FF2B5EF4-FFF2-40B4-BE49-F238E27FC236}">
                <a16:creationId xmlns:a16="http://schemas.microsoft.com/office/drawing/2014/main" id="{75C95FD9-B8E6-0EC5-66A7-EBBE392848E4}"/>
              </a:ext>
            </a:extLst>
          </p:cNvPr>
          <p:cNvSpPr/>
          <p:nvPr/>
        </p:nvSpPr>
        <p:spPr>
          <a:xfrm>
            <a:off x="1730244" y="2937085"/>
            <a:ext cx="1616706" cy="1160511"/>
          </a:xfrm>
          <a:prstGeom prst="flowChartMultidocument">
            <a:avLst/>
          </a:prstGeom>
          <a:solidFill>
            <a:schemeClr val="accent3">
              <a:lumMod val="60000"/>
              <a:lumOff val="40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t>*.</a:t>
            </a:r>
            <a:r>
              <a:rPr kumimoji="0" lang="en-US" sz="1600" b="0" i="0" u="none" strike="noStrike" kern="1200" cap="none" spc="0" normalizeH="0" baseline="0" noProof="0" dirty="0" err="1">
                <a:ln>
                  <a:noFill/>
                </a:ln>
                <a:solidFill>
                  <a:srgbClr val="E5ECEB">
                    <a:lumMod val="25000"/>
                  </a:srgbClr>
                </a:solidFill>
                <a:effectLst/>
                <a:uLnTx/>
                <a:uFillTx/>
                <a:latin typeface="Calibri"/>
                <a:ea typeface="+mn-ea"/>
                <a:cs typeface="+mn-cs"/>
              </a:rPr>
              <a:t>cproject.yml</a:t>
            </a:r>
            <a:br>
              <a:rPr kumimoji="0" lang="en-US" sz="24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source files and </a:t>
            </a:r>
            <a:b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SW components</a:t>
            </a:r>
            <a:endParaRPr kumimoji="0" lang="en-GB" sz="1100" b="0" i="0" u="none" strike="noStrike" kern="1200" cap="none" spc="0" normalizeH="0" baseline="0" noProof="0" dirty="0">
              <a:ln>
                <a:noFill/>
              </a:ln>
              <a:solidFill>
                <a:srgbClr val="E5ECEB">
                  <a:lumMod val="25000"/>
                </a:srgbClr>
              </a:solidFill>
              <a:effectLst/>
              <a:uLnTx/>
              <a:uFillTx/>
              <a:latin typeface="Calibri"/>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77C6C8CD-1997-B5B5-CA08-8AE10125DEBE}"/>
              </a:ext>
            </a:extLst>
          </p:cNvPr>
          <p:cNvSpPr/>
          <p:nvPr/>
        </p:nvSpPr>
        <p:spPr>
          <a:xfrm>
            <a:off x="3653014" y="1479487"/>
            <a:ext cx="1927475" cy="16807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t>Software Packs</a:t>
            </a:r>
          </a:p>
        </p:txBody>
      </p:sp>
      <p:sp>
        <p:nvSpPr>
          <p:cNvPr id="7" name="Flowchart: Multidocument 6">
            <a:extLst>
              <a:ext uri="{FF2B5EF4-FFF2-40B4-BE49-F238E27FC236}">
                <a16:creationId xmlns:a16="http://schemas.microsoft.com/office/drawing/2014/main" id="{447AD95C-9875-F12C-D1A0-46F6806B3B94}"/>
              </a:ext>
            </a:extLst>
          </p:cNvPr>
          <p:cNvSpPr/>
          <p:nvPr/>
        </p:nvSpPr>
        <p:spPr>
          <a:xfrm>
            <a:off x="3799060" y="1822501"/>
            <a:ext cx="1653577" cy="1181703"/>
          </a:xfrm>
          <a:prstGeom prst="flowChartMultidocument">
            <a:avLst/>
          </a:prstGeom>
          <a:solidFill>
            <a:schemeClr val="bg1"/>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chemeClr val="bg2">
                    <a:lumMod val="25000"/>
                  </a:schemeClr>
                </a:solidFill>
                <a:effectLst/>
                <a:uLnTx/>
                <a:uFillTx/>
                <a:latin typeface="Calibri"/>
                <a:ea typeface="+mn-ea"/>
                <a:cs typeface="+mn-cs"/>
              </a:rPr>
              <a:t>Device/</a:t>
            </a:r>
            <a:r>
              <a:rPr lang="en-US" sz="1400" dirty="0">
                <a:solidFill>
                  <a:schemeClr val="bg2">
                    <a:lumMod val="25000"/>
                  </a:schemeClr>
                </a:solidFill>
                <a:latin typeface="Calibri"/>
              </a:rPr>
              <a:t>Board</a:t>
            </a:r>
            <a:br>
              <a:rPr lang="en-US" sz="1400" dirty="0">
                <a:solidFill>
                  <a:schemeClr val="bg2">
                    <a:lumMod val="25000"/>
                  </a:schemeClr>
                </a:solidFill>
                <a:latin typeface="Calibri"/>
              </a:rPr>
            </a:br>
            <a:r>
              <a:rPr lang="en-US" sz="1400" dirty="0">
                <a:solidFill>
                  <a:schemeClr val="bg2">
                    <a:lumMod val="25000"/>
                  </a:schemeClr>
                </a:solidFill>
                <a:latin typeface="Calibri"/>
              </a:rPr>
              <a:t>Generic </a:t>
            </a:r>
            <a:r>
              <a:rPr kumimoji="0" lang="en-US" sz="1400" b="0" i="0" u="none" strike="noStrike" kern="1200" cap="none" spc="0" normalizeH="0" baseline="0" noProof="0" dirty="0">
                <a:ln>
                  <a:noFill/>
                </a:ln>
                <a:solidFill>
                  <a:schemeClr val="bg2">
                    <a:lumMod val="25000"/>
                  </a:schemeClr>
                </a:solidFill>
                <a:effectLst/>
                <a:uLnTx/>
                <a:uFillTx/>
                <a:latin typeface="Calibri"/>
                <a:ea typeface="+mn-ea"/>
                <a:cs typeface="+mn-cs"/>
              </a:rPr>
              <a:t>Software</a:t>
            </a:r>
            <a:br>
              <a:rPr kumimoji="0" lang="en-US" sz="1100" b="0" i="0" u="none" strike="noStrike" kern="1200" cap="none" spc="0" normalizeH="0" baseline="0" noProof="0" dirty="0">
                <a:ln>
                  <a:noFill/>
                </a:ln>
                <a:solidFill>
                  <a:schemeClr val="bg2">
                    <a:lumMod val="25000"/>
                  </a:schemeClr>
                </a:solidFill>
                <a:effectLst/>
                <a:uLnTx/>
                <a:uFillTx/>
                <a:latin typeface="Calibri"/>
                <a:ea typeface="+mn-ea"/>
                <a:cs typeface="+mn-cs"/>
              </a:rPr>
            </a:br>
            <a:endParaRPr kumimoji="0" lang="en-US" sz="5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21" name="Rectangle 20">
            <a:extLst>
              <a:ext uri="{FF2B5EF4-FFF2-40B4-BE49-F238E27FC236}">
                <a16:creationId xmlns:a16="http://schemas.microsoft.com/office/drawing/2014/main" id="{69BFEF8F-1868-6C54-5CD9-ED9BA2BA7981}"/>
              </a:ext>
            </a:extLst>
          </p:cNvPr>
          <p:cNvSpPr/>
          <p:nvPr/>
        </p:nvSpPr>
        <p:spPr>
          <a:xfrm>
            <a:off x="3653014" y="3308194"/>
            <a:ext cx="1938116" cy="1008488"/>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a:ea typeface="+mn-ea"/>
                <a:cs typeface="+mn-cs"/>
              </a:rPr>
              <a:t>CMSIS-Toolbox</a:t>
            </a:r>
          </a:p>
          <a:p>
            <a:pPr marL="0" marR="0" lvl="0" indent="0" algn="ctr" defTabSz="914400" rtl="0" eaLnBrk="0" fontAlgn="base" latinLnBrk="0" hangingPunct="0">
              <a:lnSpc>
                <a:spcPct val="100000"/>
              </a:lnSpc>
              <a:spcBef>
                <a:spcPct val="0"/>
              </a:spcBef>
              <a:spcAft>
                <a:spcPct val="0"/>
              </a:spcAft>
              <a:buClrTx/>
              <a:buSzTx/>
              <a:buFontTx/>
              <a:buNone/>
              <a:tabLst/>
              <a:defRPr/>
            </a:pPr>
            <a:r>
              <a:rPr lang="en-US" sz="1100" dirty="0" err="1">
                <a:solidFill>
                  <a:schemeClr val="bg1"/>
                </a:solidFill>
                <a:latin typeface="Calibri"/>
              </a:rPr>
              <a:t>cbuild</a:t>
            </a:r>
            <a:r>
              <a:rPr lang="en-US" sz="1100" dirty="0">
                <a:solidFill>
                  <a:schemeClr val="bg1"/>
                </a:solidFill>
                <a:latin typeface="Calibri"/>
              </a:rPr>
              <a:t>: Build Invocation</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chemeClr val="bg1"/>
              </a:solidFill>
              <a:effectLst/>
              <a:uLnTx/>
              <a:uFillTx/>
              <a:latin typeface="Calibri"/>
              <a:ea typeface="+mn-ea"/>
              <a:cs typeface="+mn-cs"/>
            </a:endParaRPr>
          </a:p>
          <a:p>
            <a:pPr algn="ctr" eaLnBrk="0" fontAlgn="base" hangingPunct="0">
              <a:spcBef>
                <a:spcPct val="0"/>
              </a:spcBef>
              <a:spcAft>
                <a:spcPct val="0"/>
              </a:spcAft>
              <a:defRPr/>
            </a:pPr>
            <a:r>
              <a:rPr kumimoji="0" lang="en-US" sz="1100" i="0" u="none" strike="noStrike" kern="1200" cap="none" spc="0" normalizeH="0" baseline="0" noProof="0" dirty="0" err="1">
                <a:ln>
                  <a:noFill/>
                </a:ln>
                <a:solidFill>
                  <a:schemeClr val="bg1"/>
                </a:solidFill>
                <a:effectLst/>
                <a:uLnTx/>
                <a:uFillTx/>
                <a:latin typeface="Calibri"/>
                <a:ea typeface="ＭＳ Ｐゴシック" panose="020B0600070205080204" pitchFamily="34" charset="-128"/>
                <a:cs typeface="+mn-cs"/>
              </a:rPr>
              <a:t>VSCode</a:t>
            </a:r>
            <a:r>
              <a:rPr kumimoji="0" lang="en-US" sz="11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t> Extension</a:t>
            </a:r>
          </a:p>
          <a:p>
            <a:pPr algn="ctr" eaLnBrk="0" fontAlgn="base" hangingPunct="0">
              <a:spcBef>
                <a:spcPct val="0"/>
              </a:spcBef>
              <a:spcAft>
                <a:spcPct val="0"/>
              </a:spcAft>
              <a:defRPr/>
            </a:pPr>
            <a:r>
              <a:rPr kumimoji="0" lang="en-US" sz="11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t>CMSIS-Solution</a:t>
            </a:r>
            <a:endParaRPr kumimoji="0" lang="en-GB" sz="1100" b="0" i="0" u="none" strike="noStrike" kern="1200" cap="none" spc="0" normalizeH="0" baseline="0" noProof="0" dirty="0">
              <a:ln>
                <a:noFill/>
              </a:ln>
              <a:solidFill>
                <a:schemeClr val="bg1"/>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566F2DEB-CC68-D6EE-766E-71D2C0F1C9B6}"/>
              </a:ext>
            </a:extLst>
          </p:cNvPr>
          <p:cNvSpPr/>
          <p:nvPr/>
        </p:nvSpPr>
        <p:spPr>
          <a:xfrm>
            <a:off x="1594592" y="1464573"/>
            <a:ext cx="1851371" cy="2843212"/>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lang="en-US" sz="1400" dirty="0">
                <a:solidFill>
                  <a:schemeClr val="tx2"/>
                </a:solidFill>
                <a:latin typeface="Calibri"/>
                <a:ea typeface="ＭＳ Ｐゴシック" panose="020B0600070205080204" pitchFamily="34" charset="-128"/>
              </a:rPr>
              <a:t>csolution project</a:t>
            </a:r>
            <a:endParaRPr kumimoji="0" lang="en-US" sz="1400" i="0" u="none" strike="noStrike" kern="1200" cap="none" spc="0" normalizeH="0" baseline="0" noProof="0" dirty="0">
              <a:ln>
                <a:noFill/>
              </a:ln>
              <a:solidFill>
                <a:schemeClr val="tx2"/>
              </a:solidFill>
              <a:effectLst/>
              <a:uLnTx/>
              <a:uFillTx/>
              <a:latin typeface="Calibri"/>
              <a:ea typeface="ＭＳ Ｐゴシック" panose="020B0600070205080204" pitchFamily="34" charset="-128"/>
              <a:cs typeface="+mn-cs"/>
            </a:endParaRPr>
          </a:p>
        </p:txBody>
      </p:sp>
      <p:cxnSp>
        <p:nvCxnSpPr>
          <p:cNvPr id="32" name="Straight Arrow Connector 31">
            <a:extLst>
              <a:ext uri="{FF2B5EF4-FFF2-40B4-BE49-F238E27FC236}">
                <a16:creationId xmlns:a16="http://schemas.microsoft.com/office/drawing/2014/main" id="{CD35BC81-11C9-9CF1-C531-85BA6B81A6C2}"/>
              </a:ext>
            </a:extLst>
          </p:cNvPr>
          <p:cNvCxnSpPr>
            <a:cxnSpLocks/>
            <a:stCxn id="18" idx="2"/>
            <a:endCxn id="21" idx="0"/>
          </p:cNvCxnSpPr>
          <p:nvPr/>
        </p:nvCxnSpPr>
        <p:spPr>
          <a:xfrm>
            <a:off x="4616752" y="3160231"/>
            <a:ext cx="5320" cy="147963"/>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DFC905D7-1D14-0755-6A00-37041D016DCD}"/>
              </a:ext>
            </a:extLst>
          </p:cNvPr>
          <p:cNvCxnSpPr>
            <a:cxnSpLocks/>
          </p:cNvCxnSpPr>
          <p:nvPr/>
        </p:nvCxnSpPr>
        <p:spPr>
          <a:xfrm>
            <a:off x="3444548" y="3802402"/>
            <a:ext cx="208466" cy="0"/>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4" name="Flowchart: Document 13">
            <a:extLst>
              <a:ext uri="{FF2B5EF4-FFF2-40B4-BE49-F238E27FC236}">
                <a16:creationId xmlns:a16="http://schemas.microsoft.com/office/drawing/2014/main" id="{4C3310A1-5D73-9212-7957-745E3F50872F}"/>
              </a:ext>
            </a:extLst>
          </p:cNvPr>
          <p:cNvSpPr/>
          <p:nvPr/>
        </p:nvSpPr>
        <p:spPr>
          <a:xfrm>
            <a:off x="1710904" y="1842067"/>
            <a:ext cx="1616706" cy="926474"/>
          </a:xfrm>
          <a:prstGeom prst="flowChartDocument">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600" dirty="0">
                <a:solidFill>
                  <a:srgbClr val="E5ECEB">
                    <a:lumMod val="25000"/>
                  </a:srgbClr>
                </a:solidFill>
                <a:latin typeface="Calibri"/>
              </a:rPr>
              <a:t>My</a:t>
            </a:r>
            <a: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t>.csolution.yml</a:t>
            </a:r>
            <a:br>
              <a:rPr kumimoji="0" lang="en-US" sz="36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Target and Build</a:t>
            </a:r>
            <a:b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Parameters</a:t>
            </a:r>
            <a:endParaRPr kumimoji="0" lang="en-GB" sz="1100" b="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sp>
        <p:nvSpPr>
          <p:cNvPr id="27" name="Rectangle 26">
            <a:extLst>
              <a:ext uri="{FF2B5EF4-FFF2-40B4-BE49-F238E27FC236}">
                <a16:creationId xmlns:a16="http://schemas.microsoft.com/office/drawing/2014/main" id="{9CE6D134-FDC2-2AA5-4ADE-6135EBCF60BC}"/>
              </a:ext>
            </a:extLst>
          </p:cNvPr>
          <p:cNvSpPr/>
          <p:nvPr/>
        </p:nvSpPr>
        <p:spPr>
          <a:xfrm>
            <a:off x="5787541" y="1842068"/>
            <a:ext cx="1800598" cy="2477012"/>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400" i="0" u="none" strike="noStrike" kern="1200" cap="none" spc="0" normalizeH="0" baseline="0" noProof="0" dirty="0">
                <a:ln>
                  <a:noFill/>
                </a:ln>
                <a:solidFill>
                  <a:schemeClr val="tx2"/>
                </a:solidFill>
                <a:effectLst/>
                <a:uLnTx/>
                <a:uFillTx/>
                <a:latin typeface="Calibri"/>
                <a:ea typeface="ＭＳ Ｐゴシック" panose="020B0600070205080204" pitchFamily="34" charset="-128"/>
                <a:cs typeface="+mn-cs"/>
              </a:rPr>
              <a:t>output</a:t>
            </a:r>
          </a:p>
        </p:txBody>
      </p:sp>
      <p:sp>
        <p:nvSpPr>
          <p:cNvPr id="28" name="Flowchart: Multidocument 27">
            <a:extLst>
              <a:ext uri="{FF2B5EF4-FFF2-40B4-BE49-F238E27FC236}">
                <a16:creationId xmlns:a16="http://schemas.microsoft.com/office/drawing/2014/main" id="{90653315-A7CB-B3F6-9B53-38409C60F2AE}"/>
              </a:ext>
            </a:extLst>
          </p:cNvPr>
          <p:cNvSpPr/>
          <p:nvPr/>
        </p:nvSpPr>
        <p:spPr>
          <a:xfrm>
            <a:off x="5893680" y="3252313"/>
            <a:ext cx="1616706" cy="954101"/>
          </a:xfrm>
          <a:prstGeom prst="flowChartMultidocument">
            <a:avLst/>
          </a:prstGeom>
          <a:solidFill>
            <a:schemeClr val="accent5">
              <a:lumMod val="60000"/>
              <a:lumOff val="40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t>ELF/DWARF</a:t>
            </a:r>
            <a:br>
              <a:rPr kumimoji="0" lang="en-US" sz="2400" b="0" i="0" u="none" strike="noStrike" kern="1200" cap="none" spc="0" normalizeH="0" baseline="0" noProof="0" dirty="0">
                <a:ln>
                  <a:noFill/>
                </a:ln>
                <a:solidFill>
                  <a:srgbClr val="E5ECEB">
                    <a:lumMod val="25000"/>
                  </a:srgbClr>
                </a:solidFill>
                <a:effectLst/>
                <a:uLnTx/>
                <a:uFillTx/>
                <a:latin typeface="Calibri"/>
                <a:ea typeface="+mn-ea"/>
                <a:cs typeface="+mn-cs"/>
              </a:rPr>
            </a:br>
            <a:r>
              <a:rPr lang="en-US" sz="1100" dirty="0">
                <a:solidFill>
                  <a:srgbClr val="E5ECEB">
                    <a:lumMod val="25000"/>
                  </a:srgbClr>
                </a:solidFill>
                <a:latin typeface="Calibri"/>
              </a:rPr>
              <a:t>HEX/binary files</a:t>
            </a:r>
            <a:br>
              <a:rPr lang="en-US" sz="1100" dirty="0">
                <a:solidFill>
                  <a:srgbClr val="E5ECEB">
                    <a:lumMod val="25000"/>
                  </a:srgbClr>
                </a:solidFill>
                <a:latin typeface="Calibri"/>
              </a:rPr>
            </a:br>
            <a:endParaRPr kumimoji="0" lang="en-US" sz="8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42" name="Straight Arrow Connector 41">
            <a:extLst>
              <a:ext uri="{FF2B5EF4-FFF2-40B4-BE49-F238E27FC236}">
                <a16:creationId xmlns:a16="http://schemas.microsoft.com/office/drawing/2014/main" id="{DB081ED5-8DD9-E631-41F0-08F328024B20}"/>
              </a:ext>
            </a:extLst>
          </p:cNvPr>
          <p:cNvCxnSpPr>
            <a:cxnSpLocks/>
            <a:stCxn id="21" idx="3"/>
          </p:cNvCxnSpPr>
          <p:nvPr/>
        </p:nvCxnSpPr>
        <p:spPr>
          <a:xfrm>
            <a:off x="5591130" y="3812438"/>
            <a:ext cx="196411" cy="0"/>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 name="Arrow: Right 2">
            <a:extLst>
              <a:ext uri="{FF2B5EF4-FFF2-40B4-BE49-F238E27FC236}">
                <a16:creationId xmlns:a16="http://schemas.microsoft.com/office/drawing/2014/main" id="{B07E5E74-3CEB-F8EF-BBDD-F3AD1DD3450A}"/>
              </a:ext>
            </a:extLst>
          </p:cNvPr>
          <p:cNvSpPr/>
          <p:nvPr/>
        </p:nvSpPr>
        <p:spPr>
          <a:xfrm>
            <a:off x="7588137" y="2933543"/>
            <a:ext cx="479335" cy="37465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row: Right 3">
            <a:extLst>
              <a:ext uri="{FF2B5EF4-FFF2-40B4-BE49-F238E27FC236}">
                <a16:creationId xmlns:a16="http://schemas.microsoft.com/office/drawing/2014/main" id="{861975D2-2464-12E8-98AA-F4BB72543D05}"/>
              </a:ext>
            </a:extLst>
          </p:cNvPr>
          <p:cNvSpPr/>
          <p:nvPr/>
        </p:nvSpPr>
        <p:spPr>
          <a:xfrm>
            <a:off x="7588138" y="3729364"/>
            <a:ext cx="479334" cy="37465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B48D631-6909-E5F2-9BD4-1FEE7D43E6E6}"/>
              </a:ext>
            </a:extLst>
          </p:cNvPr>
          <p:cNvSpPr txBox="1"/>
          <p:nvPr/>
        </p:nvSpPr>
        <p:spPr>
          <a:xfrm>
            <a:off x="7678105" y="2775575"/>
            <a:ext cx="638857"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kern="1200" dirty="0">
                <a:solidFill>
                  <a:schemeClr val="tx2"/>
                </a:solidFill>
                <a:latin typeface="+mn-lt"/>
                <a:ea typeface="+mn-ea"/>
                <a:cs typeface="+mn-cs"/>
              </a:rPr>
              <a:t>Run</a:t>
            </a:r>
          </a:p>
        </p:txBody>
      </p:sp>
      <p:sp>
        <p:nvSpPr>
          <p:cNvPr id="9" name="TextBox 8">
            <a:extLst>
              <a:ext uri="{FF2B5EF4-FFF2-40B4-BE49-F238E27FC236}">
                <a16:creationId xmlns:a16="http://schemas.microsoft.com/office/drawing/2014/main" id="{87475575-08CC-C35E-F11A-74C140BB4E6E}"/>
              </a:ext>
            </a:extLst>
          </p:cNvPr>
          <p:cNvSpPr txBox="1"/>
          <p:nvPr/>
        </p:nvSpPr>
        <p:spPr>
          <a:xfrm>
            <a:off x="7631998" y="3538663"/>
            <a:ext cx="691016"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dirty="0">
                <a:solidFill>
                  <a:schemeClr val="tx2"/>
                </a:solidFill>
              </a:rPr>
              <a:t>Debug</a:t>
            </a:r>
            <a:endParaRPr lang="en-US" sz="1100" kern="1200" dirty="0">
              <a:solidFill>
                <a:schemeClr val="tx2"/>
              </a:solidFill>
              <a:latin typeface="+mn-lt"/>
              <a:ea typeface="+mn-ea"/>
              <a:cs typeface="+mn-cs"/>
            </a:endParaRPr>
          </a:p>
        </p:txBody>
      </p:sp>
      <p:sp>
        <p:nvSpPr>
          <p:cNvPr id="15" name="Flowchart: Document 14">
            <a:extLst>
              <a:ext uri="{FF2B5EF4-FFF2-40B4-BE49-F238E27FC236}">
                <a16:creationId xmlns:a16="http://schemas.microsoft.com/office/drawing/2014/main" id="{CB0C3265-CCB3-491D-9BC5-428576075BA4}"/>
              </a:ext>
            </a:extLst>
          </p:cNvPr>
          <p:cNvSpPr/>
          <p:nvPr/>
        </p:nvSpPr>
        <p:spPr>
          <a:xfrm>
            <a:off x="5879711" y="2180299"/>
            <a:ext cx="1616706" cy="954101"/>
          </a:xfrm>
          <a:prstGeom prst="flowChartDocument">
            <a:avLst/>
          </a:prstGeom>
          <a:solidFill>
            <a:schemeClr val="accent5">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defRPr/>
            </a:pPr>
            <a:br>
              <a:rPr lang="en-US" sz="100" dirty="0">
                <a:solidFill>
                  <a:srgbClr val="E5ECEB">
                    <a:lumMod val="25000"/>
                  </a:srgbClr>
                </a:solidFill>
                <a:latin typeface="Calibri"/>
              </a:rPr>
            </a:br>
            <a:r>
              <a:rPr lang="en-US" sz="1400" dirty="0" err="1">
                <a:solidFill>
                  <a:srgbClr val="E5ECEB">
                    <a:lumMod val="25000"/>
                  </a:srgbClr>
                </a:solidFill>
                <a:latin typeface="Calibri"/>
              </a:rPr>
              <a:t>My+target</a:t>
            </a:r>
            <a:r>
              <a:rPr lang="en-US" sz="1400" dirty="0">
                <a:solidFill>
                  <a:srgbClr val="E5ECEB">
                    <a:lumMod val="25000"/>
                  </a:srgbClr>
                </a:solidFill>
                <a:latin typeface="Calibri"/>
              </a:rPr>
              <a:t>.</a:t>
            </a:r>
            <a:br>
              <a:rPr lang="en-US" sz="1400" dirty="0">
                <a:solidFill>
                  <a:srgbClr val="E5ECEB">
                    <a:lumMod val="25000"/>
                  </a:srgbClr>
                </a:solidFill>
                <a:latin typeface="Calibri"/>
              </a:rPr>
            </a:br>
            <a:r>
              <a:rPr lang="en-US" sz="1400" dirty="0" err="1">
                <a:solidFill>
                  <a:srgbClr val="E5ECEB">
                    <a:lumMod val="25000"/>
                  </a:srgbClr>
                </a:solidFill>
                <a:latin typeface="Calibri"/>
              </a:rPr>
              <a:t>cbuild-run.yml</a:t>
            </a:r>
            <a:br>
              <a:rPr kumimoji="0" lang="en-US" sz="36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chemeClr val="bg2">
                    <a:lumMod val="25000"/>
                  </a:schemeClr>
                </a:solidFill>
                <a:effectLst/>
                <a:uLnTx/>
                <a:uFillTx/>
                <a:latin typeface="Calibri"/>
                <a:ea typeface="+mn-ea"/>
                <a:cs typeface="+mn-cs"/>
              </a:rPr>
              <a:t>Run and D</a:t>
            </a:r>
            <a:r>
              <a:rPr lang="en-US" sz="1100" dirty="0" err="1">
                <a:solidFill>
                  <a:schemeClr val="bg2">
                    <a:lumMod val="25000"/>
                  </a:schemeClr>
                </a:solidFill>
                <a:latin typeface="Calibri"/>
              </a:rPr>
              <a:t>ebug</a:t>
            </a:r>
            <a:br>
              <a:rPr lang="en-US" sz="1100" dirty="0">
                <a:solidFill>
                  <a:schemeClr val="bg2">
                    <a:lumMod val="25000"/>
                  </a:schemeClr>
                </a:solidFill>
                <a:latin typeface="Calibri"/>
              </a:rPr>
            </a:br>
            <a:r>
              <a:rPr lang="en-US" sz="1100" dirty="0">
                <a:solidFill>
                  <a:schemeClr val="bg2">
                    <a:lumMod val="25000"/>
                  </a:schemeClr>
                </a:solidFill>
                <a:latin typeface="Calibri"/>
              </a:rPr>
              <a:t>Configuration</a:t>
            </a:r>
            <a:endParaRPr kumimoji="0" lang="en-GB" sz="1100" b="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sp>
        <p:nvSpPr>
          <p:cNvPr id="13" name="Flowchart: Document 12">
            <a:extLst>
              <a:ext uri="{FF2B5EF4-FFF2-40B4-BE49-F238E27FC236}">
                <a16:creationId xmlns:a16="http://schemas.microsoft.com/office/drawing/2014/main" id="{0824CE67-E0ED-06B9-B307-F2EA4F135327}"/>
              </a:ext>
            </a:extLst>
          </p:cNvPr>
          <p:cNvSpPr/>
          <p:nvPr/>
        </p:nvSpPr>
        <p:spPr>
          <a:xfrm>
            <a:off x="8067472" y="1458647"/>
            <a:ext cx="1651240" cy="926474"/>
          </a:xfrm>
          <a:prstGeom prst="flowChartDocument">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600" dirty="0">
                <a:solidFill>
                  <a:srgbClr val="E5ECEB">
                    <a:lumMod val="25000"/>
                  </a:srgbClr>
                </a:solidFill>
                <a:latin typeface="Calibri"/>
              </a:rPr>
              <a:t>*</a:t>
            </a:r>
            <a: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t>.</a:t>
            </a:r>
            <a:r>
              <a:rPr kumimoji="0" lang="en-US" sz="1600" b="0" i="0" u="none" strike="noStrike" kern="1200" cap="none" spc="0" normalizeH="0" baseline="0" noProof="0" dirty="0" err="1">
                <a:ln>
                  <a:noFill/>
                </a:ln>
                <a:solidFill>
                  <a:srgbClr val="E5ECEB">
                    <a:lumMod val="25000"/>
                  </a:srgbClr>
                </a:solidFill>
                <a:effectLst/>
                <a:uLnTx/>
                <a:uFillTx/>
                <a:latin typeface="Calibri"/>
                <a:ea typeface="+mn-ea"/>
                <a:cs typeface="+mn-cs"/>
              </a:rPr>
              <a:t>dbgconf</a:t>
            </a:r>
            <a:b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Device configuration for D</a:t>
            </a:r>
            <a:r>
              <a:rPr lang="en-US" sz="1100" dirty="0" err="1">
                <a:solidFill>
                  <a:srgbClr val="E5ECEB">
                    <a:lumMod val="25000"/>
                  </a:srgbClr>
                </a:solidFill>
                <a:latin typeface="Calibri"/>
              </a:rPr>
              <a:t>ebug</a:t>
            </a:r>
            <a:r>
              <a:rPr lang="en-US" sz="1100" dirty="0">
                <a:solidFill>
                  <a:srgbClr val="E5ECEB">
                    <a:lumMod val="25000"/>
                  </a:srgbClr>
                </a:solidFill>
                <a:latin typeface="Calibri"/>
              </a:rPr>
              <a:t>/Trace</a:t>
            </a:r>
            <a:endParaRPr kumimoji="0" lang="en-GB" sz="1100" b="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cxnSp>
        <p:nvCxnSpPr>
          <p:cNvPr id="16" name="Straight Arrow Connector 15">
            <a:extLst>
              <a:ext uri="{FF2B5EF4-FFF2-40B4-BE49-F238E27FC236}">
                <a16:creationId xmlns:a16="http://schemas.microsoft.com/office/drawing/2014/main" id="{5E184103-E78B-82DE-5D5D-9D98068C5EA8}"/>
              </a:ext>
            </a:extLst>
          </p:cNvPr>
          <p:cNvCxnSpPr>
            <a:cxnSpLocks/>
          </p:cNvCxnSpPr>
          <p:nvPr/>
        </p:nvCxnSpPr>
        <p:spPr>
          <a:xfrm>
            <a:off x="5580489" y="1689103"/>
            <a:ext cx="2486983" cy="0"/>
          </a:xfrm>
          <a:prstGeom prst="straightConnector1">
            <a:avLst/>
          </a:prstGeom>
          <a:ln w="158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D1B3335B-1AEC-B51E-FE57-D951CEC4E1BA}"/>
              </a:ext>
            </a:extLst>
          </p:cNvPr>
          <p:cNvSpPr/>
          <p:nvPr/>
        </p:nvSpPr>
        <p:spPr>
          <a:xfrm>
            <a:off x="8067473" y="2676968"/>
            <a:ext cx="1651239" cy="163971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lang="en-US" b="1" dirty="0" err="1">
                <a:solidFill>
                  <a:schemeClr val="bg1"/>
                </a:solidFill>
                <a:latin typeface="Calibri"/>
              </a:rPr>
              <a:t>pyOCD</a:t>
            </a:r>
            <a:b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12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8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r>
              <a:rPr kumimoji="0" lang="en-US" sz="1100" i="0" u="none" strike="noStrike" kern="1200" cap="none" spc="0" normalizeH="0" baseline="0" noProof="0" dirty="0" err="1">
                <a:ln>
                  <a:noFill/>
                </a:ln>
                <a:solidFill>
                  <a:schemeClr val="bg1"/>
                </a:solidFill>
                <a:effectLst/>
                <a:uLnTx/>
                <a:uFillTx/>
                <a:latin typeface="Calibri"/>
                <a:ea typeface="ＭＳ Ｐゴシック" panose="020B0600070205080204" pitchFamily="34" charset="-128"/>
                <a:cs typeface="+mn-cs"/>
              </a:rPr>
              <a:t>VSCode</a:t>
            </a:r>
            <a:r>
              <a:rPr kumimoji="0" lang="en-US" sz="11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t> Extension</a:t>
            </a:r>
          </a:p>
          <a:p>
            <a:pPr algn="ctr" eaLnBrk="0" fontAlgn="base" hangingPunct="0">
              <a:spcBef>
                <a:spcPct val="0"/>
              </a:spcBef>
              <a:spcAft>
                <a:spcPct val="0"/>
              </a:spcAft>
              <a:defRPr/>
            </a:pPr>
            <a:r>
              <a:rPr kumimoji="0" lang="en-US" sz="11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t>CMSIS-Debug</a:t>
            </a:r>
          </a:p>
        </p:txBody>
      </p:sp>
      <p:pic>
        <p:nvPicPr>
          <p:cNvPr id="1026" name="Picture 2" descr="pyOCD">
            <a:extLst>
              <a:ext uri="{FF2B5EF4-FFF2-40B4-BE49-F238E27FC236}">
                <a16:creationId xmlns:a16="http://schemas.microsoft.com/office/drawing/2014/main" id="{ED622A3D-C285-1080-680C-608CCF9DF1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89939" y="3036629"/>
            <a:ext cx="691016" cy="911509"/>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Straight Arrow Connector 23">
            <a:extLst>
              <a:ext uri="{FF2B5EF4-FFF2-40B4-BE49-F238E27FC236}">
                <a16:creationId xmlns:a16="http://schemas.microsoft.com/office/drawing/2014/main" id="{F4C6FE59-9F05-9B8F-40A0-542D84831AF8}"/>
              </a:ext>
            </a:extLst>
          </p:cNvPr>
          <p:cNvCxnSpPr>
            <a:cxnSpLocks/>
            <a:stCxn id="13" idx="2"/>
            <a:endCxn id="23" idx="0"/>
          </p:cNvCxnSpPr>
          <p:nvPr/>
        </p:nvCxnSpPr>
        <p:spPr>
          <a:xfrm>
            <a:off x="8893092" y="2323871"/>
            <a:ext cx="1" cy="353097"/>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6D5776E6-05C6-1953-00F4-5F140B938BA1}"/>
              </a:ext>
            </a:extLst>
          </p:cNvPr>
          <p:cNvSpPr/>
          <p:nvPr/>
        </p:nvSpPr>
        <p:spPr>
          <a:xfrm>
            <a:off x="3656790" y="4489572"/>
            <a:ext cx="1938116" cy="1008488"/>
          </a:xfrm>
          <a:prstGeom prst="rect">
            <a:avLst/>
          </a:prstGeom>
          <a:solidFill>
            <a:srgbClr val="363D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a:ea typeface="+mn-ea"/>
                <a:cs typeface="+mn-cs"/>
              </a:rPr>
              <a:t>West / </a:t>
            </a:r>
            <a:r>
              <a:rPr kumimoji="0" lang="en-US" b="1" i="0" u="none" strike="noStrike" kern="1200" cap="none" spc="0" normalizeH="0" baseline="0" noProof="0" dirty="0" err="1">
                <a:ln>
                  <a:noFill/>
                </a:ln>
                <a:solidFill>
                  <a:schemeClr val="bg1"/>
                </a:solidFill>
                <a:effectLst/>
                <a:uLnTx/>
                <a:uFillTx/>
                <a:latin typeface="Calibri"/>
                <a:ea typeface="+mn-ea"/>
                <a:cs typeface="+mn-cs"/>
              </a:rPr>
              <a:t>CMake</a:t>
            </a:r>
            <a:br>
              <a:rPr kumimoji="0" lang="en-US" b="1" i="0" u="none" strike="noStrike" kern="1200" cap="none" spc="0" normalizeH="0" baseline="0" noProof="0" dirty="0">
                <a:ln>
                  <a:noFill/>
                </a:ln>
                <a:solidFill>
                  <a:schemeClr val="bg1"/>
                </a:solidFill>
                <a:effectLst/>
                <a:uLnTx/>
                <a:uFillTx/>
                <a:latin typeface="Calibri"/>
                <a:ea typeface="+mn-ea"/>
                <a:cs typeface="+mn-cs"/>
              </a:rPr>
            </a:br>
            <a:br>
              <a:rPr kumimoji="0" lang="en-US" b="1" i="0" u="none" strike="noStrike" kern="1200" cap="none" spc="0" normalizeH="0" baseline="0" noProof="0" dirty="0">
                <a:ln>
                  <a:noFill/>
                </a:ln>
                <a:solidFill>
                  <a:schemeClr val="bg1"/>
                </a:solidFill>
                <a:effectLst/>
                <a:uLnTx/>
                <a:uFillTx/>
                <a:latin typeface="Calibri"/>
                <a:ea typeface="+mn-ea"/>
                <a:cs typeface="+mn-cs"/>
              </a:rPr>
            </a:br>
            <a:br>
              <a:rPr kumimoji="0" lang="en-US" b="1" i="0" u="none" strike="noStrike" kern="1200" cap="none" spc="0" normalizeH="0" baseline="0" noProof="0" dirty="0">
                <a:ln>
                  <a:noFill/>
                </a:ln>
                <a:solidFill>
                  <a:schemeClr val="bg1"/>
                </a:solidFill>
                <a:effectLst/>
                <a:uLnTx/>
                <a:uFillTx/>
                <a:latin typeface="Calibri"/>
                <a:ea typeface="+mn-ea"/>
                <a:cs typeface="+mn-cs"/>
              </a:rPr>
            </a:br>
            <a:endParaRPr kumimoji="0" lang="en-GB" sz="1100" b="0" i="0" u="none" strike="noStrike" kern="1200" cap="none" spc="0" normalizeH="0" baseline="0" noProof="0" dirty="0">
              <a:ln>
                <a:noFill/>
              </a:ln>
              <a:solidFill>
                <a:schemeClr val="bg1"/>
              </a:solidFill>
              <a:effectLst/>
              <a:uLnTx/>
              <a:uFillTx/>
              <a:latin typeface="Calibri"/>
              <a:ea typeface="+mn-ea"/>
              <a:cs typeface="+mn-cs"/>
            </a:endParaRPr>
          </a:p>
        </p:txBody>
      </p:sp>
      <p:sp>
        <p:nvSpPr>
          <p:cNvPr id="19" name="AutoShape 10" descr="Logo">
            <a:extLst>
              <a:ext uri="{FF2B5EF4-FFF2-40B4-BE49-F238E27FC236}">
                <a16:creationId xmlns:a16="http://schemas.microsoft.com/office/drawing/2014/main" id="{FAA00405-85F2-C9F2-2D60-F1FFE76A656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2" name="Picture 21">
            <a:extLst>
              <a:ext uri="{FF2B5EF4-FFF2-40B4-BE49-F238E27FC236}">
                <a16:creationId xmlns:a16="http://schemas.microsoft.com/office/drawing/2014/main" id="{07E6FEF3-8E01-C63A-09FB-A0A7F8EF2808}"/>
              </a:ext>
            </a:extLst>
          </p:cNvPr>
          <p:cNvPicPr>
            <a:picLocks noChangeAspect="1"/>
          </p:cNvPicPr>
          <p:nvPr/>
        </p:nvPicPr>
        <p:blipFill>
          <a:blip r:embed="rId5"/>
          <a:stretch>
            <a:fillRect/>
          </a:stretch>
        </p:blipFill>
        <p:spPr>
          <a:xfrm>
            <a:off x="4127236" y="4872507"/>
            <a:ext cx="997224" cy="556144"/>
          </a:xfrm>
          <a:prstGeom prst="rect">
            <a:avLst/>
          </a:prstGeom>
        </p:spPr>
      </p:pic>
      <p:cxnSp>
        <p:nvCxnSpPr>
          <p:cNvPr id="26" name="Straight Arrow Connector 25">
            <a:extLst>
              <a:ext uri="{FF2B5EF4-FFF2-40B4-BE49-F238E27FC236}">
                <a16:creationId xmlns:a16="http://schemas.microsoft.com/office/drawing/2014/main" id="{587CCBA0-7687-2688-E8C7-43C8130DC517}"/>
              </a:ext>
            </a:extLst>
          </p:cNvPr>
          <p:cNvCxnSpPr>
            <a:cxnSpLocks/>
            <a:endCxn id="25" idx="1"/>
          </p:cNvCxnSpPr>
          <p:nvPr/>
        </p:nvCxnSpPr>
        <p:spPr>
          <a:xfrm flipV="1">
            <a:off x="5596269" y="4954906"/>
            <a:ext cx="296531" cy="2437"/>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0" name="Flowchart: Multidocument 29">
            <a:extLst>
              <a:ext uri="{FF2B5EF4-FFF2-40B4-BE49-F238E27FC236}">
                <a16:creationId xmlns:a16="http://schemas.microsoft.com/office/drawing/2014/main" id="{1EB09339-FA8D-C9B6-E75E-45826F9F8F83}"/>
              </a:ext>
            </a:extLst>
          </p:cNvPr>
          <p:cNvSpPr/>
          <p:nvPr/>
        </p:nvSpPr>
        <p:spPr>
          <a:xfrm>
            <a:off x="1730244" y="4516765"/>
            <a:ext cx="1616706" cy="981295"/>
          </a:xfrm>
          <a:prstGeom prst="flowChartMultidocument">
            <a:avLst/>
          </a:prstGeom>
          <a:solidFill>
            <a:schemeClr val="accent3">
              <a:lumMod val="60000"/>
              <a:lumOff val="40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t>Zephyr Project</a:t>
            </a:r>
            <a:b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br>
            <a:r>
              <a:rPr lang="en-US" sz="1100" dirty="0">
                <a:solidFill>
                  <a:srgbClr val="E5ECEB">
                    <a:lumMod val="25000"/>
                  </a:srgbClr>
                </a:solidFill>
                <a:latin typeface="Calibri"/>
              </a:rPr>
              <a:t>Managed with </a:t>
            </a:r>
            <a:r>
              <a:rPr lang="en-US" sz="1100" dirty="0" err="1">
                <a:solidFill>
                  <a:srgbClr val="E5ECEB">
                    <a:lumMod val="25000"/>
                  </a:srgbClr>
                </a:solidFill>
                <a:latin typeface="Calibri"/>
              </a:rPr>
              <a:t>KConfig</a:t>
            </a:r>
            <a:endParaRPr lang="en-US" sz="1100" dirty="0">
              <a:solidFill>
                <a:srgbClr val="E5ECEB">
                  <a:lumMod val="25000"/>
                </a:srgbClr>
              </a:solidFill>
              <a:latin typeface="Calibri"/>
            </a:endParaRPr>
          </a:p>
        </p:txBody>
      </p:sp>
      <p:cxnSp>
        <p:nvCxnSpPr>
          <p:cNvPr id="31" name="Straight Arrow Connector 30">
            <a:extLst>
              <a:ext uri="{FF2B5EF4-FFF2-40B4-BE49-F238E27FC236}">
                <a16:creationId xmlns:a16="http://schemas.microsoft.com/office/drawing/2014/main" id="{A5D91FA5-192D-964C-4534-44FD92AEA864}"/>
              </a:ext>
            </a:extLst>
          </p:cNvPr>
          <p:cNvCxnSpPr>
            <a:cxnSpLocks/>
            <a:endCxn id="2" idx="1"/>
          </p:cNvCxnSpPr>
          <p:nvPr/>
        </p:nvCxnSpPr>
        <p:spPr>
          <a:xfrm>
            <a:off x="3346950" y="4993815"/>
            <a:ext cx="309840" cy="1"/>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52C10441-5DA3-B20F-7945-6A483BDCC2DB}"/>
              </a:ext>
            </a:extLst>
          </p:cNvPr>
          <p:cNvSpPr/>
          <p:nvPr/>
        </p:nvSpPr>
        <p:spPr>
          <a:xfrm>
            <a:off x="1679182" y="2824653"/>
            <a:ext cx="1721508" cy="1370959"/>
          </a:xfrm>
          <a:prstGeom prst="rect">
            <a:avLst/>
          </a:pr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F2E10793-6255-74EB-341C-3DAF8BDD6DE6}"/>
              </a:ext>
            </a:extLst>
          </p:cNvPr>
          <p:cNvSpPr/>
          <p:nvPr/>
        </p:nvSpPr>
        <p:spPr>
          <a:xfrm>
            <a:off x="5831400" y="3133325"/>
            <a:ext cx="1697846" cy="1127390"/>
          </a:xfrm>
          <a:prstGeom prst="rect">
            <a:avLst/>
          </a:pr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Arrow: Right 47">
            <a:extLst>
              <a:ext uri="{FF2B5EF4-FFF2-40B4-BE49-F238E27FC236}">
                <a16:creationId xmlns:a16="http://schemas.microsoft.com/office/drawing/2014/main" id="{789D8391-6D11-0481-6904-2514885C62D2}"/>
              </a:ext>
            </a:extLst>
          </p:cNvPr>
          <p:cNvSpPr/>
          <p:nvPr/>
        </p:nvSpPr>
        <p:spPr>
          <a:xfrm rot="16200000">
            <a:off x="6595459" y="4231945"/>
            <a:ext cx="194991" cy="37465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lowchart: Multidocument 24">
            <a:extLst>
              <a:ext uri="{FF2B5EF4-FFF2-40B4-BE49-F238E27FC236}">
                <a16:creationId xmlns:a16="http://schemas.microsoft.com/office/drawing/2014/main" id="{76553C83-FA6A-3135-5F5E-9C9B47B2AC79}"/>
              </a:ext>
            </a:extLst>
          </p:cNvPr>
          <p:cNvSpPr/>
          <p:nvPr/>
        </p:nvSpPr>
        <p:spPr>
          <a:xfrm>
            <a:off x="5892800" y="4477855"/>
            <a:ext cx="1616706" cy="954101"/>
          </a:xfrm>
          <a:prstGeom prst="flowChartMultidocument">
            <a:avLst/>
          </a:prstGeom>
          <a:solidFill>
            <a:schemeClr val="accent5">
              <a:lumMod val="60000"/>
              <a:lumOff val="40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t>ELF/DWARF</a:t>
            </a:r>
            <a:br>
              <a:rPr kumimoji="0" lang="en-US" sz="2400" b="0" i="0" u="none" strike="noStrike" kern="1200" cap="none" spc="0" normalizeH="0" baseline="0" noProof="0" dirty="0">
                <a:ln>
                  <a:noFill/>
                </a:ln>
                <a:solidFill>
                  <a:srgbClr val="E5ECEB">
                    <a:lumMod val="25000"/>
                  </a:srgbClr>
                </a:solidFill>
                <a:effectLst/>
                <a:uLnTx/>
                <a:uFillTx/>
                <a:latin typeface="Calibri"/>
                <a:ea typeface="+mn-ea"/>
                <a:cs typeface="+mn-cs"/>
              </a:rPr>
            </a:br>
            <a:r>
              <a:rPr lang="en-US" sz="1100" dirty="0">
                <a:solidFill>
                  <a:srgbClr val="E5ECEB">
                    <a:lumMod val="25000"/>
                  </a:srgbClr>
                </a:solidFill>
                <a:latin typeface="Calibri"/>
              </a:rPr>
              <a:t>HEX/binary files</a:t>
            </a:r>
            <a:br>
              <a:rPr lang="en-US" sz="1100" dirty="0">
                <a:solidFill>
                  <a:srgbClr val="E5ECEB">
                    <a:lumMod val="25000"/>
                  </a:srgbClr>
                </a:solidFill>
                <a:latin typeface="Calibri"/>
              </a:rPr>
            </a:br>
            <a:endParaRPr kumimoji="0" lang="en-US" sz="8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Tree>
    <p:custDataLst>
      <p:tags r:id="rId1"/>
    </p:custDataLst>
    <p:extLst>
      <p:ext uri="{BB962C8B-B14F-4D97-AF65-F5344CB8AC3E}">
        <p14:creationId xmlns:p14="http://schemas.microsoft.com/office/powerpoint/2010/main" val="13500219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9A6E0F1-2BC8-A296-3B0A-68765BDCCCFF}"/>
              </a:ext>
            </a:extLst>
          </p:cNvPr>
          <p:cNvSpPr/>
          <p:nvPr/>
        </p:nvSpPr>
        <p:spPr>
          <a:xfrm>
            <a:off x="811272" y="5427482"/>
            <a:ext cx="10718418" cy="79055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lowchart: Multidocument 4">
            <a:extLst>
              <a:ext uri="{FF2B5EF4-FFF2-40B4-BE49-F238E27FC236}">
                <a16:creationId xmlns:a16="http://schemas.microsoft.com/office/drawing/2014/main" id="{844DE146-1BA2-638D-92E9-04D7153AA5BE}"/>
              </a:ext>
            </a:extLst>
          </p:cNvPr>
          <p:cNvSpPr/>
          <p:nvPr/>
        </p:nvSpPr>
        <p:spPr>
          <a:xfrm>
            <a:off x="1730244" y="2978335"/>
            <a:ext cx="1616706" cy="1160511"/>
          </a:xfrm>
          <a:prstGeom prst="flowChartMultidocument">
            <a:avLst/>
          </a:prstGeom>
          <a:solidFill>
            <a:schemeClr val="tx2">
              <a:lumMod val="10000"/>
              <a:lumOff val="90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E5ECEB">
                    <a:lumMod val="25000"/>
                  </a:srgbClr>
                </a:solidFill>
                <a:effectLst/>
                <a:uLnTx/>
                <a:uFillTx/>
                <a:latin typeface="Calibri"/>
                <a:ea typeface="+mn-ea"/>
                <a:cs typeface="+mn-cs"/>
              </a:rPr>
              <a:t>CMSIS project</a:t>
            </a:r>
            <a:br>
              <a:rPr kumimoji="0" lang="en-US" sz="1600" b="0" i="0" u="none" strike="noStrike" kern="1200" cap="none" spc="0" normalizeH="0" baseline="0" noProof="0">
                <a:ln>
                  <a:noFill/>
                </a:ln>
                <a:solidFill>
                  <a:srgbClr val="E5ECEB">
                    <a:lumMod val="25000"/>
                  </a:srgbClr>
                </a:solidFill>
                <a:effectLst/>
                <a:uLnTx/>
                <a:uFillTx/>
                <a:latin typeface="Calibri"/>
                <a:ea typeface="+mn-ea"/>
                <a:cs typeface="+mn-cs"/>
              </a:rPr>
            </a:br>
            <a:r>
              <a:rPr kumimoji="0" lang="en-US" sz="1600" b="0" i="0" u="none" strike="noStrike" kern="1200" cap="none" spc="0" normalizeH="0" baseline="0" noProof="0">
                <a:ln>
                  <a:noFill/>
                </a:ln>
                <a:solidFill>
                  <a:srgbClr val="E5ECEB">
                    <a:lumMod val="25000"/>
                  </a:srgbClr>
                </a:solidFill>
                <a:effectLst/>
                <a:uLnTx/>
                <a:uFillTx/>
                <a:latin typeface="Calibri"/>
                <a:ea typeface="+mn-ea"/>
                <a:cs typeface="+mn-cs"/>
              </a:rPr>
              <a:t>or West build</a:t>
            </a:r>
            <a:br>
              <a:rPr kumimoji="0" lang="en-US" sz="2400" b="0" i="0" u="none" strike="noStrike" kern="1200" cap="none" spc="0" normalizeH="0" baseline="0" noProof="0">
                <a:ln>
                  <a:noFill/>
                </a:ln>
                <a:solidFill>
                  <a:srgbClr val="E5ECEB">
                    <a:lumMod val="25000"/>
                  </a:srgbClr>
                </a:solidFill>
                <a:effectLst/>
                <a:uLnTx/>
                <a:uFillTx/>
                <a:latin typeface="Calibri"/>
                <a:ea typeface="+mn-ea"/>
                <a:cs typeface="+mn-cs"/>
              </a:rPr>
            </a:br>
            <a:r>
              <a:rPr lang="en-US" sz="1100">
                <a:solidFill>
                  <a:srgbClr val="E5ECEB">
                    <a:lumMod val="25000"/>
                  </a:srgbClr>
                </a:solidFill>
                <a:latin typeface="Calibri"/>
              </a:rPr>
              <a:t>A</a:t>
            </a:r>
            <a:r>
              <a:rPr kumimoji="0" lang="en-US" sz="1100" b="0" i="0" u="none" strike="noStrike" kern="1200" cap="none" spc="0" normalizeH="0" baseline="0" noProof="0" err="1">
                <a:ln>
                  <a:noFill/>
                </a:ln>
                <a:solidFill>
                  <a:srgbClr val="E5ECEB">
                    <a:lumMod val="25000"/>
                  </a:srgbClr>
                </a:solidFill>
                <a:effectLst/>
                <a:uLnTx/>
                <a:uFillTx/>
                <a:latin typeface="Calibri"/>
                <a:ea typeface="+mn-ea"/>
                <a:cs typeface="+mn-cs"/>
              </a:rPr>
              <a:t>pplication</a:t>
            </a:r>
            <a:r>
              <a:rPr kumimoji="0" lang="en-US" sz="1100" b="0" i="0" u="none" strike="noStrike" kern="1200" cap="none" spc="0" normalizeH="0" baseline="0" noProof="0">
                <a:ln>
                  <a:noFill/>
                </a:ln>
                <a:solidFill>
                  <a:srgbClr val="E5ECEB">
                    <a:lumMod val="25000"/>
                  </a:srgbClr>
                </a:solidFill>
                <a:effectLst/>
                <a:uLnTx/>
                <a:uFillTx/>
                <a:latin typeface="Calibri"/>
                <a:ea typeface="+mn-ea"/>
                <a:cs typeface="+mn-cs"/>
              </a:rPr>
              <a:t> Images</a:t>
            </a:r>
            <a:endParaRPr kumimoji="0" lang="en-GB" sz="1100" b="0" i="0" u="none" strike="noStrike" kern="1200" cap="none" spc="0" normalizeH="0" baseline="0" noProof="0">
              <a:ln>
                <a:noFill/>
              </a:ln>
              <a:solidFill>
                <a:srgbClr val="E5ECEB">
                  <a:lumMod val="25000"/>
                </a:srgbClr>
              </a:solidFill>
              <a:effectLst/>
              <a:uLnTx/>
              <a:uFillTx/>
              <a:latin typeface="Calibri"/>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chemeClr val="bg2">
                  <a:lumMod val="25000"/>
                </a:schemeClr>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899BAC2B-AFD4-6E3A-0720-D050DB27D7BF}"/>
              </a:ext>
            </a:extLst>
          </p:cNvPr>
          <p:cNvSpPr/>
          <p:nvPr/>
        </p:nvSpPr>
        <p:spPr>
          <a:xfrm>
            <a:off x="3662514" y="1520737"/>
            <a:ext cx="1917975" cy="16807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400" i="0" u="none" strike="noStrike" kern="1200" cap="none" spc="0" normalizeH="0" baseline="0" noProof="0">
                <a:ln>
                  <a:noFill/>
                </a:ln>
                <a:solidFill>
                  <a:schemeClr val="bg1"/>
                </a:solidFill>
                <a:effectLst/>
                <a:uLnTx/>
                <a:uFillTx/>
                <a:latin typeface="Calibri"/>
                <a:ea typeface="ＭＳ Ｐゴシック" panose="020B0600070205080204" pitchFamily="34" charset="-128"/>
                <a:cs typeface="+mn-cs"/>
              </a:rPr>
              <a:t>Software Packs</a:t>
            </a:r>
          </a:p>
        </p:txBody>
      </p:sp>
      <p:sp>
        <p:nvSpPr>
          <p:cNvPr id="7" name="Flowchart: Multidocument 6">
            <a:extLst>
              <a:ext uri="{FF2B5EF4-FFF2-40B4-BE49-F238E27FC236}">
                <a16:creationId xmlns:a16="http://schemas.microsoft.com/office/drawing/2014/main" id="{87679857-361C-EAF2-9C0D-ACC337EEA45E}"/>
              </a:ext>
            </a:extLst>
          </p:cNvPr>
          <p:cNvSpPr/>
          <p:nvPr/>
        </p:nvSpPr>
        <p:spPr>
          <a:xfrm>
            <a:off x="3799060" y="1863751"/>
            <a:ext cx="1653577" cy="1181703"/>
          </a:xfrm>
          <a:prstGeom prst="flowChartMultidocument">
            <a:avLst/>
          </a:prstGeom>
          <a:solidFill>
            <a:schemeClr val="bg1"/>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bg2">
                    <a:lumMod val="25000"/>
                  </a:schemeClr>
                </a:solidFill>
                <a:effectLst/>
                <a:uLnTx/>
                <a:uFillTx/>
                <a:latin typeface="Calibri"/>
                <a:ea typeface="+mn-ea"/>
                <a:cs typeface="+mn-cs"/>
              </a:rPr>
              <a:t>Device/</a:t>
            </a:r>
            <a:r>
              <a:rPr lang="en-US" sz="1400">
                <a:solidFill>
                  <a:schemeClr val="bg2">
                    <a:lumMod val="25000"/>
                  </a:schemeClr>
                </a:solidFill>
                <a:latin typeface="Calibri"/>
              </a:rPr>
              <a:t>Board</a:t>
            </a:r>
            <a:br>
              <a:rPr lang="en-US" sz="1400">
                <a:solidFill>
                  <a:schemeClr val="bg2">
                    <a:lumMod val="25000"/>
                  </a:schemeClr>
                </a:solidFill>
                <a:latin typeface="Calibri"/>
              </a:rPr>
            </a:br>
            <a:r>
              <a:rPr lang="en-US" sz="1400">
                <a:solidFill>
                  <a:schemeClr val="bg2">
                    <a:lumMod val="25000"/>
                  </a:schemeClr>
                </a:solidFill>
                <a:latin typeface="Calibri"/>
              </a:rPr>
              <a:t>Parameters</a:t>
            </a:r>
            <a:endParaRPr kumimoji="0" lang="en-US" sz="500" b="0" i="0" u="none" strike="noStrike" kern="1200" cap="none" spc="0" normalizeH="0" baseline="0" noProof="0">
              <a:ln>
                <a:noFill/>
              </a:ln>
              <a:solidFill>
                <a:schemeClr val="bg2">
                  <a:lumMod val="25000"/>
                </a:schemeClr>
              </a:solidFill>
              <a:effectLst/>
              <a:uLnTx/>
              <a:uFillTx/>
              <a:latin typeface="Calibri"/>
              <a:ea typeface="+mn-ea"/>
              <a:cs typeface="+mn-cs"/>
            </a:endParaRPr>
          </a:p>
        </p:txBody>
      </p:sp>
      <p:sp>
        <p:nvSpPr>
          <p:cNvPr id="21" name="Rectangle 20">
            <a:extLst>
              <a:ext uri="{FF2B5EF4-FFF2-40B4-BE49-F238E27FC236}">
                <a16:creationId xmlns:a16="http://schemas.microsoft.com/office/drawing/2014/main" id="{8A9F90E5-92D0-5CB6-FB1E-0FDF39903545}"/>
              </a:ext>
            </a:extLst>
          </p:cNvPr>
          <p:cNvSpPr/>
          <p:nvPr/>
        </p:nvSpPr>
        <p:spPr>
          <a:xfrm>
            <a:off x="3653014" y="3349444"/>
            <a:ext cx="1927475" cy="1008488"/>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b="1" i="0" u="none" strike="noStrike" kern="1200" cap="none" spc="0" normalizeH="0" baseline="0" noProof="0">
                <a:ln>
                  <a:noFill/>
                </a:ln>
                <a:solidFill>
                  <a:schemeClr val="bg1"/>
                </a:solidFill>
                <a:effectLst/>
                <a:uLnTx/>
                <a:uFillTx/>
                <a:latin typeface="Calibri"/>
                <a:ea typeface="+mn-ea"/>
                <a:cs typeface="+mn-cs"/>
              </a:rPr>
              <a:t>CMSIS-Toolbox</a:t>
            </a:r>
          </a:p>
          <a:p>
            <a:pPr marL="0" marR="0" lvl="0" indent="0" algn="ctr" defTabSz="914400" rtl="0" eaLnBrk="0" fontAlgn="base" latinLnBrk="0" hangingPunct="0">
              <a:lnSpc>
                <a:spcPct val="100000"/>
              </a:lnSpc>
              <a:spcBef>
                <a:spcPct val="0"/>
              </a:spcBef>
              <a:spcAft>
                <a:spcPct val="0"/>
              </a:spcAft>
              <a:buClrTx/>
              <a:buSzTx/>
              <a:buFontTx/>
              <a:buNone/>
              <a:tabLst/>
              <a:defRPr/>
            </a:pPr>
            <a:r>
              <a:rPr lang="en-US" sz="1100" err="1">
                <a:solidFill>
                  <a:schemeClr val="bg1"/>
                </a:solidFill>
                <a:latin typeface="Calibri"/>
              </a:rPr>
              <a:t>cbuild</a:t>
            </a:r>
            <a:r>
              <a:rPr lang="en-US" sz="1100">
                <a:solidFill>
                  <a:schemeClr val="bg1"/>
                </a:solidFill>
                <a:latin typeface="Calibri"/>
              </a:rPr>
              <a:t>: Build Invocation</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chemeClr val="bg1"/>
              </a:solidFill>
              <a:effectLst/>
              <a:uLnTx/>
              <a:uFillTx/>
              <a:latin typeface="Calibri"/>
              <a:ea typeface="+mn-ea"/>
              <a:cs typeface="+mn-cs"/>
            </a:endParaRPr>
          </a:p>
          <a:p>
            <a:pPr algn="ctr" eaLnBrk="0" fontAlgn="base" hangingPunct="0">
              <a:spcBef>
                <a:spcPct val="0"/>
              </a:spcBef>
              <a:spcAft>
                <a:spcPct val="0"/>
              </a:spcAft>
              <a:defRPr/>
            </a:pPr>
            <a:r>
              <a:rPr kumimoji="0" lang="en-US" sz="1100" i="0" u="none" strike="noStrike" kern="1200" cap="none" spc="0" normalizeH="0" baseline="0" noProof="0" err="1">
                <a:ln>
                  <a:noFill/>
                </a:ln>
                <a:solidFill>
                  <a:schemeClr val="bg1"/>
                </a:solidFill>
                <a:effectLst/>
                <a:uLnTx/>
                <a:uFillTx/>
                <a:latin typeface="Calibri"/>
                <a:ea typeface="ＭＳ Ｐゴシック" panose="020B0600070205080204" pitchFamily="34" charset="-128"/>
                <a:cs typeface="+mn-cs"/>
              </a:rPr>
              <a:t>VSCode</a:t>
            </a:r>
            <a:r>
              <a:rPr kumimoji="0" lang="en-US" sz="1100" i="0" u="none" strike="noStrike" kern="1200" cap="none" spc="0" normalizeH="0" baseline="0" noProof="0">
                <a:ln>
                  <a:noFill/>
                </a:ln>
                <a:solidFill>
                  <a:schemeClr val="bg1"/>
                </a:solidFill>
                <a:effectLst/>
                <a:uLnTx/>
                <a:uFillTx/>
                <a:latin typeface="Calibri"/>
                <a:ea typeface="ＭＳ Ｐゴシック" panose="020B0600070205080204" pitchFamily="34" charset="-128"/>
                <a:cs typeface="+mn-cs"/>
              </a:rPr>
              <a:t> Extension</a:t>
            </a:r>
          </a:p>
          <a:p>
            <a:pPr algn="ctr" eaLnBrk="0" fontAlgn="base" hangingPunct="0">
              <a:spcBef>
                <a:spcPct val="0"/>
              </a:spcBef>
              <a:spcAft>
                <a:spcPct val="0"/>
              </a:spcAft>
              <a:defRPr/>
            </a:pPr>
            <a:r>
              <a:rPr kumimoji="0" lang="en-US" sz="1100" i="0" u="none" strike="noStrike" kern="1200" cap="none" spc="0" normalizeH="0" baseline="0" noProof="0">
                <a:ln>
                  <a:noFill/>
                </a:ln>
                <a:solidFill>
                  <a:schemeClr val="bg1"/>
                </a:solidFill>
                <a:effectLst/>
                <a:uLnTx/>
                <a:uFillTx/>
                <a:latin typeface="Calibri"/>
                <a:ea typeface="ＭＳ Ｐゴシック" panose="020B0600070205080204" pitchFamily="34" charset="-128"/>
                <a:cs typeface="+mn-cs"/>
              </a:rPr>
              <a:t>CMSIS-Solution</a:t>
            </a:r>
            <a:endParaRPr kumimoji="0" lang="en-GB" sz="1100" b="0" i="0" u="none" strike="noStrike" kern="1200" cap="none" spc="0" normalizeH="0" baseline="0" noProof="0">
              <a:ln>
                <a:noFill/>
              </a:ln>
              <a:solidFill>
                <a:schemeClr val="bg1"/>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54B5876B-51B0-2BDE-7A06-F5D84C84EFFB}"/>
              </a:ext>
            </a:extLst>
          </p:cNvPr>
          <p:cNvSpPr/>
          <p:nvPr/>
        </p:nvSpPr>
        <p:spPr>
          <a:xfrm>
            <a:off x="1594592" y="1505823"/>
            <a:ext cx="1851371" cy="2843212"/>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lang="en-US" sz="1400">
                <a:solidFill>
                  <a:schemeClr val="tx2"/>
                </a:solidFill>
                <a:latin typeface="Calibri"/>
                <a:ea typeface="ＭＳ Ｐゴシック" panose="020B0600070205080204" pitchFamily="34" charset="-128"/>
              </a:rPr>
              <a:t>csolution project</a:t>
            </a:r>
            <a:endParaRPr kumimoji="0" lang="en-US" sz="1400" i="0" u="none" strike="noStrike" kern="1200" cap="none" spc="0" normalizeH="0" baseline="0" noProof="0">
              <a:ln>
                <a:noFill/>
              </a:ln>
              <a:solidFill>
                <a:schemeClr val="tx2"/>
              </a:solidFill>
              <a:effectLst/>
              <a:uLnTx/>
              <a:uFillTx/>
              <a:latin typeface="Calibri"/>
              <a:ea typeface="ＭＳ Ｐゴシック" panose="020B0600070205080204" pitchFamily="34" charset="-128"/>
              <a:cs typeface="+mn-cs"/>
            </a:endParaRPr>
          </a:p>
        </p:txBody>
      </p:sp>
      <p:cxnSp>
        <p:nvCxnSpPr>
          <p:cNvPr id="32" name="Straight Arrow Connector 31">
            <a:extLst>
              <a:ext uri="{FF2B5EF4-FFF2-40B4-BE49-F238E27FC236}">
                <a16:creationId xmlns:a16="http://schemas.microsoft.com/office/drawing/2014/main" id="{A4E03051-9D48-5FDC-094D-FB58C9271ABF}"/>
              </a:ext>
            </a:extLst>
          </p:cNvPr>
          <p:cNvCxnSpPr>
            <a:cxnSpLocks/>
          </p:cNvCxnSpPr>
          <p:nvPr/>
        </p:nvCxnSpPr>
        <p:spPr>
          <a:xfrm>
            <a:off x="4604845" y="3201480"/>
            <a:ext cx="0" cy="147963"/>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1F103DAD-F88D-C689-0560-1048D6540892}"/>
              </a:ext>
            </a:extLst>
          </p:cNvPr>
          <p:cNvCxnSpPr>
            <a:cxnSpLocks/>
          </p:cNvCxnSpPr>
          <p:nvPr/>
        </p:nvCxnSpPr>
        <p:spPr>
          <a:xfrm>
            <a:off x="3444548" y="3843652"/>
            <a:ext cx="208466" cy="0"/>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4" name="Flowchart: Document 13">
            <a:extLst>
              <a:ext uri="{FF2B5EF4-FFF2-40B4-BE49-F238E27FC236}">
                <a16:creationId xmlns:a16="http://schemas.microsoft.com/office/drawing/2014/main" id="{38BE52EA-280B-2318-A777-D46E816B79CA}"/>
              </a:ext>
            </a:extLst>
          </p:cNvPr>
          <p:cNvSpPr/>
          <p:nvPr/>
        </p:nvSpPr>
        <p:spPr>
          <a:xfrm>
            <a:off x="1710904" y="1883317"/>
            <a:ext cx="1616706" cy="926474"/>
          </a:xfrm>
          <a:prstGeom prst="flowChartDocument">
            <a:avLst/>
          </a:prstGeom>
          <a:solidFill>
            <a:schemeClr val="tx2">
              <a:lumMod val="10000"/>
              <a:lumOff val="9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600">
                <a:solidFill>
                  <a:srgbClr val="E5ECEB">
                    <a:lumMod val="25000"/>
                  </a:srgbClr>
                </a:solidFill>
                <a:latin typeface="Calibri"/>
              </a:rPr>
              <a:t>My</a:t>
            </a:r>
            <a:r>
              <a:rPr kumimoji="0" lang="en-US" sz="1600" b="0" i="0" u="none" strike="noStrike" kern="1200" cap="none" spc="0" normalizeH="0" baseline="0" noProof="0">
                <a:ln>
                  <a:noFill/>
                </a:ln>
                <a:solidFill>
                  <a:srgbClr val="E5ECEB">
                    <a:lumMod val="25000"/>
                  </a:srgbClr>
                </a:solidFill>
                <a:effectLst/>
                <a:uLnTx/>
                <a:uFillTx/>
                <a:latin typeface="Calibri"/>
                <a:ea typeface="+mn-ea"/>
                <a:cs typeface="+mn-cs"/>
              </a:rPr>
              <a:t>.</a:t>
            </a:r>
            <a:r>
              <a:rPr kumimoji="0" lang="en-US" sz="1600" b="0" i="0" u="none" strike="noStrike" kern="1200" cap="none" spc="0" normalizeH="0" baseline="0" noProof="0" err="1">
                <a:ln>
                  <a:noFill/>
                </a:ln>
                <a:solidFill>
                  <a:srgbClr val="E5ECEB">
                    <a:lumMod val="25000"/>
                  </a:srgbClr>
                </a:solidFill>
                <a:effectLst/>
                <a:uLnTx/>
                <a:uFillTx/>
                <a:latin typeface="Calibri"/>
                <a:ea typeface="+mn-ea"/>
                <a:cs typeface="+mn-cs"/>
              </a:rPr>
              <a:t>csolution.yml</a:t>
            </a:r>
            <a:br>
              <a:rPr kumimoji="0" lang="en-US" sz="3600" b="0" i="0" u="none" strike="noStrike" kern="1200" cap="none" spc="0" normalizeH="0" baseline="0" noProof="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a:ln>
                  <a:noFill/>
                </a:ln>
                <a:solidFill>
                  <a:srgbClr val="E5ECEB">
                    <a:lumMod val="25000"/>
                  </a:srgbClr>
                </a:solidFill>
                <a:effectLst/>
                <a:uLnTx/>
                <a:uFillTx/>
                <a:latin typeface="Calibri"/>
                <a:ea typeface="+mn-ea"/>
                <a:cs typeface="+mn-cs"/>
              </a:rPr>
              <a:t>Target and Build</a:t>
            </a:r>
            <a:br>
              <a:rPr kumimoji="0" lang="en-US" sz="1100" b="0" i="0" u="none" strike="noStrike" kern="1200" cap="none" spc="0" normalizeH="0" baseline="0" noProof="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a:ln>
                  <a:noFill/>
                </a:ln>
                <a:solidFill>
                  <a:srgbClr val="E5ECEB">
                    <a:lumMod val="25000"/>
                  </a:srgbClr>
                </a:solidFill>
                <a:effectLst/>
                <a:uLnTx/>
                <a:uFillTx/>
                <a:latin typeface="Calibri"/>
                <a:ea typeface="+mn-ea"/>
                <a:cs typeface="+mn-cs"/>
              </a:rPr>
              <a:t>Parameters</a:t>
            </a:r>
            <a:endParaRPr kumimoji="0" lang="en-GB" sz="1100" b="0" i="0" u="none" strike="noStrike" kern="1200" cap="none" spc="0" normalizeH="0" baseline="0" noProof="0">
              <a:ln>
                <a:noFill/>
              </a:ln>
              <a:solidFill>
                <a:srgbClr val="E5ECEB">
                  <a:lumMod val="25000"/>
                </a:srgbClr>
              </a:solidFill>
              <a:effectLst/>
              <a:uLnTx/>
              <a:uFillTx/>
              <a:latin typeface="Calibri"/>
              <a:ea typeface="+mn-ea"/>
              <a:cs typeface="+mn-cs"/>
            </a:endParaRPr>
          </a:p>
        </p:txBody>
      </p:sp>
      <p:sp>
        <p:nvSpPr>
          <p:cNvPr id="27" name="Rectangle 26">
            <a:extLst>
              <a:ext uri="{FF2B5EF4-FFF2-40B4-BE49-F238E27FC236}">
                <a16:creationId xmlns:a16="http://schemas.microsoft.com/office/drawing/2014/main" id="{AEDC6FEF-B907-D2BA-933E-C0D83103854B}"/>
              </a:ext>
            </a:extLst>
          </p:cNvPr>
          <p:cNvSpPr/>
          <p:nvPr/>
        </p:nvSpPr>
        <p:spPr>
          <a:xfrm>
            <a:off x="5787541" y="1883318"/>
            <a:ext cx="1800598" cy="2477012"/>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400" i="0" u="none" strike="noStrike" kern="1200" cap="none" spc="0" normalizeH="0" baseline="0" noProof="0">
                <a:ln>
                  <a:noFill/>
                </a:ln>
                <a:solidFill>
                  <a:schemeClr val="tx2"/>
                </a:solidFill>
                <a:effectLst/>
                <a:uLnTx/>
                <a:uFillTx/>
                <a:latin typeface="Calibri"/>
                <a:ea typeface="ＭＳ Ｐゴシック" panose="020B0600070205080204" pitchFamily="34" charset="-128"/>
                <a:cs typeface="+mn-cs"/>
              </a:rPr>
              <a:t>output</a:t>
            </a:r>
          </a:p>
        </p:txBody>
      </p:sp>
      <p:sp>
        <p:nvSpPr>
          <p:cNvPr id="28" name="Flowchart: Multidocument 27">
            <a:extLst>
              <a:ext uri="{FF2B5EF4-FFF2-40B4-BE49-F238E27FC236}">
                <a16:creationId xmlns:a16="http://schemas.microsoft.com/office/drawing/2014/main" id="{191C805B-82A0-6C0C-646A-FF1789C6591F}"/>
              </a:ext>
            </a:extLst>
          </p:cNvPr>
          <p:cNvSpPr/>
          <p:nvPr/>
        </p:nvSpPr>
        <p:spPr>
          <a:xfrm>
            <a:off x="5893680" y="3293563"/>
            <a:ext cx="1616706" cy="954101"/>
          </a:xfrm>
          <a:prstGeom prst="flowChartMultidocument">
            <a:avLst/>
          </a:prstGeom>
          <a:solidFill>
            <a:schemeClr val="accent5">
              <a:lumMod val="60000"/>
              <a:lumOff val="40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E5ECEB">
                    <a:lumMod val="25000"/>
                  </a:srgbClr>
                </a:solidFill>
                <a:effectLst/>
                <a:uLnTx/>
                <a:uFillTx/>
                <a:latin typeface="Calibri"/>
                <a:ea typeface="+mn-ea"/>
                <a:cs typeface="+mn-cs"/>
              </a:rPr>
              <a:t>ELF/DWARF</a:t>
            </a:r>
            <a:br>
              <a:rPr kumimoji="0" lang="en-US" sz="2400" b="0" i="0" u="none" strike="noStrike" kern="1200" cap="none" spc="0" normalizeH="0" baseline="0" noProof="0">
                <a:ln>
                  <a:noFill/>
                </a:ln>
                <a:solidFill>
                  <a:srgbClr val="E5ECEB">
                    <a:lumMod val="25000"/>
                  </a:srgbClr>
                </a:solidFill>
                <a:effectLst/>
                <a:uLnTx/>
                <a:uFillTx/>
                <a:latin typeface="Calibri"/>
                <a:ea typeface="+mn-ea"/>
                <a:cs typeface="+mn-cs"/>
              </a:rPr>
            </a:br>
            <a:r>
              <a:rPr lang="en-US" sz="1100">
                <a:solidFill>
                  <a:srgbClr val="E5ECEB">
                    <a:lumMod val="25000"/>
                  </a:srgbClr>
                </a:solidFill>
                <a:latin typeface="Calibri"/>
              </a:rPr>
              <a:t>HEX/binary files</a:t>
            </a:r>
            <a:br>
              <a:rPr lang="en-US" sz="1100">
                <a:solidFill>
                  <a:srgbClr val="E5ECEB">
                    <a:lumMod val="25000"/>
                  </a:srgbClr>
                </a:solidFill>
                <a:latin typeface="Calibri"/>
              </a:rPr>
            </a:br>
            <a:endParaRPr kumimoji="0" lang="en-US" sz="800" b="0" i="0" u="none" strike="noStrike" kern="1200" cap="none" spc="0" normalizeH="0" baseline="0" noProof="0">
              <a:ln>
                <a:noFill/>
              </a:ln>
              <a:solidFill>
                <a:schemeClr val="bg2">
                  <a:lumMod val="25000"/>
                </a:schemeClr>
              </a:solidFill>
              <a:effectLst/>
              <a:uLnTx/>
              <a:uFillTx/>
              <a:latin typeface="Calibri"/>
              <a:ea typeface="+mn-ea"/>
              <a:cs typeface="+mn-cs"/>
            </a:endParaRPr>
          </a:p>
        </p:txBody>
      </p:sp>
      <p:cxnSp>
        <p:nvCxnSpPr>
          <p:cNvPr id="42" name="Straight Arrow Connector 41">
            <a:extLst>
              <a:ext uri="{FF2B5EF4-FFF2-40B4-BE49-F238E27FC236}">
                <a16:creationId xmlns:a16="http://schemas.microsoft.com/office/drawing/2014/main" id="{C50C2F2D-4852-0123-E9D8-3BB6987635A6}"/>
              </a:ext>
            </a:extLst>
          </p:cNvPr>
          <p:cNvCxnSpPr>
            <a:cxnSpLocks/>
            <a:stCxn id="21" idx="3"/>
          </p:cNvCxnSpPr>
          <p:nvPr/>
        </p:nvCxnSpPr>
        <p:spPr>
          <a:xfrm>
            <a:off x="5580489" y="3853688"/>
            <a:ext cx="207052" cy="0"/>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 name="Arrow: Right 2">
            <a:extLst>
              <a:ext uri="{FF2B5EF4-FFF2-40B4-BE49-F238E27FC236}">
                <a16:creationId xmlns:a16="http://schemas.microsoft.com/office/drawing/2014/main" id="{0113BAF6-BEEA-E903-AEEC-219B2BD6CBB9}"/>
              </a:ext>
            </a:extLst>
          </p:cNvPr>
          <p:cNvSpPr/>
          <p:nvPr/>
        </p:nvSpPr>
        <p:spPr>
          <a:xfrm>
            <a:off x="7588137" y="2974793"/>
            <a:ext cx="479335" cy="37465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row: Right 3">
            <a:extLst>
              <a:ext uri="{FF2B5EF4-FFF2-40B4-BE49-F238E27FC236}">
                <a16:creationId xmlns:a16="http://schemas.microsoft.com/office/drawing/2014/main" id="{9568CC81-3B04-6C9F-B6AE-D9030A9EDAC2}"/>
              </a:ext>
            </a:extLst>
          </p:cNvPr>
          <p:cNvSpPr/>
          <p:nvPr/>
        </p:nvSpPr>
        <p:spPr>
          <a:xfrm>
            <a:off x="7588138" y="3770614"/>
            <a:ext cx="479334" cy="37465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393DF23-D5D4-EFDD-09AC-612915FE082C}"/>
              </a:ext>
            </a:extLst>
          </p:cNvPr>
          <p:cNvSpPr txBox="1"/>
          <p:nvPr/>
        </p:nvSpPr>
        <p:spPr>
          <a:xfrm>
            <a:off x="7678105" y="2816825"/>
            <a:ext cx="638857"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kern="1200">
                <a:solidFill>
                  <a:schemeClr val="tx2"/>
                </a:solidFill>
                <a:latin typeface="+mn-lt"/>
                <a:ea typeface="+mn-ea"/>
                <a:cs typeface="+mn-cs"/>
              </a:rPr>
              <a:t>Run</a:t>
            </a:r>
          </a:p>
        </p:txBody>
      </p:sp>
      <p:sp>
        <p:nvSpPr>
          <p:cNvPr id="9" name="TextBox 8">
            <a:extLst>
              <a:ext uri="{FF2B5EF4-FFF2-40B4-BE49-F238E27FC236}">
                <a16:creationId xmlns:a16="http://schemas.microsoft.com/office/drawing/2014/main" id="{F4029150-7D64-A33A-BF88-B35A2BF4B1CB}"/>
              </a:ext>
            </a:extLst>
          </p:cNvPr>
          <p:cNvSpPr txBox="1"/>
          <p:nvPr/>
        </p:nvSpPr>
        <p:spPr>
          <a:xfrm>
            <a:off x="7631998" y="3579913"/>
            <a:ext cx="691016"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a:solidFill>
                  <a:schemeClr val="tx2"/>
                </a:solidFill>
              </a:rPr>
              <a:t>Debug</a:t>
            </a:r>
            <a:endParaRPr lang="en-US" sz="1100" kern="1200">
              <a:solidFill>
                <a:schemeClr val="tx2"/>
              </a:solidFill>
              <a:latin typeface="+mn-lt"/>
              <a:ea typeface="+mn-ea"/>
              <a:cs typeface="+mn-cs"/>
            </a:endParaRPr>
          </a:p>
        </p:txBody>
      </p:sp>
      <p:sp>
        <p:nvSpPr>
          <p:cNvPr id="15" name="Flowchart: Document 14">
            <a:extLst>
              <a:ext uri="{FF2B5EF4-FFF2-40B4-BE49-F238E27FC236}">
                <a16:creationId xmlns:a16="http://schemas.microsoft.com/office/drawing/2014/main" id="{B351EB10-5DF1-0271-7B1C-73B54AA4C068}"/>
              </a:ext>
            </a:extLst>
          </p:cNvPr>
          <p:cNvSpPr/>
          <p:nvPr/>
        </p:nvSpPr>
        <p:spPr>
          <a:xfrm>
            <a:off x="5879711" y="2221549"/>
            <a:ext cx="1616706" cy="954101"/>
          </a:xfrm>
          <a:prstGeom prst="flowChartDocument">
            <a:avLst/>
          </a:prstGeom>
          <a:solidFill>
            <a:schemeClr val="accent5">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defRPr/>
            </a:pPr>
            <a:br>
              <a:rPr lang="en-US" sz="100">
                <a:solidFill>
                  <a:srgbClr val="E5ECEB">
                    <a:lumMod val="25000"/>
                  </a:srgbClr>
                </a:solidFill>
                <a:latin typeface="Calibri"/>
              </a:rPr>
            </a:br>
            <a:r>
              <a:rPr lang="en-US" sz="1400" err="1">
                <a:solidFill>
                  <a:srgbClr val="E5ECEB">
                    <a:lumMod val="25000"/>
                  </a:srgbClr>
                </a:solidFill>
                <a:latin typeface="Calibri"/>
              </a:rPr>
              <a:t>My+target</a:t>
            </a:r>
            <a:r>
              <a:rPr lang="en-US" sz="1400">
                <a:solidFill>
                  <a:srgbClr val="E5ECEB">
                    <a:lumMod val="25000"/>
                  </a:srgbClr>
                </a:solidFill>
                <a:latin typeface="Calibri"/>
              </a:rPr>
              <a:t>.</a:t>
            </a:r>
            <a:br>
              <a:rPr lang="en-US" sz="1400">
                <a:solidFill>
                  <a:srgbClr val="E5ECEB">
                    <a:lumMod val="25000"/>
                  </a:srgbClr>
                </a:solidFill>
                <a:latin typeface="Calibri"/>
              </a:rPr>
            </a:br>
            <a:r>
              <a:rPr lang="en-US" sz="1400" err="1">
                <a:solidFill>
                  <a:srgbClr val="E5ECEB">
                    <a:lumMod val="25000"/>
                  </a:srgbClr>
                </a:solidFill>
                <a:latin typeface="Calibri"/>
              </a:rPr>
              <a:t>cbuild-run.yml</a:t>
            </a:r>
            <a:br>
              <a:rPr kumimoji="0" lang="en-US" sz="3600" b="0" i="0" u="none" strike="noStrike" kern="1200" cap="none" spc="0" normalizeH="0" baseline="0" noProof="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a:ln>
                  <a:noFill/>
                </a:ln>
                <a:solidFill>
                  <a:schemeClr val="bg2">
                    <a:lumMod val="25000"/>
                  </a:schemeClr>
                </a:solidFill>
                <a:effectLst/>
                <a:uLnTx/>
                <a:uFillTx/>
                <a:latin typeface="Calibri"/>
                <a:ea typeface="+mn-ea"/>
                <a:cs typeface="+mn-cs"/>
              </a:rPr>
              <a:t>Run and D</a:t>
            </a:r>
            <a:r>
              <a:rPr lang="en-US" sz="1100" err="1">
                <a:solidFill>
                  <a:schemeClr val="bg2">
                    <a:lumMod val="25000"/>
                  </a:schemeClr>
                </a:solidFill>
                <a:latin typeface="Calibri"/>
              </a:rPr>
              <a:t>ebug</a:t>
            </a:r>
            <a:br>
              <a:rPr lang="en-US" sz="1100">
                <a:solidFill>
                  <a:schemeClr val="bg2">
                    <a:lumMod val="25000"/>
                  </a:schemeClr>
                </a:solidFill>
                <a:latin typeface="Calibri"/>
              </a:rPr>
            </a:br>
            <a:r>
              <a:rPr lang="en-US" sz="1100">
                <a:solidFill>
                  <a:schemeClr val="bg2">
                    <a:lumMod val="25000"/>
                  </a:schemeClr>
                </a:solidFill>
                <a:latin typeface="Calibri"/>
              </a:rPr>
              <a:t>Configuration</a:t>
            </a:r>
            <a:endParaRPr kumimoji="0" lang="en-GB" sz="1100" b="0" i="0" u="none" strike="noStrike" kern="1200" cap="none" spc="0" normalizeH="0" baseline="0" noProof="0">
              <a:ln>
                <a:noFill/>
              </a:ln>
              <a:solidFill>
                <a:srgbClr val="E5ECEB">
                  <a:lumMod val="25000"/>
                </a:srgbClr>
              </a:solidFill>
              <a:effectLst/>
              <a:uLnTx/>
              <a:uFillTx/>
              <a:latin typeface="Calibri"/>
              <a:ea typeface="+mn-ea"/>
              <a:cs typeface="+mn-cs"/>
            </a:endParaRPr>
          </a:p>
        </p:txBody>
      </p:sp>
      <p:sp>
        <p:nvSpPr>
          <p:cNvPr id="13" name="Flowchart: Document 12">
            <a:extLst>
              <a:ext uri="{FF2B5EF4-FFF2-40B4-BE49-F238E27FC236}">
                <a16:creationId xmlns:a16="http://schemas.microsoft.com/office/drawing/2014/main" id="{DFD686E7-79E0-8AF6-22BB-EEBB847876DE}"/>
              </a:ext>
            </a:extLst>
          </p:cNvPr>
          <p:cNvSpPr/>
          <p:nvPr/>
        </p:nvSpPr>
        <p:spPr>
          <a:xfrm>
            <a:off x="8067472" y="1499897"/>
            <a:ext cx="1651240" cy="926474"/>
          </a:xfrm>
          <a:prstGeom prst="flowChartDocument">
            <a:avLst/>
          </a:prstGeom>
          <a:solidFill>
            <a:schemeClr val="tx2">
              <a:lumMod val="10000"/>
              <a:lumOff val="9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600">
                <a:solidFill>
                  <a:srgbClr val="E5ECEB">
                    <a:lumMod val="25000"/>
                  </a:srgbClr>
                </a:solidFill>
                <a:latin typeface="Calibri"/>
              </a:rPr>
              <a:t>*</a:t>
            </a:r>
            <a:r>
              <a:rPr kumimoji="0" lang="en-US" sz="1600" b="0" i="0" u="none" strike="noStrike" kern="1200" cap="none" spc="0" normalizeH="0" baseline="0" noProof="0">
                <a:ln>
                  <a:noFill/>
                </a:ln>
                <a:solidFill>
                  <a:srgbClr val="E5ECEB">
                    <a:lumMod val="25000"/>
                  </a:srgbClr>
                </a:solidFill>
                <a:effectLst/>
                <a:uLnTx/>
                <a:uFillTx/>
                <a:latin typeface="Calibri"/>
                <a:ea typeface="+mn-ea"/>
                <a:cs typeface="+mn-cs"/>
              </a:rPr>
              <a:t>.</a:t>
            </a:r>
            <a:r>
              <a:rPr kumimoji="0" lang="en-US" sz="1600" b="0" i="0" u="none" strike="noStrike" kern="1200" cap="none" spc="0" normalizeH="0" baseline="0" noProof="0" err="1">
                <a:ln>
                  <a:noFill/>
                </a:ln>
                <a:solidFill>
                  <a:srgbClr val="E5ECEB">
                    <a:lumMod val="25000"/>
                  </a:srgbClr>
                </a:solidFill>
                <a:effectLst/>
                <a:uLnTx/>
                <a:uFillTx/>
                <a:latin typeface="Calibri"/>
                <a:ea typeface="+mn-ea"/>
                <a:cs typeface="+mn-cs"/>
              </a:rPr>
              <a:t>dbgconf</a:t>
            </a:r>
            <a:br>
              <a:rPr kumimoji="0" lang="en-US" sz="1600" b="0" i="0" u="none" strike="noStrike" kern="1200" cap="none" spc="0" normalizeH="0" baseline="0" noProof="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a:ln>
                  <a:noFill/>
                </a:ln>
                <a:solidFill>
                  <a:srgbClr val="E5ECEB">
                    <a:lumMod val="25000"/>
                  </a:srgbClr>
                </a:solidFill>
                <a:effectLst/>
                <a:uLnTx/>
                <a:uFillTx/>
                <a:latin typeface="Calibri"/>
                <a:ea typeface="+mn-ea"/>
                <a:cs typeface="+mn-cs"/>
              </a:rPr>
              <a:t>Device configuration for D</a:t>
            </a:r>
            <a:r>
              <a:rPr lang="en-US" sz="1100" err="1">
                <a:solidFill>
                  <a:srgbClr val="E5ECEB">
                    <a:lumMod val="25000"/>
                  </a:srgbClr>
                </a:solidFill>
                <a:latin typeface="Calibri"/>
              </a:rPr>
              <a:t>ebug</a:t>
            </a:r>
            <a:r>
              <a:rPr lang="en-US" sz="1100">
                <a:solidFill>
                  <a:srgbClr val="E5ECEB">
                    <a:lumMod val="25000"/>
                  </a:srgbClr>
                </a:solidFill>
                <a:latin typeface="Calibri"/>
              </a:rPr>
              <a:t>/Trace</a:t>
            </a:r>
            <a:endParaRPr kumimoji="0" lang="en-GB" sz="1100" b="0" i="0" u="none" strike="noStrike" kern="1200" cap="none" spc="0" normalizeH="0" baseline="0" noProof="0">
              <a:ln>
                <a:noFill/>
              </a:ln>
              <a:solidFill>
                <a:srgbClr val="E5ECEB">
                  <a:lumMod val="25000"/>
                </a:srgbClr>
              </a:solidFill>
              <a:effectLst/>
              <a:uLnTx/>
              <a:uFillTx/>
              <a:latin typeface="Calibri"/>
              <a:ea typeface="+mn-ea"/>
              <a:cs typeface="+mn-cs"/>
            </a:endParaRPr>
          </a:p>
        </p:txBody>
      </p:sp>
      <p:cxnSp>
        <p:nvCxnSpPr>
          <p:cNvPr id="16" name="Straight Arrow Connector 15">
            <a:extLst>
              <a:ext uri="{FF2B5EF4-FFF2-40B4-BE49-F238E27FC236}">
                <a16:creationId xmlns:a16="http://schemas.microsoft.com/office/drawing/2014/main" id="{A4BB0A40-0A8E-93A0-759A-E386D05DA142}"/>
              </a:ext>
            </a:extLst>
          </p:cNvPr>
          <p:cNvCxnSpPr>
            <a:cxnSpLocks/>
          </p:cNvCxnSpPr>
          <p:nvPr/>
        </p:nvCxnSpPr>
        <p:spPr>
          <a:xfrm>
            <a:off x="5580489" y="1730353"/>
            <a:ext cx="2486983" cy="0"/>
          </a:xfrm>
          <a:prstGeom prst="straightConnector1">
            <a:avLst/>
          </a:prstGeom>
          <a:ln w="158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7CEE5895-1B29-4423-3AE5-7C56E267D53C}"/>
              </a:ext>
            </a:extLst>
          </p:cNvPr>
          <p:cNvSpPr/>
          <p:nvPr/>
        </p:nvSpPr>
        <p:spPr>
          <a:xfrm>
            <a:off x="8067473" y="2718218"/>
            <a:ext cx="1651239" cy="163971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lang="en-US" b="1" err="1">
                <a:solidFill>
                  <a:schemeClr val="bg1"/>
                </a:solidFill>
                <a:latin typeface="Calibri"/>
              </a:rPr>
              <a:t>pyOCD</a:t>
            </a:r>
            <a:br>
              <a:rPr kumimoji="0" lang="en-US" sz="1400" i="0" u="none" strike="noStrike" kern="1200" cap="none" spc="0" normalizeH="0" baseline="0" noProof="0">
                <a:ln>
                  <a:noFill/>
                </a:ln>
                <a:solidFill>
                  <a:schemeClr val="bg1"/>
                </a:solidFill>
                <a:effectLst/>
                <a:uLnTx/>
                <a:uFillTx/>
                <a:latin typeface="Calibri"/>
                <a:ea typeface="ＭＳ Ｐゴシック" panose="020B0600070205080204" pitchFamily="34" charset="-128"/>
                <a:cs typeface="+mn-cs"/>
              </a:rPr>
            </a:br>
            <a:br>
              <a:rPr kumimoji="0" lang="en-US" sz="1200" i="0" u="none" strike="noStrike" kern="1200" cap="none" spc="0" normalizeH="0" baseline="0" noProof="0">
                <a:ln>
                  <a:noFill/>
                </a:ln>
                <a:solidFill>
                  <a:schemeClr val="bg1"/>
                </a:solidFill>
                <a:effectLst/>
                <a:uLnTx/>
                <a:uFillTx/>
                <a:latin typeface="Calibri"/>
                <a:ea typeface="ＭＳ Ｐゴシック" panose="020B0600070205080204" pitchFamily="34" charset="-128"/>
                <a:cs typeface="+mn-cs"/>
              </a:rPr>
            </a:br>
            <a:br>
              <a:rPr kumimoji="0" lang="en-US" sz="1400" i="0" u="none" strike="noStrike" kern="1200" cap="none" spc="0" normalizeH="0" baseline="0" noProof="0">
                <a:ln>
                  <a:noFill/>
                </a:ln>
                <a:solidFill>
                  <a:schemeClr val="bg1"/>
                </a:solidFill>
                <a:effectLst/>
                <a:uLnTx/>
                <a:uFillTx/>
                <a:latin typeface="Calibri"/>
                <a:ea typeface="ＭＳ Ｐゴシック" panose="020B0600070205080204" pitchFamily="34" charset="-128"/>
                <a:cs typeface="+mn-cs"/>
              </a:rPr>
            </a:br>
            <a:br>
              <a:rPr kumimoji="0" lang="en-US" sz="1400" i="0" u="none" strike="noStrike" kern="1200" cap="none" spc="0" normalizeH="0" baseline="0" noProof="0">
                <a:ln>
                  <a:noFill/>
                </a:ln>
                <a:solidFill>
                  <a:schemeClr val="bg1"/>
                </a:solidFill>
                <a:effectLst/>
                <a:uLnTx/>
                <a:uFillTx/>
                <a:latin typeface="Calibri"/>
                <a:ea typeface="ＭＳ Ｐゴシック" panose="020B0600070205080204" pitchFamily="34" charset="-128"/>
                <a:cs typeface="+mn-cs"/>
              </a:rPr>
            </a:br>
            <a:br>
              <a:rPr kumimoji="0" lang="en-US" sz="1400" i="0" u="none" strike="noStrike" kern="1200" cap="none" spc="0" normalizeH="0" baseline="0" noProof="0">
                <a:ln>
                  <a:noFill/>
                </a:ln>
                <a:solidFill>
                  <a:schemeClr val="bg1"/>
                </a:solidFill>
                <a:effectLst/>
                <a:uLnTx/>
                <a:uFillTx/>
                <a:latin typeface="Calibri"/>
                <a:ea typeface="ＭＳ Ｐゴシック" panose="020B0600070205080204" pitchFamily="34" charset="-128"/>
                <a:cs typeface="+mn-cs"/>
              </a:rPr>
            </a:br>
            <a:br>
              <a:rPr kumimoji="0" lang="en-US" sz="800" i="0" u="none" strike="noStrike" kern="1200" cap="none" spc="0" normalizeH="0" baseline="0" noProof="0">
                <a:ln>
                  <a:noFill/>
                </a:ln>
                <a:solidFill>
                  <a:schemeClr val="bg1"/>
                </a:solidFill>
                <a:effectLst/>
                <a:uLnTx/>
                <a:uFillTx/>
                <a:latin typeface="Calibri"/>
                <a:ea typeface="ＭＳ Ｐゴシック" panose="020B0600070205080204" pitchFamily="34" charset="-128"/>
                <a:cs typeface="+mn-cs"/>
              </a:rPr>
            </a:br>
            <a:r>
              <a:rPr kumimoji="0" lang="en-US" sz="1100" i="0" u="none" strike="noStrike" kern="1200" cap="none" spc="0" normalizeH="0" baseline="0" noProof="0" err="1">
                <a:ln>
                  <a:noFill/>
                </a:ln>
                <a:solidFill>
                  <a:schemeClr val="bg1"/>
                </a:solidFill>
                <a:effectLst/>
                <a:uLnTx/>
                <a:uFillTx/>
                <a:latin typeface="Calibri"/>
                <a:ea typeface="ＭＳ Ｐゴシック" panose="020B0600070205080204" pitchFamily="34" charset="-128"/>
                <a:cs typeface="+mn-cs"/>
              </a:rPr>
              <a:t>VSCode</a:t>
            </a:r>
            <a:r>
              <a:rPr kumimoji="0" lang="en-US" sz="1100" i="0" u="none" strike="noStrike" kern="1200" cap="none" spc="0" normalizeH="0" baseline="0" noProof="0">
                <a:ln>
                  <a:noFill/>
                </a:ln>
                <a:solidFill>
                  <a:schemeClr val="bg1"/>
                </a:solidFill>
                <a:effectLst/>
                <a:uLnTx/>
                <a:uFillTx/>
                <a:latin typeface="Calibri"/>
                <a:ea typeface="ＭＳ Ｐゴシック" panose="020B0600070205080204" pitchFamily="34" charset="-128"/>
                <a:cs typeface="+mn-cs"/>
              </a:rPr>
              <a:t> Extension</a:t>
            </a:r>
          </a:p>
          <a:p>
            <a:pPr algn="ctr" eaLnBrk="0" fontAlgn="base" hangingPunct="0">
              <a:spcBef>
                <a:spcPct val="0"/>
              </a:spcBef>
              <a:spcAft>
                <a:spcPct val="0"/>
              </a:spcAft>
              <a:defRPr/>
            </a:pPr>
            <a:r>
              <a:rPr kumimoji="0" lang="en-US" sz="1100" i="0" u="none" strike="noStrike" kern="1200" cap="none" spc="0" normalizeH="0" baseline="0" noProof="0">
                <a:ln>
                  <a:noFill/>
                </a:ln>
                <a:solidFill>
                  <a:schemeClr val="bg1"/>
                </a:solidFill>
                <a:effectLst/>
                <a:uLnTx/>
                <a:uFillTx/>
                <a:latin typeface="Calibri"/>
                <a:ea typeface="ＭＳ Ｐゴシック" panose="020B0600070205080204" pitchFamily="34" charset="-128"/>
                <a:cs typeface="+mn-cs"/>
              </a:rPr>
              <a:t>CMSIS-Debug</a:t>
            </a:r>
          </a:p>
        </p:txBody>
      </p:sp>
      <p:pic>
        <p:nvPicPr>
          <p:cNvPr id="1026" name="Picture 2" descr="pyOCD">
            <a:extLst>
              <a:ext uri="{FF2B5EF4-FFF2-40B4-BE49-F238E27FC236}">
                <a16:creationId xmlns:a16="http://schemas.microsoft.com/office/drawing/2014/main" id="{BBD8DBCC-CB0E-DFC6-3B06-220E22A3F477}"/>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8589939" y="3077879"/>
            <a:ext cx="691016" cy="911509"/>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Straight Arrow Connector 23">
            <a:extLst>
              <a:ext uri="{FF2B5EF4-FFF2-40B4-BE49-F238E27FC236}">
                <a16:creationId xmlns:a16="http://schemas.microsoft.com/office/drawing/2014/main" id="{F23AF814-22CA-54F1-E7FE-DB57E26408AF}"/>
              </a:ext>
            </a:extLst>
          </p:cNvPr>
          <p:cNvCxnSpPr>
            <a:cxnSpLocks/>
            <a:stCxn id="13" idx="2"/>
            <a:endCxn id="23" idx="0"/>
          </p:cNvCxnSpPr>
          <p:nvPr/>
        </p:nvCxnSpPr>
        <p:spPr>
          <a:xfrm>
            <a:off x="8893092" y="2365121"/>
            <a:ext cx="1" cy="353097"/>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795BB834-2560-9281-B17C-E886AB9C8C34}"/>
              </a:ext>
            </a:extLst>
          </p:cNvPr>
          <p:cNvSpPr/>
          <p:nvPr/>
        </p:nvSpPr>
        <p:spPr>
          <a:xfrm>
            <a:off x="5933475" y="4529402"/>
            <a:ext cx="201042" cy="204985"/>
          </a:xfrm>
          <a:prstGeom prst="rect">
            <a:avLst/>
          </a:prstGeom>
          <a:solidFill>
            <a:srgbClr val="E0D1FC"/>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E5ECEB">
                  <a:lumMod val="25000"/>
                </a:srgbClr>
              </a:solidFill>
              <a:latin typeface="Calibri"/>
            </a:endParaRPr>
          </a:p>
        </p:txBody>
      </p:sp>
      <p:sp>
        <p:nvSpPr>
          <p:cNvPr id="38" name="Rectangle 37">
            <a:extLst>
              <a:ext uri="{FF2B5EF4-FFF2-40B4-BE49-F238E27FC236}">
                <a16:creationId xmlns:a16="http://schemas.microsoft.com/office/drawing/2014/main" id="{9FA1BCA8-314A-FF1C-50A9-02988B73856D}"/>
              </a:ext>
            </a:extLst>
          </p:cNvPr>
          <p:cNvSpPr/>
          <p:nvPr/>
        </p:nvSpPr>
        <p:spPr>
          <a:xfrm>
            <a:off x="7934130" y="4529402"/>
            <a:ext cx="201042" cy="204985"/>
          </a:xfrm>
          <a:prstGeom prst="rect">
            <a:avLst/>
          </a:prstGeom>
          <a:solidFill>
            <a:schemeClr val="accent5">
              <a:lumMod val="60000"/>
              <a:lumOff val="40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eaLnBrk="0" fontAlgn="base" hangingPunct="0">
              <a:spcBef>
                <a:spcPct val="0"/>
              </a:spcBef>
              <a:spcAft>
                <a:spcPct val="0"/>
              </a:spcAft>
            </a:pPr>
            <a:endParaRPr lang="en-US" sz="1600">
              <a:solidFill>
                <a:srgbClr val="E5ECEB">
                  <a:lumMod val="25000"/>
                </a:srgbClr>
              </a:solidFill>
              <a:latin typeface="Calibri"/>
            </a:endParaRPr>
          </a:p>
        </p:txBody>
      </p:sp>
      <p:sp>
        <p:nvSpPr>
          <p:cNvPr id="39" name="Rectangle 38">
            <a:extLst>
              <a:ext uri="{FF2B5EF4-FFF2-40B4-BE49-F238E27FC236}">
                <a16:creationId xmlns:a16="http://schemas.microsoft.com/office/drawing/2014/main" id="{5565D11E-F361-A32A-3B7D-D4A663A2DB67}"/>
              </a:ext>
            </a:extLst>
          </p:cNvPr>
          <p:cNvSpPr/>
          <p:nvPr/>
        </p:nvSpPr>
        <p:spPr>
          <a:xfrm>
            <a:off x="1783404" y="4517579"/>
            <a:ext cx="201042" cy="204985"/>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b="1">
              <a:solidFill>
                <a:schemeClr val="bg1"/>
              </a:solidFill>
              <a:latin typeface="Calibri"/>
            </a:endParaRPr>
          </a:p>
        </p:txBody>
      </p:sp>
      <p:sp>
        <p:nvSpPr>
          <p:cNvPr id="40" name="Rectangle 39">
            <a:extLst>
              <a:ext uri="{FF2B5EF4-FFF2-40B4-BE49-F238E27FC236}">
                <a16:creationId xmlns:a16="http://schemas.microsoft.com/office/drawing/2014/main" id="{C4758272-BDFF-9DD7-8D07-A205BAF328F7}"/>
              </a:ext>
            </a:extLst>
          </p:cNvPr>
          <p:cNvSpPr/>
          <p:nvPr/>
        </p:nvSpPr>
        <p:spPr>
          <a:xfrm>
            <a:off x="3699754" y="4517579"/>
            <a:ext cx="201042" cy="20498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pPr>
            <a:endParaRPr lang="en-US" sz="1400">
              <a:solidFill>
                <a:schemeClr val="bg1"/>
              </a:solidFill>
              <a:latin typeface="Calibri"/>
              <a:ea typeface="ＭＳ Ｐゴシック" panose="020B0600070205080204" pitchFamily="34" charset="-128"/>
            </a:endParaRPr>
          </a:p>
        </p:txBody>
      </p:sp>
      <p:sp>
        <p:nvSpPr>
          <p:cNvPr id="41" name="TextBox 40">
            <a:extLst>
              <a:ext uri="{FF2B5EF4-FFF2-40B4-BE49-F238E27FC236}">
                <a16:creationId xmlns:a16="http://schemas.microsoft.com/office/drawing/2014/main" id="{059964D2-2E55-1F97-2380-BCD6981B45F5}"/>
              </a:ext>
            </a:extLst>
          </p:cNvPr>
          <p:cNvSpPr txBox="1"/>
          <p:nvPr/>
        </p:nvSpPr>
        <p:spPr>
          <a:xfrm>
            <a:off x="6218823" y="4570216"/>
            <a:ext cx="1369314"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a:solidFill>
                  <a:schemeClr val="tx2"/>
                </a:solidFill>
              </a:rPr>
              <a:t>User created input files </a:t>
            </a:r>
          </a:p>
        </p:txBody>
      </p:sp>
      <p:sp>
        <p:nvSpPr>
          <p:cNvPr id="43" name="TextBox 42">
            <a:extLst>
              <a:ext uri="{FF2B5EF4-FFF2-40B4-BE49-F238E27FC236}">
                <a16:creationId xmlns:a16="http://schemas.microsoft.com/office/drawing/2014/main" id="{29D17685-0635-B2C0-45A2-E33493CB3CA4}"/>
              </a:ext>
            </a:extLst>
          </p:cNvPr>
          <p:cNvSpPr txBox="1"/>
          <p:nvPr/>
        </p:nvSpPr>
        <p:spPr>
          <a:xfrm>
            <a:off x="8237582" y="4570215"/>
            <a:ext cx="1369314"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a:solidFill>
                  <a:schemeClr val="tx2"/>
                </a:solidFill>
              </a:rPr>
              <a:t>Generated output files</a:t>
            </a:r>
          </a:p>
        </p:txBody>
      </p:sp>
      <p:sp>
        <p:nvSpPr>
          <p:cNvPr id="44" name="TextBox 43">
            <a:extLst>
              <a:ext uri="{FF2B5EF4-FFF2-40B4-BE49-F238E27FC236}">
                <a16:creationId xmlns:a16="http://schemas.microsoft.com/office/drawing/2014/main" id="{C193D65C-CA60-BBD6-7ABC-CCA16604B940}"/>
              </a:ext>
            </a:extLst>
          </p:cNvPr>
          <p:cNvSpPr txBox="1"/>
          <p:nvPr/>
        </p:nvSpPr>
        <p:spPr>
          <a:xfrm>
            <a:off x="2074616" y="4551651"/>
            <a:ext cx="1369314"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a:solidFill>
                  <a:schemeClr val="tx2"/>
                </a:solidFill>
              </a:rPr>
              <a:t>Open-CMSIS Tools</a:t>
            </a:r>
          </a:p>
        </p:txBody>
      </p:sp>
      <p:sp>
        <p:nvSpPr>
          <p:cNvPr id="45" name="TextBox 44">
            <a:extLst>
              <a:ext uri="{FF2B5EF4-FFF2-40B4-BE49-F238E27FC236}">
                <a16:creationId xmlns:a16="http://schemas.microsoft.com/office/drawing/2014/main" id="{812F9380-BF14-55F8-0861-B3E03A291C6A}"/>
              </a:ext>
            </a:extLst>
          </p:cNvPr>
          <p:cNvSpPr txBox="1"/>
          <p:nvPr/>
        </p:nvSpPr>
        <p:spPr>
          <a:xfrm>
            <a:off x="4012437" y="4558606"/>
            <a:ext cx="1636096"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a:solidFill>
                  <a:schemeClr val="tx2"/>
                </a:solidFill>
              </a:rPr>
              <a:t>Published software packs</a:t>
            </a:r>
          </a:p>
        </p:txBody>
      </p:sp>
      <p:sp>
        <p:nvSpPr>
          <p:cNvPr id="2" name="Title 1">
            <a:extLst>
              <a:ext uri="{FF2B5EF4-FFF2-40B4-BE49-F238E27FC236}">
                <a16:creationId xmlns:a16="http://schemas.microsoft.com/office/drawing/2014/main" id="{E056B4A7-BFEF-8096-52E4-E89F4F9C3728}"/>
              </a:ext>
            </a:extLst>
          </p:cNvPr>
          <p:cNvSpPr>
            <a:spLocks noGrp="1"/>
          </p:cNvSpPr>
          <p:nvPr>
            <p:ph type="title"/>
          </p:nvPr>
        </p:nvSpPr>
        <p:spPr/>
        <p:txBody>
          <a:bodyPr/>
          <a:lstStyle/>
          <a:p>
            <a:r>
              <a:rPr lang="en-US">
                <a:hlinkClick r:id="rId5"/>
              </a:rPr>
              <a:t>Run and Debug Management</a:t>
            </a:r>
            <a:r>
              <a:rPr lang="en-US"/>
              <a:t>: pyOCD implementation</a:t>
            </a:r>
          </a:p>
        </p:txBody>
      </p:sp>
      <p:sp>
        <p:nvSpPr>
          <p:cNvPr id="6" name="Content Placeholder 5">
            <a:extLst>
              <a:ext uri="{FF2B5EF4-FFF2-40B4-BE49-F238E27FC236}">
                <a16:creationId xmlns:a16="http://schemas.microsoft.com/office/drawing/2014/main" id="{45F75EE9-2F64-CECC-8879-1B54601F87E0}"/>
              </a:ext>
            </a:extLst>
          </p:cNvPr>
          <p:cNvSpPr>
            <a:spLocks noGrp="1"/>
          </p:cNvSpPr>
          <p:nvPr>
            <p:ph idx="1"/>
          </p:nvPr>
        </p:nvSpPr>
        <p:spPr>
          <a:xfrm>
            <a:off x="334963" y="952036"/>
            <a:ext cx="11522074" cy="472372"/>
          </a:xfrm>
        </p:spPr>
        <p:txBody>
          <a:bodyPr/>
          <a:lstStyle/>
          <a:p>
            <a:r>
              <a:rPr lang="en-US" sz="1800" dirty="0"/>
              <a:t>A single file `*</a:t>
            </a:r>
            <a:r>
              <a:rPr lang="en-US" sz="1800" dirty="0" err="1"/>
              <a:t>cbuild-run.yml</a:t>
            </a:r>
            <a:r>
              <a:rPr lang="en-US" sz="1800" dirty="0"/>
              <a:t>` contains all relevant information </a:t>
            </a:r>
            <a:r>
              <a:rPr lang="en-US" sz="1800" b="0" i="0" dirty="0">
                <a:solidFill>
                  <a:srgbClr val="404040"/>
                </a:solidFill>
                <a:effectLst/>
                <a:latin typeface="Lato" panose="020F0502020204030203" pitchFamily="34" charset="0"/>
              </a:rPr>
              <a:t>for run and debug of an application.</a:t>
            </a:r>
            <a:endParaRPr lang="en-US" sz="1800" dirty="0"/>
          </a:p>
        </p:txBody>
      </p:sp>
      <p:sp>
        <p:nvSpPr>
          <p:cNvPr id="10" name="Content Placeholder 5">
            <a:extLst>
              <a:ext uri="{FF2B5EF4-FFF2-40B4-BE49-F238E27FC236}">
                <a16:creationId xmlns:a16="http://schemas.microsoft.com/office/drawing/2014/main" id="{C26AF690-F29E-B181-7F37-3A849D467A88}"/>
              </a:ext>
            </a:extLst>
          </p:cNvPr>
          <p:cNvSpPr txBox="1">
            <a:spLocks/>
          </p:cNvSpPr>
          <p:nvPr/>
        </p:nvSpPr>
        <p:spPr>
          <a:xfrm>
            <a:off x="457786" y="5006732"/>
            <a:ext cx="11522074" cy="472372"/>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chemeClr val="tx1"/>
                </a:solidFill>
                <a:latin typeface="Arial" panose="020B0604020202020204" pitchFamily="34" charset="0"/>
                <a:ea typeface="ＭＳ Ｐゴシック" charset="0"/>
                <a:cs typeface="Arial" panose="020B0604020202020204" pitchFamily="34" charset="0"/>
              </a:defRPr>
            </a:lvl1pPr>
            <a:lvl2pPr marL="67278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chemeClr val="tx1"/>
                </a:solidFill>
                <a:latin typeface="Arial" panose="020B0604020202020204" pitchFamily="34" charset="0"/>
                <a:ea typeface="ＭＳ Ｐゴシック" charset="0"/>
                <a:cs typeface="Arial" panose="020B0604020202020204" pitchFamily="34" charset="0"/>
              </a:defRPr>
            </a:lvl2pPr>
            <a:lvl3pPr marL="94710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chemeClr val="tx1"/>
                </a:solidFill>
                <a:latin typeface="Arial" panose="020B0604020202020204" pitchFamily="34" charset="0"/>
                <a:ea typeface="ＭＳ Ｐゴシック" charset="0"/>
                <a:cs typeface="Arial" panose="020B0604020202020204" pitchFamily="34" charset="0"/>
              </a:defRPr>
            </a:lvl3pPr>
            <a:lvl4pPr marL="129317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chemeClr val="tx1"/>
                </a:solidFill>
                <a:latin typeface="Arial" panose="020B0604020202020204" pitchFamily="34" charset="0"/>
                <a:ea typeface="ＭＳ Ｐゴシック" charset="0"/>
                <a:cs typeface="Arial" panose="020B0604020202020204" pitchFamily="34" charset="0"/>
              </a:defRPr>
            </a:lvl4pPr>
            <a:lvl5pPr marL="151860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chemeClr val="tx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r>
              <a:rPr lang="en-US" err="1"/>
              <a:t>pyOCD</a:t>
            </a:r>
            <a:r>
              <a:rPr lang="en-US"/>
              <a:t> command-line</a:t>
            </a:r>
            <a:br>
              <a:rPr lang="en-US"/>
            </a:br>
            <a:endParaRPr lang="en-US" sz="900"/>
          </a:p>
          <a:p>
            <a:pPr marL="329883" lvl="1" indent="0">
              <a:buNone/>
            </a:pPr>
            <a:r>
              <a:rPr lang="en-US" sz="1200" b="1">
                <a:latin typeface="Courier New" panose="02070309020205020404" pitchFamily="49" charset="0"/>
                <a:cs typeface="Courier New" panose="02070309020205020404" pitchFamily="49" charset="0"/>
              </a:rPr>
              <a:t> &gt; </a:t>
            </a:r>
            <a:r>
              <a:rPr lang="en-US" sz="1200" b="1" err="1">
                <a:latin typeface="Courier New" panose="02070309020205020404" pitchFamily="49" charset="0"/>
                <a:cs typeface="Courier New" panose="02070309020205020404" pitchFamily="49" charset="0"/>
              </a:rPr>
              <a:t>pyocd</a:t>
            </a:r>
            <a:r>
              <a:rPr lang="en-US" sz="1200" b="1">
                <a:latin typeface="Courier New" panose="02070309020205020404" pitchFamily="49" charset="0"/>
                <a:cs typeface="Courier New" panose="02070309020205020404" pitchFamily="49" charset="0"/>
              </a:rPr>
              <a:t> list      --</a:t>
            </a:r>
            <a:r>
              <a:rPr lang="en-US" sz="1200" b="1" err="1">
                <a:latin typeface="Courier New" panose="02070309020205020404" pitchFamily="49" charset="0"/>
                <a:cs typeface="Courier New" panose="02070309020205020404" pitchFamily="49" charset="0"/>
              </a:rPr>
              <a:t>cbuild</a:t>
            </a:r>
            <a:r>
              <a:rPr lang="en-US" sz="1200" b="1">
                <a:latin typeface="Courier New" panose="02070309020205020404" pitchFamily="49" charset="0"/>
                <a:cs typeface="Courier New" panose="02070309020205020404" pitchFamily="49" charset="0"/>
              </a:rPr>
              <a:t>-run </a:t>
            </a:r>
            <a:r>
              <a:rPr lang="en-US" sz="1200" b="1" err="1">
                <a:latin typeface="Courier New" panose="02070309020205020404" pitchFamily="49" charset="0"/>
                <a:cs typeface="Courier New" panose="02070309020205020404" pitchFamily="49" charset="0"/>
              </a:rPr>
              <a:t>MyProject+TargetHW.cbuild-run.yml</a:t>
            </a:r>
            <a:r>
              <a:rPr lang="en-US" sz="1200" b="1">
                <a:latin typeface="Courier New" panose="02070309020205020404" pitchFamily="49" charset="0"/>
                <a:cs typeface="Courier New" panose="02070309020205020404" pitchFamily="49" charset="0"/>
              </a:rPr>
              <a:t>   // details of debug connection (scan JTAG, SWD)</a:t>
            </a:r>
          </a:p>
          <a:p>
            <a:pPr marL="329883" lvl="1" indent="0">
              <a:buNone/>
            </a:pPr>
            <a:r>
              <a:rPr lang="en-US" sz="1200" b="1">
                <a:latin typeface="Courier New" panose="02070309020205020404" pitchFamily="49" charset="0"/>
                <a:cs typeface="Courier New" panose="02070309020205020404" pitchFamily="49" charset="0"/>
              </a:rPr>
              <a:t> &gt; </a:t>
            </a:r>
            <a:r>
              <a:rPr lang="en-US" sz="1200" b="1" err="1">
                <a:latin typeface="Courier New" panose="02070309020205020404" pitchFamily="49" charset="0"/>
                <a:cs typeface="Courier New" panose="02070309020205020404" pitchFamily="49" charset="0"/>
              </a:rPr>
              <a:t>pyocd</a:t>
            </a:r>
            <a:r>
              <a:rPr lang="en-US" sz="1200" b="1">
                <a:latin typeface="Courier New" panose="02070309020205020404" pitchFamily="49" charset="0"/>
                <a:cs typeface="Courier New" panose="02070309020205020404" pitchFamily="49" charset="0"/>
              </a:rPr>
              <a:t> </a:t>
            </a:r>
            <a:r>
              <a:rPr lang="en-US" sz="1200" b="1" err="1">
                <a:latin typeface="Courier New" panose="02070309020205020404" pitchFamily="49" charset="0"/>
                <a:cs typeface="Courier New" panose="02070309020205020404" pitchFamily="49" charset="0"/>
              </a:rPr>
              <a:t>gdbserver</a:t>
            </a:r>
            <a:r>
              <a:rPr lang="en-US" sz="1200" b="1">
                <a:latin typeface="Courier New" panose="02070309020205020404" pitchFamily="49" charset="0"/>
                <a:cs typeface="Courier New" panose="02070309020205020404" pitchFamily="49" charset="0"/>
              </a:rPr>
              <a:t> --</a:t>
            </a:r>
            <a:r>
              <a:rPr lang="en-US" sz="1200" b="1" err="1">
                <a:latin typeface="Courier New" panose="02070309020205020404" pitchFamily="49" charset="0"/>
                <a:cs typeface="Courier New" panose="02070309020205020404" pitchFamily="49" charset="0"/>
              </a:rPr>
              <a:t>cbuild</a:t>
            </a:r>
            <a:r>
              <a:rPr lang="en-US" sz="1200" b="1">
                <a:latin typeface="Courier New" panose="02070309020205020404" pitchFamily="49" charset="0"/>
                <a:cs typeface="Courier New" panose="02070309020205020404" pitchFamily="49" charset="0"/>
              </a:rPr>
              <a:t>-run </a:t>
            </a:r>
            <a:r>
              <a:rPr lang="en-US" sz="1200" b="1" err="1">
                <a:latin typeface="Courier New" panose="02070309020205020404" pitchFamily="49" charset="0"/>
                <a:cs typeface="Courier New" panose="02070309020205020404" pitchFamily="49" charset="0"/>
              </a:rPr>
              <a:t>MyProject+TargetHW.cbuild-run.yml</a:t>
            </a:r>
            <a:r>
              <a:rPr lang="en-US" sz="1200" b="1">
                <a:latin typeface="Courier New" panose="02070309020205020404" pitchFamily="49" charset="0"/>
                <a:cs typeface="Courier New" panose="02070309020205020404" pitchFamily="49" charset="0"/>
              </a:rPr>
              <a:t>   // start debug server, load command: flash</a:t>
            </a:r>
          </a:p>
          <a:p>
            <a:pPr marL="329883" lvl="1" indent="0">
              <a:buNone/>
            </a:pPr>
            <a:r>
              <a:rPr lang="en-US" sz="1200" b="1">
                <a:latin typeface="Courier New" panose="02070309020205020404" pitchFamily="49" charset="0"/>
                <a:cs typeface="Courier New" panose="02070309020205020404" pitchFamily="49" charset="0"/>
              </a:rPr>
              <a:t> &gt; </a:t>
            </a:r>
            <a:r>
              <a:rPr lang="en-US" sz="1200" b="1" err="1">
                <a:latin typeface="Courier New" panose="02070309020205020404" pitchFamily="49" charset="0"/>
                <a:cs typeface="Courier New" panose="02070309020205020404" pitchFamily="49" charset="0"/>
              </a:rPr>
              <a:t>pyocd</a:t>
            </a:r>
            <a:r>
              <a:rPr lang="en-US" sz="1200" b="1">
                <a:latin typeface="Courier New" panose="02070309020205020404" pitchFamily="49" charset="0"/>
                <a:cs typeface="Courier New" panose="02070309020205020404" pitchFamily="49" charset="0"/>
              </a:rPr>
              <a:t> load      --</a:t>
            </a:r>
            <a:r>
              <a:rPr lang="en-US" sz="1200" b="1" err="1">
                <a:latin typeface="Courier New" panose="02070309020205020404" pitchFamily="49" charset="0"/>
                <a:cs typeface="Courier New" panose="02070309020205020404" pitchFamily="49" charset="0"/>
              </a:rPr>
              <a:t>cbuild</a:t>
            </a:r>
            <a:r>
              <a:rPr lang="en-US" sz="1200" b="1">
                <a:latin typeface="Courier New" panose="02070309020205020404" pitchFamily="49" charset="0"/>
                <a:cs typeface="Courier New" panose="02070309020205020404" pitchFamily="49" charset="0"/>
              </a:rPr>
              <a:t>-run </a:t>
            </a:r>
            <a:r>
              <a:rPr lang="en-US" sz="1200" b="1" err="1">
                <a:latin typeface="Courier New" panose="02070309020205020404" pitchFamily="49" charset="0"/>
                <a:cs typeface="Courier New" panose="02070309020205020404" pitchFamily="49" charset="0"/>
              </a:rPr>
              <a:t>MyProject+TargetHW.cbuild-run.yml</a:t>
            </a:r>
            <a:r>
              <a:rPr lang="en-US" sz="1200" b="1">
                <a:latin typeface="Courier New" panose="02070309020205020404" pitchFamily="49" charset="0"/>
                <a:cs typeface="Courier New" panose="02070309020205020404" pitchFamily="49" charset="0"/>
              </a:rPr>
              <a:t>   // flash and run application</a:t>
            </a:r>
          </a:p>
          <a:p>
            <a:pPr marL="329883" lvl="1" indent="0">
              <a:buNone/>
            </a:pPr>
            <a:r>
              <a:rPr lang="en-US" sz="1200" b="1">
                <a:latin typeface="Courier New" panose="02070309020205020404" pitchFamily="49" charset="0"/>
                <a:cs typeface="Courier New" panose="02070309020205020404" pitchFamily="49" charset="0"/>
              </a:rPr>
              <a:t> &gt; </a:t>
            </a:r>
            <a:r>
              <a:rPr lang="en-US" sz="1200" b="1" err="1">
                <a:latin typeface="Courier New" panose="02070309020205020404" pitchFamily="49" charset="0"/>
                <a:cs typeface="Courier New" panose="02070309020205020404" pitchFamily="49" charset="0"/>
              </a:rPr>
              <a:t>pyocd</a:t>
            </a:r>
            <a:r>
              <a:rPr lang="en-US" sz="1200" b="1">
                <a:latin typeface="Courier New" panose="02070309020205020404" pitchFamily="49" charset="0"/>
                <a:cs typeface="Courier New" panose="02070309020205020404" pitchFamily="49" charset="0"/>
              </a:rPr>
              <a:t> erase     --</a:t>
            </a:r>
            <a:r>
              <a:rPr lang="en-US" sz="1200" b="1" err="1">
                <a:latin typeface="Courier New" panose="02070309020205020404" pitchFamily="49" charset="0"/>
                <a:cs typeface="Courier New" panose="02070309020205020404" pitchFamily="49" charset="0"/>
              </a:rPr>
              <a:t>cbuild</a:t>
            </a:r>
            <a:r>
              <a:rPr lang="en-US" sz="1200" b="1">
                <a:latin typeface="Courier New" panose="02070309020205020404" pitchFamily="49" charset="0"/>
                <a:cs typeface="Courier New" panose="02070309020205020404" pitchFamily="49" charset="0"/>
              </a:rPr>
              <a:t>-run </a:t>
            </a:r>
            <a:r>
              <a:rPr lang="en-US" sz="1200" b="1" err="1">
                <a:latin typeface="Courier New" panose="02070309020205020404" pitchFamily="49" charset="0"/>
                <a:cs typeface="Courier New" panose="02070309020205020404" pitchFamily="49" charset="0"/>
              </a:rPr>
              <a:t>MyProject+TargetHW.cbuild-run.yml</a:t>
            </a:r>
            <a:r>
              <a:rPr lang="en-US" sz="1200" b="1">
                <a:latin typeface="Courier New" panose="02070309020205020404" pitchFamily="49" charset="0"/>
                <a:cs typeface="Courier New" panose="02070309020205020404" pitchFamily="49" charset="0"/>
              </a:rPr>
              <a:t>   // erase image on device</a:t>
            </a:r>
            <a:endParaRPr lang="en-US" sz="1400" b="1">
              <a:latin typeface="Courier New" panose="02070309020205020404" pitchFamily="49" charset="0"/>
              <a:cs typeface="Courier New" panose="02070309020205020404" pitchFamily="49" charset="0"/>
            </a:endParaRPr>
          </a:p>
          <a:p>
            <a:endParaRPr lang="en-US"/>
          </a:p>
          <a:p>
            <a:endParaRPr lang="en-US"/>
          </a:p>
          <a:p>
            <a:endParaRPr lang="en-US"/>
          </a:p>
        </p:txBody>
      </p:sp>
    </p:spTree>
    <p:custDataLst>
      <p:tags r:id="rId1"/>
    </p:custDataLst>
    <p:extLst>
      <p:ext uri="{BB962C8B-B14F-4D97-AF65-F5344CB8AC3E}">
        <p14:creationId xmlns:p14="http://schemas.microsoft.com/office/powerpoint/2010/main" val="2265544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9CD3017-2E8E-E7BE-B5AA-3317A6F6CAD3}"/>
              </a:ext>
            </a:extLst>
          </p:cNvPr>
          <p:cNvSpPr/>
          <p:nvPr/>
        </p:nvSpPr>
        <p:spPr>
          <a:xfrm>
            <a:off x="2240093" y="1594869"/>
            <a:ext cx="2740006" cy="1540448"/>
          </a:xfrm>
          <a:prstGeom prst="rect">
            <a:avLst/>
          </a:prstGeom>
          <a:solidFill>
            <a:schemeClr val="accent3">
              <a:lumMod val="75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4377"/>
            <a:r>
              <a:rPr lang="en-US" sz="2000" dirty="0">
                <a:solidFill>
                  <a:srgbClr val="FFFFFF"/>
                </a:solidFill>
                <a:latin typeface="Calibri"/>
              </a:rPr>
              <a:t>Application</a:t>
            </a:r>
            <a:endParaRPr lang="en-US" sz="1400" dirty="0">
              <a:solidFill>
                <a:srgbClr val="FFFFFF"/>
              </a:solidFill>
              <a:latin typeface="Calibri"/>
            </a:endParaRPr>
          </a:p>
        </p:txBody>
      </p:sp>
      <p:sp>
        <p:nvSpPr>
          <p:cNvPr id="6" name="Rectangle 5">
            <a:extLst>
              <a:ext uri="{FF2B5EF4-FFF2-40B4-BE49-F238E27FC236}">
                <a16:creationId xmlns:a16="http://schemas.microsoft.com/office/drawing/2014/main" id="{07746854-FF24-1DA5-D318-78A05C122B0B}"/>
              </a:ext>
            </a:extLst>
          </p:cNvPr>
          <p:cNvSpPr/>
          <p:nvPr/>
        </p:nvSpPr>
        <p:spPr>
          <a:xfrm>
            <a:off x="1577067" y="3870337"/>
            <a:ext cx="1835098" cy="1540448"/>
          </a:xfrm>
          <a:prstGeom prst="rect">
            <a:avLst/>
          </a:prstGeom>
          <a:solidFill>
            <a:schemeClr val="accent5">
              <a:lumMod val="7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2000" dirty="0">
                <a:solidFill>
                  <a:srgbClr val="FFFFFF"/>
                </a:solidFill>
                <a:latin typeface="Calibri"/>
              </a:rPr>
              <a:t>Board Layer</a:t>
            </a:r>
            <a:br>
              <a:rPr lang="en-US" sz="2000" dirty="0">
                <a:solidFill>
                  <a:srgbClr val="FFFFFF"/>
                </a:solidFill>
                <a:latin typeface="Calibri"/>
              </a:rPr>
            </a:br>
            <a:r>
              <a:rPr lang="en-US" sz="2000" dirty="0">
                <a:solidFill>
                  <a:srgbClr val="FFFFFF"/>
                </a:solidFill>
                <a:latin typeface="Calibri"/>
              </a:rPr>
              <a:t>for</a:t>
            </a:r>
            <a:br>
              <a:rPr lang="en-US" sz="2000" dirty="0">
                <a:solidFill>
                  <a:srgbClr val="FFFFFF"/>
                </a:solidFill>
                <a:latin typeface="Calibri"/>
              </a:rPr>
            </a:br>
            <a:r>
              <a:rPr lang="en-US" sz="2000" dirty="0">
                <a:solidFill>
                  <a:srgbClr val="FFFFFF"/>
                </a:solidFill>
                <a:latin typeface="Calibri"/>
              </a:rPr>
              <a:t>STM32F746G </a:t>
            </a:r>
            <a:br>
              <a:rPr lang="en-US" sz="2000" dirty="0">
                <a:solidFill>
                  <a:srgbClr val="FFFFFF"/>
                </a:solidFill>
                <a:latin typeface="Calibri"/>
              </a:rPr>
            </a:br>
            <a:r>
              <a:rPr lang="en-US" sz="2000" dirty="0">
                <a:solidFill>
                  <a:srgbClr val="FFFFFF"/>
                </a:solidFill>
                <a:latin typeface="Calibri"/>
              </a:rPr>
              <a:t>Disco</a:t>
            </a:r>
          </a:p>
        </p:txBody>
      </p:sp>
      <p:sp>
        <p:nvSpPr>
          <p:cNvPr id="7" name="Rectangle 6">
            <a:extLst>
              <a:ext uri="{FF2B5EF4-FFF2-40B4-BE49-F238E27FC236}">
                <a16:creationId xmlns:a16="http://schemas.microsoft.com/office/drawing/2014/main" id="{64B0516C-8B6D-5258-FD33-62C7CB008C73}"/>
              </a:ext>
            </a:extLst>
          </p:cNvPr>
          <p:cNvSpPr/>
          <p:nvPr/>
        </p:nvSpPr>
        <p:spPr>
          <a:xfrm>
            <a:off x="3862817" y="3870337"/>
            <a:ext cx="1835098" cy="1540448"/>
          </a:xfrm>
          <a:prstGeom prst="rect">
            <a:avLst/>
          </a:prstGeom>
          <a:solidFill>
            <a:schemeClr val="accent5">
              <a:lumMod val="7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2000" dirty="0">
                <a:solidFill>
                  <a:srgbClr val="FFFFFF"/>
                </a:solidFill>
                <a:latin typeface="Calibri"/>
              </a:rPr>
              <a:t>Board Layer</a:t>
            </a:r>
            <a:br>
              <a:rPr lang="en-US" sz="2000" dirty="0">
                <a:solidFill>
                  <a:srgbClr val="FFFFFF"/>
                </a:solidFill>
                <a:latin typeface="Calibri"/>
              </a:rPr>
            </a:br>
            <a:r>
              <a:rPr lang="en-US" sz="2000" dirty="0">
                <a:solidFill>
                  <a:srgbClr val="FFFFFF"/>
                </a:solidFill>
                <a:latin typeface="Calibri"/>
              </a:rPr>
              <a:t>for</a:t>
            </a:r>
            <a:br>
              <a:rPr lang="en-US" sz="2000" dirty="0">
                <a:solidFill>
                  <a:srgbClr val="FFFFFF"/>
                </a:solidFill>
                <a:latin typeface="Calibri"/>
              </a:rPr>
            </a:br>
            <a:r>
              <a:rPr lang="en-US" sz="2000" dirty="0">
                <a:solidFill>
                  <a:srgbClr val="FFFFFF"/>
                </a:solidFill>
                <a:latin typeface="Calibri"/>
              </a:rPr>
              <a:t>Production</a:t>
            </a:r>
          </a:p>
          <a:p>
            <a:pPr algn="ctr" defTabSz="914377"/>
            <a:r>
              <a:rPr lang="en-US" sz="2000" dirty="0">
                <a:solidFill>
                  <a:srgbClr val="FFFFFF"/>
                </a:solidFill>
                <a:latin typeface="Calibri"/>
              </a:rPr>
              <a:t>Hardware</a:t>
            </a:r>
          </a:p>
        </p:txBody>
      </p:sp>
      <p:cxnSp>
        <p:nvCxnSpPr>
          <p:cNvPr id="8" name="Straight Arrow Connector 7">
            <a:extLst>
              <a:ext uri="{FF2B5EF4-FFF2-40B4-BE49-F238E27FC236}">
                <a16:creationId xmlns:a16="http://schemas.microsoft.com/office/drawing/2014/main" id="{15FDA957-ACF2-53C0-C04C-5F97FF0A5F94}"/>
              </a:ext>
            </a:extLst>
          </p:cNvPr>
          <p:cNvCxnSpPr>
            <a:endCxn id="6" idx="0"/>
          </p:cNvCxnSpPr>
          <p:nvPr/>
        </p:nvCxnSpPr>
        <p:spPr>
          <a:xfrm flipH="1">
            <a:off x="2494616" y="3135317"/>
            <a:ext cx="553050" cy="73502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CD9FE9C-BC7E-D068-7C69-E8182C72FA4C}"/>
              </a:ext>
            </a:extLst>
          </p:cNvPr>
          <p:cNvCxnSpPr>
            <a:cxnSpLocks/>
            <a:endCxn id="7" idx="0"/>
          </p:cNvCxnSpPr>
          <p:nvPr/>
        </p:nvCxnSpPr>
        <p:spPr>
          <a:xfrm>
            <a:off x="4161344" y="3135317"/>
            <a:ext cx="619022" cy="73502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20E4DCFB-6FF1-B95D-BA74-6B3F8F2D26EB}"/>
              </a:ext>
            </a:extLst>
          </p:cNvPr>
          <p:cNvSpPr/>
          <p:nvPr/>
        </p:nvSpPr>
        <p:spPr>
          <a:xfrm>
            <a:off x="7089926" y="1525895"/>
            <a:ext cx="2574628" cy="1436617"/>
          </a:xfrm>
          <a:prstGeom prst="rect">
            <a:avLst/>
          </a:prstGeom>
          <a:solidFill>
            <a:schemeClr val="accent3">
              <a:lumMod val="75000"/>
            </a:schemeClr>
          </a:solidFill>
          <a:ln w="190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4377"/>
            <a:r>
              <a:rPr lang="en-US" sz="2000">
                <a:solidFill>
                  <a:srgbClr val="FFFFFF"/>
                </a:solidFill>
                <a:latin typeface="Calibri"/>
              </a:rPr>
              <a:t>Test Case </a:t>
            </a:r>
            <a:br>
              <a:rPr lang="en-US" sz="2000">
                <a:solidFill>
                  <a:srgbClr val="FFFFFF"/>
                </a:solidFill>
                <a:latin typeface="Calibri"/>
              </a:rPr>
            </a:br>
            <a:r>
              <a:rPr lang="en-US" sz="2000">
                <a:solidFill>
                  <a:srgbClr val="FFFFFF"/>
                </a:solidFill>
                <a:latin typeface="Calibri"/>
              </a:rPr>
              <a:t>Project</a:t>
            </a:r>
            <a:endParaRPr lang="en-US" sz="1400">
              <a:solidFill>
                <a:srgbClr val="FFFFFF"/>
              </a:solidFill>
              <a:latin typeface="Calibri"/>
            </a:endParaRPr>
          </a:p>
        </p:txBody>
      </p:sp>
      <p:sp>
        <p:nvSpPr>
          <p:cNvPr id="11" name="Rectangle 10">
            <a:extLst>
              <a:ext uri="{FF2B5EF4-FFF2-40B4-BE49-F238E27FC236}">
                <a16:creationId xmlns:a16="http://schemas.microsoft.com/office/drawing/2014/main" id="{BFC9F79A-D358-0C7B-8378-B21C33090B15}"/>
              </a:ext>
            </a:extLst>
          </p:cNvPr>
          <p:cNvSpPr/>
          <p:nvPr/>
        </p:nvSpPr>
        <p:spPr>
          <a:xfrm>
            <a:off x="6477177" y="3883973"/>
            <a:ext cx="1835098" cy="1540448"/>
          </a:xfrm>
          <a:prstGeom prst="rect">
            <a:avLst/>
          </a:prstGeom>
          <a:solidFill>
            <a:schemeClr val="accent5">
              <a:lumMod val="75000"/>
            </a:schemeClr>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2000">
                <a:solidFill>
                  <a:srgbClr val="FFFFFF"/>
                </a:solidFill>
                <a:latin typeface="Calibri"/>
              </a:rPr>
              <a:t>Layer for</a:t>
            </a:r>
            <a:br>
              <a:rPr lang="en-US" sz="2000">
                <a:solidFill>
                  <a:srgbClr val="FFFFFF"/>
                </a:solidFill>
                <a:latin typeface="Calibri"/>
              </a:rPr>
            </a:br>
            <a:r>
              <a:rPr lang="en-US" sz="2000">
                <a:solidFill>
                  <a:srgbClr val="FFFFFF"/>
                </a:solidFill>
                <a:latin typeface="Calibri"/>
              </a:rPr>
              <a:t>Hardware Board</a:t>
            </a:r>
          </a:p>
        </p:txBody>
      </p:sp>
      <p:sp>
        <p:nvSpPr>
          <p:cNvPr id="12" name="Rectangle 11">
            <a:extLst>
              <a:ext uri="{FF2B5EF4-FFF2-40B4-BE49-F238E27FC236}">
                <a16:creationId xmlns:a16="http://schemas.microsoft.com/office/drawing/2014/main" id="{5389879D-D58D-191C-9F1A-69DA75B796C3}"/>
              </a:ext>
            </a:extLst>
          </p:cNvPr>
          <p:cNvSpPr/>
          <p:nvPr/>
        </p:nvSpPr>
        <p:spPr>
          <a:xfrm>
            <a:off x="8762927" y="3883973"/>
            <a:ext cx="1835098" cy="1540448"/>
          </a:xfrm>
          <a:prstGeom prst="rect">
            <a:avLst/>
          </a:prstGeom>
          <a:solidFill>
            <a:schemeClr val="accent5">
              <a:lumMod val="75000"/>
            </a:schemeClr>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2000">
                <a:solidFill>
                  <a:srgbClr val="FFFFFF"/>
                </a:solidFill>
                <a:latin typeface="Calibri"/>
              </a:rPr>
              <a:t>Layer for</a:t>
            </a:r>
            <a:br>
              <a:rPr lang="en-US" sz="2000">
                <a:solidFill>
                  <a:srgbClr val="FFFFFF"/>
                </a:solidFill>
                <a:latin typeface="Calibri"/>
              </a:rPr>
            </a:br>
            <a:r>
              <a:rPr lang="en-US" sz="2000">
                <a:solidFill>
                  <a:srgbClr val="FFFFFF"/>
                </a:solidFill>
                <a:latin typeface="Calibri"/>
              </a:rPr>
              <a:t>Simulation Model</a:t>
            </a:r>
          </a:p>
        </p:txBody>
      </p:sp>
      <p:cxnSp>
        <p:nvCxnSpPr>
          <p:cNvPr id="13" name="Straight Arrow Connector 12">
            <a:extLst>
              <a:ext uri="{FF2B5EF4-FFF2-40B4-BE49-F238E27FC236}">
                <a16:creationId xmlns:a16="http://schemas.microsoft.com/office/drawing/2014/main" id="{D337F128-530A-3655-745F-39A47E82A069}"/>
              </a:ext>
            </a:extLst>
          </p:cNvPr>
          <p:cNvCxnSpPr>
            <a:endCxn id="11" idx="0"/>
          </p:cNvCxnSpPr>
          <p:nvPr/>
        </p:nvCxnSpPr>
        <p:spPr>
          <a:xfrm flipH="1">
            <a:off x="7394726" y="3148953"/>
            <a:ext cx="553050" cy="73502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08F8653-9F86-9533-B8EF-6F532037EAAD}"/>
              </a:ext>
            </a:extLst>
          </p:cNvPr>
          <p:cNvCxnSpPr>
            <a:cxnSpLocks/>
            <a:endCxn id="12" idx="0"/>
          </p:cNvCxnSpPr>
          <p:nvPr/>
        </p:nvCxnSpPr>
        <p:spPr>
          <a:xfrm>
            <a:off x="9061454" y="3148953"/>
            <a:ext cx="619022" cy="73502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A7B71C68-611F-A75A-E113-C972800B4D1E}"/>
              </a:ext>
            </a:extLst>
          </p:cNvPr>
          <p:cNvSpPr/>
          <p:nvPr/>
        </p:nvSpPr>
        <p:spPr>
          <a:xfrm>
            <a:off x="7242326" y="1678295"/>
            <a:ext cx="2574628" cy="1436617"/>
          </a:xfrm>
          <a:prstGeom prst="rect">
            <a:avLst/>
          </a:prstGeom>
          <a:solidFill>
            <a:schemeClr val="accent3">
              <a:lumMod val="75000"/>
            </a:schemeClr>
          </a:solidFill>
          <a:ln w="190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4377"/>
            <a:r>
              <a:rPr lang="en-US" sz="2000">
                <a:solidFill>
                  <a:srgbClr val="FFFFFF"/>
                </a:solidFill>
                <a:latin typeface="Calibri"/>
              </a:rPr>
              <a:t>Test Case </a:t>
            </a:r>
            <a:br>
              <a:rPr lang="en-US" sz="2000">
                <a:solidFill>
                  <a:srgbClr val="FFFFFF"/>
                </a:solidFill>
                <a:latin typeface="Calibri"/>
              </a:rPr>
            </a:br>
            <a:r>
              <a:rPr lang="en-US" sz="2000">
                <a:solidFill>
                  <a:srgbClr val="FFFFFF"/>
                </a:solidFill>
                <a:latin typeface="Calibri"/>
              </a:rPr>
              <a:t>Project</a:t>
            </a:r>
            <a:endParaRPr lang="en-US" sz="1400">
              <a:solidFill>
                <a:srgbClr val="FFFFFF"/>
              </a:solidFill>
              <a:latin typeface="Calibri"/>
            </a:endParaRPr>
          </a:p>
        </p:txBody>
      </p:sp>
      <p:sp>
        <p:nvSpPr>
          <p:cNvPr id="16" name="Rectangle 15">
            <a:extLst>
              <a:ext uri="{FF2B5EF4-FFF2-40B4-BE49-F238E27FC236}">
                <a16:creationId xmlns:a16="http://schemas.microsoft.com/office/drawing/2014/main" id="{EB15F4C1-4A85-94D8-454E-AE0D4DE8C1B9}"/>
              </a:ext>
            </a:extLst>
          </p:cNvPr>
          <p:cNvSpPr/>
          <p:nvPr/>
        </p:nvSpPr>
        <p:spPr>
          <a:xfrm>
            <a:off x="7394726" y="1830695"/>
            <a:ext cx="2574628" cy="1436617"/>
          </a:xfrm>
          <a:prstGeom prst="rect">
            <a:avLst/>
          </a:prstGeom>
          <a:solidFill>
            <a:schemeClr val="accent3">
              <a:lumMod val="75000"/>
            </a:schemeClr>
          </a:solidFill>
          <a:ln w="190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4377"/>
            <a:r>
              <a:rPr lang="en-US" sz="2000">
                <a:solidFill>
                  <a:srgbClr val="FFFFFF"/>
                </a:solidFill>
                <a:latin typeface="Calibri"/>
              </a:rPr>
              <a:t>Test Case </a:t>
            </a:r>
            <a:br>
              <a:rPr lang="en-US" sz="2000">
                <a:solidFill>
                  <a:srgbClr val="FFFFFF"/>
                </a:solidFill>
                <a:latin typeface="Calibri"/>
              </a:rPr>
            </a:br>
            <a:r>
              <a:rPr lang="en-US" sz="2000">
                <a:solidFill>
                  <a:srgbClr val="FFFFFF"/>
                </a:solidFill>
                <a:latin typeface="Calibri"/>
              </a:rPr>
              <a:t>Project</a:t>
            </a:r>
            <a:endParaRPr lang="en-US" sz="1400">
              <a:solidFill>
                <a:srgbClr val="FFFFFF"/>
              </a:solidFill>
              <a:latin typeface="Calibri"/>
            </a:endParaRPr>
          </a:p>
        </p:txBody>
      </p:sp>
      <p:cxnSp>
        <p:nvCxnSpPr>
          <p:cNvPr id="18" name="Straight Connector 17">
            <a:extLst>
              <a:ext uri="{FF2B5EF4-FFF2-40B4-BE49-F238E27FC236}">
                <a16:creationId xmlns:a16="http://schemas.microsoft.com/office/drawing/2014/main" id="{B0BB1A71-DAD7-6E58-8B7C-9DC823DB1528}"/>
              </a:ext>
            </a:extLst>
          </p:cNvPr>
          <p:cNvCxnSpPr>
            <a:cxnSpLocks/>
          </p:cNvCxnSpPr>
          <p:nvPr/>
        </p:nvCxnSpPr>
        <p:spPr>
          <a:xfrm>
            <a:off x="6050604" y="1322962"/>
            <a:ext cx="0" cy="4364476"/>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35130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EDE0-5387-F618-F680-BD6F5E24EC71}"/>
              </a:ext>
            </a:extLst>
          </p:cNvPr>
          <p:cNvSpPr>
            <a:spLocks noGrp="1"/>
          </p:cNvSpPr>
          <p:nvPr>
            <p:ph type="title"/>
          </p:nvPr>
        </p:nvSpPr>
        <p:spPr/>
        <p:txBody>
          <a:bodyPr/>
          <a:lstStyle/>
          <a:p>
            <a:r>
              <a:rPr lang="en-US" dirty="0"/>
              <a:t>Using Layers for Middleware Examples</a:t>
            </a:r>
          </a:p>
        </p:txBody>
      </p:sp>
      <p:pic>
        <p:nvPicPr>
          <p:cNvPr id="6" name="Content Placeholder 5">
            <a:extLst>
              <a:ext uri="{FF2B5EF4-FFF2-40B4-BE49-F238E27FC236}">
                <a16:creationId xmlns:a16="http://schemas.microsoft.com/office/drawing/2014/main" id="{8D3F7904-D513-0BA3-0BA5-615BC8340B43}"/>
              </a:ext>
            </a:extLst>
          </p:cNvPr>
          <p:cNvPicPr>
            <a:picLocks noGrp="1" noChangeAspect="1"/>
          </p:cNvPicPr>
          <p:nvPr>
            <p:ph idx="1"/>
          </p:nvPr>
        </p:nvPicPr>
        <p:blipFill>
          <a:blip r:embed="rId3"/>
          <a:stretch>
            <a:fillRect/>
          </a:stretch>
        </p:blipFill>
        <p:spPr>
          <a:xfrm>
            <a:off x="278377" y="1120774"/>
            <a:ext cx="6548446" cy="5153025"/>
          </a:xfrm>
        </p:spPr>
      </p:pic>
      <p:sp>
        <p:nvSpPr>
          <p:cNvPr id="3" name="Rectangle 2">
            <a:extLst>
              <a:ext uri="{FF2B5EF4-FFF2-40B4-BE49-F238E27FC236}">
                <a16:creationId xmlns:a16="http://schemas.microsoft.com/office/drawing/2014/main" id="{7A8F8B52-50D2-9996-E1CE-CB19337379A2}"/>
              </a:ext>
            </a:extLst>
          </p:cNvPr>
          <p:cNvSpPr/>
          <p:nvPr/>
        </p:nvSpPr>
        <p:spPr>
          <a:xfrm>
            <a:off x="7940501" y="1906154"/>
            <a:ext cx="2740006" cy="1540448"/>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4377"/>
            <a:r>
              <a:rPr lang="en-US" sz="2000">
                <a:solidFill>
                  <a:srgbClr val="FFFFFF"/>
                </a:solidFill>
                <a:latin typeface="Calibri"/>
              </a:rPr>
              <a:t>MDK Middleware Example</a:t>
            </a:r>
            <a:endParaRPr lang="en-US" sz="1400">
              <a:solidFill>
                <a:srgbClr val="FFFFFF"/>
              </a:solidFill>
              <a:latin typeface="Calibri"/>
            </a:endParaRPr>
          </a:p>
        </p:txBody>
      </p:sp>
      <p:sp>
        <p:nvSpPr>
          <p:cNvPr id="4" name="Rectangle 3">
            <a:extLst>
              <a:ext uri="{FF2B5EF4-FFF2-40B4-BE49-F238E27FC236}">
                <a16:creationId xmlns:a16="http://schemas.microsoft.com/office/drawing/2014/main" id="{184595BE-945B-060B-D7A7-6D18ADC4DDA2}"/>
              </a:ext>
            </a:extLst>
          </p:cNvPr>
          <p:cNvSpPr/>
          <p:nvPr/>
        </p:nvSpPr>
        <p:spPr>
          <a:xfrm>
            <a:off x="7277475" y="4181622"/>
            <a:ext cx="1835098" cy="1540448"/>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2000">
                <a:solidFill>
                  <a:srgbClr val="FFFFFF"/>
                </a:solidFill>
                <a:latin typeface="Calibri"/>
              </a:rPr>
              <a:t>Board Layer</a:t>
            </a:r>
            <a:br>
              <a:rPr lang="en-US" sz="2000">
                <a:solidFill>
                  <a:srgbClr val="FFFFFF"/>
                </a:solidFill>
                <a:latin typeface="Calibri"/>
              </a:rPr>
            </a:br>
            <a:r>
              <a:rPr lang="en-US" sz="2000">
                <a:solidFill>
                  <a:srgbClr val="FFFFFF"/>
                </a:solidFill>
                <a:latin typeface="Calibri"/>
              </a:rPr>
              <a:t>for</a:t>
            </a:r>
            <a:br>
              <a:rPr lang="en-US" sz="2000">
                <a:solidFill>
                  <a:srgbClr val="FFFFFF"/>
                </a:solidFill>
                <a:latin typeface="Calibri"/>
              </a:rPr>
            </a:br>
            <a:r>
              <a:rPr lang="en-US" sz="2000">
                <a:solidFill>
                  <a:srgbClr val="FFFFFF"/>
                </a:solidFill>
                <a:latin typeface="Calibri"/>
              </a:rPr>
              <a:t>STM32F746G </a:t>
            </a:r>
            <a:br>
              <a:rPr lang="en-US" sz="2000">
                <a:solidFill>
                  <a:srgbClr val="FFFFFF"/>
                </a:solidFill>
                <a:latin typeface="Calibri"/>
              </a:rPr>
            </a:br>
            <a:r>
              <a:rPr lang="en-US" sz="2000">
                <a:solidFill>
                  <a:srgbClr val="FFFFFF"/>
                </a:solidFill>
                <a:latin typeface="Calibri"/>
              </a:rPr>
              <a:t>Disco</a:t>
            </a:r>
          </a:p>
        </p:txBody>
      </p:sp>
      <p:sp>
        <p:nvSpPr>
          <p:cNvPr id="5" name="Rectangle 4">
            <a:extLst>
              <a:ext uri="{FF2B5EF4-FFF2-40B4-BE49-F238E27FC236}">
                <a16:creationId xmlns:a16="http://schemas.microsoft.com/office/drawing/2014/main" id="{323F68A5-06F0-CB6C-1304-BF954A5FE90B}"/>
              </a:ext>
            </a:extLst>
          </p:cNvPr>
          <p:cNvSpPr/>
          <p:nvPr/>
        </p:nvSpPr>
        <p:spPr>
          <a:xfrm>
            <a:off x="9563225" y="4181622"/>
            <a:ext cx="1835098" cy="1540448"/>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2000">
                <a:solidFill>
                  <a:srgbClr val="FFFFFF"/>
                </a:solidFill>
                <a:latin typeface="Calibri"/>
              </a:rPr>
              <a:t>Board Layer</a:t>
            </a:r>
            <a:br>
              <a:rPr lang="en-US" sz="2000">
                <a:solidFill>
                  <a:srgbClr val="FFFFFF"/>
                </a:solidFill>
                <a:latin typeface="Calibri"/>
              </a:rPr>
            </a:br>
            <a:r>
              <a:rPr lang="en-US" sz="2000">
                <a:solidFill>
                  <a:srgbClr val="FFFFFF"/>
                </a:solidFill>
                <a:latin typeface="Calibri"/>
              </a:rPr>
              <a:t>for</a:t>
            </a:r>
            <a:br>
              <a:rPr lang="en-US" sz="2000">
                <a:solidFill>
                  <a:srgbClr val="FFFFFF"/>
                </a:solidFill>
                <a:latin typeface="Calibri"/>
              </a:rPr>
            </a:br>
            <a:r>
              <a:rPr lang="en-US" sz="2000" err="1">
                <a:solidFill>
                  <a:srgbClr val="FFFFFF"/>
                </a:solidFill>
                <a:latin typeface="Calibri"/>
              </a:rPr>
              <a:t>CustomHW</a:t>
            </a:r>
            <a:endParaRPr lang="en-US" sz="2000">
              <a:solidFill>
                <a:srgbClr val="FFFFFF"/>
              </a:solidFill>
              <a:latin typeface="Calibri"/>
            </a:endParaRPr>
          </a:p>
        </p:txBody>
      </p:sp>
      <p:cxnSp>
        <p:nvCxnSpPr>
          <p:cNvPr id="8" name="Straight Arrow Connector 7">
            <a:extLst>
              <a:ext uri="{FF2B5EF4-FFF2-40B4-BE49-F238E27FC236}">
                <a16:creationId xmlns:a16="http://schemas.microsoft.com/office/drawing/2014/main" id="{B328D5C7-45B8-13A5-4778-D75950E464BE}"/>
              </a:ext>
            </a:extLst>
          </p:cNvPr>
          <p:cNvCxnSpPr>
            <a:endCxn id="4" idx="0"/>
          </p:cNvCxnSpPr>
          <p:nvPr/>
        </p:nvCxnSpPr>
        <p:spPr>
          <a:xfrm flipH="1">
            <a:off x="8195024" y="3446602"/>
            <a:ext cx="553050" cy="73502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4763A84-C441-2168-055E-B5B1BCDF57E5}"/>
              </a:ext>
            </a:extLst>
          </p:cNvPr>
          <p:cNvCxnSpPr>
            <a:cxnSpLocks/>
            <a:endCxn id="5" idx="0"/>
          </p:cNvCxnSpPr>
          <p:nvPr/>
        </p:nvCxnSpPr>
        <p:spPr>
          <a:xfrm>
            <a:off x="9861752" y="3446602"/>
            <a:ext cx="619022" cy="73502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42452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2328CC0-DA93-1917-BC4E-7126FA7E79A5}"/>
              </a:ext>
            </a:extLst>
          </p:cNvPr>
          <p:cNvPicPr>
            <a:picLocks noChangeAspect="1"/>
          </p:cNvPicPr>
          <p:nvPr/>
        </p:nvPicPr>
        <p:blipFill>
          <a:blip r:embed="rId3"/>
          <a:srcRect l="-409" t="-975" r="409" b="975"/>
          <a:stretch/>
        </p:blipFill>
        <p:spPr>
          <a:xfrm>
            <a:off x="5466099" y="1335620"/>
            <a:ext cx="5963240" cy="5001428"/>
          </a:xfrm>
          <a:prstGeom prst="rect">
            <a:avLst/>
          </a:prstGeom>
        </p:spPr>
      </p:pic>
      <p:sp>
        <p:nvSpPr>
          <p:cNvPr id="2" name="Title 1">
            <a:extLst>
              <a:ext uri="{FF2B5EF4-FFF2-40B4-BE49-F238E27FC236}">
                <a16:creationId xmlns:a16="http://schemas.microsoft.com/office/drawing/2014/main" id="{E0FFFF3C-380D-9B90-484A-92BB4CF4CD33}"/>
              </a:ext>
            </a:extLst>
          </p:cNvPr>
          <p:cNvSpPr>
            <a:spLocks noGrp="1"/>
          </p:cNvSpPr>
          <p:nvPr>
            <p:ph type="title"/>
          </p:nvPr>
        </p:nvSpPr>
        <p:spPr/>
        <p:txBody>
          <a:bodyPr/>
          <a:lstStyle/>
          <a:p>
            <a:r>
              <a:rPr lang="en-US" dirty="0"/>
              <a:t>Using Layers for test automation</a:t>
            </a:r>
          </a:p>
        </p:txBody>
      </p:sp>
      <p:sp>
        <p:nvSpPr>
          <p:cNvPr id="3" name="Text Placeholder 2">
            <a:extLst>
              <a:ext uri="{FF2B5EF4-FFF2-40B4-BE49-F238E27FC236}">
                <a16:creationId xmlns:a16="http://schemas.microsoft.com/office/drawing/2014/main" id="{D16AE8F2-30F1-7E90-080A-83FE4477245D}"/>
              </a:ext>
            </a:extLst>
          </p:cNvPr>
          <p:cNvSpPr>
            <a:spLocks noGrp="1"/>
          </p:cNvSpPr>
          <p:nvPr>
            <p:ph type="body" sz="quarter" idx="13"/>
          </p:nvPr>
        </p:nvSpPr>
        <p:spPr>
          <a:xfrm>
            <a:off x="479425" y="991132"/>
            <a:ext cx="11233150" cy="344488"/>
          </a:xfrm>
        </p:spPr>
        <p:txBody>
          <a:bodyPr/>
          <a:lstStyle/>
          <a:p>
            <a:r>
              <a:rPr lang="en-US"/>
              <a:t>Unit test and software test on hardware or simulation models</a:t>
            </a:r>
          </a:p>
          <a:p>
            <a:endParaRPr lang="en-US"/>
          </a:p>
          <a:p>
            <a:endParaRPr lang="en-US"/>
          </a:p>
        </p:txBody>
      </p:sp>
      <p:sp>
        <p:nvSpPr>
          <p:cNvPr id="4" name="Content Placeholder 3">
            <a:extLst>
              <a:ext uri="{FF2B5EF4-FFF2-40B4-BE49-F238E27FC236}">
                <a16:creationId xmlns:a16="http://schemas.microsoft.com/office/drawing/2014/main" id="{7849311D-3E14-845C-F24B-B3D316216502}"/>
              </a:ext>
            </a:extLst>
          </p:cNvPr>
          <p:cNvSpPr>
            <a:spLocks noGrp="1"/>
          </p:cNvSpPr>
          <p:nvPr>
            <p:ph idx="1"/>
          </p:nvPr>
        </p:nvSpPr>
        <p:spPr>
          <a:xfrm>
            <a:off x="8932664" y="1534724"/>
            <a:ext cx="2527155" cy="1299916"/>
          </a:xfrm>
        </p:spPr>
        <p:txBody>
          <a:bodyPr/>
          <a:lstStyle/>
          <a:p>
            <a:pPr marL="0" indent="0">
              <a:buNone/>
            </a:pPr>
            <a:r>
              <a:rPr lang="en-US" sz="1500">
                <a:hlinkClick r:id="rId4"/>
              </a:rPr>
              <a:t>github.com/Arm-software/AVH</a:t>
            </a:r>
            <a:endParaRPr lang="en-US" sz="1500"/>
          </a:p>
          <a:p>
            <a:pPr marL="0" indent="0">
              <a:buNone/>
            </a:pPr>
            <a:endParaRPr lang="en-US" sz="1500"/>
          </a:p>
        </p:txBody>
      </p:sp>
      <p:sp>
        <p:nvSpPr>
          <p:cNvPr id="5" name="Rectangle 4">
            <a:extLst>
              <a:ext uri="{FF2B5EF4-FFF2-40B4-BE49-F238E27FC236}">
                <a16:creationId xmlns:a16="http://schemas.microsoft.com/office/drawing/2014/main" id="{7A8F8B52-50D2-9996-E1CE-CB19337379A2}"/>
              </a:ext>
            </a:extLst>
          </p:cNvPr>
          <p:cNvSpPr/>
          <p:nvPr/>
        </p:nvSpPr>
        <p:spPr>
          <a:xfrm>
            <a:off x="1188482" y="1765840"/>
            <a:ext cx="2574628" cy="1436617"/>
          </a:xfrm>
          <a:prstGeom prst="rect">
            <a:avLst/>
          </a:prstGeom>
          <a:solidFill>
            <a:schemeClr val="accent3">
              <a:lumMod val="75000"/>
            </a:schemeClr>
          </a:solidFill>
          <a:ln w="190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4377"/>
            <a:r>
              <a:rPr lang="en-US" sz="2000">
                <a:solidFill>
                  <a:srgbClr val="FFFFFF"/>
                </a:solidFill>
                <a:latin typeface="Calibri"/>
              </a:rPr>
              <a:t>Test Case </a:t>
            </a:r>
            <a:br>
              <a:rPr lang="en-US" sz="2000">
                <a:solidFill>
                  <a:srgbClr val="FFFFFF"/>
                </a:solidFill>
                <a:latin typeface="Calibri"/>
              </a:rPr>
            </a:br>
            <a:r>
              <a:rPr lang="en-US" sz="2000">
                <a:solidFill>
                  <a:srgbClr val="FFFFFF"/>
                </a:solidFill>
                <a:latin typeface="Calibri"/>
              </a:rPr>
              <a:t>Project</a:t>
            </a:r>
            <a:endParaRPr lang="en-US" sz="1400">
              <a:solidFill>
                <a:srgbClr val="FFFFFF"/>
              </a:solidFill>
              <a:latin typeface="Calibri"/>
            </a:endParaRPr>
          </a:p>
        </p:txBody>
      </p:sp>
      <p:sp>
        <p:nvSpPr>
          <p:cNvPr id="6" name="Rectangle 5">
            <a:extLst>
              <a:ext uri="{FF2B5EF4-FFF2-40B4-BE49-F238E27FC236}">
                <a16:creationId xmlns:a16="http://schemas.microsoft.com/office/drawing/2014/main" id="{184595BE-945B-060B-D7A7-6D18ADC4DDA2}"/>
              </a:ext>
            </a:extLst>
          </p:cNvPr>
          <p:cNvSpPr/>
          <p:nvPr/>
        </p:nvSpPr>
        <p:spPr>
          <a:xfrm>
            <a:off x="575733" y="4123918"/>
            <a:ext cx="1835098" cy="1540448"/>
          </a:xfrm>
          <a:prstGeom prst="rect">
            <a:avLst/>
          </a:prstGeom>
          <a:solidFill>
            <a:schemeClr val="accent5">
              <a:lumMod val="75000"/>
            </a:schemeClr>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2000">
                <a:solidFill>
                  <a:srgbClr val="FFFFFF"/>
                </a:solidFill>
                <a:latin typeface="Calibri"/>
              </a:rPr>
              <a:t>Layer for</a:t>
            </a:r>
            <a:br>
              <a:rPr lang="en-US" sz="2000">
                <a:solidFill>
                  <a:srgbClr val="FFFFFF"/>
                </a:solidFill>
                <a:latin typeface="Calibri"/>
              </a:rPr>
            </a:br>
            <a:r>
              <a:rPr lang="en-US" sz="2000">
                <a:solidFill>
                  <a:srgbClr val="FFFFFF"/>
                </a:solidFill>
                <a:latin typeface="Calibri"/>
              </a:rPr>
              <a:t>Hardware Board</a:t>
            </a:r>
          </a:p>
        </p:txBody>
      </p:sp>
      <p:sp>
        <p:nvSpPr>
          <p:cNvPr id="7" name="Rectangle 6">
            <a:extLst>
              <a:ext uri="{FF2B5EF4-FFF2-40B4-BE49-F238E27FC236}">
                <a16:creationId xmlns:a16="http://schemas.microsoft.com/office/drawing/2014/main" id="{323F68A5-06F0-CB6C-1304-BF954A5FE90B}"/>
              </a:ext>
            </a:extLst>
          </p:cNvPr>
          <p:cNvSpPr/>
          <p:nvPr/>
        </p:nvSpPr>
        <p:spPr>
          <a:xfrm>
            <a:off x="2861483" y="4123918"/>
            <a:ext cx="1835098" cy="1540448"/>
          </a:xfrm>
          <a:prstGeom prst="rect">
            <a:avLst/>
          </a:prstGeom>
          <a:solidFill>
            <a:schemeClr val="accent5">
              <a:lumMod val="75000"/>
            </a:schemeClr>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2000">
                <a:solidFill>
                  <a:srgbClr val="FFFFFF"/>
                </a:solidFill>
                <a:latin typeface="Calibri"/>
              </a:rPr>
              <a:t>Layer for</a:t>
            </a:r>
            <a:br>
              <a:rPr lang="en-US" sz="2000">
                <a:solidFill>
                  <a:srgbClr val="FFFFFF"/>
                </a:solidFill>
                <a:latin typeface="Calibri"/>
              </a:rPr>
            </a:br>
            <a:r>
              <a:rPr lang="en-US" sz="2000">
                <a:solidFill>
                  <a:srgbClr val="FFFFFF"/>
                </a:solidFill>
                <a:latin typeface="Calibri"/>
              </a:rPr>
              <a:t>Simulation Model</a:t>
            </a:r>
          </a:p>
        </p:txBody>
      </p:sp>
      <p:cxnSp>
        <p:nvCxnSpPr>
          <p:cNvPr id="8" name="Straight Arrow Connector 7">
            <a:extLst>
              <a:ext uri="{FF2B5EF4-FFF2-40B4-BE49-F238E27FC236}">
                <a16:creationId xmlns:a16="http://schemas.microsoft.com/office/drawing/2014/main" id="{B328D5C7-45B8-13A5-4778-D75950E464BE}"/>
              </a:ext>
            </a:extLst>
          </p:cNvPr>
          <p:cNvCxnSpPr>
            <a:endCxn id="6" idx="0"/>
          </p:cNvCxnSpPr>
          <p:nvPr/>
        </p:nvCxnSpPr>
        <p:spPr>
          <a:xfrm flipH="1">
            <a:off x="1493282" y="3388898"/>
            <a:ext cx="553050" cy="73502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4763A84-C441-2168-055E-B5B1BCDF57E5}"/>
              </a:ext>
            </a:extLst>
          </p:cNvPr>
          <p:cNvCxnSpPr>
            <a:cxnSpLocks/>
            <a:endCxn id="7" idx="0"/>
          </p:cNvCxnSpPr>
          <p:nvPr/>
        </p:nvCxnSpPr>
        <p:spPr>
          <a:xfrm>
            <a:off x="3160010" y="3388898"/>
            <a:ext cx="619022" cy="73502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843D2EB7-DC62-E12C-53A8-3650A4881166}"/>
              </a:ext>
            </a:extLst>
          </p:cNvPr>
          <p:cNvSpPr/>
          <p:nvPr/>
        </p:nvSpPr>
        <p:spPr>
          <a:xfrm>
            <a:off x="1340882" y="1918240"/>
            <a:ext cx="2574628" cy="1436617"/>
          </a:xfrm>
          <a:prstGeom prst="rect">
            <a:avLst/>
          </a:prstGeom>
          <a:solidFill>
            <a:schemeClr val="accent3">
              <a:lumMod val="75000"/>
            </a:schemeClr>
          </a:solidFill>
          <a:ln w="190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4377"/>
            <a:r>
              <a:rPr lang="en-US" sz="2000">
                <a:solidFill>
                  <a:srgbClr val="FFFFFF"/>
                </a:solidFill>
                <a:latin typeface="Calibri"/>
              </a:rPr>
              <a:t>Test Case </a:t>
            </a:r>
            <a:br>
              <a:rPr lang="en-US" sz="2000">
                <a:solidFill>
                  <a:srgbClr val="FFFFFF"/>
                </a:solidFill>
                <a:latin typeface="Calibri"/>
              </a:rPr>
            </a:br>
            <a:r>
              <a:rPr lang="en-US" sz="2000">
                <a:solidFill>
                  <a:srgbClr val="FFFFFF"/>
                </a:solidFill>
                <a:latin typeface="Calibri"/>
              </a:rPr>
              <a:t>Project</a:t>
            </a:r>
            <a:endParaRPr lang="en-US" sz="1400">
              <a:solidFill>
                <a:srgbClr val="FFFFFF"/>
              </a:solidFill>
              <a:latin typeface="Calibri"/>
            </a:endParaRPr>
          </a:p>
        </p:txBody>
      </p:sp>
      <p:sp>
        <p:nvSpPr>
          <p:cNvPr id="11" name="Rectangle 10">
            <a:extLst>
              <a:ext uri="{FF2B5EF4-FFF2-40B4-BE49-F238E27FC236}">
                <a16:creationId xmlns:a16="http://schemas.microsoft.com/office/drawing/2014/main" id="{7B778EDC-48B2-72F1-2151-36675AF42DCA}"/>
              </a:ext>
            </a:extLst>
          </p:cNvPr>
          <p:cNvSpPr/>
          <p:nvPr/>
        </p:nvSpPr>
        <p:spPr>
          <a:xfrm>
            <a:off x="1493282" y="2070640"/>
            <a:ext cx="2574628" cy="1436617"/>
          </a:xfrm>
          <a:prstGeom prst="rect">
            <a:avLst/>
          </a:prstGeom>
          <a:solidFill>
            <a:schemeClr val="accent3">
              <a:lumMod val="75000"/>
            </a:schemeClr>
          </a:solidFill>
          <a:ln w="1905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4377"/>
            <a:r>
              <a:rPr lang="en-US" sz="2000">
                <a:solidFill>
                  <a:srgbClr val="FFFFFF"/>
                </a:solidFill>
                <a:latin typeface="Calibri"/>
              </a:rPr>
              <a:t>Test Case </a:t>
            </a:r>
            <a:br>
              <a:rPr lang="en-US" sz="2000">
                <a:solidFill>
                  <a:srgbClr val="FFFFFF"/>
                </a:solidFill>
                <a:latin typeface="Calibri"/>
              </a:rPr>
            </a:br>
            <a:r>
              <a:rPr lang="en-US" sz="2000">
                <a:solidFill>
                  <a:srgbClr val="FFFFFF"/>
                </a:solidFill>
                <a:latin typeface="Calibri"/>
              </a:rPr>
              <a:t>Project</a:t>
            </a:r>
            <a:endParaRPr lang="en-US" sz="1400">
              <a:solidFill>
                <a:srgbClr val="FFFFFF"/>
              </a:solidFill>
              <a:latin typeface="Calibri"/>
            </a:endParaRPr>
          </a:p>
        </p:txBody>
      </p:sp>
    </p:spTree>
    <p:extLst>
      <p:ext uri="{BB962C8B-B14F-4D97-AF65-F5344CB8AC3E}">
        <p14:creationId xmlns:p14="http://schemas.microsoft.com/office/powerpoint/2010/main" val="31237717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B403CBE6-B4B9-0F0A-C8C5-5609F0063B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0752" y="1404301"/>
            <a:ext cx="3373538" cy="189761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FC842056-B306-A097-1693-FF6374FE24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3960206" y="1414156"/>
            <a:ext cx="3484644" cy="196011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A6040342-1A9E-167A-4931-E5250F525D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800000">
            <a:off x="745372" y="907537"/>
            <a:ext cx="1867535" cy="280130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0FFFF3C-380D-9B90-484A-92BB4CF4CD33}"/>
              </a:ext>
            </a:extLst>
          </p:cNvPr>
          <p:cNvSpPr>
            <a:spLocks noGrp="1"/>
          </p:cNvSpPr>
          <p:nvPr>
            <p:ph type="title"/>
          </p:nvPr>
        </p:nvSpPr>
        <p:spPr/>
        <p:txBody>
          <a:bodyPr/>
          <a:lstStyle/>
          <a:p>
            <a:r>
              <a:rPr lang="en-US"/>
              <a:t>Using Layers </a:t>
            </a:r>
            <a:r>
              <a:rPr lang="en-US" dirty="0"/>
              <a:t>to add Hardware Shields</a:t>
            </a:r>
          </a:p>
        </p:txBody>
      </p:sp>
      <p:sp>
        <p:nvSpPr>
          <p:cNvPr id="3" name="Text Placeholder 2">
            <a:extLst>
              <a:ext uri="{FF2B5EF4-FFF2-40B4-BE49-F238E27FC236}">
                <a16:creationId xmlns:a16="http://schemas.microsoft.com/office/drawing/2014/main" id="{D16AE8F2-30F1-7E90-080A-83FE4477245D}"/>
              </a:ext>
            </a:extLst>
          </p:cNvPr>
          <p:cNvSpPr>
            <a:spLocks noGrp="1"/>
          </p:cNvSpPr>
          <p:nvPr>
            <p:ph type="body" sz="quarter" idx="13"/>
          </p:nvPr>
        </p:nvSpPr>
        <p:spPr>
          <a:xfrm>
            <a:off x="7274560" y="5828531"/>
            <a:ext cx="3940175" cy="344488"/>
          </a:xfrm>
        </p:spPr>
        <p:txBody>
          <a:bodyPr/>
          <a:lstStyle/>
          <a:p>
            <a:pPr algn="r"/>
            <a:r>
              <a:rPr lang="en-US" sz="1600">
                <a:hlinkClick r:id="rId6"/>
              </a:rPr>
              <a:t>github.com/Open-CMSIS-Pack/Sensor-SDK</a:t>
            </a:r>
            <a:endParaRPr lang="en-US" sz="1600"/>
          </a:p>
          <a:p>
            <a:endParaRPr lang="en-US" sz="2800"/>
          </a:p>
        </p:txBody>
      </p:sp>
      <p:sp>
        <p:nvSpPr>
          <p:cNvPr id="5" name="Rectangle 4">
            <a:extLst>
              <a:ext uri="{FF2B5EF4-FFF2-40B4-BE49-F238E27FC236}">
                <a16:creationId xmlns:a16="http://schemas.microsoft.com/office/drawing/2014/main" id="{FC5D770B-72EF-EE94-3243-2A6772C93349}"/>
              </a:ext>
            </a:extLst>
          </p:cNvPr>
          <p:cNvSpPr/>
          <p:nvPr/>
        </p:nvSpPr>
        <p:spPr>
          <a:xfrm>
            <a:off x="479426" y="3743668"/>
            <a:ext cx="6317615" cy="2257107"/>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defTabSz="914377"/>
            <a:r>
              <a:rPr lang="en-US">
                <a:solidFill>
                  <a:srgbClr val="000000"/>
                </a:solidFill>
                <a:latin typeface="Calibri"/>
              </a:rPr>
              <a:t>Sensor SDK Pack</a:t>
            </a:r>
          </a:p>
        </p:txBody>
      </p:sp>
      <p:sp>
        <p:nvSpPr>
          <p:cNvPr id="6" name="Rectangle 5">
            <a:extLst>
              <a:ext uri="{FF2B5EF4-FFF2-40B4-BE49-F238E27FC236}">
                <a16:creationId xmlns:a16="http://schemas.microsoft.com/office/drawing/2014/main" id="{0B91D4F4-7D61-7FD8-C9E4-694142767078}"/>
              </a:ext>
            </a:extLst>
          </p:cNvPr>
          <p:cNvSpPr/>
          <p:nvPr/>
        </p:nvSpPr>
        <p:spPr>
          <a:xfrm>
            <a:off x="479426" y="4805681"/>
            <a:ext cx="3340735" cy="1195095"/>
          </a:xfrm>
          <a:prstGeom prst="rect">
            <a:avLst/>
          </a:prstGeom>
          <a:solidFill>
            <a:schemeClr val="accent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defTabSz="914377"/>
            <a:r>
              <a:rPr lang="en-US">
                <a:solidFill>
                  <a:srgbClr val="000000"/>
                </a:solidFill>
                <a:latin typeface="Calibri"/>
              </a:rPr>
              <a:t>BSP Pack</a:t>
            </a:r>
          </a:p>
        </p:txBody>
      </p:sp>
      <p:sp>
        <p:nvSpPr>
          <p:cNvPr id="7" name="Rectangle 6">
            <a:extLst>
              <a:ext uri="{FF2B5EF4-FFF2-40B4-BE49-F238E27FC236}">
                <a16:creationId xmlns:a16="http://schemas.microsoft.com/office/drawing/2014/main" id="{E28374EB-AF6E-A485-B060-5265881B6DA3}"/>
              </a:ext>
            </a:extLst>
          </p:cNvPr>
          <p:cNvSpPr/>
          <p:nvPr/>
        </p:nvSpPr>
        <p:spPr>
          <a:xfrm>
            <a:off x="936385" y="4177742"/>
            <a:ext cx="5639673" cy="473559"/>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a:solidFill>
                  <a:srgbClr val="FFFFFF"/>
                </a:solidFill>
                <a:latin typeface="Calibri"/>
              </a:rPr>
              <a:t>Reference Application</a:t>
            </a:r>
            <a:br>
              <a:rPr lang="en-US" sz="1400">
                <a:solidFill>
                  <a:srgbClr val="FFFFFF"/>
                </a:solidFill>
                <a:latin typeface="Calibri"/>
              </a:rPr>
            </a:br>
            <a:r>
              <a:rPr lang="en-US" sz="1400">
                <a:solidFill>
                  <a:srgbClr val="FFFFFF"/>
                </a:solidFill>
                <a:latin typeface="Calibri"/>
              </a:rPr>
              <a:t>(&lt;sensor&gt;.</a:t>
            </a:r>
            <a:r>
              <a:rPr lang="en-US" sz="1400" err="1">
                <a:solidFill>
                  <a:srgbClr val="FFFFFF"/>
                </a:solidFill>
                <a:latin typeface="Calibri"/>
              </a:rPr>
              <a:t>csolution.yml</a:t>
            </a:r>
            <a:r>
              <a:rPr lang="en-US" sz="1400">
                <a:solidFill>
                  <a:srgbClr val="FFFFFF"/>
                </a:solidFill>
                <a:latin typeface="Calibri"/>
              </a:rPr>
              <a:t> / &lt;sensor&gt;.</a:t>
            </a:r>
            <a:r>
              <a:rPr lang="en-US" sz="1400" err="1">
                <a:solidFill>
                  <a:srgbClr val="FFFFFF"/>
                </a:solidFill>
                <a:latin typeface="Calibri"/>
              </a:rPr>
              <a:t>cproject.yml</a:t>
            </a:r>
            <a:r>
              <a:rPr lang="en-US" sz="1400">
                <a:solidFill>
                  <a:srgbClr val="FFFFFF"/>
                </a:solidFill>
                <a:latin typeface="Calibri"/>
              </a:rPr>
              <a:t>)</a:t>
            </a:r>
          </a:p>
        </p:txBody>
      </p:sp>
      <p:sp>
        <p:nvSpPr>
          <p:cNvPr id="8" name="Rectangle 7">
            <a:extLst>
              <a:ext uri="{FF2B5EF4-FFF2-40B4-BE49-F238E27FC236}">
                <a16:creationId xmlns:a16="http://schemas.microsoft.com/office/drawing/2014/main" id="{BFE5C0D2-655D-31D6-BC11-2352D95297AE}"/>
              </a:ext>
            </a:extLst>
          </p:cNvPr>
          <p:cNvSpPr/>
          <p:nvPr/>
        </p:nvSpPr>
        <p:spPr>
          <a:xfrm>
            <a:off x="936383" y="5180234"/>
            <a:ext cx="2799307" cy="47355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a:solidFill>
                  <a:srgbClr val="FFFFFF"/>
                </a:solidFill>
                <a:latin typeface="Calibri"/>
              </a:rPr>
              <a:t>Layer Type: Board</a:t>
            </a:r>
            <a:br>
              <a:rPr lang="en-US" sz="1400">
                <a:solidFill>
                  <a:srgbClr val="FFFFFF"/>
                </a:solidFill>
                <a:latin typeface="Calibri"/>
              </a:rPr>
            </a:br>
            <a:r>
              <a:rPr lang="en-US" sz="1200">
                <a:solidFill>
                  <a:srgbClr val="FFFFFF"/>
                </a:solidFill>
                <a:latin typeface="Calibri"/>
              </a:rPr>
              <a:t>(&lt;board-name&gt;.</a:t>
            </a:r>
            <a:r>
              <a:rPr lang="en-US" sz="1200" err="1">
                <a:solidFill>
                  <a:srgbClr val="FFFFFF"/>
                </a:solidFill>
                <a:latin typeface="Calibri"/>
              </a:rPr>
              <a:t>clayer.yml</a:t>
            </a:r>
            <a:r>
              <a:rPr lang="en-US" sz="1200">
                <a:solidFill>
                  <a:srgbClr val="FFFFFF"/>
                </a:solidFill>
                <a:latin typeface="Calibri"/>
              </a:rPr>
              <a:t>)</a:t>
            </a:r>
          </a:p>
        </p:txBody>
      </p:sp>
      <p:sp>
        <p:nvSpPr>
          <p:cNvPr id="9" name="Rectangle 8">
            <a:extLst>
              <a:ext uri="{FF2B5EF4-FFF2-40B4-BE49-F238E27FC236}">
                <a16:creationId xmlns:a16="http://schemas.microsoft.com/office/drawing/2014/main" id="{B54210FF-6384-FE14-1D8B-BF8D996AE6BC}"/>
              </a:ext>
            </a:extLst>
          </p:cNvPr>
          <p:cNvSpPr/>
          <p:nvPr/>
        </p:nvSpPr>
        <p:spPr>
          <a:xfrm>
            <a:off x="936383" y="4920334"/>
            <a:ext cx="2799307" cy="264183"/>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a:solidFill>
                  <a:srgbClr val="FFFFFF"/>
                </a:solidFill>
                <a:latin typeface="Calibri"/>
              </a:rPr>
              <a:t> Driver APIs</a:t>
            </a:r>
          </a:p>
        </p:txBody>
      </p:sp>
      <p:sp>
        <p:nvSpPr>
          <p:cNvPr id="10" name="Rectangle 9">
            <a:extLst>
              <a:ext uri="{FF2B5EF4-FFF2-40B4-BE49-F238E27FC236}">
                <a16:creationId xmlns:a16="http://schemas.microsoft.com/office/drawing/2014/main" id="{1CF98760-96E3-AD91-4A45-CC5AEA42E76A}"/>
              </a:ext>
            </a:extLst>
          </p:cNvPr>
          <p:cNvSpPr/>
          <p:nvPr/>
        </p:nvSpPr>
        <p:spPr>
          <a:xfrm>
            <a:off x="3903278" y="5180234"/>
            <a:ext cx="2685311" cy="47355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a:solidFill>
                  <a:srgbClr val="FFFFFF"/>
                </a:solidFill>
                <a:latin typeface="Calibri"/>
              </a:rPr>
              <a:t>Layer Type: Shield</a:t>
            </a:r>
            <a:br>
              <a:rPr lang="en-US" sz="1400">
                <a:solidFill>
                  <a:srgbClr val="FFFFFF"/>
                </a:solidFill>
                <a:latin typeface="Calibri"/>
              </a:rPr>
            </a:br>
            <a:r>
              <a:rPr lang="en-US" sz="1200">
                <a:solidFill>
                  <a:srgbClr val="FFFFFF"/>
                </a:solidFill>
                <a:latin typeface="Calibri"/>
              </a:rPr>
              <a:t>(&lt;shield-name&gt;.</a:t>
            </a:r>
            <a:r>
              <a:rPr lang="en-US" sz="1200" err="1">
                <a:solidFill>
                  <a:srgbClr val="FFFFFF"/>
                </a:solidFill>
                <a:latin typeface="Calibri"/>
              </a:rPr>
              <a:t>clayer.yml</a:t>
            </a:r>
            <a:r>
              <a:rPr lang="en-US" sz="1200">
                <a:solidFill>
                  <a:srgbClr val="FFFFFF"/>
                </a:solidFill>
                <a:latin typeface="Calibri"/>
              </a:rPr>
              <a:t>)</a:t>
            </a:r>
          </a:p>
        </p:txBody>
      </p:sp>
      <p:sp>
        <p:nvSpPr>
          <p:cNvPr id="11" name="Rectangle 10">
            <a:extLst>
              <a:ext uri="{FF2B5EF4-FFF2-40B4-BE49-F238E27FC236}">
                <a16:creationId xmlns:a16="http://schemas.microsoft.com/office/drawing/2014/main" id="{293ABB57-97CE-4A29-4ADF-D806DD7FE487}"/>
              </a:ext>
            </a:extLst>
          </p:cNvPr>
          <p:cNvSpPr/>
          <p:nvPr/>
        </p:nvSpPr>
        <p:spPr>
          <a:xfrm>
            <a:off x="3903274" y="4918567"/>
            <a:ext cx="2685311" cy="26418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a:solidFill>
                  <a:srgbClr val="FFFFFF"/>
                </a:solidFill>
                <a:latin typeface="Calibri"/>
              </a:rPr>
              <a:t>Shield-specific API</a:t>
            </a:r>
            <a:endParaRPr lang="en-US" sz="1200">
              <a:solidFill>
                <a:srgbClr val="FFFFFF"/>
              </a:solidFill>
              <a:latin typeface="Calibri"/>
            </a:endParaRPr>
          </a:p>
        </p:txBody>
      </p:sp>
      <p:sp>
        <p:nvSpPr>
          <p:cNvPr id="15" name="Arrow: Right 14">
            <a:extLst>
              <a:ext uri="{FF2B5EF4-FFF2-40B4-BE49-F238E27FC236}">
                <a16:creationId xmlns:a16="http://schemas.microsoft.com/office/drawing/2014/main" id="{C1027411-3204-9403-0F58-B7B72618144F}"/>
              </a:ext>
            </a:extLst>
          </p:cNvPr>
          <p:cNvSpPr/>
          <p:nvPr/>
        </p:nvSpPr>
        <p:spPr>
          <a:xfrm>
            <a:off x="4354091" y="1912031"/>
            <a:ext cx="550726" cy="760049"/>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E8B6882C-183E-F619-A061-7B42859CAA16}"/>
              </a:ext>
            </a:extLst>
          </p:cNvPr>
          <p:cNvSpPr/>
          <p:nvPr/>
        </p:nvSpPr>
        <p:spPr>
          <a:xfrm rot="10800000">
            <a:off x="2337544" y="1912031"/>
            <a:ext cx="550726" cy="760049"/>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FD9BD8A1-399C-89DA-E73F-2193BF1442BB}"/>
              </a:ext>
            </a:extLst>
          </p:cNvPr>
          <p:cNvSpPr txBox="1"/>
          <p:nvPr/>
        </p:nvSpPr>
        <p:spPr>
          <a:xfrm>
            <a:off x="2833547" y="1229595"/>
            <a:ext cx="2287462"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kern="1200">
                <a:solidFill>
                  <a:schemeClr val="tx2"/>
                </a:solidFill>
                <a:latin typeface="+mn-lt"/>
                <a:ea typeface="+mn-ea"/>
                <a:cs typeface="+mn-cs"/>
              </a:rPr>
              <a:t>MEMS Sensor</a:t>
            </a:r>
          </a:p>
        </p:txBody>
      </p:sp>
      <p:sp>
        <p:nvSpPr>
          <p:cNvPr id="21" name="Content Placeholder 20">
            <a:extLst>
              <a:ext uri="{FF2B5EF4-FFF2-40B4-BE49-F238E27FC236}">
                <a16:creationId xmlns:a16="http://schemas.microsoft.com/office/drawing/2014/main" id="{6BB4EFC9-2E5C-D40A-F407-89D4D3156150}"/>
              </a:ext>
            </a:extLst>
          </p:cNvPr>
          <p:cNvSpPr>
            <a:spLocks noGrp="1"/>
          </p:cNvSpPr>
          <p:nvPr>
            <p:ph idx="1"/>
          </p:nvPr>
        </p:nvSpPr>
        <p:spPr>
          <a:xfrm>
            <a:off x="7133831" y="1178569"/>
            <a:ext cx="4578743" cy="4553233"/>
          </a:xfrm>
        </p:spPr>
        <p:txBody>
          <a:bodyPr/>
          <a:lstStyle/>
          <a:p>
            <a:r>
              <a:rPr lang="en-US"/>
              <a:t>The </a:t>
            </a:r>
            <a:r>
              <a:rPr lang="en-US" b="1"/>
              <a:t>VS Code – CMSIS Solution</a:t>
            </a:r>
            <a:br>
              <a:rPr lang="en-US" b="1"/>
            </a:br>
            <a:r>
              <a:rPr lang="en-US"/>
              <a:t>combines layers for you</a:t>
            </a:r>
          </a:p>
        </p:txBody>
      </p:sp>
      <p:pic>
        <p:nvPicPr>
          <p:cNvPr id="23" name="Picture 22">
            <a:extLst>
              <a:ext uri="{FF2B5EF4-FFF2-40B4-BE49-F238E27FC236}">
                <a16:creationId xmlns:a16="http://schemas.microsoft.com/office/drawing/2014/main" id="{3272DEAD-66AD-2FFE-8226-4B3FEB4BA604}"/>
              </a:ext>
            </a:extLst>
          </p:cNvPr>
          <p:cNvPicPr>
            <a:picLocks noChangeAspect="1"/>
          </p:cNvPicPr>
          <p:nvPr/>
        </p:nvPicPr>
        <p:blipFill>
          <a:blip r:embed="rId7"/>
          <a:stretch>
            <a:fillRect/>
          </a:stretch>
        </p:blipFill>
        <p:spPr>
          <a:xfrm>
            <a:off x="7049624" y="2258151"/>
            <a:ext cx="4734071" cy="3395642"/>
          </a:xfrm>
          <a:prstGeom prst="rect">
            <a:avLst/>
          </a:prstGeom>
        </p:spPr>
      </p:pic>
    </p:spTree>
    <p:extLst>
      <p:ext uri="{BB962C8B-B14F-4D97-AF65-F5344CB8AC3E}">
        <p14:creationId xmlns:p14="http://schemas.microsoft.com/office/powerpoint/2010/main" val="4296033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FEC67-1168-4F2D-CC28-4D893615D158}"/>
            </a:ext>
          </a:extLst>
        </p:cNvPr>
        <p:cNvGrpSpPr/>
        <p:nvPr/>
      </p:nvGrpSpPr>
      <p:grpSpPr>
        <a:xfrm>
          <a:off x="0" y="0"/>
          <a:ext cx="0" cy="0"/>
          <a:chOff x="0" y="0"/>
          <a:chExt cx="0" cy="0"/>
        </a:xfrm>
      </p:grpSpPr>
      <p:sp>
        <p:nvSpPr>
          <p:cNvPr id="5" name="Flowchart: Multidocument 4">
            <a:extLst>
              <a:ext uri="{FF2B5EF4-FFF2-40B4-BE49-F238E27FC236}">
                <a16:creationId xmlns:a16="http://schemas.microsoft.com/office/drawing/2014/main" id="{3379BBEB-A64B-CC7D-60C8-4E648A2668C2}"/>
              </a:ext>
            </a:extLst>
          </p:cNvPr>
          <p:cNvSpPr/>
          <p:nvPr/>
        </p:nvSpPr>
        <p:spPr>
          <a:xfrm>
            <a:off x="841784" y="3566140"/>
            <a:ext cx="1616706" cy="1160511"/>
          </a:xfrm>
          <a:prstGeom prst="flowChartMultidocument">
            <a:avLst/>
          </a:prstGeom>
          <a:solidFill>
            <a:schemeClr val="accent3">
              <a:lumMod val="60000"/>
              <a:lumOff val="40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t>*.</a:t>
            </a:r>
            <a:r>
              <a:rPr kumimoji="0" lang="en-US" sz="1600" b="0" i="0" u="none" strike="noStrike" kern="1200" cap="none" spc="0" normalizeH="0" baseline="0" noProof="0" dirty="0" err="1">
                <a:ln>
                  <a:noFill/>
                </a:ln>
                <a:solidFill>
                  <a:srgbClr val="E5ECEB">
                    <a:lumMod val="25000"/>
                  </a:srgbClr>
                </a:solidFill>
                <a:effectLst/>
                <a:uLnTx/>
                <a:uFillTx/>
                <a:latin typeface="Calibri"/>
                <a:ea typeface="+mn-ea"/>
                <a:cs typeface="+mn-cs"/>
              </a:rPr>
              <a:t>cproject.yml</a:t>
            </a:r>
            <a:br>
              <a:rPr kumimoji="0" lang="en-US" sz="24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source files and </a:t>
            </a:r>
            <a:b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SW components</a:t>
            </a:r>
            <a:endParaRPr kumimoji="0" lang="en-GB" sz="1100" b="0" i="0" u="none" strike="noStrike" kern="1200" cap="none" spc="0" normalizeH="0" baseline="0" noProof="0" dirty="0">
              <a:ln>
                <a:noFill/>
              </a:ln>
              <a:solidFill>
                <a:srgbClr val="E5ECEB">
                  <a:lumMod val="25000"/>
                </a:srgbClr>
              </a:solidFill>
              <a:effectLst/>
              <a:uLnTx/>
              <a:uFillTx/>
              <a:latin typeface="Calibri"/>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593FC919-A470-89CF-43C2-7B9978AD6CB2}"/>
              </a:ext>
            </a:extLst>
          </p:cNvPr>
          <p:cNvSpPr/>
          <p:nvPr/>
        </p:nvSpPr>
        <p:spPr>
          <a:xfrm>
            <a:off x="2764554" y="2108542"/>
            <a:ext cx="1927475" cy="16807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t>Software Packs</a:t>
            </a:r>
          </a:p>
        </p:txBody>
      </p:sp>
      <p:sp>
        <p:nvSpPr>
          <p:cNvPr id="7" name="Flowchart: Multidocument 6">
            <a:extLst>
              <a:ext uri="{FF2B5EF4-FFF2-40B4-BE49-F238E27FC236}">
                <a16:creationId xmlns:a16="http://schemas.microsoft.com/office/drawing/2014/main" id="{8DA81EEA-6B29-EC60-FE4E-584984EBE287}"/>
              </a:ext>
            </a:extLst>
          </p:cNvPr>
          <p:cNvSpPr/>
          <p:nvPr/>
        </p:nvSpPr>
        <p:spPr>
          <a:xfrm>
            <a:off x="2910600" y="2451556"/>
            <a:ext cx="1653577" cy="1181703"/>
          </a:xfrm>
          <a:prstGeom prst="flowChartMultidocument">
            <a:avLst/>
          </a:prstGeom>
          <a:solidFill>
            <a:schemeClr val="bg1"/>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chemeClr val="bg2">
                    <a:lumMod val="25000"/>
                  </a:schemeClr>
                </a:solidFill>
                <a:effectLst/>
                <a:uLnTx/>
                <a:uFillTx/>
                <a:latin typeface="Calibri"/>
                <a:ea typeface="+mn-ea"/>
                <a:cs typeface="+mn-cs"/>
              </a:rPr>
              <a:t>Device/</a:t>
            </a:r>
            <a:r>
              <a:rPr lang="en-US" sz="1400" dirty="0">
                <a:solidFill>
                  <a:schemeClr val="bg2">
                    <a:lumMod val="25000"/>
                  </a:schemeClr>
                </a:solidFill>
                <a:latin typeface="Calibri"/>
              </a:rPr>
              <a:t>Board</a:t>
            </a:r>
            <a:br>
              <a:rPr lang="en-US" sz="1400" dirty="0">
                <a:solidFill>
                  <a:schemeClr val="bg2">
                    <a:lumMod val="25000"/>
                  </a:schemeClr>
                </a:solidFill>
                <a:latin typeface="Calibri"/>
              </a:rPr>
            </a:br>
            <a:r>
              <a:rPr lang="en-US" sz="1400" dirty="0">
                <a:solidFill>
                  <a:schemeClr val="bg2">
                    <a:lumMod val="25000"/>
                  </a:schemeClr>
                </a:solidFill>
                <a:latin typeface="Calibri"/>
              </a:rPr>
              <a:t>Generic </a:t>
            </a:r>
            <a:r>
              <a:rPr kumimoji="0" lang="en-US" sz="1400" b="0" i="0" u="none" strike="noStrike" kern="1200" cap="none" spc="0" normalizeH="0" baseline="0" noProof="0" dirty="0">
                <a:ln>
                  <a:noFill/>
                </a:ln>
                <a:solidFill>
                  <a:schemeClr val="bg2">
                    <a:lumMod val="25000"/>
                  </a:schemeClr>
                </a:solidFill>
                <a:effectLst/>
                <a:uLnTx/>
                <a:uFillTx/>
                <a:latin typeface="Calibri"/>
                <a:ea typeface="+mn-ea"/>
                <a:cs typeface="+mn-cs"/>
              </a:rPr>
              <a:t>Software</a:t>
            </a:r>
            <a:br>
              <a:rPr kumimoji="0" lang="en-US" sz="1100" b="0" i="0" u="none" strike="noStrike" kern="1200" cap="none" spc="0" normalizeH="0" baseline="0" noProof="0" dirty="0">
                <a:ln>
                  <a:noFill/>
                </a:ln>
                <a:solidFill>
                  <a:schemeClr val="bg2">
                    <a:lumMod val="25000"/>
                  </a:schemeClr>
                </a:solidFill>
                <a:effectLst/>
                <a:uLnTx/>
                <a:uFillTx/>
                <a:latin typeface="Calibri"/>
                <a:ea typeface="+mn-ea"/>
                <a:cs typeface="+mn-cs"/>
              </a:rPr>
            </a:br>
            <a:endParaRPr kumimoji="0" lang="en-US" sz="5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21" name="Rectangle 20">
            <a:extLst>
              <a:ext uri="{FF2B5EF4-FFF2-40B4-BE49-F238E27FC236}">
                <a16:creationId xmlns:a16="http://schemas.microsoft.com/office/drawing/2014/main" id="{44F11E6A-463D-4732-A358-F14BDC4735DB}"/>
              </a:ext>
            </a:extLst>
          </p:cNvPr>
          <p:cNvSpPr/>
          <p:nvPr/>
        </p:nvSpPr>
        <p:spPr>
          <a:xfrm>
            <a:off x="2764554" y="3937249"/>
            <a:ext cx="1938116" cy="1008488"/>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b="1" dirty="0">
                <a:solidFill>
                  <a:schemeClr val="bg1"/>
                </a:solidFill>
                <a:latin typeface="Calibri"/>
              </a:rPr>
              <a:t>c</a:t>
            </a:r>
            <a:r>
              <a:rPr kumimoji="0" lang="en-US" b="1" i="0" u="none" strike="noStrike" kern="1200" cap="none" spc="0" normalizeH="0" baseline="0" noProof="0" dirty="0">
                <a:ln>
                  <a:noFill/>
                </a:ln>
                <a:solidFill>
                  <a:schemeClr val="bg1"/>
                </a:solidFill>
                <a:effectLst/>
                <a:uLnTx/>
                <a:uFillTx/>
                <a:latin typeface="Calibri"/>
                <a:ea typeface="+mn-ea"/>
                <a:cs typeface="+mn-cs"/>
              </a:rPr>
              <a:t>solution</a:t>
            </a:r>
            <a:br>
              <a:rPr kumimoji="0" lang="en-US" b="1" i="0" u="none" strike="noStrike" kern="1200" cap="none" spc="0" normalizeH="0" baseline="0" noProof="0" dirty="0">
                <a:ln>
                  <a:noFill/>
                </a:ln>
                <a:solidFill>
                  <a:schemeClr val="bg1"/>
                </a:solidFill>
                <a:effectLst/>
                <a:uLnTx/>
                <a:uFillTx/>
                <a:latin typeface="Calibri"/>
                <a:ea typeface="+mn-ea"/>
                <a:cs typeface="+mn-cs"/>
              </a:rPr>
            </a:br>
            <a:r>
              <a:rPr kumimoji="0" lang="en-US" b="1" i="0" u="none" strike="noStrike" kern="1200" cap="none" spc="0" normalizeH="0" baseline="0" noProof="0" dirty="0">
                <a:ln>
                  <a:noFill/>
                </a:ln>
                <a:solidFill>
                  <a:schemeClr val="bg1"/>
                </a:solidFill>
                <a:effectLst/>
                <a:uLnTx/>
                <a:uFillTx/>
                <a:latin typeface="Calibri"/>
                <a:ea typeface="+mn-ea"/>
                <a:cs typeface="+mn-cs"/>
              </a:rPr>
              <a:t>Server Mode</a:t>
            </a:r>
            <a:endParaRPr kumimoji="0" lang="en-GB" sz="1100" b="0" i="0" u="none" strike="noStrike" kern="1200" cap="none" spc="0" normalizeH="0" baseline="0" noProof="0" dirty="0">
              <a:ln>
                <a:noFill/>
              </a:ln>
              <a:solidFill>
                <a:schemeClr val="bg1"/>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9F220D24-3C88-9461-A2E9-6E5D95D8E5B9}"/>
              </a:ext>
            </a:extLst>
          </p:cNvPr>
          <p:cNvSpPr/>
          <p:nvPr/>
        </p:nvSpPr>
        <p:spPr>
          <a:xfrm>
            <a:off x="706132" y="2093628"/>
            <a:ext cx="1851371" cy="2843212"/>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lang="en-US" sz="1400" dirty="0">
                <a:solidFill>
                  <a:schemeClr val="tx2"/>
                </a:solidFill>
                <a:latin typeface="Calibri"/>
                <a:ea typeface="ＭＳ Ｐゴシック" panose="020B0600070205080204" pitchFamily="34" charset="-128"/>
              </a:rPr>
              <a:t>csolution project</a:t>
            </a:r>
            <a:endParaRPr kumimoji="0" lang="en-US" sz="1400" i="0" u="none" strike="noStrike" kern="1200" cap="none" spc="0" normalizeH="0" baseline="0" noProof="0" dirty="0">
              <a:ln>
                <a:noFill/>
              </a:ln>
              <a:solidFill>
                <a:schemeClr val="tx2"/>
              </a:solidFill>
              <a:effectLst/>
              <a:uLnTx/>
              <a:uFillTx/>
              <a:latin typeface="Calibri"/>
              <a:ea typeface="ＭＳ Ｐゴシック" panose="020B0600070205080204" pitchFamily="34" charset="-128"/>
              <a:cs typeface="+mn-cs"/>
            </a:endParaRPr>
          </a:p>
        </p:txBody>
      </p:sp>
      <p:cxnSp>
        <p:nvCxnSpPr>
          <p:cNvPr id="32" name="Straight Arrow Connector 31">
            <a:extLst>
              <a:ext uri="{FF2B5EF4-FFF2-40B4-BE49-F238E27FC236}">
                <a16:creationId xmlns:a16="http://schemas.microsoft.com/office/drawing/2014/main" id="{7BD868D6-AA2A-7814-C367-353F8CA4C584}"/>
              </a:ext>
            </a:extLst>
          </p:cNvPr>
          <p:cNvCxnSpPr>
            <a:cxnSpLocks/>
            <a:stCxn id="18" idx="2"/>
            <a:endCxn id="21" idx="0"/>
          </p:cNvCxnSpPr>
          <p:nvPr/>
        </p:nvCxnSpPr>
        <p:spPr>
          <a:xfrm>
            <a:off x="3728292" y="3789286"/>
            <a:ext cx="5320" cy="147963"/>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5B8B0EC-DC07-E129-4252-7EC9AD50F4C1}"/>
              </a:ext>
            </a:extLst>
          </p:cNvPr>
          <p:cNvCxnSpPr>
            <a:cxnSpLocks/>
          </p:cNvCxnSpPr>
          <p:nvPr/>
        </p:nvCxnSpPr>
        <p:spPr>
          <a:xfrm>
            <a:off x="2556088" y="4431457"/>
            <a:ext cx="208466" cy="0"/>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4" name="Flowchart: Document 13">
            <a:extLst>
              <a:ext uri="{FF2B5EF4-FFF2-40B4-BE49-F238E27FC236}">
                <a16:creationId xmlns:a16="http://schemas.microsoft.com/office/drawing/2014/main" id="{5D9D1298-AD52-931D-0BA2-6284682E9EFC}"/>
              </a:ext>
            </a:extLst>
          </p:cNvPr>
          <p:cNvSpPr/>
          <p:nvPr/>
        </p:nvSpPr>
        <p:spPr>
          <a:xfrm>
            <a:off x="822444" y="2471122"/>
            <a:ext cx="1616706" cy="926474"/>
          </a:xfrm>
          <a:prstGeom prst="flowChartDocument">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600" dirty="0">
                <a:solidFill>
                  <a:srgbClr val="E5ECEB">
                    <a:lumMod val="25000"/>
                  </a:srgbClr>
                </a:solidFill>
                <a:latin typeface="Calibri"/>
              </a:rPr>
              <a:t>My</a:t>
            </a:r>
            <a:r>
              <a:rPr kumimoji="0" lang="en-US" sz="1600" b="0" i="0" u="none" strike="noStrike" kern="1200" cap="none" spc="0" normalizeH="0" baseline="0" noProof="0" dirty="0">
                <a:ln>
                  <a:noFill/>
                </a:ln>
                <a:solidFill>
                  <a:srgbClr val="E5ECEB">
                    <a:lumMod val="25000"/>
                  </a:srgbClr>
                </a:solidFill>
                <a:effectLst/>
                <a:uLnTx/>
                <a:uFillTx/>
                <a:latin typeface="Calibri"/>
                <a:ea typeface="+mn-ea"/>
                <a:cs typeface="+mn-cs"/>
              </a:rPr>
              <a:t>.csolution.yml</a:t>
            </a:r>
            <a:br>
              <a:rPr kumimoji="0" lang="en-US" sz="36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Target and Build</a:t>
            </a:r>
            <a:b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Parameters</a:t>
            </a:r>
            <a:endParaRPr kumimoji="0" lang="en-GB" sz="1100" b="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pic>
        <p:nvPicPr>
          <p:cNvPr id="2" name="Picture 2">
            <a:extLst>
              <a:ext uri="{FF2B5EF4-FFF2-40B4-BE49-F238E27FC236}">
                <a16:creationId xmlns:a16="http://schemas.microsoft.com/office/drawing/2014/main" id="{5AC3FF15-31AB-9AA0-DC51-B79D6FAD248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4115" t="-3594" r="1880" b="3594"/>
          <a:stretch/>
        </p:blipFill>
        <p:spPr bwMode="auto">
          <a:xfrm>
            <a:off x="5460461" y="1864749"/>
            <a:ext cx="5711185" cy="3273215"/>
          </a:xfrm>
          <a:prstGeom prst="rect">
            <a:avLst/>
          </a:prstGeom>
          <a:noFill/>
          <a:extLst>
            <a:ext uri="{909E8E84-426E-40DD-AFC4-6F175D3DCCD1}">
              <a14:hiddenFill xmlns:a14="http://schemas.microsoft.com/office/drawing/2010/main">
                <a:solidFill>
                  <a:srgbClr val="FFFFFF"/>
                </a:solidFill>
              </a14:hiddenFill>
            </a:ext>
          </a:extLst>
        </p:spPr>
      </p:pic>
      <p:sp>
        <p:nvSpPr>
          <p:cNvPr id="6" name="Arrow: Left-Right 5">
            <a:extLst>
              <a:ext uri="{FF2B5EF4-FFF2-40B4-BE49-F238E27FC236}">
                <a16:creationId xmlns:a16="http://schemas.microsoft.com/office/drawing/2014/main" id="{3639D427-0C57-3368-FFAE-CE6857FE66E9}"/>
              </a:ext>
            </a:extLst>
          </p:cNvPr>
          <p:cNvSpPr/>
          <p:nvPr/>
        </p:nvSpPr>
        <p:spPr>
          <a:xfrm>
            <a:off x="4710223" y="4383932"/>
            <a:ext cx="789147" cy="342719"/>
          </a:xfrm>
          <a:prstGeom prst="lef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56277964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3A4A528-D79A-3B46-E531-CE0C09637DD1}"/>
              </a:ext>
            </a:extLst>
          </p:cNvPr>
          <p:cNvSpPr/>
          <p:nvPr/>
        </p:nvSpPr>
        <p:spPr>
          <a:xfrm>
            <a:off x="9157261" y="2958913"/>
            <a:ext cx="1355890" cy="1990304"/>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377"/>
            <a:r>
              <a:rPr lang="en-US" sz="1600" b="1" dirty="0">
                <a:solidFill>
                  <a:srgbClr val="000000">
                    <a:lumMod val="75000"/>
                    <a:lumOff val="25000"/>
                  </a:srgbClr>
                </a:solidFill>
                <a:latin typeface="Arial" panose="020B0604020202020204"/>
              </a:rPr>
              <a:t>SoC</a:t>
            </a:r>
          </a:p>
        </p:txBody>
      </p:sp>
      <p:sp>
        <p:nvSpPr>
          <p:cNvPr id="8" name="Rectangle 7">
            <a:extLst>
              <a:ext uri="{FF2B5EF4-FFF2-40B4-BE49-F238E27FC236}">
                <a16:creationId xmlns:a16="http://schemas.microsoft.com/office/drawing/2014/main" id="{C0371C3B-1247-C70C-701D-0007BE434745}"/>
              </a:ext>
            </a:extLst>
          </p:cNvPr>
          <p:cNvSpPr/>
          <p:nvPr/>
        </p:nvSpPr>
        <p:spPr>
          <a:xfrm>
            <a:off x="5872077" y="3188262"/>
            <a:ext cx="1448299" cy="1760955"/>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377">
              <a:defRPr/>
            </a:pPr>
            <a:r>
              <a:rPr lang="en-US" b="1" dirty="0">
                <a:solidFill>
                  <a:srgbClr val="FFFFFF"/>
                </a:solidFill>
                <a:latin typeface="Calibri"/>
              </a:rPr>
              <a:t>GDB Server </a:t>
            </a:r>
            <a:r>
              <a:rPr lang="en-US" sz="1200" b="1" dirty="0">
                <a:solidFill>
                  <a:srgbClr val="FFFFFF"/>
                </a:solidFill>
                <a:latin typeface="Calibri"/>
              </a:rPr>
              <a:t>(i.e. </a:t>
            </a:r>
            <a:r>
              <a:rPr lang="en-US" sz="1200" b="1" dirty="0" err="1">
                <a:solidFill>
                  <a:srgbClr val="FFFFFF"/>
                </a:solidFill>
                <a:latin typeface="Calibri"/>
              </a:rPr>
              <a:t>pyOCD</a:t>
            </a:r>
            <a:r>
              <a:rPr lang="en-US" sz="1200" b="1" dirty="0">
                <a:solidFill>
                  <a:srgbClr val="FFFFFF"/>
                </a:solidFill>
                <a:latin typeface="Calibri"/>
              </a:rPr>
              <a:t>)</a:t>
            </a:r>
            <a:br>
              <a:rPr lang="en-US" sz="1400" dirty="0">
                <a:solidFill>
                  <a:srgbClr val="FFFFFF"/>
                </a:solidFill>
                <a:latin typeface="Calibri"/>
                <a:ea typeface="ＭＳ Ｐゴシック" panose="020B0600070205080204" pitchFamily="34" charset="-128"/>
              </a:rPr>
            </a:br>
            <a:br>
              <a:rPr lang="en-US" sz="1200" dirty="0">
                <a:solidFill>
                  <a:srgbClr val="FFFFFF"/>
                </a:solidFill>
                <a:latin typeface="Calibri"/>
                <a:ea typeface="ＭＳ Ｐゴシック" panose="020B0600070205080204" pitchFamily="34" charset="-128"/>
              </a:rPr>
            </a:br>
            <a:br>
              <a:rPr lang="en-US" sz="1400" dirty="0">
                <a:solidFill>
                  <a:srgbClr val="FFFFFF"/>
                </a:solidFill>
                <a:latin typeface="Calibri"/>
                <a:ea typeface="ＭＳ Ｐゴシック" panose="020B0600070205080204" pitchFamily="34" charset="-128"/>
              </a:rPr>
            </a:br>
            <a:br>
              <a:rPr lang="en-US" sz="1400" dirty="0">
                <a:solidFill>
                  <a:srgbClr val="FFFFFF"/>
                </a:solidFill>
                <a:latin typeface="Calibri"/>
                <a:ea typeface="ＭＳ Ｐゴシック" panose="020B0600070205080204" pitchFamily="34" charset="-128"/>
              </a:rPr>
            </a:br>
            <a:br>
              <a:rPr lang="en-US" sz="1400" dirty="0">
                <a:solidFill>
                  <a:srgbClr val="FFFFFF"/>
                </a:solidFill>
                <a:latin typeface="Calibri"/>
                <a:ea typeface="ＭＳ Ｐゴシック" panose="020B0600070205080204" pitchFamily="34" charset="-128"/>
              </a:rPr>
            </a:br>
            <a:br>
              <a:rPr lang="en-US" sz="800" dirty="0">
                <a:solidFill>
                  <a:srgbClr val="FFFFFF"/>
                </a:solidFill>
                <a:latin typeface="Calibri"/>
                <a:ea typeface="ＭＳ Ｐゴシック" panose="020B0600070205080204" pitchFamily="34" charset="-128"/>
              </a:rPr>
            </a:br>
            <a:endParaRPr lang="en-US" sz="1100" dirty="0">
              <a:solidFill>
                <a:srgbClr val="FFFFFF"/>
              </a:solidFill>
              <a:latin typeface="Calibri"/>
              <a:ea typeface="ＭＳ Ｐゴシック" panose="020B0600070205080204" pitchFamily="34" charset="-128"/>
            </a:endParaRPr>
          </a:p>
        </p:txBody>
      </p:sp>
      <p:pic>
        <p:nvPicPr>
          <p:cNvPr id="9" name="Picture 2" descr="pyOCD">
            <a:extLst>
              <a:ext uri="{FF2B5EF4-FFF2-40B4-BE49-F238E27FC236}">
                <a16:creationId xmlns:a16="http://schemas.microsoft.com/office/drawing/2014/main" id="{3C4F4F3E-613E-79A9-4048-E5C23B9083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1061" y="3882517"/>
            <a:ext cx="691016" cy="911509"/>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0825710-F815-4E38-A026-6EE85CF2AA87}"/>
              </a:ext>
            </a:extLst>
          </p:cNvPr>
          <p:cNvSpPr txBox="1"/>
          <p:nvPr/>
        </p:nvSpPr>
        <p:spPr>
          <a:xfrm>
            <a:off x="7697361" y="3419562"/>
            <a:ext cx="818147" cy="290849"/>
          </a:xfrm>
          <a:prstGeom prst="rect">
            <a:avLst/>
          </a:prstGeom>
          <a:noFill/>
        </p:spPr>
        <p:txBody>
          <a:bodyPr wrap="square" lIns="0" tIns="0" rIns="0" bIns="0" rtlCol="0">
            <a:spAutoFit/>
          </a:bodyPr>
          <a:lstStyle/>
          <a:p>
            <a:pPr defTabSz="914377">
              <a:lnSpc>
                <a:spcPct val="90000"/>
              </a:lnSpc>
              <a:spcAft>
                <a:spcPts val="600"/>
              </a:spcAft>
            </a:pPr>
            <a:endParaRPr lang="en-US" sz="2100" err="1">
              <a:solidFill>
                <a:srgbClr val="080023"/>
              </a:solidFill>
            </a:endParaRPr>
          </a:p>
        </p:txBody>
      </p:sp>
      <p:sp>
        <p:nvSpPr>
          <p:cNvPr id="14" name="Rectangle 13">
            <a:extLst>
              <a:ext uri="{FF2B5EF4-FFF2-40B4-BE49-F238E27FC236}">
                <a16:creationId xmlns:a16="http://schemas.microsoft.com/office/drawing/2014/main" id="{5A4CE559-9FF2-FA9B-0551-E1F493845107}"/>
              </a:ext>
            </a:extLst>
          </p:cNvPr>
          <p:cNvSpPr/>
          <p:nvPr/>
        </p:nvSpPr>
        <p:spPr>
          <a:xfrm>
            <a:off x="7603141" y="3470606"/>
            <a:ext cx="914400" cy="1195456"/>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333" b="1" dirty="0">
                <a:solidFill>
                  <a:srgbClr val="FFFFFF"/>
                </a:solidFill>
                <a:latin typeface="Arial" panose="020B0604020202020204"/>
              </a:rPr>
              <a:t>Debug</a:t>
            </a:r>
            <a:br>
              <a:rPr lang="en-US" sz="1333" b="1" dirty="0">
                <a:solidFill>
                  <a:srgbClr val="FFFFFF"/>
                </a:solidFill>
                <a:latin typeface="Arial" panose="020B0604020202020204"/>
              </a:rPr>
            </a:br>
            <a:r>
              <a:rPr lang="en-US" sz="1333" b="1" dirty="0">
                <a:solidFill>
                  <a:srgbClr val="FFFFFF"/>
                </a:solidFill>
                <a:latin typeface="Arial" panose="020B0604020202020204"/>
              </a:rPr>
              <a:t>Adapter</a:t>
            </a:r>
            <a:br>
              <a:rPr lang="en-US" sz="1100" dirty="0">
                <a:solidFill>
                  <a:srgbClr val="FFFFFF"/>
                </a:solidFill>
                <a:latin typeface="Arial" panose="020B0604020202020204"/>
              </a:rPr>
            </a:br>
            <a:br>
              <a:rPr lang="en-US" sz="1100" dirty="0">
                <a:solidFill>
                  <a:srgbClr val="FFFFFF"/>
                </a:solidFill>
                <a:latin typeface="Arial" panose="020B0604020202020204"/>
              </a:rPr>
            </a:br>
            <a:r>
              <a:rPr lang="en-US" sz="900" dirty="0">
                <a:solidFill>
                  <a:srgbClr val="FFFFFF"/>
                </a:solidFill>
                <a:latin typeface="Arial" panose="020B0604020202020204"/>
              </a:rPr>
              <a:t>CMSIS-DAP</a:t>
            </a:r>
            <a:br>
              <a:rPr lang="en-US" sz="900" dirty="0">
                <a:solidFill>
                  <a:srgbClr val="FFFFFF"/>
                </a:solidFill>
                <a:latin typeface="Arial" panose="020B0604020202020204"/>
              </a:rPr>
            </a:br>
            <a:r>
              <a:rPr lang="en-US" sz="900" dirty="0">
                <a:solidFill>
                  <a:srgbClr val="FFFFFF"/>
                </a:solidFill>
                <a:latin typeface="Arial" panose="020B0604020202020204"/>
              </a:rPr>
              <a:t>JLink</a:t>
            </a:r>
          </a:p>
          <a:p>
            <a:pPr algn="ctr" defTabSz="914377"/>
            <a:r>
              <a:rPr lang="en-US" sz="900" dirty="0">
                <a:solidFill>
                  <a:srgbClr val="FFFFFF"/>
                </a:solidFill>
                <a:latin typeface="Arial" panose="020B0604020202020204"/>
              </a:rPr>
              <a:t>Etc.</a:t>
            </a:r>
          </a:p>
        </p:txBody>
      </p:sp>
      <p:sp>
        <p:nvSpPr>
          <p:cNvPr id="15" name="Arrow: Left-Right 14">
            <a:extLst>
              <a:ext uri="{FF2B5EF4-FFF2-40B4-BE49-F238E27FC236}">
                <a16:creationId xmlns:a16="http://schemas.microsoft.com/office/drawing/2014/main" id="{EAD669FD-46B8-13A6-EC09-951D9AC1193A}"/>
              </a:ext>
            </a:extLst>
          </p:cNvPr>
          <p:cNvSpPr/>
          <p:nvPr/>
        </p:nvSpPr>
        <p:spPr>
          <a:xfrm>
            <a:off x="4584970" y="3524767"/>
            <a:ext cx="1287107" cy="222797"/>
          </a:xfrm>
          <a:prstGeom prst="lef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FFFFFF"/>
              </a:solidFill>
              <a:latin typeface="Arial" panose="020B0604020202020204"/>
            </a:endParaRPr>
          </a:p>
        </p:txBody>
      </p:sp>
      <p:sp>
        <p:nvSpPr>
          <p:cNvPr id="16" name="Arrow: Left-Right 15">
            <a:extLst>
              <a:ext uri="{FF2B5EF4-FFF2-40B4-BE49-F238E27FC236}">
                <a16:creationId xmlns:a16="http://schemas.microsoft.com/office/drawing/2014/main" id="{66811E79-4F91-BDAB-18A8-1020461B7C05}"/>
              </a:ext>
            </a:extLst>
          </p:cNvPr>
          <p:cNvSpPr/>
          <p:nvPr/>
        </p:nvSpPr>
        <p:spPr>
          <a:xfrm>
            <a:off x="8514956" y="3980519"/>
            <a:ext cx="642305" cy="158344"/>
          </a:xfrm>
          <a:prstGeom prst="lef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FFFFFF"/>
              </a:solidFill>
              <a:latin typeface="Arial" panose="020B0604020202020204"/>
            </a:endParaRPr>
          </a:p>
        </p:txBody>
      </p:sp>
      <p:sp>
        <p:nvSpPr>
          <p:cNvPr id="19" name="Rectangle 18">
            <a:extLst>
              <a:ext uri="{FF2B5EF4-FFF2-40B4-BE49-F238E27FC236}">
                <a16:creationId xmlns:a16="http://schemas.microsoft.com/office/drawing/2014/main" id="{6BA8C1E8-F8CC-D94C-07CE-489F50C3A18E}"/>
              </a:ext>
            </a:extLst>
          </p:cNvPr>
          <p:cNvSpPr/>
          <p:nvPr/>
        </p:nvSpPr>
        <p:spPr>
          <a:xfrm>
            <a:off x="9273741" y="4138865"/>
            <a:ext cx="1108707" cy="605017"/>
          </a:xfrm>
          <a:prstGeom prst="rect">
            <a:avLst/>
          </a:prstGeom>
          <a:solidFill>
            <a:srgbClr val="6E2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dirty="0">
                <a:solidFill>
                  <a:srgbClr val="FFFFFF"/>
                </a:solidFill>
                <a:latin typeface="Arial" panose="020B0604020202020204"/>
              </a:rPr>
              <a:t>Cortex</a:t>
            </a:r>
            <a:br>
              <a:rPr lang="en-US" sz="1400" dirty="0">
                <a:solidFill>
                  <a:srgbClr val="FFFFFF"/>
                </a:solidFill>
                <a:latin typeface="Arial" panose="020B0604020202020204"/>
              </a:rPr>
            </a:br>
            <a:r>
              <a:rPr lang="en-US" sz="1050" dirty="0">
                <a:solidFill>
                  <a:srgbClr val="FFFFFF"/>
                </a:solidFill>
                <a:latin typeface="Arial" panose="020B0604020202020204"/>
              </a:rPr>
              <a:t>Processor</a:t>
            </a:r>
            <a:br>
              <a:rPr lang="en-US" sz="1050" dirty="0">
                <a:solidFill>
                  <a:srgbClr val="FFFFFF"/>
                </a:solidFill>
                <a:latin typeface="Arial" panose="020B0604020202020204"/>
              </a:rPr>
            </a:br>
            <a:r>
              <a:rPr lang="en-US" sz="1050" dirty="0">
                <a:solidFill>
                  <a:srgbClr val="FFFFFF"/>
                </a:solidFill>
                <a:latin typeface="Arial" panose="020B0604020202020204"/>
              </a:rPr>
              <a:t>core #2</a:t>
            </a:r>
            <a:endParaRPr lang="en-US" sz="1200" dirty="0">
              <a:solidFill>
                <a:srgbClr val="FFFFFF"/>
              </a:solidFill>
              <a:latin typeface="Arial" panose="020B0604020202020204"/>
            </a:endParaRPr>
          </a:p>
        </p:txBody>
      </p:sp>
      <p:sp>
        <p:nvSpPr>
          <p:cNvPr id="20" name="Rectangle 19">
            <a:extLst>
              <a:ext uri="{FF2B5EF4-FFF2-40B4-BE49-F238E27FC236}">
                <a16:creationId xmlns:a16="http://schemas.microsoft.com/office/drawing/2014/main" id="{0A22A9A5-953B-9AD4-FFB1-C7B9FAEC78E2}"/>
              </a:ext>
            </a:extLst>
          </p:cNvPr>
          <p:cNvSpPr/>
          <p:nvPr/>
        </p:nvSpPr>
        <p:spPr>
          <a:xfrm>
            <a:off x="9273741" y="3349149"/>
            <a:ext cx="1108707" cy="605017"/>
          </a:xfrm>
          <a:prstGeom prst="rect">
            <a:avLst/>
          </a:prstGeom>
          <a:solidFill>
            <a:srgbClr val="6E2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dirty="0">
                <a:solidFill>
                  <a:srgbClr val="FFFFFF"/>
                </a:solidFill>
                <a:latin typeface="Arial" panose="020B0604020202020204"/>
              </a:rPr>
              <a:t>Cortex</a:t>
            </a:r>
            <a:br>
              <a:rPr lang="en-US" sz="1400" dirty="0">
                <a:solidFill>
                  <a:srgbClr val="FFFFFF"/>
                </a:solidFill>
                <a:latin typeface="Arial" panose="020B0604020202020204"/>
              </a:rPr>
            </a:br>
            <a:r>
              <a:rPr lang="en-US" sz="1050" dirty="0">
                <a:solidFill>
                  <a:srgbClr val="FFFFFF"/>
                </a:solidFill>
                <a:latin typeface="Arial" panose="020B0604020202020204"/>
              </a:rPr>
              <a:t>Processor</a:t>
            </a:r>
            <a:br>
              <a:rPr lang="en-US" sz="1050" dirty="0">
                <a:solidFill>
                  <a:srgbClr val="FFFFFF"/>
                </a:solidFill>
                <a:latin typeface="Arial" panose="020B0604020202020204"/>
              </a:rPr>
            </a:br>
            <a:r>
              <a:rPr lang="en-US" sz="1050" dirty="0">
                <a:solidFill>
                  <a:srgbClr val="FFFFFF"/>
                </a:solidFill>
                <a:latin typeface="Arial" panose="020B0604020202020204"/>
              </a:rPr>
              <a:t>core #1</a:t>
            </a:r>
            <a:endParaRPr lang="en-US" sz="1200" dirty="0">
              <a:solidFill>
                <a:srgbClr val="FFFFFF"/>
              </a:solidFill>
              <a:latin typeface="Arial" panose="020B0604020202020204"/>
            </a:endParaRPr>
          </a:p>
        </p:txBody>
      </p:sp>
      <p:sp>
        <p:nvSpPr>
          <p:cNvPr id="23" name="TextBox 22">
            <a:extLst>
              <a:ext uri="{FF2B5EF4-FFF2-40B4-BE49-F238E27FC236}">
                <a16:creationId xmlns:a16="http://schemas.microsoft.com/office/drawing/2014/main" id="{6B7BE9CA-350C-0C2D-0254-63AB02A90BC4}"/>
              </a:ext>
            </a:extLst>
          </p:cNvPr>
          <p:cNvSpPr txBox="1"/>
          <p:nvPr/>
        </p:nvSpPr>
        <p:spPr>
          <a:xfrm>
            <a:off x="8632389" y="3872417"/>
            <a:ext cx="391887" cy="401648"/>
          </a:xfrm>
          <a:prstGeom prst="rect">
            <a:avLst/>
          </a:prstGeom>
          <a:noFill/>
        </p:spPr>
        <p:txBody>
          <a:bodyPr wrap="square" lIns="0" tIns="0" rIns="0" bIns="0" rtlCol="0">
            <a:spAutoFit/>
          </a:bodyPr>
          <a:lstStyle/>
          <a:p>
            <a:pPr algn="ctr" defTabSz="914377">
              <a:lnSpc>
                <a:spcPct val="90000"/>
              </a:lnSpc>
              <a:spcAft>
                <a:spcPts val="600"/>
              </a:spcAft>
            </a:pPr>
            <a:r>
              <a:rPr lang="en-US" sz="1100">
                <a:solidFill>
                  <a:srgbClr val="080023"/>
                </a:solidFill>
              </a:rPr>
              <a:t>JTAG</a:t>
            </a:r>
            <a:br>
              <a:rPr lang="en-US" sz="1100">
                <a:solidFill>
                  <a:srgbClr val="080023"/>
                </a:solidFill>
              </a:rPr>
            </a:br>
            <a:br>
              <a:rPr lang="en-US" sz="700">
                <a:solidFill>
                  <a:srgbClr val="080023"/>
                </a:solidFill>
              </a:rPr>
            </a:br>
            <a:r>
              <a:rPr lang="en-US" sz="1100">
                <a:solidFill>
                  <a:srgbClr val="080023"/>
                </a:solidFill>
              </a:rPr>
              <a:t>SWD</a:t>
            </a:r>
          </a:p>
        </p:txBody>
      </p:sp>
      <p:sp>
        <p:nvSpPr>
          <p:cNvPr id="57" name="Arrow: Left-Right 56">
            <a:extLst>
              <a:ext uri="{FF2B5EF4-FFF2-40B4-BE49-F238E27FC236}">
                <a16:creationId xmlns:a16="http://schemas.microsoft.com/office/drawing/2014/main" id="{20921708-41C9-80EE-E0D0-291616D3EAE1}"/>
              </a:ext>
            </a:extLst>
          </p:cNvPr>
          <p:cNvSpPr/>
          <p:nvPr/>
        </p:nvSpPr>
        <p:spPr>
          <a:xfrm>
            <a:off x="7314072" y="3985207"/>
            <a:ext cx="286723" cy="158343"/>
          </a:xfrm>
          <a:prstGeom prst="lef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FFFFFF"/>
              </a:solidFill>
              <a:latin typeface="Arial" panose="020B0604020202020204"/>
            </a:endParaRPr>
          </a:p>
        </p:txBody>
      </p:sp>
      <p:sp>
        <p:nvSpPr>
          <p:cNvPr id="58" name="TextBox 57">
            <a:extLst>
              <a:ext uri="{FF2B5EF4-FFF2-40B4-BE49-F238E27FC236}">
                <a16:creationId xmlns:a16="http://schemas.microsoft.com/office/drawing/2014/main" id="{EF592FD1-9FEA-B3DD-72DF-0BC6233217DF}"/>
              </a:ext>
            </a:extLst>
          </p:cNvPr>
          <p:cNvSpPr txBox="1"/>
          <p:nvPr/>
        </p:nvSpPr>
        <p:spPr>
          <a:xfrm>
            <a:off x="4727358" y="3428525"/>
            <a:ext cx="1125483" cy="429348"/>
          </a:xfrm>
          <a:prstGeom prst="rect">
            <a:avLst/>
          </a:prstGeom>
          <a:noFill/>
        </p:spPr>
        <p:txBody>
          <a:bodyPr wrap="square" lIns="0" tIns="0" rIns="0" bIns="0" rtlCol="0">
            <a:spAutoFit/>
          </a:bodyPr>
          <a:lstStyle/>
          <a:p>
            <a:pPr defTabSz="914377">
              <a:lnSpc>
                <a:spcPct val="90000"/>
              </a:lnSpc>
              <a:spcAft>
                <a:spcPts val="600"/>
              </a:spcAft>
            </a:pPr>
            <a:r>
              <a:rPr lang="en-US" sz="1100" dirty="0">
                <a:solidFill>
                  <a:srgbClr val="080023"/>
                </a:solidFill>
              </a:rPr>
              <a:t>GDB Server Port</a:t>
            </a:r>
            <a:br>
              <a:rPr lang="en-US" sz="1100" dirty="0">
                <a:solidFill>
                  <a:srgbClr val="080023"/>
                </a:solidFill>
              </a:rPr>
            </a:br>
            <a:br>
              <a:rPr lang="en-US" sz="900" dirty="0">
                <a:solidFill>
                  <a:srgbClr val="080023"/>
                </a:solidFill>
              </a:rPr>
            </a:br>
            <a:r>
              <a:rPr lang="en-US" sz="1100" dirty="0">
                <a:solidFill>
                  <a:srgbClr val="080023"/>
                </a:solidFill>
              </a:rPr>
              <a:t>Processor core #1</a:t>
            </a:r>
          </a:p>
        </p:txBody>
      </p:sp>
      <p:sp>
        <p:nvSpPr>
          <p:cNvPr id="59" name="Arrow: Left-Right 58">
            <a:extLst>
              <a:ext uri="{FF2B5EF4-FFF2-40B4-BE49-F238E27FC236}">
                <a16:creationId xmlns:a16="http://schemas.microsoft.com/office/drawing/2014/main" id="{036E9F18-7BFD-443C-D8DC-D0C9CC06C7D8}"/>
              </a:ext>
            </a:extLst>
          </p:cNvPr>
          <p:cNvSpPr/>
          <p:nvPr/>
        </p:nvSpPr>
        <p:spPr>
          <a:xfrm>
            <a:off x="4593466" y="4212925"/>
            <a:ext cx="1287107" cy="222797"/>
          </a:xfrm>
          <a:prstGeom prst="lef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FFFFFF"/>
              </a:solidFill>
              <a:latin typeface="Arial" panose="020B0604020202020204"/>
            </a:endParaRPr>
          </a:p>
        </p:txBody>
      </p:sp>
      <p:sp>
        <p:nvSpPr>
          <p:cNvPr id="60" name="TextBox 59">
            <a:extLst>
              <a:ext uri="{FF2B5EF4-FFF2-40B4-BE49-F238E27FC236}">
                <a16:creationId xmlns:a16="http://schemas.microsoft.com/office/drawing/2014/main" id="{B5E2DE4D-4B48-6508-095B-9E76893A5F09}"/>
              </a:ext>
            </a:extLst>
          </p:cNvPr>
          <p:cNvSpPr txBox="1"/>
          <p:nvPr/>
        </p:nvSpPr>
        <p:spPr>
          <a:xfrm>
            <a:off x="4735854" y="4109649"/>
            <a:ext cx="1125483" cy="429348"/>
          </a:xfrm>
          <a:prstGeom prst="rect">
            <a:avLst/>
          </a:prstGeom>
          <a:noFill/>
        </p:spPr>
        <p:txBody>
          <a:bodyPr wrap="square" lIns="0" tIns="0" rIns="0" bIns="0" rtlCol="0">
            <a:spAutoFit/>
          </a:bodyPr>
          <a:lstStyle/>
          <a:p>
            <a:pPr defTabSz="914377">
              <a:lnSpc>
                <a:spcPct val="90000"/>
              </a:lnSpc>
              <a:spcAft>
                <a:spcPts val="600"/>
              </a:spcAft>
            </a:pPr>
            <a:r>
              <a:rPr lang="en-US" sz="1100" dirty="0">
                <a:solidFill>
                  <a:srgbClr val="080023"/>
                </a:solidFill>
              </a:rPr>
              <a:t>GDB Server Port</a:t>
            </a:r>
            <a:br>
              <a:rPr lang="en-US" sz="1100" dirty="0">
                <a:solidFill>
                  <a:srgbClr val="080023"/>
                </a:solidFill>
              </a:rPr>
            </a:br>
            <a:br>
              <a:rPr lang="en-US" sz="900" dirty="0">
                <a:solidFill>
                  <a:srgbClr val="080023"/>
                </a:solidFill>
              </a:rPr>
            </a:br>
            <a:r>
              <a:rPr lang="en-US" sz="1100" dirty="0">
                <a:solidFill>
                  <a:srgbClr val="080023"/>
                </a:solidFill>
              </a:rPr>
              <a:t>Processor core #2</a:t>
            </a:r>
          </a:p>
        </p:txBody>
      </p:sp>
      <p:sp>
        <p:nvSpPr>
          <p:cNvPr id="68" name="Content Placeholder 5">
            <a:extLst>
              <a:ext uri="{FF2B5EF4-FFF2-40B4-BE49-F238E27FC236}">
                <a16:creationId xmlns:a16="http://schemas.microsoft.com/office/drawing/2014/main" id="{D2DA5E8E-A5DF-5471-901C-48125C0EA6C9}"/>
              </a:ext>
            </a:extLst>
          </p:cNvPr>
          <p:cNvSpPr>
            <a:spLocks noGrp="1"/>
          </p:cNvSpPr>
          <p:nvPr>
            <p:ph idx="1"/>
          </p:nvPr>
        </p:nvSpPr>
        <p:spPr>
          <a:xfrm>
            <a:off x="4727359" y="2958913"/>
            <a:ext cx="4475116" cy="325447"/>
          </a:xfrm>
        </p:spPr>
        <p:txBody>
          <a:bodyPr/>
          <a:lstStyle/>
          <a:p>
            <a:pPr marL="0" indent="0">
              <a:buNone/>
            </a:pPr>
            <a:r>
              <a:rPr lang="en-US" sz="1200" i="1" dirty="0"/>
              <a:t>Each processor core is assigned to one GDB Server Port</a:t>
            </a:r>
          </a:p>
        </p:txBody>
      </p:sp>
      <p:sp>
        <p:nvSpPr>
          <p:cNvPr id="7" name="Content Placeholder 5">
            <a:extLst>
              <a:ext uri="{FF2B5EF4-FFF2-40B4-BE49-F238E27FC236}">
                <a16:creationId xmlns:a16="http://schemas.microsoft.com/office/drawing/2014/main" id="{A819C811-A19E-25E3-FDF4-CBDDEA78C006}"/>
              </a:ext>
            </a:extLst>
          </p:cNvPr>
          <p:cNvSpPr txBox="1">
            <a:spLocks/>
          </p:cNvSpPr>
          <p:nvPr/>
        </p:nvSpPr>
        <p:spPr>
          <a:xfrm>
            <a:off x="5158660" y="996906"/>
            <a:ext cx="3732669" cy="690647"/>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chemeClr val="tx1"/>
                </a:solidFill>
                <a:latin typeface="Arial" panose="020B0604020202020204" pitchFamily="34" charset="0"/>
                <a:ea typeface="ＭＳ Ｐゴシック" charset="0"/>
                <a:cs typeface="Arial" panose="020B0604020202020204" pitchFamily="34" charset="0"/>
              </a:defRPr>
            </a:lvl1pPr>
            <a:lvl2pPr marL="67278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chemeClr val="tx1"/>
                </a:solidFill>
                <a:latin typeface="Arial" panose="020B0604020202020204" pitchFamily="34" charset="0"/>
                <a:ea typeface="ＭＳ Ｐゴシック" charset="0"/>
                <a:cs typeface="Arial" panose="020B0604020202020204" pitchFamily="34" charset="0"/>
              </a:defRPr>
            </a:lvl2pPr>
            <a:lvl3pPr marL="94710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chemeClr val="tx1"/>
                </a:solidFill>
                <a:latin typeface="Arial" panose="020B0604020202020204" pitchFamily="34" charset="0"/>
                <a:ea typeface="ＭＳ Ｐゴシック" charset="0"/>
                <a:cs typeface="Arial" panose="020B0604020202020204" pitchFamily="34" charset="0"/>
              </a:defRPr>
            </a:lvl3pPr>
            <a:lvl4pPr marL="129317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chemeClr val="tx1"/>
                </a:solidFill>
                <a:latin typeface="Arial" panose="020B0604020202020204" pitchFamily="34" charset="0"/>
                <a:ea typeface="ＭＳ Ｐゴシック" charset="0"/>
                <a:cs typeface="Arial" panose="020B0604020202020204" pitchFamily="34" charset="0"/>
              </a:defRPr>
            </a:lvl4pPr>
            <a:lvl5pPr marL="151860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chemeClr val="tx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indent="0" defTabSz="914377">
              <a:buNone/>
            </a:pPr>
            <a:endParaRPr lang="en-US" sz="1400" i="1">
              <a:solidFill>
                <a:srgbClr val="000000"/>
              </a:solidFill>
            </a:endParaRPr>
          </a:p>
        </p:txBody>
      </p:sp>
    </p:spTree>
    <p:extLst>
      <p:ext uri="{BB962C8B-B14F-4D97-AF65-F5344CB8AC3E}">
        <p14:creationId xmlns:p14="http://schemas.microsoft.com/office/powerpoint/2010/main" val="14519202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766B32E-986A-49CA-6E6D-EECB7DA6B83E}"/>
              </a:ext>
            </a:extLst>
          </p:cNvPr>
          <p:cNvSpPr/>
          <p:nvPr/>
        </p:nvSpPr>
        <p:spPr>
          <a:xfrm>
            <a:off x="323135" y="3300098"/>
            <a:ext cx="5926889" cy="1595042"/>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1600" dirty="0"/>
              <a:t>VS Code / </a:t>
            </a:r>
            <a:r>
              <a:rPr lang="en-US" sz="1600" dirty="0" err="1"/>
              <a:t>pyOCD</a:t>
            </a:r>
            <a:r>
              <a:rPr lang="en-US" sz="1600" dirty="0"/>
              <a:t> Debugger setup </a:t>
            </a:r>
          </a:p>
        </p:txBody>
      </p:sp>
      <p:sp>
        <p:nvSpPr>
          <p:cNvPr id="20" name="Rectangle 19">
            <a:extLst>
              <a:ext uri="{FF2B5EF4-FFF2-40B4-BE49-F238E27FC236}">
                <a16:creationId xmlns:a16="http://schemas.microsoft.com/office/drawing/2014/main" id="{456F70F7-50CB-869C-A5CC-0CB6CAD2ADD8}"/>
              </a:ext>
            </a:extLst>
          </p:cNvPr>
          <p:cNvSpPr/>
          <p:nvPr/>
        </p:nvSpPr>
        <p:spPr>
          <a:xfrm>
            <a:off x="453764" y="3415084"/>
            <a:ext cx="2633197" cy="112107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1000" b="1" dirty="0">
                <a:solidFill>
                  <a:schemeClr val="tx1"/>
                </a:solidFill>
              </a:rPr>
              <a:t>Processor #1</a:t>
            </a:r>
          </a:p>
        </p:txBody>
      </p:sp>
      <p:sp>
        <p:nvSpPr>
          <p:cNvPr id="24" name="Rectangle 23">
            <a:extLst>
              <a:ext uri="{FF2B5EF4-FFF2-40B4-BE49-F238E27FC236}">
                <a16:creationId xmlns:a16="http://schemas.microsoft.com/office/drawing/2014/main" id="{FF43D2F9-90FE-53AC-3F31-B07FB6F8BE67}"/>
              </a:ext>
            </a:extLst>
          </p:cNvPr>
          <p:cNvSpPr/>
          <p:nvPr/>
        </p:nvSpPr>
        <p:spPr>
          <a:xfrm>
            <a:off x="639213" y="3521332"/>
            <a:ext cx="356186" cy="3476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59E6630-A08C-F551-AAC5-51EE9E1BE72A}"/>
              </a:ext>
            </a:extLst>
          </p:cNvPr>
          <p:cNvSpPr/>
          <p:nvPr/>
        </p:nvSpPr>
        <p:spPr>
          <a:xfrm>
            <a:off x="323136" y="1540051"/>
            <a:ext cx="5926888" cy="1505665"/>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dirty="0"/>
              <a:t>Target System</a:t>
            </a:r>
          </a:p>
        </p:txBody>
      </p:sp>
      <p:sp>
        <p:nvSpPr>
          <p:cNvPr id="6" name="Rectangle 5">
            <a:extLst>
              <a:ext uri="{FF2B5EF4-FFF2-40B4-BE49-F238E27FC236}">
                <a16:creationId xmlns:a16="http://schemas.microsoft.com/office/drawing/2014/main" id="{3C575474-5E51-9B21-B8DB-CE6BA4378FC5}"/>
              </a:ext>
            </a:extLst>
          </p:cNvPr>
          <p:cNvSpPr/>
          <p:nvPr/>
        </p:nvSpPr>
        <p:spPr>
          <a:xfrm>
            <a:off x="453765" y="1956141"/>
            <a:ext cx="2633197" cy="100019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b="1" dirty="0">
                <a:solidFill>
                  <a:schemeClr val="tx1"/>
                </a:solidFill>
              </a:rPr>
              <a:t>Processor #1</a:t>
            </a:r>
          </a:p>
        </p:txBody>
      </p:sp>
      <p:sp>
        <p:nvSpPr>
          <p:cNvPr id="2" name="Title 1">
            <a:extLst>
              <a:ext uri="{FF2B5EF4-FFF2-40B4-BE49-F238E27FC236}">
                <a16:creationId xmlns:a16="http://schemas.microsoft.com/office/drawing/2014/main" id="{917AACD1-C899-7DE4-4B64-39CC7FBCFF48}"/>
              </a:ext>
            </a:extLst>
          </p:cNvPr>
          <p:cNvSpPr>
            <a:spLocks noGrp="1"/>
          </p:cNvSpPr>
          <p:nvPr>
            <p:ph type="title"/>
          </p:nvPr>
        </p:nvSpPr>
        <p:spPr/>
        <p:txBody>
          <a:bodyPr/>
          <a:lstStyle/>
          <a:p>
            <a:r>
              <a:rPr lang="en-US" dirty="0"/>
              <a:t>Telnet service for character I/O (</a:t>
            </a:r>
            <a:r>
              <a:rPr lang="en-US" dirty="0" err="1"/>
              <a:t>stdio</a:t>
            </a:r>
            <a:r>
              <a:rPr lang="en-US" dirty="0"/>
              <a:t>) </a:t>
            </a:r>
          </a:p>
        </p:txBody>
      </p:sp>
      <p:sp>
        <p:nvSpPr>
          <p:cNvPr id="14" name="Text Placeholder 13">
            <a:extLst>
              <a:ext uri="{FF2B5EF4-FFF2-40B4-BE49-F238E27FC236}">
                <a16:creationId xmlns:a16="http://schemas.microsoft.com/office/drawing/2014/main" id="{BB5B8DC0-1C50-488E-14DD-C7BF1AA59E56}"/>
              </a:ext>
            </a:extLst>
          </p:cNvPr>
          <p:cNvSpPr>
            <a:spLocks noGrp="1"/>
          </p:cNvSpPr>
          <p:nvPr>
            <p:ph type="body" sz="quarter" idx="13"/>
          </p:nvPr>
        </p:nvSpPr>
        <p:spPr/>
        <p:txBody>
          <a:bodyPr/>
          <a:lstStyle/>
          <a:p>
            <a:r>
              <a:rPr lang="en-US" dirty="0"/>
              <a:t>Use `</a:t>
            </a:r>
            <a:r>
              <a:rPr lang="en-US" dirty="0" err="1"/>
              <a:t>printf</a:t>
            </a:r>
            <a:r>
              <a:rPr lang="en-US" dirty="0"/>
              <a:t>` messaging via debug connection (with no separate UART)</a:t>
            </a:r>
          </a:p>
        </p:txBody>
      </p:sp>
      <p:sp>
        <p:nvSpPr>
          <p:cNvPr id="13" name="Content Placeholder 12">
            <a:extLst>
              <a:ext uri="{FF2B5EF4-FFF2-40B4-BE49-F238E27FC236}">
                <a16:creationId xmlns:a16="http://schemas.microsoft.com/office/drawing/2014/main" id="{2FF80751-2B2C-68DC-BD02-33062878EE77}"/>
              </a:ext>
            </a:extLst>
          </p:cNvPr>
          <p:cNvSpPr>
            <a:spLocks noGrp="1"/>
          </p:cNvSpPr>
          <p:nvPr>
            <p:ph idx="1"/>
          </p:nvPr>
        </p:nvSpPr>
        <p:spPr>
          <a:xfrm>
            <a:off x="334962" y="5175885"/>
            <a:ext cx="11522075" cy="1158126"/>
          </a:xfrm>
        </p:spPr>
        <p:txBody>
          <a:bodyPr/>
          <a:lstStyle/>
          <a:p>
            <a:r>
              <a:rPr lang="en-US" sz="1800" dirty="0" err="1"/>
              <a:t>Semihosting</a:t>
            </a:r>
            <a:r>
              <a:rPr lang="en-US" sz="1800" dirty="0"/>
              <a:t> (C library feature using breakpoints) or retargeting via SEGGER RTT (for higher bandwidth).</a:t>
            </a:r>
          </a:p>
          <a:p>
            <a:r>
              <a:rPr lang="en-US" sz="1800" dirty="0"/>
              <a:t>Features for regression testing: Text File output or Telnet Server connection</a:t>
            </a:r>
          </a:p>
          <a:p>
            <a:r>
              <a:rPr lang="en-US" sz="1800" dirty="0"/>
              <a:t>VS Code Serial Monitor connects to both UART or Telnet service</a:t>
            </a:r>
          </a:p>
        </p:txBody>
      </p:sp>
      <p:sp>
        <p:nvSpPr>
          <p:cNvPr id="4" name="Rectangle 3">
            <a:extLst>
              <a:ext uri="{FF2B5EF4-FFF2-40B4-BE49-F238E27FC236}">
                <a16:creationId xmlns:a16="http://schemas.microsoft.com/office/drawing/2014/main" id="{1BFB3125-8010-FEB2-FE14-7D81BDDFC431}"/>
              </a:ext>
            </a:extLst>
          </p:cNvPr>
          <p:cNvSpPr/>
          <p:nvPr/>
        </p:nvSpPr>
        <p:spPr>
          <a:xfrm>
            <a:off x="534166" y="2253177"/>
            <a:ext cx="1189407" cy="538157"/>
          </a:xfrm>
          <a:prstGeom prst="rect">
            <a:avLst/>
          </a:prstGeom>
          <a:solidFill>
            <a:srgbClr val="7233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t>Semihosting</a:t>
            </a:r>
            <a:endParaRPr lang="en-US" sz="1400" dirty="0"/>
          </a:p>
        </p:txBody>
      </p:sp>
      <p:sp>
        <p:nvSpPr>
          <p:cNvPr id="5" name="Rectangle 4">
            <a:extLst>
              <a:ext uri="{FF2B5EF4-FFF2-40B4-BE49-F238E27FC236}">
                <a16:creationId xmlns:a16="http://schemas.microsoft.com/office/drawing/2014/main" id="{5821AE4E-0EBD-CCD7-7BDF-ED0E2BF1D892}"/>
              </a:ext>
            </a:extLst>
          </p:cNvPr>
          <p:cNvSpPr/>
          <p:nvPr/>
        </p:nvSpPr>
        <p:spPr>
          <a:xfrm>
            <a:off x="1812951" y="2253177"/>
            <a:ext cx="1189407" cy="538157"/>
          </a:xfrm>
          <a:prstGeom prst="rect">
            <a:avLst/>
          </a:prstGeom>
          <a:solidFill>
            <a:srgbClr val="7233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RTT</a:t>
            </a:r>
            <a:br>
              <a:rPr lang="en-US" sz="1400" dirty="0"/>
            </a:br>
            <a:r>
              <a:rPr lang="en-US" sz="1400" dirty="0"/>
              <a:t>mode: </a:t>
            </a:r>
            <a:r>
              <a:rPr lang="en-US" sz="1400" dirty="0" err="1"/>
              <a:t>stdio</a:t>
            </a:r>
            <a:endParaRPr lang="en-US" sz="1400" dirty="0"/>
          </a:p>
        </p:txBody>
      </p:sp>
      <p:sp>
        <p:nvSpPr>
          <p:cNvPr id="7" name="Rectangle 6">
            <a:extLst>
              <a:ext uri="{FF2B5EF4-FFF2-40B4-BE49-F238E27FC236}">
                <a16:creationId xmlns:a16="http://schemas.microsoft.com/office/drawing/2014/main" id="{BEDC698F-1F2D-F772-F780-CBEEBBE44309}"/>
              </a:ext>
            </a:extLst>
          </p:cNvPr>
          <p:cNvSpPr/>
          <p:nvPr/>
        </p:nvSpPr>
        <p:spPr>
          <a:xfrm>
            <a:off x="3402313" y="1956141"/>
            <a:ext cx="2633197" cy="100134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b="1" dirty="0">
                <a:solidFill>
                  <a:schemeClr val="tx1"/>
                </a:solidFill>
              </a:rPr>
              <a:t>Processor #n</a:t>
            </a:r>
          </a:p>
        </p:txBody>
      </p:sp>
      <p:sp>
        <p:nvSpPr>
          <p:cNvPr id="8" name="Rectangle 7">
            <a:extLst>
              <a:ext uri="{FF2B5EF4-FFF2-40B4-BE49-F238E27FC236}">
                <a16:creationId xmlns:a16="http://schemas.microsoft.com/office/drawing/2014/main" id="{FECE690F-5186-DB66-6B48-8FD8CD6C2E51}"/>
              </a:ext>
            </a:extLst>
          </p:cNvPr>
          <p:cNvSpPr/>
          <p:nvPr/>
        </p:nvSpPr>
        <p:spPr>
          <a:xfrm>
            <a:off x="3482714" y="2254323"/>
            <a:ext cx="1189407" cy="538157"/>
          </a:xfrm>
          <a:prstGeom prst="rect">
            <a:avLst/>
          </a:prstGeom>
          <a:solidFill>
            <a:srgbClr val="7233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t>Semihosting</a:t>
            </a:r>
            <a:endParaRPr lang="en-US" sz="1400" dirty="0"/>
          </a:p>
        </p:txBody>
      </p:sp>
      <p:sp>
        <p:nvSpPr>
          <p:cNvPr id="9" name="Rectangle 8">
            <a:extLst>
              <a:ext uri="{FF2B5EF4-FFF2-40B4-BE49-F238E27FC236}">
                <a16:creationId xmlns:a16="http://schemas.microsoft.com/office/drawing/2014/main" id="{F6E8CB19-2A12-BDB0-27AF-022C87043917}"/>
              </a:ext>
            </a:extLst>
          </p:cNvPr>
          <p:cNvSpPr/>
          <p:nvPr/>
        </p:nvSpPr>
        <p:spPr>
          <a:xfrm>
            <a:off x="4761499" y="2254323"/>
            <a:ext cx="1189407" cy="538157"/>
          </a:xfrm>
          <a:prstGeom prst="rect">
            <a:avLst/>
          </a:prstGeom>
          <a:solidFill>
            <a:srgbClr val="7233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RTT</a:t>
            </a:r>
            <a:br>
              <a:rPr lang="en-US" sz="1400" dirty="0"/>
            </a:br>
            <a:r>
              <a:rPr lang="en-US" sz="1400" dirty="0"/>
              <a:t>mode: </a:t>
            </a:r>
            <a:r>
              <a:rPr lang="en-US" sz="1400" dirty="0" err="1"/>
              <a:t>stdio</a:t>
            </a:r>
            <a:endParaRPr lang="en-US" sz="1400" dirty="0"/>
          </a:p>
        </p:txBody>
      </p:sp>
      <p:sp>
        <p:nvSpPr>
          <p:cNvPr id="21" name="Rectangle 20">
            <a:extLst>
              <a:ext uri="{FF2B5EF4-FFF2-40B4-BE49-F238E27FC236}">
                <a16:creationId xmlns:a16="http://schemas.microsoft.com/office/drawing/2014/main" id="{8B54C626-3D57-B962-5756-34208D20E27A}"/>
              </a:ext>
            </a:extLst>
          </p:cNvPr>
          <p:cNvSpPr/>
          <p:nvPr/>
        </p:nvSpPr>
        <p:spPr>
          <a:xfrm>
            <a:off x="3402313" y="3415084"/>
            <a:ext cx="2633197" cy="112107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tx1"/>
                </a:solidFill>
              </a:rPr>
              <a:t>Processor #n</a:t>
            </a:r>
          </a:p>
        </p:txBody>
      </p:sp>
      <p:pic>
        <p:nvPicPr>
          <p:cNvPr id="23" name="Graphic 22">
            <a:extLst>
              <a:ext uri="{FF2B5EF4-FFF2-40B4-BE49-F238E27FC236}">
                <a16:creationId xmlns:a16="http://schemas.microsoft.com/office/drawing/2014/main" id="{A182965E-A081-8C8D-19B2-83784FA406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8265" y="3565443"/>
            <a:ext cx="275007" cy="275007"/>
          </a:xfrm>
          <a:prstGeom prst="rect">
            <a:avLst/>
          </a:prstGeom>
        </p:spPr>
      </p:pic>
      <p:sp>
        <p:nvSpPr>
          <p:cNvPr id="27" name="Rectangle 26">
            <a:extLst>
              <a:ext uri="{FF2B5EF4-FFF2-40B4-BE49-F238E27FC236}">
                <a16:creationId xmlns:a16="http://schemas.microsoft.com/office/drawing/2014/main" id="{02EAFC21-592F-0AE0-3B61-907C58CC8355}"/>
              </a:ext>
            </a:extLst>
          </p:cNvPr>
          <p:cNvSpPr/>
          <p:nvPr/>
        </p:nvSpPr>
        <p:spPr>
          <a:xfrm>
            <a:off x="1226573" y="3607130"/>
            <a:ext cx="356186" cy="2618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Graphic 25">
            <a:extLst>
              <a:ext uri="{FF2B5EF4-FFF2-40B4-BE49-F238E27FC236}">
                <a16:creationId xmlns:a16="http://schemas.microsoft.com/office/drawing/2014/main" id="{47731BCA-B357-3337-6C1C-244DAECAAF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21795" y="3512878"/>
            <a:ext cx="403846" cy="403846"/>
          </a:xfrm>
          <a:prstGeom prst="rect">
            <a:avLst/>
          </a:prstGeom>
        </p:spPr>
      </p:pic>
      <p:pic>
        <p:nvPicPr>
          <p:cNvPr id="31" name="Graphic 30">
            <a:extLst>
              <a:ext uri="{FF2B5EF4-FFF2-40B4-BE49-F238E27FC236}">
                <a16:creationId xmlns:a16="http://schemas.microsoft.com/office/drawing/2014/main" id="{9AD9760B-9D2C-B10C-2127-4DC54840560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H="1">
            <a:off x="1911907" y="3542418"/>
            <a:ext cx="368000" cy="368000"/>
          </a:xfrm>
          <a:prstGeom prst="rect">
            <a:avLst/>
          </a:prstGeom>
        </p:spPr>
      </p:pic>
      <p:pic>
        <p:nvPicPr>
          <p:cNvPr id="33" name="Graphic 32">
            <a:extLst>
              <a:ext uri="{FF2B5EF4-FFF2-40B4-BE49-F238E27FC236}">
                <a16:creationId xmlns:a16="http://schemas.microsoft.com/office/drawing/2014/main" id="{DA5A9AA1-E616-1C27-CBE7-3A9B1AE9F01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487309" y="3552743"/>
            <a:ext cx="362917" cy="362917"/>
          </a:xfrm>
          <a:prstGeom prst="rect">
            <a:avLst/>
          </a:prstGeom>
        </p:spPr>
      </p:pic>
      <p:sp>
        <p:nvSpPr>
          <p:cNvPr id="34" name="TextBox 33">
            <a:extLst>
              <a:ext uri="{FF2B5EF4-FFF2-40B4-BE49-F238E27FC236}">
                <a16:creationId xmlns:a16="http://schemas.microsoft.com/office/drawing/2014/main" id="{677DC396-BCD1-E1F0-71AC-3B520F5066C0}"/>
              </a:ext>
            </a:extLst>
          </p:cNvPr>
          <p:cNvSpPr txBox="1"/>
          <p:nvPr/>
        </p:nvSpPr>
        <p:spPr>
          <a:xfrm>
            <a:off x="571953" y="4006685"/>
            <a:ext cx="528853" cy="1384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000" kern="1200" dirty="0">
                <a:solidFill>
                  <a:schemeClr val="tx2"/>
                </a:solidFill>
                <a:latin typeface="+mn-lt"/>
                <a:ea typeface="+mn-ea"/>
                <a:cs typeface="+mn-cs"/>
              </a:rPr>
              <a:t>Console</a:t>
            </a:r>
          </a:p>
        </p:txBody>
      </p:sp>
      <p:sp>
        <p:nvSpPr>
          <p:cNvPr id="35" name="TextBox 34">
            <a:extLst>
              <a:ext uri="{FF2B5EF4-FFF2-40B4-BE49-F238E27FC236}">
                <a16:creationId xmlns:a16="http://schemas.microsoft.com/office/drawing/2014/main" id="{8507EA1F-D0AA-F264-ADDC-579739FB4BBC}"/>
              </a:ext>
            </a:extLst>
          </p:cNvPr>
          <p:cNvSpPr txBox="1"/>
          <p:nvPr/>
        </p:nvSpPr>
        <p:spPr>
          <a:xfrm>
            <a:off x="1159291" y="3944507"/>
            <a:ext cx="528853" cy="2769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000" dirty="0">
                <a:solidFill>
                  <a:schemeClr val="tx2"/>
                </a:solidFill>
                <a:latin typeface="+mn-lt"/>
                <a:ea typeface="+mn-ea"/>
              </a:rPr>
              <a:t>Serial</a:t>
            </a:r>
            <a:br>
              <a:rPr lang="en-US" sz="1000" dirty="0">
                <a:solidFill>
                  <a:schemeClr val="tx2"/>
                </a:solidFill>
                <a:latin typeface="+mn-lt"/>
                <a:ea typeface="+mn-ea"/>
              </a:rPr>
            </a:br>
            <a:r>
              <a:rPr lang="en-US" sz="1000" dirty="0">
                <a:solidFill>
                  <a:schemeClr val="tx2"/>
                </a:solidFill>
                <a:latin typeface="+mn-lt"/>
                <a:ea typeface="+mn-ea"/>
              </a:rPr>
              <a:t>Monitor</a:t>
            </a:r>
            <a:endParaRPr lang="en-US" sz="1000" kern="1200" dirty="0">
              <a:solidFill>
                <a:schemeClr val="tx2"/>
              </a:solidFill>
              <a:latin typeface="+mn-lt"/>
              <a:ea typeface="+mn-ea"/>
              <a:cs typeface="+mn-cs"/>
            </a:endParaRPr>
          </a:p>
        </p:txBody>
      </p:sp>
      <p:sp>
        <p:nvSpPr>
          <p:cNvPr id="36" name="TextBox 35">
            <a:extLst>
              <a:ext uri="{FF2B5EF4-FFF2-40B4-BE49-F238E27FC236}">
                <a16:creationId xmlns:a16="http://schemas.microsoft.com/office/drawing/2014/main" id="{92401918-F57B-D122-B823-EBA57FB5DFCF}"/>
              </a:ext>
            </a:extLst>
          </p:cNvPr>
          <p:cNvSpPr txBox="1"/>
          <p:nvPr/>
        </p:nvSpPr>
        <p:spPr>
          <a:xfrm>
            <a:off x="1831692" y="3950222"/>
            <a:ext cx="528853" cy="2769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000" dirty="0">
                <a:solidFill>
                  <a:schemeClr val="tx2"/>
                </a:solidFill>
                <a:latin typeface="+mn-lt"/>
                <a:ea typeface="+mn-ea"/>
              </a:rPr>
              <a:t>Telnet</a:t>
            </a:r>
            <a:br>
              <a:rPr lang="en-US" sz="1000" dirty="0">
                <a:solidFill>
                  <a:schemeClr val="tx2"/>
                </a:solidFill>
                <a:latin typeface="+mn-lt"/>
                <a:ea typeface="+mn-ea"/>
              </a:rPr>
            </a:br>
            <a:r>
              <a:rPr lang="en-US" sz="1000" dirty="0">
                <a:solidFill>
                  <a:schemeClr val="tx2"/>
                </a:solidFill>
                <a:latin typeface="+mn-lt"/>
                <a:ea typeface="+mn-ea"/>
              </a:rPr>
              <a:t>Server</a:t>
            </a:r>
            <a:endParaRPr lang="en-US" sz="1000" kern="1200" dirty="0">
              <a:solidFill>
                <a:schemeClr val="tx2"/>
              </a:solidFill>
              <a:latin typeface="+mn-lt"/>
              <a:ea typeface="+mn-ea"/>
              <a:cs typeface="+mn-cs"/>
            </a:endParaRPr>
          </a:p>
        </p:txBody>
      </p:sp>
      <p:sp>
        <p:nvSpPr>
          <p:cNvPr id="37" name="TextBox 36">
            <a:extLst>
              <a:ext uri="{FF2B5EF4-FFF2-40B4-BE49-F238E27FC236}">
                <a16:creationId xmlns:a16="http://schemas.microsoft.com/office/drawing/2014/main" id="{0BBA39D0-AAD6-5B2A-F343-9B14859143E0}"/>
              </a:ext>
            </a:extLst>
          </p:cNvPr>
          <p:cNvSpPr txBox="1"/>
          <p:nvPr/>
        </p:nvSpPr>
        <p:spPr>
          <a:xfrm>
            <a:off x="2401304" y="3963102"/>
            <a:ext cx="528853" cy="2769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000" dirty="0">
                <a:solidFill>
                  <a:schemeClr val="tx2"/>
                </a:solidFill>
                <a:latin typeface="+mn-lt"/>
                <a:ea typeface="+mn-ea"/>
              </a:rPr>
              <a:t>Text</a:t>
            </a:r>
            <a:br>
              <a:rPr lang="en-US" sz="1000" dirty="0">
                <a:solidFill>
                  <a:schemeClr val="tx2"/>
                </a:solidFill>
                <a:latin typeface="+mn-lt"/>
                <a:ea typeface="+mn-ea"/>
              </a:rPr>
            </a:br>
            <a:r>
              <a:rPr lang="en-US" sz="1000" dirty="0">
                <a:solidFill>
                  <a:schemeClr val="tx2"/>
                </a:solidFill>
                <a:latin typeface="+mn-lt"/>
                <a:ea typeface="+mn-ea"/>
              </a:rPr>
              <a:t>File</a:t>
            </a:r>
            <a:endParaRPr lang="en-US" sz="1000" kern="1200" dirty="0">
              <a:solidFill>
                <a:schemeClr val="tx2"/>
              </a:solidFill>
              <a:latin typeface="+mn-lt"/>
              <a:ea typeface="+mn-ea"/>
              <a:cs typeface="+mn-cs"/>
            </a:endParaRPr>
          </a:p>
        </p:txBody>
      </p:sp>
      <p:pic>
        <p:nvPicPr>
          <p:cNvPr id="39" name="Picture 38">
            <a:extLst>
              <a:ext uri="{FF2B5EF4-FFF2-40B4-BE49-F238E27FC236}">
                <a16:creationId xmlns:a16="http://schemas.microsoft.com/office/drawing/2014/main" id="{6A878282-AA7F-9034-BA26-D1D49EBCA9FE}"/>
              </a:ext>
            </a:extLst>
          </p:cNvPr>
          <p:cNvPicPr>
            <a:picLocks noChangeAspect="1"/>
          </p:cNvPicPr>
          <p:nvPr/>
        </p:nvPicPr>
        <p:blipFill>
          <a:blip r:embed="rId7"/>
          <a:stretch>
            <a:fillRect/>
          </a:stretch>
        </p:blipFill>
        <p:spPr>
          <a:xfrm>
            <a:off x="1905557" y="3497827"/>
            <a:ext cx="963068" cy="424480"/>
          </a:xfrm>
          <a:prstGeom prst="rect">
            <a:avLst/>
          </a:prstGeom>
        </p:spPr>
      </p:pic>
      <p:sp>
        <p:nvSpPr>
          <p:cNvPr id="40" name="Rectangle 39">
            <a:extLst>
              <a:ext uri="{FF2B5EF4-FFF2-40B4-BE49-F238E27FC236}">
                <a16:creationId xmlns:a16="http://schemas.microsoft.com/office/drawing/2014/main" id="{45D14DCD-8242-93D7-EB0E-2D49E0D2EC45}"/>
              </a:ext>
            </a:extLst>
          </p:cNvPr>
          <p:cNvSpPr/>
          <p:nvPr/>
        </p:nvSpPr>
        <p:spPr>
          <a:xfrm>
            <a:off x="3623713" y="3527682"/>
            <a:ext cx="356186" cy="3476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Graphic 40">
            <a:extLst>
              <a:ext uri="{FF2B5EF4-FFF2-40B4-BE49-F238E27FC236}">
                <a16:creationId xmlns:a16="http://schemas.microsoft.com/office/drawing/2014/main" id="{C194EFA6-E025-A4A7-3BCC-726053178F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2765" y="3571793"/>
            <a:ext cx="275007" cy="275007"/>
          </a:xfrm>
          <a:prstGeom prst="rect">
            <a:avLst/>
          </a:prstGeom>
        </p:spPr>
      </p:pic>
      <p:sp>
        <p:nvSpPr>
          <p:cNvPr id="42" name="Rectangle 41">
            <a:extLst>
              <a:ext uri="{FF2B5EF4-FFF2-40B4-BE49-F238E27FC236}">
                <a16:creationId xmlns:a16="http://schemas.microsoft.com/office/drawing/2014/main" id="{B0CBC380-A3CA-A9F4-4EFE-C5709B0CD203}"/>
              </a:ext>
            </a:extLst>
          </p:cNvPr>
          <p:cNvSpPr/>
          <p:nvPr/>
        </p:nvSpPr>
        <p:spPr>
          <a:xfrm>
            <a:off x="4211073" y="3613480"/>
            <a:ext cx="356186" cy="2618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Graphic 42">
            <a:extLst>
              <a:ext uri="{FF2B5EF4-FFF2-40B4-BE49-F238E27FC236}">
                <a16:creationId xmlns:a16="http://schemas.microsoft.com/office/drawing/2014/main" id="{2CB6C5EA-6E59-DA65-A387-6DF832BAE2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06295" y="3519228"/>
            <a:ext cx="403846" cy="403846"/>
          </a:xfrm>
          <a:prstGeom prst="rect">
            <a:avLst/>
          </a:prstGeom>
        </p:spPr>
      </p:pic>
      <p:pic>
        <p:nvPicPr>
          <p:cNvPr id="44" name="Graphic 43">
            <a:extLst>
              <a:ext uri="{FF2B5EF4-FFF2-40B4-BE49-F238E27FC236}">
                <a16:creationId xmlns:a16="http://schemas.microsoft.com/office/drawing/2014/main" id="{AAF9BD4D-C702-4C72-E3FB-BC62EA4EBA0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H="1">
            <a:off x="4896407" y="3548768"/>
            <a:ext cx="368000" cy="368000"/>
          </a:xfrm>
          <a:prstGeom prst="rect">
            <a:avLst/>
          </a:prstGeom>
        </p:spPr>
      </p:pic>
      <p:pic>
        <p:nvPicPr>
          <p:cNvPr id="45" name="Graphic 44">
            <a:extLst>
              <a:ext uri="{FF2B5EF4-FFF2-40B4-BE49-F238E27FC236}">
                <a16:creationId xmlns:a16="http://schemas.microsoft.com/office/drawing/2014/main" id="{F637CC05-1DE8-BB3C-419F-60D3C80FCA4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471809" y="3559093"/>
            <a:ext cx="362917" cy="362917"/>
          </a:xfrm>
          <a:prstGeom prst="rect">
            <a:avLst/>
          </a:prstGeom>
        </p:spPr>
      </p:pic>
      <p:sp>
        <p:nvSpPr>
          <p:cNvPr id="46" name="TextBox 45">
            <a:extLst>
              <a:ext uri="{FF2B5EF4-FFF2-40B4-BE49-F238E27FC236}">
                <a16:creationId xmlns:a16="http://schemas.microsoft.com/office/drawing/2014/main" id="{C060F74A-DCF4-9330-33BE-7BB6DF6CF793}"/>
              </a:ext>
            </a:extLst>
          </p:cNvPr>
          <p:cNvSpPr txBox="1"/>
          <p:nvPr/>
        </p:nvSpPr>
        <p:spPr>
          <a:xfrm>
            <a:off x="3556453" y="4013035"/>
            <a:ext cx="528853" cy="1384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000" kern="1200" dirty="0">
                <a:solidFill>
                  <a:schemeClr val="tx2"/>
                </a:solidFill>
                <a:latin typeface="+mn-lt"/>
                <a:ea typeface="+mn-ea"/>
                <a:cs typeface="+mn-cs"/>
              </a:rPr>
              <a:t>Console</a:t>
            </a:r>
          </a:p>
        </p:txBody>
      </p:sp>
      <p:sp>
        <p:nvSpPr>
          <p:cNvPr id="47" name="TextBox 46">
            <a:extLst>
              <a:ext uri="{FF2B5EF4-FFF2-40B4-BE49-F238E27FC236}">
                <a16:creationId xmlns:a16="http://schemas.microsoft.com/office/drawing/2014/main" id="{8E22C4C2-B345-A0DC-3570-AC4BC598FA7E}"/>
              </a:ext>
            </a:extLst>
          </p:cNvPr>
          <p:cNvSpPr txBox="1"/>
          <p:nvPr/>
        </p:nvSpPr>
        <p:spPr>
          <a:xfrm>
            <a:off x="4143791" y="3950857"/>
            <a:ext cx="528853" cy="2769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000" dirty="0">
                <a:solidFill>
                  <a:schemeClr val="tx2"/>
                </a:solidFill>
                <a:latin typeface="+mn-lt"/>
                <a:ea typeface="+mn-ea"/>
              </a:rPr>
              <a:t>Serial</a:t>
            </a:r>
            <a:br>
              <a:rPr lang="en-US" sz="1000" dirty="0">
                <a:solidFill>
                  <a:schemeClr val="tx2"/>
                </a:solidFill>
                <a:latin typeface="+mn-lt"/>
                <a:ea typeface="+mn-ea"/>
              </a:rPr>
            </a:br>
            <a:r>
              <a:rPr lang="en-US" sz="1000" dirty="0">
                <a:solidFill>
                  <a:schemeClr val="tx2"/>
                </a:solidFill>
                <a:latin typeface="+mn-lt"/>
                <a:ea typeface="+mn-ea"/>
              </a:rPr>
              <a:t>Monitor</a:t>
            </a:r>
            <a:endParaRPr lang="en-US" sz="1000" kern="1200" dirty="0">
              <a:solidFill>
                <a:schemeClr val="tx2"/>
              </a:solidFill>
              <a:latin typeface="+mn-lt"/>
              <a:ea typeface="+mn-ea"/>
              <a:cs typeface="+mn-cs"/>
            </a:endParaRPr>
          </a:p>
        </p:txBody>
      </p:sp>
      <p:sp>
        <p:nvSpPr>
          <p:cNvPr id="48" name="TextBox 47">
            <a:extLst>
              <a:ext uri="{FF2B5EF4-FFF2-40B4-BE49-F238E27FC236}">
                <a16:creationId xmlns:a16="http://schemas.microsoft.com/office/drawing/2014/main" id="{265E313F-9DEA-0C24-93CD-05B071828FA9}"/>
              </a:ext>
            </a:extLst>
          </p:cNvPr>
          <p:cNvSpPr txBox="1"/>
          <p:nvPr/>
        </p:nvSpPr>
        <p:spPr>
          <a:xfrm>
            <a:off x="4816192" y="3956572"/>
            <a:ext cx="528853" cy="2769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000" dirty="0">
                <a:solidFill>
                  <a:schemeClr val="tx2"/>
                </a:solidFill>
                <a:latin typeface="+mn-lt"/>
                <a:ea typeface="+mn-ea"/>
              </a:rPr>
              <a:t>Telnet</a:t>
            </a:r>
            <a:br>
              <a:rPr lang="en-US" sz="1000" dirty="0">
                <a:solidFill>
                  <a:schemeClr val="tx2"/>
                </a:solidFill>
                <a:latin typeface="+mn-lt"/>
                <a:ea typeface="+mn-ea"/>
              </a:rPr>
            </a:br>
            <a:r>
              <a:rPr lang="en-US" sz="1000" dirty="0">
                <a:solidFill>
                  <a:schemeClr val="tx2"/>
                </a:solidFill>
                <a:latin typeface="+mn-lt"/>
                <a:ea typeface="+mn-ea"/>
              </a:rPr>
              <a:t>Server</a:t>
            </a:r>
            <a:endParaRPr lang="en-US" sz="1000" kern="1200" dirty="0">
              <a:solidFill>
                <a:schemeClr val="tx2"/>
              </a:solidFill>
              <a:latin typeface="+mn-lt"/>
              <a:ea typeface="+mn-ea"/>
              <a:cs typeface="+mn-cs"/>
            </a:endParaRPr>
          </a:p>
        </p:txBody>
      </p:sp>
      <p:sp>
        <p:nvSpPr>
          <p:cNvPr id="49" name="TextBox 48">
            <a:extLst>
              <a:ext uri="{FF2B5EF4-FFF2-40B4-BE49-F238E27FC236}">
                <a16:creationId xmlns:a16="http://schemas.microsoft.com/office/drawing/2014/main" id="{443D375F-2EFB-B0DA-A8F7-F2D2DF0090C6}"/>
              </a:ext>
            </a:extLst>
          </p:cNvPr>
          <p:cNvSpPr txBox="1"/>
          <p:nvPr/>
        </p:nvSpPr>
        <p:spPr>
          <a:xfrm>
            <a:off x="5385804" y="3969452"/>
            <a:ext cx="528853" cy="2769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000" dirty="0">
                <a:solidFill>
                  <a:schemeClr val="tx2"/>
                </a:solidFill>
                <a:latin typeface="+mn-lt"/>
                <a:ea typeface="+mn-ea"/>
              </a:rPr>
              <a:t>Text</a:t>
            </a:r>
            <a:br>
              <a:rPr lang="en-US" sz="1000" dirty="0">
                <a:solidFill>
                  <a:schemeClr val="tx2"/>
                </a:solidFill>
                <a:latin typeface="+mn-lt"/>
                <a:ea typeface="+mn-ea"/>
              </a:rPr>
            </a:br>
            <a:r>
              <a:rPr lang="en-US" sz="1000" dirty="0">
                <a:solidFill>
                  <a:schemeClr val="tx2"/>
                </a:solidFill>
                <a:latin typeface="+mn-lt"/>
                <a:ea typeface="+mn-ea"/>
              </a:rPr>
              <a:t>File</a:t>
            </a:r>
            <a:endParaRPr lang="en-US" sz="1000" kern="1200" dirty="0">
              <a:solidFill>
                <a:schemeClr val="tx2"/>
              </a:solidFill>
              <a:latin typeface="+mn-lt"/>
              <a:ea typeface="+mn-ea"/>
              <a:cs typeface="+mn-cs"/>
            </a:endParaRPr>
          </a:p>
        </p:txBody>
      </p:sp>
      <p:pic>
        <p:nvPicPr>
          <p:cNvPr id="50" name="Picture 49">
            <a:extLst>
              <a:ext uri="{FF2B5EF4-FFF2-40B4-BE49-F238E27FC236}">
                <a16:creationId xmlns:a16="http://schemas.microsoft.com/office/drawing/2014/main" id="{A83D6594-9E8A-B2EE-856C-85EC45128B17}"/>
              </a:ext>
            </a:extLst>
          </p:cNvPr>
          <p:cNvPicPr>
            <a:picLocks noChangeAspect="1"/>
          </p:cNvPicPr>
          <p:nvPr/>
        </p:nvPicPr>
        <p:blipFill>
          <a:blip r:embed="rId7"/>
          <a:stretch>
            <a:fillRect/>
          </a:stretch>
        </p:blipFill>
        <p:spPr>
          <a:xfrm>
            <a:off x="4890057" y="3504177"/>
            <a:ext cx="963068" cy="424480"/>
          </a:xfrm>
          <a:prstGeom prst="rect">
            <a:avLst/>
          </a:prstGeom>
        </p:spPr>
      </p:pic>
      <p:sp>
        <p:nvSpPr>
          <p:cNvPr id="51" name="TextBox 50">
            <a:extLst>
              <a:ext uri="{FF2B5EF4-FFF2-40B4-BE49-F238E27FC236}">
                <a16:creationId xmlns:a16="http://schemas.microsoft.com/office/drawing/2014/main" id="{AF7413B1-040C-5F4D-CA0A-207437C28433}"/>
              </a:ext>
            </a:extLst>
          </p:cNvPr>
          <p:cNvSpPr txBox="1"/>
          <p:nvPr/>
        </p:nvSpPr>
        <p:spPr>
          <a:xfrm>
            <a:off x="3110524" y="2272227"/>
            <a:ext cx="315352"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b="1" kern="1200" dirty="0">
                <a:solidFill>
                  <a:schemeClr val="bg2">
                    <a:lumMod val="90000"/>
                  </a:schemeClr>
                </a:solidFill>
                <a:latin typeface="+mn-lt"/>
                <a:ea typeface="+mn-ea"/>
                <a:cs typeface="+mn-cs"/>
              </a:rPr>
              <a:t>…</a:t>
            </a:r>
          </a:p>
        </p:txBody>
      </p:sp>
      <p:sp>
        <p:nvSpPr>
          <p:cNvPr id="52" name="TextBox 51">
            <a:extLst>
              <a:ext uri="{FF2B5EF4-FFF2-40B4-BE49-F238E27FC236}">
                <a16:creationId xmlns:a16="http://schemas.microsoft.com/office/drawing/2014/main" id="{E9CD959D-5B36-6225-71C9-2038219BBEFD}"/>
              </a:ext>
            </a:extLst>
          </p:cNvPr>
          <p:cNvSpPr txBox="1"/>
          <p:nvPr/>
        </p:nvSpPr>
        <p:spPr>
          <a:xfrm>
            <a:off x="3116874" y="3739005"/>
            <a:ext cx="315352"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b="1" kern="1200" dirty="0">
                <a:solidFill>
                  <a:schemeClr val="bg2">
                    <a:lumMod val="90000"/>
                  </a:schemeClr>
                </a:solidFill>
                <a:latin typeface="+mn-lt"/>
                <a:ea typeface="+mn-ea"/>
                <a:cs typeface="+mn-cs"/>
              </a:rPr>
              <a:t>…</a:t>
            </a:r>
          </a:p>
        </p:txBody>
      </p:sp>
      <p:sp>
        <p:nvSpPr>
          <p:cNvPr id="57" name="TextBox 56">
            <a:extLst>
              <a:ext uri="{FF2B5EF4-FFF2-40B4-BE49-F238E27FC236}">
                <a16:creationId xmlns:a16="http://schemas.microsoft.com/office/drawing/2014/main" id="{1C656E70-ECF0-3A22-B5A8-FF6D229094E0}"/>
              </a:ext>
            </a:extLst>
          </p:cNvPr>
          <p:cNvSpPr txBox="1"/>
          <p:nvPr/>
        </p:nvSpPr>
        <p:spPr>
          <a:xfrm>
            <a:off x="6640461" y="1540051"/>
            <a:ext cx="5285539" cy="1938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400" kern="1200" dirty="0">
                <a:solidFill>
                  <a:schemeClr val="tx2"/>
                </a:solidFill>
                <a:latin typeface="+mn-lt"/>
                <a:ea typeface="+mn-ea"/>
                <a:cs typeface="+mn-cs"/>
              </a:rPr>
              <a:t>Manage Solution Settings</a:t>
            </a:r>
          </a:p>
        </p:txBody>
      </p:sp>
      <p:pic>
        <p:nvPicPr>
          <p:cNvPr id="11" name="Picture 10">
            <a:extLst>
              <a:ext uri="{FF2B5EF4-FFF2-40B4-BE49-F238E27FC236}">
                <a16:creationId xmlns:a16="http://schemas.microsoft.com/office/drawing/2014/main" id="{B10F3702-6082-34B5-68F0-18C36DCC3691}"/>
              </a:ext>
            </a:extLst>
          </p:cNvPr>
          <p:cNvPicPr>
            <a:picLocks noChangeAspect="1"/>
          </p:cNvPicPr>
          <p:nvPr/>
        </p:nvPicPr>
        <p:blipFill>
          <a:blip r:embed="rId8"/>
          <a:stretch>
            <a:fillRect/>
          </a:stretch>
        </p:blipFill>
        <p:spPr>
          <a:xfrm>
            <a:off x="6655612" y="1906882"/>
            <a:ext cx="5268300" cy="2786432"/>
          </a:xfrm>
          <a:prstGeom prst="rect">
            <a:avLst/>
          </a:prstGeom>
          <a:effectLst>
            <a:glow rad="63500">
              <a:schemeClr val="accent2">
                <a:satMod val="175000"/>
                <a:alpha val="40000"/>
              </a:schemeClr>
            </a:glow>
          </a:effectLst>
        </p:spPr>
      </p:pic>
    </p:spTree>
    <p:extLst>
      <p:ext uri="{BB962C8B-B14F-4D97-AF65-F5344CB8AC3E}">
        <p14:creationId xmlns:p14="http://schemas.microsoft.com/office/powerpoint/2010/main" val="23524150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47C4A-DE2C-BDC0-122D-09BFE31B445A}"/>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9FA90838-E9F6-E2EE-134E-258407EF61E8}"/>
              </a:ext>
            </a:extLst>
          </p:cNvPr>
          <p:cNvSpPr/>
          <p:nvPr/>
        </p:nvSpPr>
        <p:spPr>
          <a:xfrm>
            <a:off x="385011" y="1203159"/>
            <a:ext cx="5926888" cy="1505665"/>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dirty="0"/>
              <a:t>Target System</a:t>
            </a:r>
          </a:p>
        </p:txBody>
      </p:sp>
      <p:sp>
        <p:nvSpPr>
          <p:cNvPr id="6" name="Rectangle 5">
            <a:extLst>
              <a:ext uri="{FF2B5EF4-FFF2-40B4-BE49-F238E27FC236}">
                <a16:creationId xmlns:a16="http://schemas.microsoft.com/office/drawing/2014/main" id="{12A64B3E-A71A-34A6-977F-82177C0ED03B}"/>
              </a:ext>
            </a:extLst>
          </p:cNvPr>
          <p:cNvSpPr/>
          <p:nvPr/>
        </p:nvSpPr>
        <p:spPr>
          <a:xfrm>
            <a:off x="515640" y="1619249"/>
            <a:ext cx="2633197" cy="100019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b="1" dirty="0">
                <a:solidFill>
                  <a:schemeClr val="tx1"/>
                </a:solidFill>
              </a:rPr>
              <a:t>Processor #1</a:t>
            </a:r>
          </a:p>
        </p:txBody>
      </p:sp>
      <p:sp>
        <p:nvSpPr>
          <p:cNvPr id="2" name="Title 1">
            <a:extLst>
              <a:ext uri="{FF2B5EF4-FFF2-40B4-BE49-F238E27FC236}">
                <a16:creationId xmlns:a16="http://schemas.microsoft.com/office/drawing/2014/main" id="{6E8D7044-9CF8-57EF-583E-A1AF67A6FFE6}"/>
              </a:ext>
            </a:extLst>
          </p:cNvPr>
          <p:cNvSpPr>
            <a:spLocks noGrp="1"/>
          </p:cNvSpPr>
          <p:nvPr>
            <p:ph type="title"/>
          </p:nvPr>
        </p:nvSpPr>
        <p:spPr/>
        <p:txBody>
          <a:bodyPr/>
          <a:lstStyle/>
          <a:p>
            <a:r>
              <a:rPr lang="en-US" dirty="0"/>
              <a:t>RTT: Real-Time Transfer for I/O and system monitoring</a:t>
            </a:r>
          </a:p>
        </p:txBody>
      </p:sp>
      <p:sp>
        <p:nvSpPr>
          <p:cNvPr id="4" name="Rectangle 3">
            <a:extLst>
              <a:ext uri="{FF2B5EF4-FFF2-40B4-BE49-F238E27FC236}">
                <a16:creationId xmlns:a16="http://schemas.microsoft.com/office/drawing/2014/main" id="{982BC8B5-BC05-C51D-BEEE-27AAF6343CD7}"/>
              </a:ext>
            </a:extLst>
          </p:cNvPr>
          <p:cNvSpPr/>
          <p:nvPr/>
        </p:nvSpPr>
        <p:spPr>
          <a:xfrm>
            <a:off x="596041" y="1916285"/>
            <a:ext cx="1189407" cy="538157"/>
          </a:xfrm>
          <a:prstGeom prst="rect">
            <a:avLst/>
          </a:prstGeom>
          <a:solidFill>
            <a:srgbClr val="7233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RTT channel #0</a:t>
            </a:r>
            <a:br>
              <a:rPr lang="en-US" sz="1100" dirty="0"/>
            </a:br>
            <a:r>
              <a:rPr lang="en-US" sz="1100" dirty="0"/>
              <a:t>Serial I/O</a:t>
            </a:r>
          </a:p>
        </p:txBody>
      </p:sp>
      <p:sp>
        <p:nvSpPr>
          <p:cNvPr id="5" name="Rectangle 4">
            <a:extLst>
              <a:ext uri="{FF2B5EF4-FFF2-40B4-BE49-F238E27FC236}">
                <a16:creationId xmlns:a16="http://schemas.microsoft.com/office/drawing/2014/main" id="{448F447F-66F4-1CD6-846A-6185951C2CAD}"/>
              </a:ext>
            </a:extLst>
          </p:cNvPr>
          <p:cNvSpPr/>
          <p:nvPr/>
        </p:nvSpPr>
        <p:spPr>
          <a:xfrm>
            <a:off x="1874826" y="1916285"/>
            <a:ext cx="1189407" cy="538157"/>
          </a:xfrm>
          <a:prstGeom prst="rect">
            <a:avLst/>
          </a:prstGeom>
          <a:solidFill>
            <a:srgbClr val="7233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RTT channel #1</a:t>
            </a:r>
            <a:br>
              <a:rPr lang="en-US" sz="1050" dirty="0"/>
            </a:br>
            <a:r>
              <a:rPr lang="en-US" sz="1050" dirty="0"/>
              <a:t>SDSIO Interface</a:t>
            </a:r>
          </a:p>
        </p:txBody>
      </p:sp>
      <p:sp>
        <p:nvSpPr>
          <p:cNvPr id="7" name="Rectangle 6">
            <a:extLst>
              <a:ext uri="{FF2B5EF4-FFF2-40B4-BE49-F238E27FC236}">
                <a16:creationId xmlns:a16="http://schemas.microsoft.com/office/drawing/2014/main" id="{A3E195E9-9824-0DD7-11E5-342ACA143EA8}"/>
              </a:ext>
            </a:extLst>
          </p:cNvPr>
          <p:cNvSpPr/>
          <p:nvPr/>
        </p:nvSpPr>
        <p:spPr>
          <a:xfrm>
            <a:off x="3464188" y="1619249"/>
            <a:ext cx="2633197" cy="100134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b="1" dirty="0">
                <a:solidFill>
                  <a:schemeClr val="tx1"/>
                </a:solidFill>
              </a:rPr>
              <a:t>Processor #n</a:t>
            </a:r>
          </a:p>
        </p:txBody>
      </p:sp>
      <p:sp>
        <p:nvSpPr>
          <p:cNvPr id="8" name="Rectangle 7">
            <a:extLst>
              <a:ext uri="{FF2B5EF4-FFF2-40B4-BE49-F238E27FC236}">
                <a16:creationId xmlns:a16="http://schemas.microsoft.com/office/drawing/2014/main" id="{60803FF8-6F42-FB53-0C03-5D276EE3B9D1}"/>
              </a:ext>
            </a:extLst>
          </p:cNvPr>
          <p:cNvSpPr/>
          <p:nvPr/>
        </p:nvSpPr>
        <p:spPr>
          <a:xfrm>
            <a:off x="3544589" y="1917431"/>
            <a:ext cx="1189407" cy="538157"/>
          </a:xfrm>
          <a:prstGeom prst="rect">
            <a:avLst/>
          </a:prstGeom>
          <a:solidFill>
            <a:srgbClr val="7233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RTT channel #0</a:t>
            </a:r>
            <a:br>
              <a:rPr lang="en-US" sz="1100" dirty="0"/>
            </a:br>
            <a:r>
              <a:rPr lang="en-US" sz="1100" dirty="0"/>
              <a:t>Serial I/O</a:t>
            </a:r>
          </a:p>
        </p:txBody>
      </p:sp>
      <p:sp>
        <p:nvSpPr>
          <p:cNvPr id="9" name="Rectangle 8">
            <a:extLst>
              <a:ext uri="{FF2B5EF4-FFF2-40B4-BE49-F238E27FC236}">
                <a16:creationId xmlns:a16="http://schemas.microsoft.com/office/drawing/2014/main" id="{5515D7B6-F498-6EDD-2640-7B5A400D7DC3}"/>
              </a:ext>
            </a:extLst>
          </p:cNvPr>
          <p:cNvSpPr/>
          <p:nvPr/>
        </p:nvSpPr>
        <p:spPr>
          <a:xfrm>
            <a:off x="4823374" y="1917431"/>
            <a:ext cx="1189407" cy="538157"/>
          </a:xfrm>
          <a:prstGeom prst="rect">
            <a:avLst/>
          </a:prstGeom>
          <a:solidFill>
            <a:srgbClr val="7233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RTT channel #1</a:t>
            </a:r>
            <a:br>
              <a:rPr lang="en-US" sz="1100" dirty="0"/>
            </a:br>
            <a:r>
              <a:rPr lang="en-US" sz="1100" dirty="0" err="1"/>
              <a:t>SystemView</a:t>
            </a:r>
            <a:endParaRPr lang="en-US" sz="1100" dirty="0"/>
          </a:p>
        </p:txBody>
      </p:sp>
      <p:sp>
        <p:nvSpPr>
          <p:cNvPr id="51" name="TextBox 50">
            <a:extLst>
              <a:ext uri="{FF2B5EF4-FFF2-40B4-BE49-F238E27FC236}">
                <a16:creationId xmlns:a16="http://schemas.microsoft.com/office/drawing/2014/main" id="{E964D6AF-0035-68B7-D1F2-8E4D9CC75EF0}"/>
              </a:ext>
            </a:extLst>
          </p:cNvPr>
          <p:cNvSpPr txBox="1"/>
          <p:nvPr/>
        </p:nvSpPr>
        <p:spPr>
          <a:xfrm>
            <a:off x="3172399" y="1935335"/>
            <a:ext cx="315352"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b="1" kern="1200" dirty="0">
                <a:solidFill>
                  <a:schemeClr val="bg2">
                    <a:lumMod val="90000"/>
                  </a:schemeClr>
                </a:solidFill>
                <a:latin typeface="+mn-lt"/>
                <a:ea typeface="+mn-ea"/>
                <a:cs typeface="+mn-cs"/>
              </a:rPr>
              <a:t>…</a:t>
            </a:r>
          </a:p>
        </p:txBody>
      </p:sp>
      <p:sp>
        <p:nvSpPr>
          <p:cNvPr id="3" name="TextBox 2">
            <a:extLst>
              <a:ext uri="{FF2B5EF4-FFF2-40B4-BE49-F238E27FC236}">
                <a16:creationId xmlns:a16="http://schemas.microsoft.com/office/drawing/2014/main" id="{C4FE64C5-F8ED-FA0B-E65F-745F993E89DC}"/>
              </a:ext>
            </a:extLst>
          </p:cNvPr>
          <p:cNvSpPr txBox="1"/>
          <p:nvPr/>
        </p:nvSpPr>
        <p:spPr>
          <a:xfrm>
            <a:off x="6666234" y="3429000"/>
            <a:ext cx="5285539"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kern="1200" dirty="0">
                <a:solidFill>
                  <a:schemeClr val="tx2"/>
                </a:solidFill>
                <a:latin typeface="+mn-lt"/>
                <a:ea typeface="+mn-ea"/>
                <a:cs typeface="+mn-cs"/>
              </a:rPr>
              <a:t>YML setup example</a:t>
            </a:r>
          </a:p>
        </p:txBody>
      </p:sp>
      <p:sp>
        <p:nvSpPr>
          <p:cNvPr id="11" name="TextBox 10">
            <a:extLst>
              <a:ext uri="{FF2B5EF4-FFF2-40B4-BE49-F238E27FC236}">
                <a16:creationId xmlns:a16="http://schemas.microsoft.com/office/drawing/2014/main" id="{9835F72E-3DED-4555-A2C3-DFC4C15A1D3C}"/>
              </a:ext>
            </a:extLst>
          </p:cNvPr>
          <p:cNvSpPr txBox="1"/>
          <p:nvPr/>
        </p:nvSpPr>
        <p:spPr>
          <a:xfrm>
            <a:off x="421463" y="3138151"/>
            <a:ext cx="5285539"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kern="1200" dirty="0">
                <a:solidFill>
                  <a:schemeClr val="tx2"/>
                </a:solidFill>
                <a:latin typeface="+mn-lt"/>
                <a:ea typeface="+mn-ea"/>
                <a:cs typeface="+mn-cs"/>
              </a:rPr>
              <a:t>Modes:</a:t>
            </a:r>
          </a:p>
        </p:txBody>
      </p:sp>
      <p:sp>
        <p:nvSpPr>
          <p:cNvPr id="12" name="TextBox 11">
            <a:extLst>
              <a:ext uri="{FF2B5EF4-FFF2-40B4-BE49-F238E27FC236}">
                <a16:creationId xmlns:a16="http://schemas.microsoft.com/office/drawing/2014/main" id="{E99EDAE1-6E71-986A-9BCB-D8E0A3CF69D4}"/>
              </a:ext>
            </a:extLst>
          </p:cNvPr>
          <p:cNvSpPr txBox="1"/>
          <p:nvPr/>
        </p:nvSpPr>
        <p:spPr>
          <a:xfrm>
            <a:off x="6666234" y="1203159"/>
            <a:ext cx="5285539"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kern="1200" dirty="0">
                <a:solidFill>
                  <a:schemeClr val="tx2"/>
                </a:solidFill>
                <a:latin typeface="+mn-lt"/>
                <a:ea typeface="+mn-ea"/>
                <a:cs typeface="+mn-cs"/>
              </a:rPr>
              <a:t>Setup</a:t>
            </a:r>
          </a:p>
        </p:txBody>
      </p:sp>
    </p:spTree>
    <p:extLst>
      <p:ext uri="{BB962C8B-B14F-4D97-AF65-F5344CB8AC3E}">
        <p14:creationId xmlns:p14="http://schemas.microsoft.com/office/powerpoint/2010/main" val="41317063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FA342-9034-7D79-7CF2-5C9FAB4DC951}"/>
            </a:ext>
          </a:extLst>
        </p:cNvPr>
        <p:cNvGrpSpPr/>
        <p:nvPr/>
      </p:nvGrpSpPr>
      <p:grpSpPr>
        <a:xfrm>
          <a:off x="0" y="0"/>
          <a:ext cx="0" cy="0"/>
          <a:chOff x="0" y="0"/>
          <a:chExt cx="0" cy="0"/>
        </a:xfrm>
      </p:grpSpPr>
      <p:sp>
        <p:nvSpPr>
          <p:cNvPr id="5" name="Flowchart: Multidocument 4">
            <a:extLst>
              <a:ext uri="{FF2B5EF4-FFF2-40B4-BE49-F238E27FC236}">
                <a16:creationId xmlns:a16="http://schemas.microsoft.com/office/drawing/2014/main" id="{81C4D9C3-56BE-7C4D-5D26-ADEEB77C9288}"/>
              </a:ext>
            </a:extLst>
          </p:cNvPr>
          <p:cNvSpPr/>
          <p:nvPr/>
        </p:nvSpPr>
        <p:spPr>
          <a:xfrm>
            <a:off x="1730244" y="2978335"/>
            <a:ext cx="1616706" cy="1160511"/>
          </a:xfrm>
          <a:prstGeom prst="flowChartMultidocument">
            <a:avLst/>
          </a:prstGeom>
          <a:solidFill>
            <a:schemeClr val="tx2">
              <a:lumMod val="10000"/>
              <a:lumOff val="90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300" b="1" i="0" u="none" strike="noStrike" kern="1200" cap="none" spc="0" normalizeH="0" baseline="0" noProof="0" dirty="0">
                <a:ln>
                  <a:noFill/>
                </a:ln>
                <a:solidFill>
                  <a:srgbClr val="E5ECEB">
                    <a:lumMod val="25000"/>
                  </a:srgbClr>
                </a:solidFill>
                <a:effectLst/>
                <a:uLnTx/>
                <a:uFillTx/>
                <a:latin typeface="Calibri"/>
                <a:ea typeface="+mn-ea"/>
                <a:cs typeface="+mn-cs"/>
              </a:rPr>
              <a:t>CMSIS projects</a:t>
            </a:r>
            <a:br>
              <a:rPr kumimoji="0" lang="en-US" sz="1300" b="1" i="0" u="none" strike="noStrike" kern="1200" cap="none" spc="0" normalizeH="0" baseline="0" noProof="0" dirty="0">
                <a:ln>
                  <a:noFill/>
                </a:ln>
                <a:solidFill>
                  <a:srgbClr val="E5ECEB">
                    <a:lumMod val="25000"/>
                  </a:srgbClr>
                </a:solidFill>
                <a:effectLst/>
                <a:uLnTx/>
                <a:uFillTx/>
                <a:latin typeface="Calibri"/>
                <a:ea typeface="+mn-ea"/>
                <a:cs typeface="+mn-cs"/>
              </a:rPr>
            </a:br>
            <a:r>
              <a:rPr kumimoji="0" lang="en-US" sz="1300" b="1" i="0" u="none" strike="noStrike" kern="1200" cap="none" spc="0" normalizeH="0" baseline="0" noProof="0" dirty="0">
                <a:ln>
                  <a:noFill/>
                </a:ln>
                <a:solidFill>
                  <a:srgbClr val="E5ECEB">
                    <a:lumMod val="25000"/>
                  </a:srgbClr>
                </a:solidFill>
                <a:effectLst/>
                <a:uLnTx/>
                <a:uFillTx/>
                <a:latin typeface="Calibri"/>
                <a:ea typeface="+mn-ea"/>
                <a:cs typeface="+mn-cs"/>
              </a:rPr>
              <a:t>or West builds</a:t>
            </a:r>
            <a:br>
              <a:rPr kumimoji="0" lang="en-US" sz="2400" b="0" i="0" u="none" strike="noStrike" kern="1200" cap="none" spc="0" normalizeH="0" baseline="0" noProof="0" dirty="0">
                <a:ln>
                  <a:noFill/>
                </a:ln>
                <a:solidFill>
                  <a:srgbClr val="E5ECEB">
                    <a:lumMod val="25000"/>
                  </a:srgbClr>
                </a:solidFill>
                <a:effectLst/>
                <a:uLnTx/>
                <a:uFillTx/>
                <a:latin typeface="Calibri"/>
                <a:ea typeface="+mn-ea"/>
                <a:cs typeface="+mn-cs"/>
              </a:rPr>
            </a:br>
            <a:r>
              <a:rPr lang="en-US" sz="1100" dirty="0">
                <a:solidFill>
                  <a:srgbClr val="E5ECEB">
                    <a:lumMod val="25000"/>
                  </a:srgbClr>
                </a:solidFill>
                <a:latin typeface="Calibri"/>
              </a:rPr>
              <a:t>G</a:t>
            </a:r>
            <a:r>
              <a:rPr kumimoji="0" lang="en-US" sz="1100" b="0" i="0" u="none" strike="noStrike" kern="1200" cap="none" spc="0" normalizeH="0" baseline="0" noProof="0" dirty="0" err="1">
                <a:ln>
                  <a:noFill/>
                </a:ln>
                <a:solidFill>
                  <a:srgbClr val="E5ECEB">
                    <a:lumMod val="25000"/>
                  </a:srgbClr>
                </a:solidFill>
                <a:effectLst/>
                <a:uLnTx/>
                <a:uFillTx/>
                <a:latin typeface="Calibri"/>
                <a:ea typeface="+mn-ea"/>
                <a:cs typeface="+mn-cs"/>
              </a:rPr>
              <a:t>enerate</a:t>
            </a: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 m</a:t>
            </a:r>
            <a:r>
              <a:rPr lang="en-US" sz="1100" dirty="0" err="1">
                <a:solidFill>
                  <a:srgbClr val="E5ECEB">
                    <a:lumMod val="25000"/>
                  </a:srgbClr>
                </a:solidFill>
                <a:latin typeface="Calibri"/>
              </a:rPr>
              <a:t>uliple</a:t>
            </a:r>
            <a:r>
              <a:rPr lang="en-US" sz="1100" dirty="0">
                <a:solidFill>
                  <a:srgbClr val="E5ECEB">
                    <a:lumMod val="25000"/>
                  </a:srgbClr>
                </a:solidFill>
                <a:latin typeface="Calibri"/>
              </a:rPr>
              <a:t> a</a:t>
            </a:r>
            <a:r>
              <a:rPr kumimoji="0" lang="en-US" sz="1100" b="0" i="0" u="none" strike="noStrike" kern="1200" cap="none" spc="0" normalizeH="0" baseline="0" noProof="0" dirty="0" err="1">
                <a:ln>
                  <a:noFill/>
                </a:ln>
                <a:solidFill>
                  <a:srgbClr val="E5ECEB">
                    <a:lumMod val="25000"/>
                  </a:srgbClr>
                </a:solidFill>
                <a:effectLst/>
                <a:uLnTx/>
                <a:uFillTx/>
                <a:latin typeface="Calibri"/>
                <a:ea typeface="+mn-ea"/>
                <a:cs typeface="+mn-cs"/>
              </a:rPr>
              <a:t>pplication</a:t>
            </a: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 Images</a:t>
            </a:r>
            <a:endParaRPr kumimoji="0" lang="en-GB" sz="1100" b="0" i="0" u="none" strike="noStrike" kern="1200" cap="none" spc="0" normalizeH="0" baseline="0" noProof="0" dirty="0">
              <a:ln>
                <a:noFill/>
              </a:ln>
              <a:solidFill>
                <a:srgbClr val="E5ECEB">
                  <a:lumMod val="25000"/>
                </a:srgbClr>
              </a:solidFill>
              <a:effectLst/>
              <a:uLnTx/>
              <a:uFillTx/>
              <a:latin typeface="Calibri"/>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AD26DE65-6D2B-D58A-76E1-9D34E413387C}"/>
              </a:ext>
            </a:extLst>
          </p:cNvPr>
          <p:cNvSpPr/>
          <p:nvPr/>
        </p:nvSpPr>
        <p:spPr>
          <a:xfrm>
            <a:off x="3662514" y="1520737"/>
            <a:ext cx="1917975" cy="16807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t>Device Family Pack</a:t>
            </a:r>
          </a:p>
        </p:txBody>
      </p:sp>
      <p:sp>
        <p:nvSpPr>
          <p:cNvPr id="21" name="Rectangle 20">
            <a:extLst>
              <a:ext uri="{FF2B5EF4-FFF2-40B4-BE49-F238E27FC236}">
                <a16:creationId xmlns:a16="http://schemas.microsoft.com/office/drawing/2014/main" id="{8F881B82-D4B9-F980-5D98-C83A28E2FCBE}"/>
              </a:ext>
            </a:extLst>
          </p:cNvPr>
          <p:cNvSpPr/>
          <p:nvPr/>
        </p:nvSpPr>
        <p:spPr>
          <a:xfrm>
            <a:off x="3653014" y="3349444"/>
            <a:ext cx="1927475" cy="1008488"/>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b="1" i="0" u="none" strike="noStrike" kern="1200" cap="none" spc="0" normalizeH="0" baseline="0" noProof="0">
                <a:ln>
                  <a:noFill/>
                </a:ln>
                <a:solidFill>
                  <a:schemeClr val="bg1"/>
                </a:solidFill>
                <a:effectLst/>
                <a:uLnTx/>
                <a:uFillTx/>
                <a:latin typeface="Calibri"/>
                <a:ea typeface="+mn-ea"/>
                <a:cs typeface="+mn-cs"/>
              </a:rPr>
              <a:t>CMSIS-Toolbox</a:t>
            </a:r>
          </a:p>
          <a:p>
            <a:pPr marL="0" marR="0" lvl="0" indent="0" algn="ctr" defTabSz="914400" rtl="0" eaLnBrk="0" fontAlgn="base" latinLnBrk="0" hangingPunct="0">
              <a:lnSpc>
                <a:spcPct val="100000"/>
              </a:lnSpc>
              <a:spcBef>
                <a:spcPct val="0"/>
              </a:spcBef>
              <a:spcAft>
                <a:spcPct val="0"/>
              </a:spcAft>
              <a:buClrTx/>
              <a:buSzTx/>
              <a:buFontTx/>
              <a:buNone/>
              <a:tabLst/>
              <a:defRPr/>
            </a:pPr>
            <a:r>
              <a:rPr lang="en-US" sz="1100" err="1">
                <a:solidFill>
                  <a:schemeClr val="bg1"/>
                </a:solidFill>
                <a:latin typeface="Calibri"/>
              </a:rPr>
              <a:t>cbuild</a:t>
            </a:r>
            <a:r>
              <a:rPr lang="en-US" sz="1100">
                <a:solidFill>
                  <a:schemeClr val="bg1"/>
                </a:solidFill>
                <a:latin typeface="Calibri"/>
              </a:rPr>
              <a:t>: Build Invocation</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chemeClr val="bg1"/>
              </a:solidFill>
              <a:effectLst/>
              <a:uLnTx/>
              <a:uFillTx/>
              <a:latin typeface="Calibri"/>
              <a:ea typeface="+mn-ea"/>
              <a:cs typeface="+mn-cs"/>
            </a:endParaRPr>
          </a:p>
          <a:p>
            <a:pPr algn="ctr" eaLnBrk="0" fontAlgn="base" hangingPunct="0">
              <a:spcBef>
                <a:spcPct val="0"/>
              </a:spcBef>
              <a:spcAft>
                <a:spcPct val="0"/>
              </a:spcAft>
              <a:defRPr/>
            </a:pPr>
            <a:r>
              <a:rPr kumimoji="0" lang="en-US" sz="1100" i="0" u="none" strike="noStrike" kern="1200" cap="none" spc="0" normalizeH="0" baseline="0" noProof="0" err="1">
                <a:ln>
                  <a:noFill/>
                </a:ln>
                <a:solidFill>
                  <a:schemeClr val="bg1"/>
                </a:solidFill>
                <a:effectLst/>
                <a:uLnTx/>
                <a:uFillTx/>
                <a:latin typeface="Calibri"/>
                <a:ea typeface="ＭＳ Ｐゴシック" panose="020B0600070205080204" pitchFamily="34" charset="-128"/>
                <a:cs typeface="+mn-cs"/>
              </a:rPr>
              <a:t>VSCode</a:t>
            </a:r>
            <a:r>
              <a:rPr kumimoji="0" lang="en-US" sz="1100" i="0" u="none" strike="noStrike" kern="1200" cap="none" spc="0" normalizeH="0" baseline="0" noProof="0">
                <a:ln>
                  <a:noFill/>
                </a:ln>
                <a:solidFill>
                  <a:schemeClr val="bg1"/>
                </a:solidFill>
                <a:effectLst/>
                <a:uLnTx/>
                <a:uFillTx/>
                <a:latin typeface="Calibri"/>
                <a:ea typeface="ＭＳ Ｐゴシック" panose="020B0600070205080204" pitchFamily="34" charset="-128"/>
                <a:cs typeface="+mn-cs"/>
              </a:rPr>
              <a:t> Extension</a:t>
            </a:r>
          </a:p>
          <a:p>
            <a:pPr algn="ctr" eaLnBrk="0" fontAlgn="base" hangingPunct="0">
              <a:spcBef>
                <a:spcPct val="0"/>
              </a:spcBef>
              <a:spcAft>
                <a:spcPct val="0"/>
              </a:spcAft>
              <a:defRPr/>
            </a:pPr>
            <a:r>
              <a:rPr kumimoji="0" lang="en-US" sz="1100" i="0" u="none" strike="noStrike" kern="1200" cap="none" spc="0" normalizeH="0" baseline="0" noProof="0">
                <a:ln>
                  <a:noFill/>
                </a:ln>
                <a:solidFill>
                  <a:schemeClr val="bg1"/>
                </a:solidFill>
                <a:effectLst/>
                <a:uLnTx/>
                <a:uFillTx/>
                <a:latin typeface="Calibri"/>
                <a:ea typeface="ＭＳ Ｐゴシック" panose="020B0600070205080204" pitchFamily="34" charset="-128"/>
                <a:cs typeface="+mn-cs"/>
              </a:rPr>
              <a:t>CMSIS-Solution</a:t>
            </a:r>
            <a:endParaRPr kumimoji="0" lang="en-GB" sz="1100" b="0" i="0" u="none" strike="noStrike" kern="1200" cap="none" spc="0" normalizeH="0" baseline="0" noProof="0">
              <a:ln>
                <a:noFill/>
              </a:ln>
              <a:solidFill>
                <a:schemeClr val="bg1"/>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477CEDA8-ECAB-A694-7BC0-8B6EB3F72DB6}"/>
              </a:ext>
            </a:extLst>
          </p:cNvPr>
          <p:cNvSpPr/>
          <p:nvPr/>
        </p:nvSpPr>
        <p:spPr>
          <a:xfrm>
            <a:off x="1594592" y="1520737"/>
            <a:ext cx="1851371" cy="2828298"/>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lang="en-US" sz="1400" dirty="0" err="1">
                <a:solidFill>
                  <a:schemeClr val="tx2"/>
                </a:solidFill>
                <a:latin typeface="Calibri"/>
                <a:ea typeface="ＭＳ Ｐゴシック" panose="020B0600070205080204" pitchFamily="34" charset="-128"/>
              </a:rPr>
              <a:t>csolution</a:t>
            </a:r>
            <a:r>
              <a:rPr lang="en-US" sz="1400" dirty="0">
                <a:solidFill>
                  <a:schemeClr val="tx2"/>
                </a:solidFill>
                <a:latin typeface="Calibri"/>
                <a:ea typeface="ＭＳ Ｐゴシック" panose="020B0600070205080204" pitchFamily="34" charset="-128"/>
              </a:rPr>
              <a:t> project</a:t>
            </a:r>
            <a:endParaRPr kumimoji="0" lang="en-US" sz="1400" i="0" u="none" strike="noStrike" kern="1200" cap="none" spc="0" normalizeH="0" baseline="0" noProof="0" dirty="0">
              <a:ln>
                <a:noFill/>
              </a:ln>
              <a:solidFill>
                <a:schemeClr val="tx2"/>
              </a:solidFill>
              <a:effectLst/>
              <a:uLnTx/>
              <a:uFillTx/>
              <a:latin typeface="Calibri"/>
              <a:ea typeface="ＭＳ Ｐゴシック" panose="020B0600070205080204" pitchFamily="34" charset="-128"/>
              <a:cs typeface="+mn-cs"/>
            </a:endParaRPr>
          </a:p>
        </p:txBody>
      </p:sp>
      <p:cxnSp>
        <p:nvCxnSpPr>
          <p:cNvPr id="32" name="Straight Arrow Connector 31">
            <a:extLst>
              <a:ext uri="{FF2B5EF4-FFF2-40B4-BE49-F238E27FC236}">
                <a16:creationId xmlns:a16="http://schemas.microsoft.com/office/drawing/2014/main" id="{48A82FE8-1165-234E-2724-77556EFB343E}"/>
              </a:ext>
            </a:extLst>
          </p:cNvPr>
          <p:cNvCxnSpPr>
            <a:cxnSpLocks/>
          </p:cNvCxnSpPr>
          <p:nvPr/>
        </p:nvCxnSpPr>
        <p:spPr>
          <a:xfrm>
            <a:off x="4604845" y="3201480"/>
            <a:ext cx="0" cy="147963"/>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D1FDB9FB-174A-B9F0-57C2-ED2EEB2168A7}"/>
              </a:ext>
            </a:extLst>
          </p:cNvPr>
          <p:cNvCxnSpPr>
            <a:cxnSpLocks/>
          </p:cNvCxnSpPr>
          <p:nvPr/>
        </p:nvCxnSpPr>
        <p:spPr>
          <a:xfrm>
            <a:off x="3444548" y="3843652"/>
            <a:ext cx="208466" cy="0"/>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4" name="Flowchart: Document 13">
            <a:extLst>
              <a:ext uri="{FF2B5EF4-FFF2-40B4-BE49-F238E27FC236}">
                <a16:creationId xmlns:a16="http://schemas.microsoft.com/office/drawing/2014/main" id="{B5F220AC-15A7-B81A-5E77-A4FF69A46E95}"/>
              </a:ext>
            </a:extLst>
          </p:cNvPr>
          <p:cNvSpPr/>
          <p:nvPr/>
        </p:nvSpPr>
        <p:spPr>
          <a:xfrm>
            <a:off x="1710904" y="1883317"/>
            <a:ext cx="1616706" cy="926474"/>
          </a:xfrm>
          <a:prstGeom prst="flowChartDocument">
            <a:avLst/>
          </a:prstGeom>
          <a:solidFill>
            <a:schemeClr val="tx2">
              <a:lumMod val="10000"/>
              <a:lumOff val="9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300" b="1" dirty="0" err="1">
                <a:solidFill>
                  <a:srgbClr val="E5ECEB">
                    <a:lumMod val="25000"/>
                  </a:srgbClr>
                </a:solidFill>
                <a:latin typeface="Calibri"/>
              </a:rPr>
              <a:t>MyApp</a:t>
            </a:r>
            <a:r>
              <a:rPr kumimoji="0" lang="en-US" sz="1300" b="1" i="0" u="none" strike="noStrike" kern="1200" cap="none" spc="0" normalizeH="0" baseline="0" noProof="0" dirty="0">
                <a:ln>
                  <a:noFill/>
                </a:ln>
                <a:solidFill>
                  <a:srgbClr val="E5ECEB">
                    <a:lumMod val="25000"/>
                  </a:srgbClr>
                </a:solidFill>
                <a:effectLst/>
                <a:uLnTx/>
                <a:uFillTx/>
                <a:latin typeface="Calibri"/>
                <a:ea typeface="+mn-ea"/>
                <a:cs typeface="+mn-cs"/>
              </a:rPr>
              <a:t>.</a:t>
            </a:r>
            <a:r>
              <a:rPr kumimoji="0" lang="en-US" sz="1300" b="1" i="0" u="none" strike="noStrike" kern="1200" cap="none" spc="0" normalizeH="0" baseline="0" noProof="0" dirty="0" err="1">
                <a:ln>
                  <a:noFill/>
                </a:ln>
                <a:solidFill>
                  <a:srgbClr val="E5ECEB">
                    <a:lumMod val="25000"/>
                  </a:srgbClr>
                </a:solidFill>
                <a:effectLst/>
                <a:uLnTx/>
                <a:uFillTx/>
                <a:latin typeface="Calibri"/>
                <a:ea typeface="+mn-ea"/>
                <a:cs typeface="+mn-cs"/>
              </a:rPr>
              <a:t>csolution.yml</a:t>
            </a:r>
            <a:br>
              <a:rPr kumimoji="0" lang="en-US" sz="2800" b="1" i="0" u="none" strike="noStrike" kern="1200" cap="none" spc="0" normalizeH="0" baseline="0" noProof="0" dirty="0">
                <a:ln>
                  <a:noFill/>
                </a:ln>
                <a:solidFill>
                  <a:srgbClr val="E5ECEB">
                    <a:lumMod val="25000"/>
                  </a:srgbClr>
                </a:solidFill>
                <a:effectLst/>
                <a:uLnTx/>
                <a:uFillTx/>
                <a:latin typeface="Calibri"/>
                <a:ea typeface="+mn-ea"/>
                <a:cs typeface="+mn-cs"/>
              </a:rPr>
            </a:br>
            <a:r>
              <a:rPr lang="en-US" sz="1100" dirty="0" err="1">
                <a:solidFill>
                  <a:srgbClr val="E5ECEB">
                    <a:lumMod val="25000"/>
                  </a:srgbClr>
                </a:solidFill>
                <a:latin typeface="Calibri"/>
              </a:rPr>
              <a:t>MLOps</a:t>
            </a:r>
            <a:r>
              <a:rPr lang="en-US" sz="1100" dirty="0">
                <a:solidFill>
                  <a:srgbClr val="E5ECEB">
                    <a:lumMod val="25000"/>
                  </a:srgbClr>
                </a:solidFill>
                <a:latin typeface="Calibri"/>
              </a:rPr>
              <a:t> configuration for </a:t>
            </a:r>
            <a:r>
              <a:rPr lang="en-US" sz="1100" b="1" dirty="0">
                <a:solidFill>
                  <a:srgbClr val="E5ECEB">
                    <a:lumMod val="25000"/>
                  </a:srgbClr>
                </a:solidFill>
                <a:latin typeface="Calibri"/>
              </a:rPr>
              <a:t>hardware</a:t>
            </a:r>
            <a:r>
              <a:rPr lang="en-US" sz="1100" dirty="0">
                <a:solidFill>
                  <a:srgbClr val="E5ECEB">
                    <a:lumMod val="25000"/>
                  </a:srgbClr>
                </a:solidFill>
                <a:latin typeface="Calibri"/>
              </a:rPr>
              <a:t> target and </a:t>
            </a:r>
            <a:r>
              <a:rPr lang="en-US" sz="1100" b="1" dirty="0">
                <a:solidFill>
                  <a:srgbClr val="E5ECEB">
                    <a:lumMod val="25000"/>
                  </a:srgbClr>
                </a:solidFill>
                <a:latin typeface="Calibri"/>
              </a:rPr>
              <a:t>simulation</a:t>
            </a:r>
            <a:r>
              <a:rPr lang="en-US" sz="1100" dirty="0">
                <a:solidFill>
                  <a:srgbClr val="E5ECEB">
                    <a:lumMod val="25000"/>
                  </a:srgbClr>
                </a:solidFill>
                <a:latin typeface="Calibri"/>
              </a:rPr>
              <a:t> model</a:t>
            </a:r>
            <a:endParaRPr kumimoji="0" lang="en-GB" sz="1100" b="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sp>
        <p:nvSpPr>
          <p:cNvPr id="27" name="Rectangle 26">
            <a:extLst>
              <a:ext uri="{FF2B5EF4-FFF2-40B4-BE49-F238E27FC236}">
                <a16:creationId xmlns:a16="http://schemas.microsoft.com/office/drawing/2014/main" id="{55DF53D8-9D47-A99B-A08D-B3E1411252EC}"/>
              </a:ext>
            </a:extLst>
          </p:cNvPr>
          <p:cNvSpPr/>
          <p:nvPr/>
        </p:nvSpPr>
        <p:spPr>
          <a:xfrm>
            <a:off x="5787541" y="2939335"/>
            <a:ext cx="1800598" cy="1420995"/>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defRPr/>
            </a:pPr>
            <a:r>
              <a:rPr kumimoji="0" lang="en-US" sz="1400" i="0" u="none" strike="noStrike" kern="1200" cap="none" spc="0" normalizeH="0" baseline="0" noProof="0" dirty="0">
                <a:ln>
                  <a:noFill/>
                </a:ln>
                <a:solidFill>
                  <a:schemeClr val="tx2"/>
                </a:solidFill>
                <a:effectLst/>
                <a:uLnTx/>
                <a:uFillTx/>
                <a:latin typeface="Calibri"/>
                <a:ea typeface="ＭＳ Ｐゴシック" panose="020B0600070205080204" pitchFamily="34" charset="-128"/>
                <a:cs typeface="+mn-cs"/>
              </a:rPr>
              <a:t>output</a:t>
            </a:r>
          </a:p>
        </p:txBody>
      </p:sp>
      <p:cxnSp>
        <p:nvCxnSpPr>
          <p:cNvPr id="42" name="Straight Arrow Connector 41">
            <a:extLst>
              <a:ext uri="{FF2B5EF4-FFF2-40B4-BE49-F238E27FC236}">
                <a16:creationId xmlns:a16="http://schemas.microsoft.com/office/drawing/2014/main" id="{072D6403-F996-60F9-D1CD-45E8CC93B63E}"/>
              </a:ext>
            </a:extLst>
          </p:cNvPr>
          <p:cNvCxnSpPr>
            <a:cxnSpLocks/>
            <a:stCxn id="21" idx="3"/>
          </p:cNvCxnSpPr>
          <p:nvPr/>
        </p:nvCxnSpPr>
        <p:spPr>
          <a:xfrm>
            <a:off x="5580489" y="3853688"/>
            <a:ext cx="207052" cy="0"/>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5" name="Flowchart: Document 14">
            <a:extLst>
              <a:ext uri="{FF2B5EF4-FFF2-40B4-BE49-F238E27FC236}">
                <a16:creationId xmlns:a16="http://schemas.microsoft.com/office/drawing/2014/main" id="{42913FF4-1093-F119-7768-9C7483CF7FD6}"/>
              </a:ext>
            </a:extLst>
          </p:cNvPr>
          <p:cNvSpPr/>
          <p:nvPr/>
        </p:nvSpPr>
        <p:spPr>
          <a:xfrm>
            <a:off x="5874993" y="3293563"/>
            <a:ext cx="1616706" cy="954101"/>
          </a:xfrm>
          <a:prstGeom prst="flowChartDocument">
            <a:avLst/>
          </a:prstGeom>
          <a:solidFill>
            <a:schemeClr val="accent5">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eaLnBrk="0" fontAlgn="base" hangingPunct="0">
              <a:spcBef>
                <a:spcPct val="0"/>
              </a:spcBef>
              <a:spcAft>
                <a:spcPct val="0"/>
              </a:spcAft>
              <a:defRPr/>
            </a:pPr>
            <a:br>
              <a:rPr lang="en-US" sz="100" dirty="0">
                <a:solidFill>
                  <a:srgbClr val="E5ECEB">
                    <a:lumMod val="25000"/>
                  </a:srgbClr>
                </a:solidFill>
                <a:latin typeface="Calibri"/>
              </a:rPr>
            </a:br>
            <a:r>
              <a:rPr lang="en-US" sz="1100" b="1" dirty="0" err="1">
                <a:solidFill>
                  <a:srgbClr val="E5ECEB">
                    <a:lumMod val="25000"/>
                  </a:srgbClr>
                </a:solidFill>
                <a:latin typeface="Calibri"/>
              </a:rPr>
              <a:t>MyApp.cbuild-mlops.yml</a:t>
            </a:r>
            <a:br>
              <a:rPr kumimoji="0" lang="en-US" sz="2800" b="1" i="0" u="none" strike="noStrike" kern="1200" cap="none" spc="0" normalizeH="0" baseline="0" noProof="0" dirty="0">
                <a:ln>
                  <a:noFill/>
                </a:ln>
                <a:solidFill>
                  <a:srgbClr val="E5ECEB">
                    <a:lumMod val="25000"/>
                  </a:srgbClr>
                </a:solidFill>
                <a:effectLst/>
                <a:uLnTx/>
                <a:uFillTx/>
                <a:latin typeface="Calibri"/>
                <a:ea typeface="+mn-ea"/>
                <a:cs typeface="+mn-cs"/>
              </a:rPr>
            </a:br>
            <a:r>
              <a:rPr lang="en-US" sz="1100" dirty="0">
                <a:solidFill>
                  <a:schemeClr val="bg2">
                    <a:lumMod val="25000"/>
                  </a:schemeClr>
                </a:solidFill>
                <a:latin typeface="Calibri"/>
              </a:rPr>
              <a:t>Vela options</a:t>
            </a:r>
            <a:r>
              <a:rPr kumimoji="0" lang="en-US" sz="1100" b="0" i="0" u="none" strike="noStrike" kern="1200" cap="none" spc="0" normalizeH="0" baseline="0" noProof="0" dirty="0">
                <a:ln>
                  <a:noFill/>
                </a:ln>
                <a:solidFill>
                  <a:schemeClr val="bg2">
                    <a:lumMod val="25000"/>
                  </a:schemeClr>
                </a:solidFill>
                <a:effectLst/>
                <a:uLnTx/>
                <a:uFillTx/>
                <a:latin typeface="Calibri"/>
                <a:ea typeface="+mn-ea"/>
                <a:cs typeface="+mn-cs"/>
              </a:rPr>
              <a:t> for model</a:t>
            </a:r>
          </a:p>
          <a:p>
            <a:pPr algn="ctr" eaLnBrk="0" fontAlgn="base" hangingPunct="0">
              <a:spcBef>
                <a:spcPct val="0"/>
              </a:spcBef>
              <a:spcAft>
                <a:spcPct val="0"/>
              </a:spcAft>
              <a:defRPr/>
            </a:pPr>
            <a:r>
              <a:rPr lang="en-US" sz="1100" dirty="0">
                <a:solidFill>
                  <a:schemeClr val="bg2">
                    <a:lumMod val="25000"/>
                  </a:schemeClr>
                </a:solidFill>
                <a:latin typeface="Calibri"/>
              </a:rPr>
              <a:t>Build and test parameters</a:t>
            </a:r>
            <a:br>
              <a:rPr lang="en-US" sz="1100" dirty="0">
                <a:solidFill>
                  <a:schemeClr val="bg2">
                    <a:lumMod val="25000"/>
                  </a:schemeClr>
                </a:solidFill>
                <a:latin typeface="Calibri"/>
              </a:rPr>
            </a:br>
            <a:r>
              <a:rPr lang="en-US" sz="1100" dirty="0">
                <a:solidFill>
                  <a:schemeClr val="bg2">
                    <a:lumMod val="25000"/>
                  </a:schemeClr>
                </a:solidFill>
                <a:latin typeface="Calibri"/>
              </a:rPr>
              <a:t>for hardware &amp; simulation</a:t>
            </a:r>
            <a:endParaRPr kumimoji="0" lang="en-GB" sz="1100" b="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sp>
        <p:nvSpPr>
          <p:cNvPr id="23" name="Rectangle 22">
            <a:extLst>
              <a:ext uri="{FF2B5EF4-FFF2-40B4-BE49-F238E27FC236}">
                <a16:creationId xmlns:a16="http://schemas.microsoft.com/office/drawing/2014/main" id="{7C834E64-D9F4-6805-F049-058CF8C731E8}"/>
              </a:ext>
            </a:extLst>
          </p:cNvPr>
          <p:cNvSpPr/>
          <p:nvPr/>
        </p:nvSpPr>
        <p:spPr>
          <a:xfrm>
            <a:off x="7805217" y="1520737"/>
            <a:ext cx="1983839" cy="2837195"/>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eaLnBrk="0" fontAlgn="base" hangingPunct="0">
              <a:spcBef>
                <a:spcPct val="0"/>
              </a:spcBef>
              <a:spcAft>
                <a:spcPct val="0"/>
              </a:spcAft>
              <a:defRPr/>
            </a:pPr>
            <a:r>
              <a:rPr lang="en-US" b="1" dirty="0" err="1">
                <a:solidFill>
                  <a:schemeClr val="bg1"/>
                </a:solidFill>
                <a:latin typeface="Calibri"/>
              </a:rPr>
              <a:t>MLOps</a:t>
            </a:r>
            <a:r>
              <a:rPr lang="en-US" b="1" dirty="0">
                <a:solidFill>
                  <a:schemeClr val="bg1"/>
                </a:solidFill>
                <a:latin typeface="Calibri"/>
              </a:rPr>
              <a:t> System</a:t>
            </a:r>
            <a:b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8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r>
              <a:rPr kumimoji="0" lang="en-US" sz="1100" i="0" u="none" strike="noStrike" kern="1200" cap="none" spc="0" normalizeH="0" baseline="0" noProof="0" dirty="0" err="1">
                <a:ln>
                  <a:noFill/>
                </a:ln>
                <a:solidFill>
                  <a:schemeClr val="bg1"/>
                </a:solidFill>
                <a:effectLst/>
                <a:uLnTx/>
                <a:uFillTx/>
                <a:latin typeface="Calibri"/>
                <a:ea typeface="ＭＳ Ｐゴシック" panose="020B0600070205080204" pitchFamily="34" charset="-128"/>
                <a:cs typeface="+mn-cs"/>
              </a:rPr>
              <a:t>VSCode</a:t>
            </a:r>
            <a:r>
              <a:rPr kumimoji="0" lang="en-US" sz="11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t> Extension</a:t>
            </a:r>
          </a:p>
          <a:p>
            <a:pPr algn="ctr" eaLnBrk="0" fontAlgn="base" hangingPunct="0">
              <a:spcBef>
                <a:spcPct val="0"/>
              </a:spcBef>
              <a:spcAft>
                <a:spcPct val="0"/>
              </a:spcAft>
              <a:defRPr/>
            </a:pPr>
            <a:r>
              <a:rPr kumimoji="0" lang="en-US" sz="11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t>CMSIS-Debug</a:t>
            </a:r>
          </a:p>
        </p:txBody>
      </p:sp>
      <p:sp>
        <p:nvSpPr>
          <p:cNvPr id="35" name="Rectangle 34">
            <a:extLst>
              <a:ext uri="{FF2B5EF4-FFF2-40B4-BE49-F238E27FC236}">
                <a16:creationId xmlns:a16="http://schemas.microsoft.com/office/drawing/2014/main" id="{97DC05E4-7377-3A29-8CA7-46381AF76EE4}"/>
              </a:ext>
            </a:extLst>
          </p:cNvPr>
          <p:cNvSpPr/>
          <p:nvPr/>
        </p:nvSpPr>
        <p:spPr>
          <a:xfrm>
            <a:off x="5933475" y="4568771"/>
            <a:ext cx="201042" cy="204985"/>
          </a:xfrm>
          <a:prstGeom prst="rect">
            <a:avLst/>
          </a:prstGeom>
          <a:solidFill>
            <a:schemeClr val="bg1">
              <a:lumMod val="85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E5ECEB">
                  <a:lumMod val="25000"/>
                </a:srgbClr>
              </a:solidFill>
              <a:latin typeface="Calibri"/>
            </a:endParaRPr>
          </a:p>
        </p:txBody>
      </p:sp>
      <p:sp>
        <p:nvSpPr>
          <p:cNvPr id="38" name="Rectangle 37">
            <a:extLst>
              <a:ext uri="{FF2B5EF4-FFF2-40B4-BE49-F238E27FC236}">
                <a16:creationId xmlns:a16="http://schemas.microsoft.com/office/drawing/2014/main" id="{648BF96E-E56E-4BC7-8E15-E6707987BFC9}"/>
              </a:ext>
            </a:extLst>
          </p:cNvPr>
          <p:cNvSpPr/>
          <p:nvPr/>
        </p:nvSpPr>
        <p:spPr>
          <a:xfrm>
            <a:off x="7934130" y="4568771"/>
            <a:ext cx="201042" cy="204985"/>
          </a:xfrm>
          <a:prstGeom prst="rect">
            <a:avLst/>
          </a:prstGeom>
          <a:solidFill>
            <a:schemeClr val="accent5">
              <a:lumMod val="60000"/>
              <a:lumOff val="40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eaLnBrk="0" fontAlgn="base" hangingPunct="0">
              <a:spcBef>
                <a:spcPct val="0"/>
              </a:spcBef>
              <a:spcAft>
                <a:spcPct val="0"/>
              </a:spcAft>
            </a:pPr>
            <a:endParaRPr lang="en-US" sz="1600">
              <a:solidFill>
                <a:srgbClr val="E5ECEB">
                  <a:lumMod val="25000"/>
                </a:srgbClr>
              </a:solidFill>
              <a:latin typeface="Calibri"/>
            </a:endParaRPr>
          </a:p>
        </p:txBody>
      </p:sp>
      <p:sp>
        <p:nvSpPr>
          <p:cNvPr id="39" name="Rectangle 38">
            <a:extLst>
              <a:ext uri="{FF2B5EF4-FFF2-40B4-BE49-F238E27FC236}">
                <a16:creationId xmlns:a16="http://schemas.microsoft.com/office/drawing/2014/main" id="{BA7FBFC5-CFFC-1DDD-5778-ED8D04A256FE}"/>
              </a:ext>
            </a:extLst>
          </p:cNvPr>
          <p:cNvSpPr/>
          <p:nvPr/>
        </p:nvSpPr>
        <p:spPr>
          <a:xfrm>
            <a:off x="1783404" y="4556948"/>
            <a:ext cx="201042" cy="204985"/>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b="1">
              <a:solidFill>
                <a:schemeClr val="bg1"/>
              </a:solidFill>
              <a:latin typeface="Calibri"/>
            </a:endParaRPr>
          </a:p>
        </p:txBody>
      </p:sp>
      <p:sp>
        <p:nvSpPr>
          <p:cNvPr id="40" name="Rectangle 39">
            <a:extLst>
              <a:ext uri="{FF2B5EF4-FFF2-40B4-BE49-F238E27FC236}">
                <a16:creationId xmlns:a16="http://schemas.microsoft.com/office/drawing/2014/main" id="{229C765D-1CCA-83AD-3B5F-052CA81AAA54}"/>
              </a:ext>
            </a:extLst>
          </p:cNvPr>
          <p:cNvSpPr/>
          <p:nvPr/>
        </p:nvSpPr>
        <p:spPr>
          <a:xfrm>
            <a:off x="3699754" y="4556948"/>
            <a:ext cx="201042" cy="20498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0" fontAlgn="base" hangingPunct="0">
              <a:spcBef>
                <a:spcPct val="0"/>
              </a:spcBef>
              <a:spcAft>
                <a:spcPct val="0"/>
              </a:spcAft>
            </a:pPr>
            <a:endParaRPr lang="en-US" sz="1400">
              <a:solidFill>
                <a:schemeClr val="bg1"/>
              </a:solidFill>
              <a:latin typeface="Calibri"/>
              <a:ea typeface="ＭＳ Ｐゴシック" panose="020B0600070205080204" pitchFamily="34" charset="-128"/>
            </a:endParaRPr>
          </a:p>
        </p:txBody>
      </p:sp>
      <p:sp>
        <p:nvSpPr>
          <p:cNvPr id="41" name="TextBox 40">
            <a:extLst>
              <a:ext uri="{FF2B5EF4-FFF2-40B4-BE49-F238E27FC236}">
                <a16:creationId xmlns:a16="http://schemas.microsoft.com/office/drawing/2014/main" id="{6714272F-391E-F300-7198-F0415B42D890}"/>
              </a:ext>
            </a:extLst>
          </p:cNvPr>
          <p:cNvSpPr txBox="1"/>
          <p:nvPr/>
        </p:nvSpPr>
        <p:spPr>
          <a:xfrm>
            <a:off x="6218823" y="4609585"/>
            <a:ext cx="1369314"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a:solidFill>
                  <a:schemeClr val="tx2"/>
                </a:solidFill>
              </a:rPr>
              <a:t>User created input files </a:t>
            </a:r>
          </a:p>
        </p:txBody>
      </p:sp>
      <p:sp>
        <p:nvSpPr>
          <p:cNvPr id="43" name="TextBox 42">
            <a:extLst>
              <a:ext uri="{FF2B5EF4-FFF2-40B4-BE49-F238E27FC236}">
                <a16:creationId xmlns:a16="http://schemas.microsoft.com/office/drawing/2014/main" id="{60594C61-75CA-8BBE-459D-DDC12934BA27}"/>
              </a:ext>
            </a:extLst>
          </p:cNvPr>
          <p:cNvSpPr txBox="1"/>
          <p:nvPr/>
        </p:nvSpPr>
        <p:spPr>
          <a:xfrm>
            <a:off x="8237582" y="4609584"/>
            <a:ext cx="1369314"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a:solidFill>
                  <a:schemeClr val="tx2"/>
                </a:solidFill>
              </a:rPr>
              <a:t>Generated output files</a:t>
            </a:r>
          </a:p>
        </p:txBody>
      </p:sp>
      <p:sp>
        <p:nvSpPr>
          <p:cNvPr id="44" name="TextBox 43">
            <a:extLst>
              <a:ext uri="{FF2B5EF4-FFF2-40B4-BE49-F238E27FC236}">
                <a16:creationId xmlns:a16="http://schemas.microsoft.com/office/drawing/2014/main" id="{080358F8-FB70-9374-D413-506DF753294F}"/>
              </a:ext>
            </a:extLst>
          </p:cNvPr>
          <p:cNvSpPr txBox="1"/>
          <p:nvPr/>
        </p:nvSpPr>
        <p:spPr>
          <a:xfrm>
            <a:off x="2074616" y="4591020"/>
            <a:ext cx="1369314"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dirty="0">
                <a:solidFill>
                  <a:schemeClr val="tx2"/>
                </a:solidFill>
              </a:rPr>
              <a:t>Development Tools</a:t>
            </a:r>
          </a:p>
        </p:txBody>
      </p:sp>
      <p:sp>
        <p:nvSpPr>
          <p:cNvPr id="45" name="TextBox 44">
            <a:extLst>
              <a:ext uri="{FF2B5EF4-FFF2-40B4-BE49-F238E27FC236}">
                <a16:creationId xmlns:a16="http://schemas.microsoft.com/office/drawing/2014/main" id="{A13A5D67-EE6D-0968-D766-76C97BF0BEE0}"/>
              </a:ext>
            </a:extLst>
          </p:cNvPr>
          <p:cNvSpPr txBox="1"/>
          <p:nvPr/>
        </p:nvSpPr>
        <p:spPr>
          <a:xfrm>
            <a:off x="4012437" y="4597975"/>
            <a:ext cx="1636096"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a:solidFill>
                  <a:schemeClr val="tx2"/>
                </a:solidFill>
              </a:rPr>
              <a:t>Published software packs</a:t>
            </a:r>
          </a:p>
        </p:txBody>
      </p:sp>
      <p:sp>
        <p:nvSpPr>
          <p:cNvPr id="2" name="Title 1">
            <a:extLst>
              <a:ext uri="{FF2B5EF4-FFF2-40B4-BE49-F238E27FC236}">
                <a16:creationId xmlns:a16="http://schemas.microsoft.com/office/drawing/2014/main" id="{547B0CA6-0FC7-0C17-0A66-66D1CA9E5151}"/>
              </a:ext>
            </a:extLst>
          </p:cNvPr>
          <p:cNvSpPr>
            <a:spLocks noGrp="1"/>
          </p:cNvSpPr>
          <p:nvPr>
            <p:ph type="title"/>
          </p:nvPr>
        </p:nvSpPr>
        <p:spPr/>
        <p:txBody>
          <a:bodyPr/>
          <a:lstStyle/>
          <a:p>
            <a:r>
              <a:rPr lang="en-US"/>
              <a:t>Connect </a:t>
            </a:r>
            <a:r>
              <a:rPr lang="en-US" dirty="0"/>
              <a:t>SDS-Framework with </a:t>
            </a:r>
            <a:r>
              <a:rPr lang="en-US" dirty="0" err="1"/>
              <a:t>MLOps</a:t>
            </a:r>
            <a:r>
              <a:rPr lang="en-US" dirty="0"/>
              <a:t> Systems</a:t>
            </a:r>
          </a:p>
        </p:txBody>
      </p:sp>
      <p:sp>
        <p:nvSpPr>
          <p:cNvPr id="6" name="Content Placeholder 5">
            <a:extLst>
              <a:ext uri="{FF2B5EF4-FFF2-40B4-BE49-F238E27FC236}">
                <a16:creationId xmlns:a16="http://schemas.microsoft.com/office/drawing/2014/main" id="{AFE98E66-15EC-019F-04EC-FE5380E4A622}"/>
              </a:ext>
            </a:extLst>
          </p:cNvPr>
          <p:cNvSpPr>
            <a:spLocks noGrp="1"/>
          </p:cNvSpPr>
          <p:nvPr>
            <p:ph idx="1"/>
          </p:nvPr>
        </p:nvSpPr>
        <p:spPr>
          <a:xfrm>
            <a:off x="479425" y="952036"/>
            <a:ext cx="11377612" cy="472372"/>
          </a:xfrm>
        </p:spPr>
        <p:txBody>
          <a:bodyPr/>
          <a:lstStyle/>
          <a:p>
            <a:pPr marL="0" indent="0">
              <a:buNone/>
            </a:pPr>
            <a:r>
              <a:rPr lang="en-US" sz="1800" dirty="0"/>
              <a:t>A single file `*</a:t>
            </a:r>
            <a:r>
              <a:rPr lang="en-US" sz="1800" dirty="0" err="1"/>
              <a:t>cbuild-mlops.yml</a:t>
            </a:r>
            <a:r>
              <a:rPr lang="en-US" sz="1800" dirty="0"/>
              <a:t>` contains all information </a:t>
            </a:r>
            <a:r>
              <a:rPr lang="en-US" sz="1800" dirty="0">
                <a:solidFill>
                  <a:srgbClr val="404040"/>
                </a:solidFill>
                <a:latin typeface="Lato" panose="020F0502020204030203" pitchFamily="34" charset="0"/>
              </a:rPr>
              <a:t>to generate and validate ML models using SDS-Framework</a:t>
            </a:r>
            <a:endParaRPr lang="en-US" sz="1800" dirty="0"/>
          </a:p>
        </p:txBody>
      </p:sp>
      <p:sp>
        <p:nvSpPr>
          <p:cNvPr id="20" name="Flowchart: Multidocument 19">
            <a:extLst>
              <a:ext uri="{FF2B5EF4-FFF2-40B4-BE49-F238E27FC236}">
                <a16:creationId xmlns:a16="http://schemas.microsoft.com/office/drawing/2014/main" id="{9F7377BC-DB5C-7237-7BD0-5E1F5849A27D}"/>
              </a:ext>
            </a:extLst>
          </p:cNvPr>
          <p:cNvSpPr/>
          <p:nvPr/>
        </p:nvSpPr>
        <p:spPr>
          <a:xfrm>
            <a:off x="3799060" y="1863751"/>
            <a:ext cx="1653577" cy="1181703"/>
          </a:xfrm>
          <a:prstGeom prst="flowChartMultidocument">
            <a:avLst/>
          </a:prstGeom>
          <a:solidFill>
            <a:schemeClr val="bg1"/>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58738" marR="0" lvl="0" defTabSz="914400" rtl="0" eaLnBrk="0" fontAlgn="base" latinLnBrk="0" hangingPunct="0">
              <a:lnSpc>
                <a:spcPct val="100000"/>
              </a:lnSpc>
              <a:spcBef>
                <a:spcPct val="0"/>
              </a:spcBef>
              <a:spcAft>
                <a:spcPct val="0"/>
              </a:spcAft>
              <a:buClrTx/>
              <a:buSzTx/>
              <a:buFontTx/>
              <a:buNone/>
              <a:tabLst/>
              <a:defRPr/>
            </a:pPr>
            <a:r>
              <a:rPr kumimoji="0" lang="en-US" sz="1100" b="1" i="0" u="none" strike="noStrike" kern="1200" cap="none" spc="0" normalizeH="0" baseline="0" noProof="0" dirty="0" err="1">
                <a:ln>
                  <a:noFill/>
                </a:ln>
                <a:solidFill>
                  <a:schemeClr val="bg2">
                    <a:lumMod val="25000"/>
                  </a:schemeClr>
                </a:solidFill>
                <a:effectLst/>
                <a:uLnTx/>
                <a:uFillTx/>
                <a:latin typeface="Calibri"/>
                <a:ea typeface="+mn-ea"/>
                <a:cs typeface="+mn-cs"/>
              </a:rPr>
              <a:t>MLOps</a:t>
            </a:r>
            <a:r>
              <a:rPr kumimoji="0" lang="en-US" sz="1100" b="1" i="0" u="none" strike="noStrike" kern="1200" cap="none" spc="0" normalizeH="0" baseline="0" noProof="0" dirty="0">
                <a:ln>
                  <a:noFill/>
                </a:ln>
                <a:solidFill>
                  <a:schemeClr val="bg2">
                    <a:lumMod val="25000"/>
                  </a:schemeClr>
                </a:solidFill>
                <a:effectLst/>
                <a:uLnTx/>
                <a:uFillTx/>
                <a:latin typeface="Calibri"/>
                <a:ea typeface="+mn-ea"/>
                <a:cs typeface="+mn-cs"/>
              </a:rPr>
              <a:t> </a:t>
            </a:r>
            <a:r>
              <a:rPr lang="en-US" sz="1100" b="1" dirty="0">
                <a:solidFill>
                  <a:schemeClr val="bg2">
                    <a:lumMod val="25000"/>
                  </a:schemeClr>
                </a:solidFill>
                <a:latin typeface="Calibri"/>
              </a:rPr>
              <a:t>Parameters:</a:t>
            </a:r>
          </a:p>
          <a:p>
            <a:pPr marL="171450" indent="-112713" eaLnBrk="0" fontAlgn="base" hangingPunct="0">
              <a:spcBef>
                <a:spcPct val="0"/>
              </a:spcBef>
              <a:spcAft>
                <a:spcPct val="0"/>
              </a:spcAft>
              <a:buFont typeface="Arial" panose="020B0604020202020204" pitchFamily="34" charset="0"/>
              <a:buChar char="•"/>
              <a:defRPr/>
            </a:pPr>
            <a:r>
              <a:rPr kumimoji="0" lang="en-US" sz="1100" b="0" i="0" u="none" strike="noStrike" kern="1200" cap="none" spc="0" normalizeH="0" baseline="0" noProof="0" dirty="0">
                <a:ln>
                  <a:noFill/>
                </a:ln>
                <a:solidFill>
                  <a:schemeClr val="bg2">
                    <a:lumMod val="25000"/>
                  </a:schemeClr>
                </a:solidFill>
                <a:effectLst/>
                <a:uLnTx/>
                <a:uFillTx/>
                <a:latin typeface="Calibri"/>
                <a:ea typeface="+mn-ea"/>
                <a:cs typeface="+mn-cs"/>
              </a:rPr>
              <a:t>Vela</a:t>
            </a:r>
            <a:r>
              <a:rPr lang="en-US" sz="1100" dirty="0">
                <a:solidFill>
                  <a:schemeClr val="bg2">
                    <a:lumMod val="25000"/>
                  </a:schemeClr>
                </a:solidFill>
                <a:latin typeface="Calibri"/>
              </a:rPr>
              <a:t>.</a:t>
            </a:r>
            <a:r>
              <a:rPr lang="en-US" sz="1100" dirty="0" err="1">
                <a:solidFill>
                  <a:schemeClr val="bg2">
                    <a:lumMod val="25000"/>
                  </a:schemeClr>
                </a:solidFill>
                <a:latin typeface="Calibri"/>
              </a:rPr>
              <a:t>ini</a:t>
            </a:r>
            <a:r>
              <a:rPr lang="en-US" sz="1100" dirty="0">
                <a:solidFill>
                  <a:schemeClr val="bg2">
                    <a:lumMod val="25000"/>
                  </a:schemeClr>
                </a:solidFill>
                <a:latin typeface="Calibri"/>
              </a:rPr>
              <a:t> configuration</a:t>
            </a:r>
          </a:p>
          <a:p>
            <a:pPr marL="58737" eaLnBrk="0" fontAlgn="base" hangingPunct="0">
              <a:spcBef>
                <a:spcPct val="0"/>
              </a:spcBef>
              <a:spcAft>
                <a:spcPct val="0"/>
              </a:spcAft>
              <a:defRPr/>
            </a:pPr>
            <a:endParaRPr lang="en-US" sz="200" b="1" dirty="0">
              <a:solidFill>
                <a:schemeClr val="bg2">
                  <a:lumMod val="25000"/>
                </a:schemeClr>
              </a:solidFill>
            </a:endParaRPr>
          </a:p>
          <a:p>
            <a:pPr marL="58737" eaLnBrk="0" fontAlgn="base" hangingPunct="0">
              <a:spcBef>
                <a:spcPct val="0"/>
              </a:spcBef>
              <a:spcAft>
                <a:spcPct val="0"/>
              </a:spcAft>
              <a:defRPr/>
            </a:pPr>
            <a:r>
              <a:rPr lang="en-US" sz="1100" b="1" dirty="0">
                <a:solidFill>
                  <a:schemeClr val="bg2">
                    <a:lumMod val="25000"/>
                  </a:schemeClr>
                </a:solidFill>
              </a:rPr>
              <a:t>Model Deployment:</a:t>
            </a:r>
          </a:p>
          <a:p>
            <a:pPr marL="171450" indent="-112713" eaLnBrk="0" fontAlgn="base" hangingPunct="0">
              <a:spcBef>
                <a:spcPct val="0"/>
              </a:spcBef>
              <a:spcAft>
                <a:spcPct val="0"/>
              </a:spcAft>
              <a:buFont typeface="Arial" panose="020B0604020202020204" pitchFamily="34" charset="0"/>
              <a:buChar char="•"/>
              <a:defRPr/>
            </a:pPr>
            <a:r>
              <a:rPr lang="en-US" sz="1100" dirty="0">
                <a:solidFill>
                  <a:schemeClr val="bg2">
                    <a:lumMod val="25000"/>
                  </a:schemeClr>
                </a:solidFill>
                <a:latin typeface="Calibri"/>
              </a:rPr>
              <a:t>Linker script</a:t>
            </a:r>
            <a:endParaRPr lang="en-US" sz="1100" dirty="0">
              <a:solidFill>
                <a:schemeClr val="bg2">
                  <a:lumMod val="25000"/>
                </a:schemeClr>
              </a:solidFill>
            </a:endParaRPr>
          </a:p>
          <a:p>
            <a:pPr marL="171450" marR="0" lvl="0" indent="-112713"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pic>
        <p:nvPicPr>
          <p:cNvPr id="11" name="Picture 10">
            <a:extLst>
              <a:ext uri="{FF2B5EF4-FFF2-40B4-BE49-F238E27FC236}">
                <a16:creationId xmlns:a16="http://schemas.microsoft.com/office/drawing/2014/main" id="{2AB44F2E-117D-CC58-D351-6A6B92560881}"/>
              </a:ext>
            </a:extLst>
          </p:cNvPr>
          <p:cNvPicPr>
            <a:picLocks noChangeAspect="1"/>
          </p:cNvPicPr>
          <p:nvPr/>
        </p:nvPicPr>
        <p:blipFill>
          <a:blip r:embed="rId4"/>
          <a:stretch>
            <a:fillRect/>
          </a:stretch>
        </p:blipFill>
        <p:spPr>
          <a:xfrm>
            <a:off x="7959015" y="1924085"/>
            <a:ext cx="1718896" cy="2249531"/>
          </a:xfrm>
          <a:prstGeom prst="rect">
            <a:avLst/>
          </a:prstGeom>
        </p:spPr>
      </p:pic>
      <p:sp>
        <p:nvSpPr>
          <p:cNvPr id="12" name="Flowchart: Document 11">
            <a:extLst>
              <a:ext uri="{FF2B5EF4-FFF2-40B4-BE49-F238E27FC236}">
                <a16:creationId xmlns:a16="http://schemas.microsoft.com/office/drawing/2014/main" id="{9E28C0FE-1656-7552-C4AE-9871CE4F23F3}"/>
              </a:ext>
            </a:extLst>
          </p:cNvPr>
          <p:cNvSpPr/>
          <p:nvPr/>
        </p:nvSpPr>
        <p:spPr>
          <a:xfrm>
            <a:off x="5874993" y="1520738"/>
            <a:ext cx="1616706" cy="976222"/>
          </a:xfrm>
          <a:prstGeom prst="flowChartDocument">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eaLnBrk="0" fontAlgn="base" hangingPunct="0">
              <a:spcBef>
                <a:spcPct val="0"/>
              </a:spcBef>
              <a:spcAft>
                <a:spcPct val="0"/>
              </a:spcAft>
              <a:defRPr/>
            </a:pPr>
            <a:br>
              <a:rPr lang="en-US" sz="100" dirty="0">
                <a:solidFill>
                  <a:srgbClr val="E5ECEB">
                    <a:lumMod val="25000"/>
                  </a:srgbClr>
                </a:solidFill>
                <a:latin typeface="Calibri"/>
              </a:rPr>
            </a:br>
            <a:r>
              <a:rPr lang="en-US" sz="1600" b="1" dirty="0">
                <a:solidFill>
                  <a:srgbClr val="E5ECEB">
                    <a:lumMod val="25000"/>
                  </a:srgbClr>
                </a:solidFill>
                <a:latin typeface="Calibri"/>
              </a:rPr>
              <a:t>ML Model</a:t>
            </a:r>
            <a:endParaRPr kumimoji="0" lang="en-GB" sz="1100" b="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cxnSp>
        <p:nvCxnSpPr>
          <p:cNvPr id="22" name="Straight Arrow Connector 21">
            <a:extLst>
              <a:ext uri="{FF2B5EF4-FFF2-40B4-BE49-F238E27FC236}">
                <a16:creationId xmlns:a16="http://schemas.microsoft.com/office/drawing/2014/main" id="{8E718B76-621D-1765-3B4D-912CCF044FA7}"/>
              </a:ext>
            </a:extLst>
          </p:cNvPr>
          <p:cNvCxnSpPr>
            <a:cxnSpLocks/>
          </p:cNvCxnSpPr>
          <p:nvPr/>
        </p:nvCxnSpPr>
        <p:spPr>
          <a:xfrm>
            <a:off x="7588137" y="3633865"/>
            <a:ext cx="208466" cy="0"/>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211B838-8E09-404F-4B71-8CAA19150A70}"/>
              </a:ext>
            </a:extLst>
          </p:cNvPr>
          <p:cNvCxnSpPr>
            <a:cxnSpLocks/>
          </p:cNvCxnSpPr>
          <p:nvPr/>
        </p:nvCxnSpPr>
        <p:spPr>
          <a:xfrm>
            <a:off x="7491699" y="1934013"/>
            <a:ext cx="304904" cy="0"/>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308547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Rectangle 66">
            <a:extLst>
              <a:ext uri="{FF2B5EF4-FFF2-40B4-BE49-F238E27FC236}">
                <a16:creationId xmlns:a16="http://schemas.microsoft.com/office/drawing/2014/main" id="{5E226442-7E60-39C8-F7ED-F47EC277875F}"/>
              </a:ext>
            </a:extLst>
          </p:cNvPr>
          <p:cNvSpPr/>
          <p:nvPr/>
        </p:nvSpPr>
        <p:spPr>
          <a:xfrm>
            <a:off x="1916479" y="4458349"/>
            <a:ext cx="4438363" cy="1614406"/>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C096A895-E36E-7995-DC19-6D9FD5F4B654}"/>
              </a:ext>
            </a:extLst>
          </p:cNvPr>
          <p:cNvSpPr>
            <a:spLocks noGrp="1"/>
          </p:cNvSpPr>
          <p:nvPr>
            <p:ph type="body" sz="quarter" idx="21"/>
          </p:nvPr>
        </p:nvSpPr>
        <p:spPr>
          <a:xfrm>
            <a:off x="1632127" y="1399788"/>
            <a:ext cx="2722094" cy="410223"/>
          </a:xfrm>
        </p:spPr>
        <p:txBody>
          <a:bodyPr/>
          <a:lstStyle/>
          <a:p>
            <a:pPr marL="0" indent="0" algn="ctr">
              <a:buClr>
                <a:schemeClr val="tx2"/>
              </a:buClr>
              <a:buNone/>
            </a:pPr>
            <a:r>
              <a:rPr lang="en-US" sz="1200" b="1" dirty="0">
                <a:solidFill>
                  <a:schemeClr val="tx2"/>
                </a:solidFill>
              </a:rPr>
              <a:t>Configure trace communication</a:t>
            </a:r>
            <a:br>
              <a:rPr lang="en-US" sz="1200" b="1" dirty="0">
                <a:solidFill>
                  <a:schemeClr val="tx2"/>
                </a:solidFill>
              </a:rPr>
            </a:br>
            <a:br>
              <a:rPr lang="en-US" sz="1200" b="1" dirty="0">
                <a:solidFill>
                  <a:schemeClr val="tx2"/>
                </a:solidFill>
              </a:rPr>
            </a:br>
            <a:br>
              <a:rPr lang="en-US" sz="1200" b="1" dirty="0">
                <a:solidFill>
                  <a:schemeClr val="tx2"/>
                </a:solidFill>
              </a:rPr>
            </a:br>
            <a:br>
              <a:rPr lang="en-US" sz="1200" b="1" dirty="0">
                <a:solidFill>
                  <a:schemeClr val="tx2"/>
                </a:solidFill>
              </a:rPr>
            </a:br>
            <a:endParaRPr lang="en-US" sz="1200" b="1" dirty="0">
              <a:solidFill>
                <a:schemeClr val="tx2"/>
              </a:solidFill>
            </a:endParaRPr>
          </a:p>
          <a:p>
            <a:pPr marL="0" indent="0" algn="ctr">
              <a:buNone/>
            </a:pPr>
            <a:endParaRPr lang="en-US" sz="1200" b="1" dirty="0">
              <a:solidFill>
                <a:schemeClr val="tx2"/>
              </a:solidFill>
            </a:endParaRPr>
          </a:p>
          <a:p>
            <a:pPr marL="0" indent="0" algn="ctr">
              <a:buNone/>
            </a:pPr>
            <a:endParaRPr lang="en-US" sz="1200" b="1" dirty="0">
              <a:solidFill>
                <a:schemeClr val="tx2"/>
              </a:solidFill>
            </a:endParaRPr>
          </a:p>
        </p:txBody>
      </p:sp>
      <p:sp>
        <p:nvSpPr>
          <p:cNvPr id="4" name="Title 3">
            <a:extLst>
              <a:ext uri="{FF2B5EF4-FFF2-40B4-BE49-F238E27FC236}">
                <a16:creationId xmlns:a16="http://schemas.microsoft.com/office/drawing/2014/main" id="{85589FAB-5CD8-0AB6-A6B4-3989778937B7}"/>
              </a:ext>
            </a:extLst>
          </p:cNvPr>
          <p:cNvSpPr>
            <a:spLocks noGrp="1"/>
          </p:cNvSpPr>
          <p:nvPr>
            <p:ph type="title"/>
          </p:nvPr>
        </p:nvSpPr>
        <p:spPr/>
        <p:txBody>
          <a:bodyPr/>
          <a:lstStyle/>
          <a:p>
            <a:r>
              <a:rPr lang="en-US" dirty="0">
                <a:solidFill>
                  <a:schemeClr val="tx1">
                    <a:lumMod val="65000"/>
                    <a:lumOff val="35000"/>
                  </a:schemeClr>
                </a:solidFill>
              </a:rPr>
              <a:t>Trace for heterogenous multi-core systems</a:t>
            </a:r>
          </a:p>
        </p:txBody>
      </p:sp>
      <p:sp>
        <p:nvSpPr>
          <p:cNvPr id="5" name="Text Placeholder 4">
            <a:extLst>
              <a:ext uri="{FF2B5EF4-FFF2-40B4-BE49-F238E27FC236}">
                <a16:creationId xmlns:a16="http://schemas.microsoft.com/office/drawing/2014/main" id="{2B6C26BB-A874-A92E-4C9C-94734E34A940}"/>
              </a:ext>
            </a:extLst>
          </p:cNvPr>
          <p:cNvSpPr>
            <a:spLocks noGrp="1"/>
          </p:cNvSpPr>
          <p:nvPr>
            <p:ph type="body" sz="quarter" idx="13"/>
          </p:nvPr>
        </p:nvSpPr>
        <p:spPr>
          <a:xfrm>
            <a:off x="334963" y="785244"/>
            <a:ext cx="11601856" cy="344488"/>
          </a:xfrm>
        </p:spPr>
        <p:txBody>
          <a:bodyPr/>
          <a:lstStyle/>
          <a:p>
            <a:r>
              <a:rPr lang="en-US"/>
              <a:t>Uses Corsight components for run-time analysis with IDE and CLI for DevOps &amp; AI agents</a:t>
            </a:r>
          </a:p>
        </p:txBody>
      </p:sp>
      <p:sp>
        <p:nvSpPr>
          <p:cNvPr id="7" name="Text Placeholder 6">
            <a:extLst>
              <a:ext uri="{FF2B5EF4-FFF2-40B4-BE49-F238E27FC236}">
                <a16:creationId xmlns:a16="http://schemas.microsoft.com/office/drawing/2014/main" id="{2DF4A05A-93A9-B3AE-FD27-1BB8F6DB4399}"/>
              </a:ext>
            </a:extLst>
          </p:cNvPr>
          <p:cNvSpPr>
            <a:spLocks noGrp="1"/>
          </p:cNvSpPr>
          <p:nvPr>
            <p:ph type="body" sz="quarter" idx="23"/>
          </p:nvPr>
        </p:nvSpPr>
        <p:spPr>
          <a:xfrm>
            <a:off x="3931947" y="1399787"/>
            <a:ext cx="2722094" cy="344488"/>
          </a:xfrm>
        </p:spPr>
        <p:txBody>
          <a:bodyPr/>
          <a:lstStyle/>
          <a:p>
            <a:pPr marL="0" indent="0" algn="ctr">
              <a:buClr>
                <a:schemeClr val="tx2"/>
              </a:buClr>
              <a:buNone/>
            </a:pPr>
            <a:r>
              <a:rPr lang="en-US" sz="1200" b="1" dirty="0">
                <a:solidFill>
                  <a:schemeClr val="tx2"/>
                </a:solidFill>
              </a:rPr>
              <a:t>Configure trace generation</a:t>
            </a:r>
            <a:br>
              <a:rPr lang="en-US" sz="1200" b="1" dirty="0">
                <a:solidFill>
                  <a:schemeClr val="tx2"/>
                </a:solidFill>
              </a:rPr>
            </a:br>
            <a:endParaRPr lang="en-US" sz="1200" b="1" dirty="0">
              <a:solidFill>
                <a:schemeClr val="tx2"/>
              </a:solidFill>
            </a:endParaRPr>
          </a:p>
          <a:p>
            <a:pPr marL="0" indent="0" algn="ctr">
              <a:buNone/>
            </a:pPr>
            <a:endParaRPr lang="en-US" sz="1200" b="1" dirty="0">
              <a:solidFill>
                <a:schemeClr val="tx2"/>
              </a:solidFill>
            </a:endParaRPr>
          </a:p>
          <a:p>
            <a:pPr marL="0" indent="0" algn="ctr">
              <a:buNone/>
            </a:pPr>
            <a:endParaRPr lang="en-US" sz="1200" b="1" dirty="0">
              <a:solidFill>
                <a:schemeClr val="tx2"/>
              </a:solidFill>
            </a:endParaRPr>
          </a:p>
          <a:p>
            <a:pPr marL="0" indent="0" algn="ctr">
              <a:buNone/>
            </a:pPr>
            <a:endParaRPr lang="en-US" sz="1200" b="1" dirty="0">
              <a:solidFill>
                <a:schemeClr val="tx2"/>
              </a:solidFill>
            </a:endParaRPr>
          </a:p>
        </p:txBody>
      </p:sp>
      <p:sp>
        <p:nvSpPr>
          <p:cNvPr id="9" name="Text Placeholder 8">
            <a:extLst>
              <a:ext uri="{FF2B5EF4-FFF2-40B4-BE49-F238E27FC236}">
                <a16:creationId xmlns:a16="http://schemas.microsoft.com/office/drawing/2014/main" id="{1737A7E5-6C35-DF8A-168A-1FCB4D1BDFE2}"/>
              </a:ext>
            </a:extLst>
          </p:cNvPr>
          <p:cNvSpPr>
            <a:spLocks noGrp="1"/>
          </p:cNvSpPr>
          <p:nvPr>
            <p:ph type="body" sz="quarter" idx="25"/>
          </p:nvPr>
        </p:nvSpPr>
        <p:spPr>
          <a:xfrm>
            <a:off x="6098835" y="1399787"/>
            <a:ext cx="2641753" cy="344488"/>
          </a:xfrm>
        </p:spPr>
        <p:txBody>
          <a:bodyPr/>
          <a:lstStyle/>
          <a:p>
            <a:pPr marL="0" indent="0" algn="ctr">
              <a:buClr>
                <a:schemeClr val="tx2"/>
              </a:buClr>
              <a:buNone/>
            </a:pPr>
            <a:r>
              <a:rPr lang="en-US" sz="1200" b="1" dirty="0">
                <a:solidFill>
                  <a:schemeClr val="tx2"/>
                </a:solidFill>
              </a:rPr>
              <a:t>Collect trace information</a:t>
            </a:r>
            <a:br>
              <a:rPr lang="en-US" sz="1200" b="1" dirty="0">
                <a:solidFill>
                  <a:schemeClr val="tx2"/>
                </a:solidFill>
              </a:rPr>
            </a:br>
            <a:endParaRPr lang="en-US" sz="1200" b="1" dirty="0">
              <a:solidFill>
                <a:schemeClr val="tx2"/>
              </a:solidFill>
            </a:endParaRPr>
          </a:p>
          <a:p>
            <a:pPr marL="0" indent="0" algn="ctr">
              <a:buNone/>
            </a:pPr>
            <a:endParaRPr lang="en-US" sz="1200" b="1" dirty="0">
              <a:solidFill>
                <a:schemeClr val="tx2"/>
              </a:solidFill>
            </a:endParaRPr>
          </a:p>
          <a:p>
            <a:pPr marL="0" indent="0" algn="ctr">
              <a:buNone/>
            </a:pPr>
            <a:endParaRPr lang="en-US" sz="1200" b="1" dirty="0">
              <a:solidFill>
                <a:schemeClr val="tx2"/>
              </a:solidFill>
            </a:endParaRPr>
          </a:p>
        </p:txBody>
      </p:sp>
      <p:sp>
        <p:nvSpPr>
          <p:cNvPr id="11" name="Text Placeholder 10">
            <a:extLst>
              <a:ext uri="{FF2B5EF4-FFF2-40B4-BE49-F238E27FC236}">
                <a16:creationId xmlns:a16="http://schemas.microsoft.com/office/drawing/2014/main" id="{D2D4E85C-B673-F00F-25D3-FB82966EEFB6}"/>
              </a:ext>
            </a:extLst>
          </p:cNvPr>
          <p:cNvSpPr>
            <a:spLocks noGrp="1"/>
          </p:cNvSpPr>
          <p:nvPr>
            <p:ph type="body" sz="quarter" idx="27"/>
          </p:nvPr>
        </p:nvSpPr>
        <p:spPr>
          <a:xfrm>
            <a:off x="8820929" y="1399787"/>
            <a:ext cx="1918149" cy="360075"/>
          </a:xfrm>
        </p:spPr>
        <p:txBody>
          <a:bodyPr/>
          <a:lstStyle/>
          <a:p>
            <a:pPr marL="0" indent="0" algn="ctr">
              <a:buClr>
                <a:schemeClr val="tx2"/>
              </a:buClr>
              <a:buNone/>
            </a:pPr>
            <a:r>
              <a:rPr lang="en-US" sz="1200" b="1" dirty="0">
                <a:solidFill>
                  <a:schemeClr val="tx2"/>
                </a:solidFill>
              </a:rPr>
              <a:t>Analyze trace data files</a:t>
            </a:r>
            <a:br>
              <a:rPr lang="en-US" sz="1200" b="1" dirty="0">
                <a:solidFill>
                  <a:schemeClr val="tx2"/>
                </a:solidFill>
              </a:rPr>
            </a:br>
            <a:endParaRPr lang="en-US" sz="1200" b="1" dirty="0">
              <a:solidFill>
                <a:schemeClr val="tx2"/>
              </a:solidFill>
            </a:endParaRPr>
          </a:p>
          <a:p>
            <a:pPr marL="0" indent="0" algn="ctr">
              <a:buNone/>
            </a:pPr>
            <a:endParaRPr lang="en-US" sz="1200" b="1" dirty="0">
              <a:solidFill>
                <a:schemeClr val="tx2"/>
              </a:solidFill>
            </a:endParaRPr>
          </a:p>
        </p:txBody>
      </p:sp>
      <p:sp>
        <p:nvSpPr>
          <p:cNvPr id="21" name="TextBox 20">
            <a:extLst>
              <a:ext uri="{FF2B5EF4-FFF2-40B4-BE49-F238E27FC236}">
                <a16:creationId xmlns:a16="http://schemas.microsoft.com/office/drawing/2014/main" id="{5269765E-6819-A896-91AE-B8276351D862}"/>
              </a:ext>
            </a:extLst>
          </p:cNvPr>
          <p:cNvSpPr txBox="1"/>
          <p:nvPr/>
        </p:nvSpPr>
        <p:spPr>
          <a:xfrm>
            <a:off x="1916479" y="1694171"/>
            <a:ext cx="2060532" cy="585566"/>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endParaRPr lang="en-US" sz="2100" kern="1200" dirty="0">
              <a:solidFill>
                <a:schemeClr val="tx2"/>
              </a:solidFill>
              <a:latin typeface="+mn-lt"/>
              <a:ea typeface="+mn-ea"/>
              <a:cs typeface="+mn-cs"/>
            </a:endParaRPr>
          </a:p>
        </p:txBody>
      </p:sp>
      <p:sp>
        <p:nvSpPr>
          <p:cNvPr id="22" name="Rectangle 21">
            <a:extLst>
              <a:ext uri="{FF2B5EF4-FFF2-40B4-BE49-F238E27FC236}">
                <a16:creationId xmlns:a16="http://schemas.microsoft.com/office/drawing/2014/main" id="{10EA64F4-5463-DE96-1822-BEF4620F09B4}"/>
              </a:ext>
            </a:extLst>
          </p:cNvPr>
          <p:cNvSpPr/>
          <p:nvPr/>
        </p:nvSpPr>
        <p:spPr>
          <a:xfrm>
            <a:off x="2049535" y="3447564"/>
            <a:ext cx="1927475" cy="900809"/>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chemeClr val="bg1"/>
                </a:solidFill>
                <a:effectLst/>
                <a:uLnTx/>
                <a:uFillTx/>
                <a:latin typeface="Calibri"/>
                <a:ea typeface="+mn-ea"/>
                <a:cs typeface="+mn-cs"/>
              </a:rPr>
              <a:t>Combine Trace communication settings with DFP Information</a:t>
            </a:r>
            <a:br>
              <a:rPr kumimoji="0" lang="en-US" sz="1200" b="1" i="0" u="none" strike="noStrike" kern="1200" cap="none" spc="0" normalizeH="0" baseline="0" noProof="0" dirty="0">
                <a:ln>
                  <a:noFill/>
                </a:ln>
                <a:solidFill>
                  <a:schemeClr val="bg1"/>
                </a:solidFill>
                <a:effectLst/>
                <a:uLnTx/>
                <a:uFillTx/>
                <a:latin typeface="Calibri"/>
                <a:ea typeface="+mn-ea"/>
                <a:cs typeface="+mn-cs"/>
              </a:rPr>
            </a:br>
            <a:endParaRPr kumimoji="0" lang="en-US" sz="600" b="1" i="0" u="none" strike="noStrike" kern="1200" cap="none" spc="0" normalizeH="0" baseline="0" noProof="0" dirty="0">
              <a:ln>
                <a:noFill/>
              </a:ln>
              <a:solidFill>
                <a:schemeClr val="bg1"/>
              </a:solidFill>
              <a:effectLst/>
              <a:uLnTx/>
              <a:uFillTx/>
              <a:latin typeface="Calibri"/>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i="0" u="none" strike="noStrike" kern="1200" cap="none" spc="0" normalizeH="0" baseline="0" noProof="0" dirty="0">
                <a:ln>
                  <a:noFill/>
                </a:ln>
                <a:solidFill>
                  <a:schemeClr val="bg1"/>
                </a:solidFill>
                <a:effectLst/>
                <a:uLnTx/>
                <a:uFillTx/>
                <a:latin typeface="Calibri"/>
                <a:ea typeface="+mn-ea"/>
                <a:cs typeface="+mn-cs"/>
              </a:rPr>
              <a:t>CMSIS-Toolbox</a:t>
            </a:r>
          </a:p>
        </p:txBody>
      </p:sp>
      <p:sp>
        <p:nvSpPr>
          <p:cNvPr id="23" name="Rectangle 22">
            <a:extLst>
              <a:ext uri="{FF2B5EF4-FFF2-40B4-BE49-F238E27FC236}">
                <a16:creationId xmlns:a16="http://schemas.microsoft.com/office/drawing/2014/main" id="{A2EC349C-A987-65FA-71FA-C09A465EBB6A}"/>
              </a:ext>
            </a:extLst>
          </p:cNvPr>
          <p:cNvSpPr/>
          <p:nvPr/>
        </p:nvSpPr>
        <p:spPr>
          <a:xfrm>
            <a:off x="2049536" y="1673909"/>
            <a:ext cx="1927475" cy="58556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b="1" dirty="0">
                <a:solidFill>
                  <a:schemeClr val="bg1"/>
                </a:solidFill>
                <a:latin typeface="Calibri"/>
              </a:rPr>
              <a:t>Manage Solution Dialog</a:t>
            </a:r>
          </a:p>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a:solidFill>
                  <a:schemeClr val="bg1"/>
                </a:solidFill>
                <a:latin typeface="Calibri"/>
              </a:rPr>
              <a:t>CMSIS Solution</a:t>
            </a:r>
          </a:p>
          <a:p>
            <a:pPr marL="0" marR="0" lvl="0" indent="0" algn="ctr" defTabSz="914400" rtl="0" eaLnBrk="0" fontAlgn="base" latinLnBrk="0" hangingPunct="0">
              <a:lnSpc>
                <a:spcPct val="100000"/>
              </a:lnSpc>
              <a:spcBef>
                <a:spcPct val="0"/>
              </a:spcBef>
              <a:spcAft>
                <a:spcPct val="0"/>
              </a:spcAft>
              <a:buClrTx/>
              <a:buSzTx/>
              <a:buFontTx/>
              <a:buNone/>
              <a:tabLst/>
              <a:defRPr/>
            </a:pPr>
            <a:r>
              <a:rPr lang="en-US" sz="900" dirty="0">
                <a:solidFill>
                  <a:schemeClr val="bg1"/>
                </a:solidFill>
                <a:latin typeface="Calibri"/>
              </a:rPr>
              <a:t>VS Code Extension</a:t>
            </a:r>
            <a:endParaRPr kumimoji="0" lang="en-US" sz="1000" b="0" i="0" u="none" strike="noStrike" kern="1200" cap="none" spc="0" normalizeH="0" baseline="0" noProof="0" dirty="0">
              <a:ln>
                <a:noFill/>
              </a:ln>
              <a:solidFill>
                <a:schemeClr val="bg1"/>
              </a:solidFill>
              <a:effectLst/>
              <a:uLnTx/>
              <a:uFillTx/>
              <a:latin typeface="Calibri"/>
              <a:ea typeface="+mn-ea"/>
              <a:cs typeface="+mn-cs"/>
            </a:endParaRPr>
          </a:p>
        </p:txBody>
      </p:sp>
      <p:sp>
        <p:nvSpPr>
          <p:cNvPr id="24" name="Rectangle 23">
            <a:extLst>
              <a:ext uri="{FF2B5EF4-FFF2-40B4-BE49-F238E27FC236}">
                <a16:creationId xmlns:a16="http://schemas.microsoft.com/office/drawing/2014/main" id="{F9F3B72C-38EB-E487-B0F6-860F9E8B9C23}"/>
              </a:ext>
            </a:extLst>
          </p:cNvPr>
          <p:cNvSpPr/>
          <p:nvPr/>
        </p:nvSpPr>
        <p:spPr>
          <a:xfrm>
            <a:off x="4337723" y="1673909"/>
            <a:ext cx="1927475" cy="58556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chemeClr val="bg1"/>
                </a:solidFill>
                <a:effectLst/>
                <a:uLnTx/>
                <a:uFillTx/>
                <a:latin typeface="Calibri"/>
                <a:ea typeface="+mn-ea"/>
                <a:cs typeface="+mn-cs"/>
              </a:rPr>
              <a:t>Trace Generation Setup View</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i="0" u="none" strike="noStrike" kern="1200" cap="none" spc="0" normalizeH="0" baseline="0" noProof="0" dirty="0">
                <a:ln>
                  <a:noFill/>
                </a:ln>
                <a:solidFill>
                  <a:schemeClr val="bg1"/>
                </a:solidFill>
                <a:effectLst/>
                <a:uLnTx/>
                <a:uFillTx/>
                <a:latin typeface="Calibri"/>
                <a:ea typeface="+mn-ea"/>
                <a:cs typeface="+mn-cs"/>
              </a:rPr>
              <a:t>CMSIS Debugger</a:t>
            </a:r>
          </a:p>
          <a:p>
            <a:pPr marL="0" marR="0" lvl="0" indent="0" algn="ctr" defTabSz="914400" rtl="0" eaLnBrk="0" fontAlgn="base" latinLnBrk="0" hangingPunct="0">
              <a:lnSpc>
                <a:spcPct val="100000"/>
              </a:lnSpc>
              <a:spcBef>
                <a:spcPct val="0"/>
              </a:spcBef>
              <a:spcAft>
                <a:spcPct val="0"/>
              </a:spcAft>
              <a:buClrTx/>
              <a:buSzTx/>
              <a:buFontTx/>
              <a:buNone/>
              <a:tabLst/>
              <a:defRPr/>
            </a:pPr>
            <a:r>
              <a:rPr lang="en-US" sz="900" dirty="0">
                <a:solidFill>
                  <a:schemeClr val="bg1"/>
                </a:solidFill>
                <a:latin typeface="Calibri"/>
              </a:rPr>
              <a:t>VS Code Extension</a:t>
            </a:r>
            <a:endParaRPr kumimoji="0" lang="en-US" sz="1000" i="0" u="none" strike="noStrike" kern="1200" cap="none" spc="0" normalizeH="0" baseline="0" noProof="0" dirty="0">
              <a:ln>
                <a:noFill/>
              </a:ln>
              <a:solidFill>
                <a:schemeClr val="bg1"/>
              </a:solidFill>
              <a:effectLst/>
              <a:uLnTx/>
              <a:uFillTx/>
              <a:latin typeface="Calibri"/>
              <a:ea typeface="+mn-ea"/>
              <a:cs typeface="+mn-cs"/>
            </a:endParaRPr>
          </a:p>
        </p:txBody>
      </p:sp>
      <p:sp>
        <p:nvSpPr>
          <p:cNvPr id="29" name="Rectangle 28">
            <a:extLst>
              <a:ext uri="{FF2B5EF4-FFF2-40B4-BE49-F238E27FC236}">
                <a16:creationId xmlns:a16="http://schemas.microsoft.com/office/drawing/2014/main" id="{4C2ADE50-0139-9F9C-780E-AE0174445AE4}"/>
              </a:ext>
            </a:extLst>
          </p:cNvPr>
          <p:cNvSpPr/>
          <p:nvPr/>
        </p:nvSpPr>
        <p:spPr>
          <a:xfrm>
            <a:off x="8811605" y="1673909"/>
            <a:ext cx="1927475" cy="58556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chemeClr val="bg1"/>
                </a:solidFill>
                <a:effectLst/>
                <a:uLnTx/>
                <a:uFillTx/>
                <a:latin typeface="Calibri"/>
                <a:ea typeface="+mn-ea"/>
                <a:cs typeface="+mn-cs"/>
              </a:rPr>
              <a:t>Trace Viewer + Trace Server</a:t>
            </a:r>
            <a:br>
              <a:rPr kumimoji="0" lang="en-US" sz="1200" b="1" i="0" u="none" strike="noStrike" kern="1200" cap="none" spc="0" normalizeH="0" baseline="0" noProof="0" dirty="0">
                <a:ln>
                  <a:noFill/>
                </a:ln>
                <a:solidFill>
                  <a:schemeClr val="bg1"/>
                </a:solidFill>
                <a:effectLst/>
                <a:uLnTx/>
                <a:uFillTx/>
                <a:latin typeface="Calibri"/>
                <a:ea typeface="+mn-ea"/>
                <a:cs typeface="+mn-cs"/>
              </a:rPr>
            </a:br>
            <a:r>
              <a:rPr kumimoji="0" lang="en-US" sz="1200" i="0" u="none" strike="noStrike" kern="1200" cap="none" spc="0" normalizeH="0" baseline="0" noProof="0" dirty="0">
                <a:ln>
                  <a:noFill/>
                </a:ln>
                <a:solidFill>
                  <a:schemeClr val="bg1"/>
                </a:solidFill>
                <a:effectLst/>
                <a:uLnTx/>
                <a:uFillTx/>
                <a:latin typeface="Calibri"/>
                <a:ea typeface="+mn-ea"/>
                <a:cs typeface="+mn-cs"/>
              </a:rPr>
              <a:t>CMSIS Debugger</a:t>
            </a:r>
          </a:p>
          <a:p>
            <a:pPr marL="0" marR="0" lvl="0" indent="0" algn="ctr" defTabSz="914400" rtl="0" eaLnBrk="0" fontAlgn="base" latinLnBrk="0" hangingPunct="0">
              <a:lnSpc>
                <a:spcPct val="100000"/>
              </a:lnSpc>
              <a:spcBef>
                <a:spcPct val="0"/>
              </a:spcBef>
              <a:spcAft>
                <a:spcPct val="0"/>
              </a:spcAft>
              <a:buClrTx/>
              <a:buSzTx/>
              <a:buFontTx/>
              <a:buNone/>
              <a:tabLst/>
              <a:defRPr/>
            </a:pPr>
            <a:r>
              <a:rPr lang="en-US" sz="900" dirty="0">
                <a:solidFill>
                  <a:schemeClr val="bg1"/>
                </a:solidFill>
                <a:latin typeface="Calibri"/>
              </a:rPr>
              <a:t>VS Code Extension</a:t>
            </a:r>
            <a:endParaRPr kumimoji="0" lang="en-US" sz="1000" i="0" u="none" strike="noStrike" kern="1200" cap="none" spc="0" normalizeH="0" baseline="0" noProof="0" dirty="0">
              <a:ln>
                <a:noFill/>
              </a:ln>
              <a:solidFill>
                <a:schemeClr val="bg1"/>
              </a:solidFill>
              <a:effectLst/>
              <a:uLnTx/>
              <a:uFillTx/>
              <a:latin typeface="Calibri"/>
              <a:ea typeface="+mn-ea"/>
              <a:cs typeface="+mn-cs"/>
            </a:endParaRPr>
          </a:p>
        </p:txBody>
      </p:sp>
      <p:sp>
        <p:nvSpPr>
          <p:cNvPr id="30" name="Rectangle 29">
            <a:extLst>
              <a:ext uri="{FF2B5EF4-FFF2-40B4-BE49-F238E27FC236}">
                <a16:creationId xmlns:a16="http://schemas.microsoft.com/office/drawing/2014/main" id="{6B8DFB24-BAD8-1424-B6E8-1DBD11416565}"/>
              </a:ext>
            </a:extLst>
          </p:cNvPr>
          <p:cNvSpPr/>
          <p:nvPr/>
        </p:nvSpPr>
        <p:spPr>
          <a:xfrm>
            <a:off x="6557398" y="3447564"/>
            <a:ext cx="1927475" cy="911739"/>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eaLnBrk="0" fontAlgn="base" hangingPunct="0">
              <a:spcBef>
                <a:spcPct val="0"/>
              </a:spcBef>
              <a:spcAft>
                <a:spcPct val="0"/>
              </a:spcAft>
              <a:defRPr/>
            </a:pPr>
            <a:r>
              <a:rPr lang="en-US" sz="1200" b="1" dirty="0">
                <a:solidFill>
                  <a:schemeClr val="bg1"/>
                </a:solidFill>
                <a:latin typeface="Calibri"/>
              </a:rPr>
              <a:t>Configure Target and</a:t>
            </a:r>
            <a:br>
              <a:rPr lang="en-US" sz="1200" b="1" dirty="0">
                <a:solidFill>
                  <a:schemeClr val="bg1"/>
                </a:solidFill>
                <a:latin typeface="Calibri"/>
              </a:rPr>
            </a:br>
            <a:r>
              <a:rPr lang="en-US" sz="1200" b="1" dirty="0">
                <a:solidFill>
                  <a:schemeClr val="bg1"/>
                </a:solidFill>
                <a:latin typeface="Calibri"/>
              </a:rPr>
              <a:t>Collect Trace</a:t>
            </a:r>
            <a:br>
              <a:rPr lang="en-US" sz="1200" b="1" dirty="0">
                <a:solidFill>
                  <a:schemeClr val="bg1"/>
                </a:solidFill>
                <a:latin typeface="Calibri"/>
              </a:rPr>
            </a:br>
            <a:br>
              <a:rPr lang="en-US" sz="1200" dirty="0">
                <a:solidFill>
                  <a:schemeClr val="bg1"/>
                </a:solidFill>
                <a:latin typeface="Calibri"/>
              </a:rPr>
            </a:br>
            <a:r>
              <a:rPr lang="en-US" sz="1200" dirty="0" err="1">
                <a:solidFill>
                  <a:schemeClr val="bg1"/>
                </a:solidFill>
                <a:latin typeface="Calibri"/>
              </a:rPr>
              <a:t>pyOCD</a:t>
            </a:r>
            <a:br>
              <a:rPr kumimoji="0" lang="en-US" sz="12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12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14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br>
              <a:rPr kumimoji="0" lang="en-US" sz="8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rPr>
            </a:br>
            <a:endParaRPr kumimoji="0" lang="en-US" sz="11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endParaRPr>
          </a:p>
        </p:txBody>
      </p:sp>
      <p:pic>
        <p:nvPicPr>
          <p:cNvPr id="31" name="Picture 2" descr="pyOCD">
            <a:extLst>
              <a:ext uri="{FF2B5EF4-FFF2-40B4-BE49-F238E27FC236}">
                <a16:creationId xmlns:a16="http://schemas.microsoft.com/office/drawing/2014/main" id="{8A3C820A-01E9-827D-7F87-755DD9BB13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0097" y="3728487"/>
            <a:ext cx="469937" cy="619886"/>
          </a:xfrm>
          <a:prstGeom prst="rect">
            <a:avLst/>
          </a:prstGeom>
          <a:noFill/>
          <a:extLst>
            <a:ext uri="{909E8E84-426E-40DD-AFC4-6F175D3DCCD1}">
              <a14:hiddenFill xmlns:a14="http://schemas.microsoft.com/office/drawing/2010/main">
                <a:solidFill>
                  <a:srgbClr val="FFFFFF"/>
                </a:solidFill>
              </a14:hiddenFill>
            </a:ext>
          </a:extLst>
        </p:spPr>
      </p:pic>
      <p:sp>
        <p:nvSpPr>
          <p:cNvPr id="32" name="Flowchart: Document 31">
            <a:extLst>
              <a:ext uri="{FF2B5EF4-FFF2-40B4-BE49-F238E27FC236}">
                <a16:creationId xmlns:a16="http://schemas.microsoft.com/office/drawing/2014/main" id="{38CD9CF5-63BC-812F-D528-FC464476CED7}"/>
              </a:ext>
            </a:extLst>
          </p:cNvPr>
          <p:cNvSpPr/>
          <p:nvPr/>
        </p:nvSpPr>
        <p:spPr>
          <a:xfrm>
            <a:off x="2049535" y="2430791"/>
            <a:ext cx="1927474" cy="780242"/>
          </a:xfrm>
          <a:prstGeom prst="flowChartDocument">
            <a:avLst/>
          </a:prstGeom>
          <a:solidFill>
            <a:schemeClr val="accent5">
              <a:lumMod val="40000"/>
              <a:lumOff val="6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vl="0" algn="ctr" eaLnBrk="0" fontAlgn="base" hangingPunct="0">
              <a:spcBef>
                <a:spcPct val="0"/>
              </a:spcBef>
              <a:spcAft>
                <a:spcPct val="0"/>
              </a:spcAft>
              <a:defRPr/>
            </a:pPr>
            <a:r>
              <a:rPr lang="en-US" sz="1200" b="1" dirty="0">
                <a:solidFill>
                  <a:srgbClr val="E5ECEB">
                    <a:lumMod val="25000"/>
                  </a:srgbClr>
                </a:solidFill>
              </a:rPr>
              <a:t>Trace Communication Setup</a:t>
            </a:r>
            <a:br>
              <a:rPr lang="en-US" sz="1200" b="1" dirty="0">
                <a:solidFill>
                  <a:srgbClr val="E5ECEB">
                    <a:lumMod val="25000"/>
                  </a:srgbClr>
                </a:solidFill>
              </a:rPr>
            </a:br>
            <a:r>
              <a:rPr lang="en-US" sz="1200" dirty="0">
                <a:solidFill>
                  <a:srgbClr val="E5ECEB">
                    <a:lumMod val="25000"/>
                  </a:srgbClr>
                </a:solidFill>
                <a:latin typeface="Calibri"/>
              </a:rPr>
              <a:t>My</a:t>
            </a:r>
            <a:r>
              <a:rPr kumimoji="0" lang="en-US" sz="1200" i="0" u="none" strike="noStrike" kern="1200" cap="none" spc="0" normalizeH="0" baseline="0" noProof="0" dirty="0">
                <a:ln>
                  <a:noFill/>
                </a:ln>
                <a:solidFill>
                  <a:srgbClr val="E5ECEB">
                    <a:lumMod val="25000"/>
                  </a:srgbClr>
                </a:solidFill>
                <a:effectLst/>
                <a:uLnTx/>
                <a:uFillTx/>
                <a:latin typeface="Calibri"/>
                <a:ea typeface="+mn-ea"/>
                <a:cs typeface="+mn-cs"/>
              </a:rPr>
              <a:t>.</a:t>
            </a:r>
            <a:r>
              <a:rPr kumimoji="0" lang="en-US" sz="1200" i="0" u="none" strike="noStrike" kern="1200" cap="none" spc="0" normalizeH="0" baseline="0" noProof="0" dirty="0" err="1">
                <a:ln>
                  <a:noFill/>
                </a:ln>
                <a:solidFill>
                  <a:srgbClr val="E5ECEB">
                    <a:lumMod val="25000"/>
                  </a:srgbClr>
                </a:solidFill>
                <a:effectLst/>
                <a:uLnTx/>
                <a:uFillTx/>
                <a:latin typeface="Calibri"/>
                <a:ea typeface="+mn-ea"/>
                <a:cs typeface="+mn-cs"/>
              </a:rPr>
              <a:t>csolution.yml</a:t>
            </a:r>
            <a:endParaRPr kumimoji="0" lang="en-US" sz="1200" i="0" u="none" strike="noStrike" kern="1200" cap="none" spc="0" normalizeH="0" baseline="0" noProof="0" dirty="0">
              <a:ln>
                <a:noFill/>
              </a:ln>
              <a:solidFill>
                <a:srgbClr val="E5ECEB">
                  <a:lumMod val="25000"/>
                </a:srgbClr>
              </a:solidFill>
              <a:effectLst/>
              <a:uLnTx/>
              <a:uFillTx/>
              <a:latin typeface="Calibri"/>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i="0" u="none" strike="noStrike" kern="1200" cap="none" spc="0" normalizeH="0" baseline="0" noProof="0" dirty="0">
                <a:ln>
                  <a:noFill/>
                </a:ln>
                <a:solidFill>
                  <a:srgbClr val="E5ECEB">
                    <a:lumMod val="25000"/>
                  </a:srgbClr>
                </a:solidFill>
                <a:effectLst/>
                <a:uLnTx/>
                <a:uFillTx/>
                <a:latin typeface="Calibri"/>
                <a:ea typeface="+mn-ea"/>
                <a:cs typeface="+mn-cs"/>
              </a:rPr>
              <a:t>&lt;target-set&gt;.</a:t>
            </a:r>
            <a:r>
              <a:rPr kumimoji="0" lang="en-US" sz="1200" i="0" u="none" strike="noStrike" kern="1200" cap="none" spc="0" normalizeH="0" baseline="0" noProof="0" dirty="0" err="1">
                <a:ln>
                  <a:noFill/>
                </a:ln>
                <a:solidFill>
                  <a:srgbClr val="E5ECEB">
                    <a:lumMod val="25000"/>
                  </a:srgbClr>
                </a:solidFill>
                <a:effectLst/>
                <a:uLnTx/>
                <a:uFillTx/>
                <a:latin typeface="Calibri"/>
                <a:ea typeface="+mn-ea"/>
                <a:cs typeface="+mn-cs"/>
              </a:rPr>
              <a:t>dbgconf</a:t>
            </a:r>
            <a:endParaRPr kumimoji="0" lang="en-GB" sz="110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sp>
        <p:nvSpPr>
          <p:cNvPr id="33" name="Flowchart: Document 32">
            <a:extLst>
              <a:ext uri="{FF2B5EF4-FFF2-40B4-BE49-F238E27FC236}">
                <a16:creationId xmlns:a16="http://schemas.microsoft.com/office/drawing/2014/main" id="{D3E0ABD0-396E-4EB8-E79D-7CA494269286}"/>
              </a:ext>
            </a:extLst>
          </p:cNvPr>
          <p:cNvSpPr/>
          <p:nvPr/>
        </p:nvSpPr>
        <p:spPr>
          <a:xfrm>
            <a:off x="2049535" y="5408506"/>
            <a:ext cx="1927474" cy="517375"/>
          </a:xfrm>
          <a:prstGeom prst="flowChartDocument">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a:solidFill>
                  <a:srgbClr val="E5ECEB">
                    <a:lumMod val="25000"/>
                  </a:srgbClr>
                </a:solidFill>
                <a:latin typeface="Calibri"/>
              </a:rPr>
              <a:t>&lt;</a:t>
            </a:r>
            <a:r>
              <a:rPr kumimoji="0" lang="en-US" sz="1200" i="0" u="none" strike="noStrike" kern="1200" cap="none" spc="0" normalizeH="0" baseline="0" noProof="0" dirty="0">
                <a:ln>
                  <a:noFill/>
                </a:ln>
                <a:solidFill>
                  <a:srgbClr val="E5ECEB">
                    <a:lumMod val="25000"/>
                  </a:srgbClr>
                </a:solidFill>
                <a:effectLst/>
                <a:uLnTx/>
                <a:uFillTx/>
                <a:latin typeface="Calibri"/>
                <a:ea typeface="+mn-ea"/>
                <a:cs typeface="+mn-cs"/>
              </a:rPr>
              <a:t>target-set&gt;.</a:t>
            </a:r>
            <a:r>
              <a:rPr kumimoji="0" lang="en-US" sz="1200" i="0" u="none" strike="noStrike" kern="1200" cap="none" spc="0" normalizeH="0" baseline="0" noProof="0" dirty="0" err="1">
                <a:ln>
                  <a:noFill/>
                </a:ln>
                <a:solidFill>
                  <a:srgbClr val="E5ECEB">
                    <a:lumMod val="25000"/>
                  </a:srgbClr>
                </a:solidFill>
                <a:effectLst/>
                <a:uLnTx/>
                <a:uFillTx/>
                <a:latin typeface="Calibri"/>
                <a:ea typeface="+mn-ea"/>
                <a:cs typeface="+mn-cs"/>
              </a:rPr>
              <a:t>cbuild-run.yml</a:t>
            </a:r>
            <a:endParaRPr kumimoji="0" lang="en-GB" sz="110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sp>
        <p:nvSpPr>
          <p:cNvPr id="37" name="Rectangle 36">
            <a:extLst>
              <a:ext uri="{FF2B5EF4-FFF2-40B4-BE49-F238E27FC236}">
                <a16:creationId xmlns:a16="http://schemas.microsoft.com/office/drawing/2014/main" id="{23CC304C-D2A0-ACE1-3703-7EF3B02E75C1}"/>
              </a:ext>
            </a:extLst>
          </p:cNvPr>
          <p:cNvSpPr/>
          <p:nvPr/>
        </p:nvSpPr>
        <p:spPr>
          <a:xfrm>
            <a:off x="4337722" y="3447564"/>
            <a:ext cx="1927476" cy="900809"/>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chemeClr val="bg1"/>
                </a:solidFill>
                <a:effectLst/>
                <a:uLnTx/>
                <a:uFillTx/>
                <a:latin typeface="Calibri"/>
                <a:ea typeface="+mn-ea"/>
                <a:cs typeface="+mn-cs"/>
              </a:rPr>
              <a:t>Convert Trace Generation Setup to Corsight Register Values</a:t>
            </a:r>
            <a:endParaRPr kumimoji="0" lang="en-US" sz="600" b="1" i="0" u="none" strike="noStrike" kern="1200" cap="none" spc="0" normalizeH="0" baseline="0" noProof="0" dirty="0">
              <a:ln>
                <a:noFill/>
              </a:ln>
              <a:solidFill>
                <a:schemeClr val="bg1"/>
              </a:solidFill>
              <a:effectLst/>
              <a:uLnTx/>
              <a:uFillTx/>
              <a:latin typeface="Calibri"/>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i="0" u="none" strike="noStrike" kern="1200" cap="none" spc="0" normalizeH="0" baseline="0" noProof="0" dirty="0" err="1">
                <a:ln>
                  <a:noFill/>
                </a:ln>
                <a:solidFill>
                  <a:schemeClr val="bg1"/>
                </a:solidFill>
                <a:effectLst/>
                <a:uLnTx/>
                <a:uFillTx/>
                <a:latin typeface="Calibri"/>
                <a:ea typeface="+mn-ea"/>
                <a:cs typeface="+mn-cs"/>
              </a:rPr>
              <a:t>pyTS</a:t>
            </a:r>
            <a:endParaRPr kumimoji="0" lang="en-US" sz="1200" i="0" u="none" strike="noStrike" kern="1200" cap="none" spc="0" normalizeH="0" baseline="0" noProof="0" dirty="0">
              <a:ln>
                <a:noFill/>
              </a:ln>
              <a:solidFill>
                <a:schemeClr val="bg1"/>
              </a:solidFill>
              <a:effectLst/>
              <a:uLnTx/>
              <a:uFillTx/>
              <a:latin typeface="Calibri"/>
              <a:ea typeface="+mn-ea"/>
              <a:cs typeface="+mn-cs"/>
            </a:endParaRPr>
          </a:p>
        </p:txBody>
      </p:sp>
      <p:sp>
        <p:nvSpPr>
          <p:cNvPr id="38" name="Flowchart: Document 37">
            <a:extLst>
              <a:ext uri="{FF2B5EF4-FFF2-40B4-BE49-F238E27FC236}">
                <a16:creationId xmlns:a16="http://schemas.microsoft.com/office/drawing/2014/main" id="{35556EE7-90EF-A885-B30F-58198546A47A}"/>
              </a:ext>
            </a:extLst>
          </p:cNvPr>
          <p:cNvSpPr/>
          <p:nvPr/>
        </p:nvSpPr>
        <p:spPr>
          <a:xfrm>
            <a:off x="4337724" y="2430791"/>
            <a:ext cx="1927474" cy="780242"/>
          </a:xfrm>
          <a:prstGeom prst="flowChartDocument">
            <a:avLst/>
          </a:prstGeom>
          <a:solidFill>
            <a:schemeClr val="accent5">
              <a:lumMod val="40000"/>
              <a:lumOff val="6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vl="0" algn="ctr" eaLnBrk="0" fontAlgn="base" hangingPunct="0">
              <a:spcBef>
                <a:spcPct val="0"/>
              </a:spcBef>
              <a:spcAft>
                <a:spcPct val="0"/>
              </a:spcAft>
              <a:defRPr/>
            </a:pPr>
            <a:r>
              <a:rPr lang="en-US" sz="1200" b="1" dirty="0">
                <a:solidFill>
                  <a:srgbClr val="E5ECEB">
                    <a:lumMod val="25000"/>
                  </a:srgbClr>
                </a:solidFill>
              </a:rPr>
              <a:t>Trace Generation Setup</a:t>
            </a:r>
            <a:br>
              <a:rPr lang="en-US" sz="1200" b="1" dirty="0">
                <a:solidFill>
                  <a:srgbClr val="E5ECEB">
                    <a:lumMod val="25000"/>
                  </a:srgbClr>
                </a:solidFill>
              </a:rPr>
            </a:br>
            <a:r>
              <a:rPr kumimoji="0" lang="en-US" sz="1200" i="0" u="none" strike="noStrike" kern="1200" cap="none" spc="0" normalizeH="0" baseline="0" noProof="0" dirty="0">
                <a:ln>
                  <a:noFill/>
                </a:ln>
                <a:solidFill>
                  <a:srgbClr val="E5ECEB">
                    <a:lumMod val="25000"/>
                  </a:srgbClr>
                </a:solidFill>
                <a:effectLst/>
                <a:uLnTx/>
                <a:uFillTx/>
                <a:latin typeface="Calibri"/>
                <a:ea typeface="+mn-ea"/>
                <a:cs typeface="+mn-cs"/>
              </a:rPr>
              <a:t>&lt;target-set&gt;.</a:t>
            </a:r>
            <a:r>
              <a:rPr kumimoji="0" lang="en-US" sz="1200" i="0" u="none" strike="noStrike" kern="1200" cap="none" spc="0" normalizeH="0" baseline="0" noProof="0" dirty="0" err="1">
                <a:ln>
                  <a:noFill/>
                </a:ln>
                <a:solidFill>
                  <a:srgbClr val="E5ECEB">
                    <a:lumMod val="25000"/>
                  </a:srgbClr>
                </a:solidFill>
                <a:effectLst/>
                <a:uLnTx/>
                <a:uFillTx/>
                <a:latin typeface="Calibri"/>
                <a:ea typeface="+mn-ea"/>
                <a:cs typeface="+mn-cs"/>
              </a:rPr>
              <a:t>ctrace.yml</a:t>
            </a:r>
            <a:endParaRPr kumimoji="0" lang="en-GB" sz="110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sp>
        <p:nvSpPr>
          <p:cNvPr id="40" name="Flowchart: Multidocument 39">
            <a:extLst>
              <a:ext uri="{FF2B5EF4-FFF2-40B4-BE49-F238E27FC236}">
                <a16:creationId xmlns:a16="http://schemas.microsoft.com/office/drawing/2014/main" id="{DF50F4AA-CA9E-0011-49A7-09E8FBAF51F4}"/>
              </a:ext>
            </a:extLst>
          </p:cNvPr>
          <p:cNvSpPr/>
          <p:nvPr/>
        </p:nvSpPr>
        <p:spPr>
          <a:xfrm>
            <a:off x="6564488" y="4616251"/>
            <a:ext cx="1927474" cy="780242"/>
          </a:xfrm>
          <a:prstGeom prst="flowChartMultidocument">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b="1" dirty="0">
                <a:solidFill>
                  <a:srgbClr val="E5ECEB">
                    <a:lumMod val="25000"/>
                  </a:srgbClr>
                </a:solidFill>
                <a:latin typeface="Calibri"/>
              </a:rPr>
              <a:t>Raw Trace Stream</a:t>
            </a:r>
            <a:br>
              <a:rPr lang="en-US" sz="1200" b="1" dirty="0">
                <a:solidFill>
                  <a:srgbClr val="E5ECEB">
                    <a:lumMod val="25000"/>
                  </a:srgbClr>
                </a:solidFill>
                <a:latin typeface="Calibri"/>
              </a:rPr>
            </a:br>
            <a:r>
              <a:rPr lang="en-US" sz="1200" b="1" dirty="0">
                <a:solidFill>
                  <a:srgbClr val="E5ECEB">
                    <a:lumMod val="25000"/>
                  </a:srgbClr>
                </a:solidFill>
                <a:latin typeface="Calibri"/>
              </a:rPr>
              <a:t>&lt;</a:t>
            </a:r>
            <a:r>
              <a:rPr lang="en-US" sz="1200" dirty="0">
                <a:solidFill>
                  <a:srgbClr val="E5ECEB">
                    <a:lumMod val="25000"/>
                  </a:srgbClr>
                </a:solidFill>
                <a:latin typeface="Calibri"/>
              </a:rPr>
              <a:t>target-set&gt;.</a:t>
            </a:r>
            <a:r>
              <a:rPr lang="en-US" sz="1200" dirty="0" err="1">
                <a:solidFill>
                  <a:srgbClr val="E5ECEB">
                    <a:lumMod val="25000"/>
                  </a:srgbClr>
                </a:solidFill>
                <a:latin typeface="Calibri"/>
              </a:rPr>
              <a:t>SWOraw</a:t>
            </a:r>
            <a:br>
              <a:rPr lang="en-US" sz="1200" dirty="0">
                <a:solidFill>
                  <a:srgbClr val="E5ECEB">
                    <a:lumMod val="25000"/>
                  </a:srgbClr>
                </a:solidFill>
                <a:latin typeface="Calibri"/>
              </a:rPr>
            </a:br>
            <a:endParaRPr kumimoji="0" lang="en-US" sz="80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41" name="Flowchart: Document 40">
            <a:extLst>
              <a:ext uri="{FF2B5EF4-FFF2-40B4-BE49-F238E27FC236}">
                <a16:creationId xmlns:a16="http://schemas.microsoft.com/office/drawing/2014/main" id="{7C88D349-419C-439E-5F37-578F3DD8931B}"/>
              </a:ext>
            </a:extLst>
          </p:cNvPr>
          <p:cNvSpPr/>
          <p:nvPr/>
        </p:nvSpPr>
        <p:spPr>
          <a:xfrm>
            <a:off x="4337724" y="5237108"/>
            <a:ext cx="1927474" cy="517375"/>
          </a:xfrm>
          <a:prstGeom prst="flowChartDocument">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a:solidFill>
                  <a:srgbClr val="E5ECEB">
                    <a:lumMod val="25000"/>
                  </a:srgbClr>
                </a:solidFill>
                <a:latin typeface="Calibri"/>
              </a:rPr>
              <a:t>&lt;</a:t>
            </a:r>
            <a:r>
              <a:rPr kumimoji="0" lang="en-US" sz="1200" i="0" u="none" strike="noStrike" kern="1200" cap="none" spc="0" normalizeH="0" baseline="0" noProof="0" dirty="0">
                <a:ln>
                  <a:noFill/>
                </a:ln>
                <a:solidFill>
                  <a:srgbClr val="E5ECEB">
                    <a:lumMod val="25000"/>
                  </a:srgbClr>
                </a:solidFill>
                <a:effectLst/>
                <a:uLnTx/>
                <a:uFillTx/>
                <a:latin typeface="Calibri"/>
                <a:ea typeface="+mn-ea"/>
                <a:cs typeface="+mn-cs"/>
              </a:rPr>
              <a:t>target-set&gt;.</a:t>
            </a:r>
            <a:r>
              <a:rPr kumimoji="0" lang="en-US" sz="1200" i="0" u="none" strike="noStrike" kern="1200" cap="none" spc="0" normalizeH="0" baseline="0" noProof="0" dirty="0" err="1">
                <a:ln>
                  <a:noFill/>
                </a:ln>
                <a:solidFill>
                  <a:srgbClr val="E5ECEB">
                    <a:lumMod val="25000"/>
                  </a:srgbClr>
                </a:solidFill>
                <a:effectLst/>
                <a:uLnTx/>
                <a:uFillTx/>
                <a:latin typeface="Calibri"/>
                <a:ea typeface="+mn-ea"/>
                <a:cs typeface="+mn-cs"/>
              </a:rPr>
              <a:t>ctrace-run.yml</a:t>
            </a:r>
            <a:endParaRPr kumimoji="0" lang="en-GB" sz="1100" i="0" u="none" strike="noStrike" kern="1200" cap="none" spc="0" normalizeH="0" baseline="0" noProof="0" dirty="0">
              <a:ln>
                <a:noFill/>
              </a:ln>
              <a:solidFill>
                <a:srgbClr val="E5ECEB">
                  <a:lumMod val="25000"/>
                </a:srgbClr>
              </a:solidFill>
              <a:effectLst/>
              <a:uLnTx/>
              <a:uFillTx/>
              <a:latin typeface="Calibri"/>
              <a:ea typeface="+mn-ea"/>
              <a:cs typeface="+mn-cs"/>
            </a:endParaRPr>
          </a:p>
        </p:txBody>
      </p:sp>
      <p:cxnSp>
        <p:nvCxnSpPr>
          <p:cNvPr id="44" name="Straight Arrow Connector 43">
            <a:extLst>
              <a:ext uri="{FF2B5EF4-FFF2-40B4-BE49-F238E27FC236}">
                <a16:creationId xmlns:a16="http://schemas.microsoft.com/office/drawing/2014/main" id="{D75C44E2-198B-1677-7D76-31A4AFEFAED4}"/>
              </a:ext>
            </a:extLst>
          </p:cNvPr>
          <p:cNvCxnSpPr>
            <a:stCxn id="32" idx="2"/>
            <a:endCxn id="22" idx="0"/>
          </p:cNvCxnSpPr>
          <p:nvPr/>
        </p:nvCxnSpPr>
        <p:spPr>
          <a:xfrm>
            <a:off x="3013272" y="3159450"/>
            <a:ext cx="1" cy="28811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5D7D6420-523F-E864-7F92-3804501E8AD5}"/>
              </a:ext>
            </a:extLst>
          </p:cNvPr>
          <p:cNvCxnSpPr>
            <a:cxnSpLocks/>
            <a:stCxn id="38" idx="2"/>
            <a:endCxn id="37" idx="0"/>
          </p:cNvCxnSpPr>
          <p:nvPr/>
        </p:nvCxnSpPr>
        <p:spPr>
          <a:xfrm flipH="1">
            <a:off x="5301460" y="3159450"/>
            <a:ext cx="1" cy="28811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BDF2B361-B36E-F9A7-C44D-D579C57E84C0}"/>
              </a:ext>
            </a:extLst>
          </p:cNvPr>
          <p:cNvCxnSpPr>
            <a:cxnSpLocks/>
          </p:cNvCxnSpPr>
          <p:nvPr/>
        </p:nvCxnSpPr>
        <p:spPr>
          <a:xfrm>
            <a:off x="2873790" y="4335042"/>
            <a:ext cx="0" cy="24661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61213AD6-1D33-5C60-D729-51698B9B46BC}"/>
              </a:ext>
            </a:extLst>
          </p:cNvPr>
          <p:cNvCxnSpPr>
            <a:cxnSpLocks/>
            <a:endCxn id="41" idx="0"/>
          </p:cNvCxnSpPr>
          <p:nvPr/>
        </p:nvCxnSpPr>
        <p:spPr>
          <a:xfrm>
            <a:off x="5301459" y="4348373"/>
            <a:ext cx="2" cy="88873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C9B7B6DA-AD6F-5951-3049-86789B512DB1}"/>
              </a:ext>
            </a:extLst>
          </p:cNvPr>
          <p:cNvCxnSpPr>
            <a:cxnSpLocks/>
          </p:cNvCxnSpPr>
          <p:nvPr/>
        </p:nvCxnSpPr>
        <p:spPr>
          <a:xfrm flipV="1">
            <a:off x="3977009" y="4335042"/>
            <a:ext cx="377212" cy="23778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56E6950C-52CE-61EA-E244-11892E3E09D5}"/>
              </a:ext>
            </a:extLst>
          </p:cNvPr>
          <p:cNvSpPr/>
          <p:nvPr/>
        </p:nvSpPr>
        <p:spPr>
          <a:xfrm>
            <a:off x="8811604" y="4425884"/>
            <a:ext cx="1927475" cy="911739"/>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defRPr/>
            </a:pPr>
            <a:r>
              <a:rPr lang="en-US" sz="1200" b="1" dirty="0"/>
              <a:t>Trace Decoder</a:t>
            </a:r>
            <a:br>
              <a:rPr lang="en-US" sz="1200" b="1" dirty="0"/>
            </a:br>
            <a:r>
              <a:rPr lang="en-US" sz="1200" dirty="0" err="1"/>
              <a:t>OpenCSD</a:t>
            </a:r>
            <a:r>
              <a:rPr lang="en-US" sz="1200" dirty="0"/>
              <a:t> + Writer</a:t>
            </a:r>
            <a:br>
              <a:rPr lang="en-US" sz="1200" dirty="0"/>
            </a:br>
            <a:r>
              <a:rPr lang="en-US" sz="1200" dirty="0"/>
              <a:t>CTF Converter</a:t>
            </a:r>
            <a:endParaRPr kumimoji="0" lang="en-US" sz="1100" i="0" u="none" strike="noStrike" kern="1200" cap="none" spc="0" normalizeH="0" baseline="0" noProof="0" dirty="0">
              <a:ln>
                <a:noFill/>
              </a:ln>
              <a:solidFill>
                <a:schemeClr val="bg1"/>
              </a:solidFill>
              <a:effectLst/>
              <a:uLnTx/>
              <a:uFillTx/>
              <a:latin typeface="Calibri"/>
              <a:ea typeface="ＭＳ Ｐゴシック" panose="020B0600070205080204" pitchFamily="34" charset="-128"/>
              <a:cs typeface="+mn-cs"/>
            </a:endParaRPr>
          </a:p>
        </p:txBody>
      </p:sp>
      <p:sp>
        <p:nvSpPr>
          <p:cNvPr id="59" name="Rectangle 58">
            <a:extLst>
              <a:ext uri="{FF2B5EF4-FFF2-40B4-BE49-F238E27FC236}">
                <a16:creationId xmlns:a16="http://schemas.microsoft.com/office/drawing/2014/main" id="{0170ADCE-1393-2A87-58E5-3D2EDEFC4981}"/>
              </a:ext>
            </a:extLst>
          </p:cNvPr>
          <p:cNvSpPr/>
          <p:nvPr/>
        </p:nvSpPr>
        <p:spPr>
          <a:xfrm>
            <a:off x="6580403" y="5656089"/>
            <a:ext cx="181162" cy="21522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schemeClr val="bg1"/>
              </a:solidFill>
              <a:effectLst/>
              <a:uLnTx/>
              <a:uFillTx/>
              <a:latin typeface="Calibri"/>
              <a:ea typeface="+mn-ea"/>
              <a:cs typeface="+mn-cs"/>
            </a:endParaRPr>
          </a:p>
        </p:txBody>
      </p:sp>
      <p:sp>
        <p:nvSpPr>
          <p:cNvPr id="60" name="Rectangle 59">
            <a:extLst>
              <a:ext uri="{FF2B5EF4-FFF2-40B4-BE49-F238E27FC236}">
                <a16:creationId xmlns:a16="http://schemas.microsoft.com/office/drawing/2014/main" id="{E32161E1-BD6F-BC6D-3392-9CC30E40BD27}"/>
              </a:ext>
            </a:extLst>
          </p:cNvPr>
          <p:cNvSpPr/>
          <p:nvPr/>
        </p:nvSpPr>
        <p:spPr>
          <a:xfrm>
            <a:off x="6580403" y="5961183"/>
            <a:ext cx="181163" cy="215226"/>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schemeClr val="bg1"/>
              </a:solidFill>
              <a:effectLst/>
              <a:uLnTx/>
              <a:uFillTx/>
              <a:latin typeface="Calibri"/>
              <a:ea typeface="+mn-ea"/>
              <a:cs typeface="+mn-cs"/>
            </a:endParaRPr>
          </a:p>
        </p:txBody>
      </p:sp>
      <p:sp>
        <p:nvSpPr>
          <p:cNvPr id="61" name="TextBox 60">
            <a:extLst>
              <a:ext uri="{FF2B5EF4-FFF2-40B4-BE49-F238E27FC236}">
                <a16:creationId xmlns:a16="http://schemas.microsoft.com/office/drawing/2014/main" id="{880A03B5-B356-7C5B-99E5-6F9C3B68CCB1}"/>
              </a:ext>
            </a:extLst>
          </p:cNvPr>
          <p:cNvSpPr txBox="1"/>
          <p:nvPr/>
        </p:nvSpPr>
        <p:spPr>
          <a:xfrm>
            <a:off x="6833187" y="5675139"/>
            <a:ext cx="1467293" cy="1661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kern="1200" dirty="0">
                <a:solidFill>
                  <a:schemeClr val="tx2"/>
                </a:solidFill>
                <a:latin typeface="+mn-lt"/>
                <a:ea typeface="+mn-ea"/>
                <a:cs typeface="+mn-cs"/>
              </a:rPr>
              <a:t>IDE Components</a:t>
            </a:r>
          </a:p>
        </p:txBody>
      </p:sp>
      <p:sp>
        <p:nvSpPr>
          <p:cNvPr id="63" name="TextBox 62">
            <a:extLst>
              <a:ext uri="{FF2B5EF4-FFF2-40B4-BE49-F238E27FC236}">
                <a16:creationId xmlns:a16="http://schemas.microsoft.com/office/drawing/2014/main" id="{7297683D-D218-3FDB-BA14-757AF3A95AF8}"/>
              </a:ext>
            </a:extLst>
          </p:cNvPr>
          <p:cNvSpPr txBox="1"/>
          <p:nvPr/>
        </p:nvSpPr>
        <p:spPr>
          <a:xfrm>
            <a:off x="6841075" y="5982448"/>
            <a:ext cx="1467293" cy="1661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kern="1200" dirty="0">
                <a:solidFill>
                  <a:schemeClr val="tx2"/>
                </a:solidFill>
                <a:latin typeface="+mn-lt"/>
                <a:ea typeface="+mn-ea"/>
                <a:cs typeface="+mn-cs"/>
              </a:rPr>
              <a:t>Command-Line Tools</a:t>
            </a:r>
          </a:p>
        </p:txBody>
      </p:sp>
      <p:cxnSp>
        <p:nvCxnSpPr>
          <p:cNvPr id="65" name="Straight Arrow Connector 64">
            <a:extLst>
              <a:ext uri="{FF2B5EF4-FFF2-40B4-BE49-F238E27FC236}">
                <a16:creationId xmlns:a16="http://schemas.microsoft.com/office/drawing/2014/main" id="{F742F151-BAD4-B4C2-9125-6FF757439CC8}"/>
              </a:ext>
            </a:extLst>
          </p:cNvPr>
          <p:cNvCxnSpPr>
            <a:cxnSpLocks/>
          </p:cNvCxnSpPr>
          <p:nvPr/>
        </p:nvCxnSpPr>
        <p:spPr>
          <a:xfrm>
            <a:off x="3153781" y="4348373"/>
            <a:ext cx="0" cy="1060133"/>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6" name="Flowchart: Multidocument 35">
            <a:extLst>
              <a:ext uri="{FF2B5EF4-FFF2-40B4-BE49-F238E27FC236}">
                <a16:creationId xmlns:a16="http://schemas.microsoft.com/office/drawing/2014/main" id="{D3FF11EC-D053-EBE2-0154-2C65E0836157}"/>
              </a:ext>
            </a:extLst>
          </p:cNvPr>
          <p:cNvSpPr/>
          <p:nvPr/>
        </p:nvSpPr>
        <p:spPr>
          <a:xfrm>
            <a:off x="2049535" y="4572830"/>
            <a:ext cx="1927474" cy="708642"/>
          </a:xfrm>
          <a:prstGeom prst="flowChartMultidocument">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b="1" dirty="0">
                <a:solidFill>
                  <a:srgbClr val="E5ECEB">
                    <a:lumMod val="25000"/>
                  </a:srgbClr>
                </a:solidFill>
                <a:latin typeface="Calibri"/>
              </a:rPr>
              <a:t>Image Files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E5ECEB">
                    <a:lumMod val="25000"/>
                  </a:srgbClr>
                </a:solidFill>
                <a:effectLst/>
                <a:uLnTx/>
                <a:uFillTx/>
                <a:latin typeface="Calibri"/>
                <a:ea typeface="+mn-ea"/>
                <a:cs typeface="+mn-cs"/>
              </a:rPr>
              <a:t>ELF/DWARF + </a:t>
            </a:r>
            <a:r>
              <a:rPr lang="en-US" sz="1100" dirty="0">
                <a:solidFill>
                  <a:srgbClr val="E5ECEB">
                    <a:lumMod val="25000"/>
                  </a:srgbClr>
                </a:solidFill>
                <a:latin typeface="Calibri"/>
              </a:rPr>
              <a:t>HEX</a:t>
            </a:r>
            <a:endParaRPr kumimoji="0" lang="en-US" sz="8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68" name="Straight Arrow Connector 67">
            <a:extLst>
              <a:ext uri="{FF2B5EF4-FFF2-40B4-BE49-F238E27FC236}">
                <a16:creationId xmlns:a16="http://schemas.microsoft.com/office/drawing/2014/main" id="{7514A623-0B2C-E276-A9A7-E5149E88BEE7}"/>
              </a:ext>
            </a:extLst>
          </p:cNvPr>
          <p:cNvCxnSpPr>
            <a:cxnSpLocks/>
          </p:cNvCxnSpPr>
          <p:nvPr/>
        </p:nvCxnSpPr>
        <p:spPr>
          <a:xfrm flipV="1">
            <a:off x="6335703" y="4335042"/>
            <a:ext cx="221693" cy="14392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390AEAF5-74B6-A1BD-90B8-B143AB381E3F}"/>
              </a:ext>
            </a:extLst>
          </p:cNvPr>
          <p:cNvCxnSpPr>
            <a:cxnSpLocks/>
            <a:stCxn id="30" idx="2"/>
          </p:cNvCxnSpPr>
          <p:nvPr/>
        </p:nvCxnSpPr>
        <p:spPr>
          <a:xfrm flipH="1">
            <a:off x="7521135" y="4359303"/>
            <a:ext cx="1" cy="23933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74" name="Flowchart: Multidocument 73">
            <a:extLst>
              <a:ext uri="{FF2B5EF4-FFF2-40B4-BE49-F238E27FC236}">
                <a16:creationId xmlns:a16="http://schemas.microsoft.com/office/drawing/2014/main" id="{7F2AFE40-2C86-893A-A03B-245BD5D12065}"/>
              </a:ext>
            </a:extLst>
          </p:cNvPr>
          <p:cNvSpPr/>
          <p:nvPr/>
        </p:nvSpPr>
        <p:spPr>
          <a:xfrm>
            <a:off x="8811604" y="2504486"/>
            <a:ext cx="1927474" cy="708642"/>
          </a:xfrm>
          <a:prstGeom prst="flowChartMultidocument">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b="1" dirty="0">
                <a:solidFill>
                  <a:srgbClr val="E5ECEB">
                    <a:lumMod val="25000"/>
                  </a:srgbClr>
                </a:solidFill>
                <a:latin typeface="Calibri"/>
              </a:rPr>
              <a:t>CTF Files</a:t>
            </a:r>
            <a:endParaRPr kumimoji="0" lang="en-US" sz="8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76" name="Straight Arrow Connector 75">
            <a:extLst>
              <a:ext uri="{FF2B5EF4-FFF2-40B4-BE49-F238E27FC236}">
                <a16:creationId xmlns:a16="http://schemas.microsoft.com/office/drawing/2014/main" id="{0D12F461-323F-DEFD-D32E-7A03CB21A699}"/>
              </a:ext>
            </a:extLst>
          </p:cNvPr>
          <p:cNvCxnSpPr>
            <a:cxnSpLocks/>
            <a:endCxn id="58" idx="1"/>
          </p:cNvCxnSpPr>
          <p:nvPr/>
        </p:nvCxnSpPr>
        <p:spPr>
          <a:xfrm>
            <a:off x="8491962" y="4881754"/>
            <a:ext cx="31964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366F6F6A-4C6B-E843-6196-67EFBB8BBDFD}"/>
              </a:ext>
            </a:extLst>
          </p:cNvPr>
          <p:cNvCxnSpPr>
            <a:cxnSpLocks/>
          </p:cNvCxnSpPr>
          <p:nvPr/>
        </p:nvCxnSpPr>
        <p:spPr>
          <a:xfrm flipV="1">
            <a:off x="9559765" y="4105177"/>
            <a:ext cx="0" cy="32070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6E0923A8-731E-88AE-E0E8-111819F52321}"/>
              </a:ext>
            </a:extLst>
          </p:cNvPr>
          <p:cNvCxnSpPr>
            <a:cxnSpLocks/>
          </p:cNvCxnSpPr>
          <p:nvPr/>
        </p:nvCxnSpPr>
        <p:spPr>
          <a:xfrm flipV="1">
            <a:off x="9889649" y="3126581"/>
            <a:ext cx="0" cy="1299303"/>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64" name="Flowchart: Multidocument 63">
            <a:extLst>
              <a:ext uri="{FF2B5EF4-FFF2-40B4-BE49-F238E27FC236}">
                <a16:creationId xmlns:a16="http://schemas.microsoft.com/office/drawing/2014/main" id="{8925C6B0-509D-3DE2-ADD9-EA3EF354D5A8}"/>
              </a:ext>
            </a:extLst>
          </p:cNvPr>
          <p:cNvSpPr/>
          <p:nvPr/>
        </p:nvSpPr>
        <p:spPr>
          <a:xfrm>
            <a:off x="8811604" y="3429000"/>
            <a:ext cx="1927474" cy="708642"/>
          </a:xfrm>
          <a:prstGeom prst="flowChartMultidocument">
            <a:avLst/>
          </a:prstGeom>
          <a:solidFill>
            <a:schemeClr val="accent3">
              <a:lumMod val="60000"/>
              <a:lumOff val="4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b="1" dirty="0">
                <a:solidFill>
                  <a:srgbClr val="E5ECEB">
                    <a:lumMod val="25000"/>
                  </a:srgbClr>
                </a:solidFill>
                <a:latin typeface="Calibri"/>
              </a:rPr>
              <a:t>Trace Data</a:t>
            </a:r>
            <a:br>
              <a:rPr lang="en-US" sz="1200" b="1" dirty="0">
                <a:solidFill>
                  <a:srgbClr val="E5ECEB">
                    <a:lumMod val="25000"/>
                  </a:srgbClr>
                </a:solidFill>
                <a:latin typeface="Calibri"/>
              </a:rPr>
            </a:br>
            <a:r>
              <a:rPr lang="en-US" sz="1100" dirty="0">
                <a:solidFill>
                  <a:srgbClr val="E5ECEB">
                    <a:lumMod val="25000"/>
                  </a:srgbClr>
                </a:solidFill>
                <a:latin typeface="Calibri"/>
              </a:rPr>
              <a:t>CSV</a:t>
            </a:r>
            <a:endParaRPr kumimoji="0" lang="en-US" sz="8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cxnSp>
        <p:nvCxnSpPr>
          <p:cNvPr id="89" name="Straight Arrow Connector 88">
            <a:extLst>
              <a:ext uri="{FF2B5EF4-FFF2-40B4-BE49-F238E27FC236}">
                <a16:creationId xmlns:a16="http://schemas.microsoft.com/office/drawing/2014/main" id="{756E641D-C46A-D305-3B2B-44B9223CD1DA}"/>
              </a:ext>
            </a:extLst>
          </p:cNvPr>
          <p:cNvCxnSpPr>
            <a:cxnSpLocks/>
          </p:cNvCxnSpPr>
          <p:nvPr/>
        </p:nvCxnSpPr>
        <p:spPr>
          <a:xfrm flipV="1">
            <a:off x="9775560" y="2259475"/>
            <a:ext cx="0" cy="24501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92" name="Rectangle 91">
            <a:extLst>
              <a:ext uri="{FF2B5EF4-FFF2-40B4-BE49-F238E27FC236}">
                <a16:creationId xmlns:a16="http://schemas.microsoft.com/office/drawing/2014/main" id="{46300A62-CCD4-2390-77E7-6C758E27BC74}"/>
              </a:ext>
            </a:extLst>
          </p:cNvPr>
          <p:cNvSpPr/>
          <p:nvPr/>
        </p:nvSpPr>
        <p:spPr>
          <a:xfrm>
            <a:off x="8454690" y="5656089"/>
            <a:ext cx="181162" cy="215226"/>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schemeClr val="bg1"/>
              </a:solidFill>
              <a:effectLst/>
              <a:uLnTx/>
              <a:uFillTx/>
              <a:latin typeface="Calibri"/>
              <a:ea typeface="+mn-ea"/>
              <a:cs typeface="+mn-cs"/>
            </a:endParaRPr>
          </a:p>
        </p:txBody>
      </p:sp>
      <p:sp>
        <p:nvSpPr>
          <p:cNvPr id="93" name="Rectangle 92">
            <a:extLst>
              <a:ext uri="{FF2B5EF4-FFF2-40B4-BE49-F238E27FC236}">
                <a16:creationId xmlns:a16="http://schemas.microsoft.com/office/drawing/2014/main" id="{8AB41F06-1ED0-92E0-6D5E-D1CB1AF823E7}"/>
              </a:ext>
            </a:extLst>
          </p:cNvPr>
          <p:cNvSpPr/>
          <p:nvPr/>
        </p:nvSpPr>
        <p:spPr>
          <a:xfrm>
            <a:off x="8454690" y="5961183"/>
            <a:ext cx="181163" cy="21522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schemeClr val="bg1"/>
              </a:solidFill>
              <a:effectLst/>
              <a:uLnTx/>
              <a:uFillTx/>
              <a:latin typeface="Calibri"/>
              <a:ea typeface="+mn-ea"/>
              <a:cs typeface="+mn-cs"/>
            </a:endParaRPr>
          </a:p>
        </p:txBody>
      </p:sp>
      <p:sp>
        <p:nvSpPr>
          <p:cNvPr id="94" name="TextBox 93">
            <a:extLst>
              <a:ext uri="{FF2B5EF4-FFF2-40B4-BE49-F238E27FC236}">
                <a16:creationId xmlns:a16="http://schemas.microsoft.com/office/drawing/2014/main" id="{F800772E-B46C-FFAB-420C-E8EA07E1CC8D}"/>
              </a:ext>
            </a:extLst>
          </p:cNvPr>
          <p:cNvSpPr txBox="1"/>
          <p:nvPr/>
        </p:nvSpPr>
        <p:spPr>
          <a:xfrm>
            <a:off x="8707474" y="5675139"/>
            <a:ext cx="2385976" cy="1661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kern="1200" dirty="0">
                <a:solidFill>
                  <a:schemeClr val="tx2"/>
                </a:solidFill>
                <a:latin typeface="+mn-lt"/>
                <a:ea typeface="+mn-ea"/>
                <a:cs typeface="+mn-cs"/>
              </a:rPr>
              <a:t>Configuration files (user setup)</a:t>
            </a:r>
          </a:p>
        </p:txBody>
      </p:sp>
      <p:sp>
        <p:nvSpPr>
          <p:cNvPr id="95" name="TextBox 94">
            <a:extLst>
              <a:ext uri="{FF2B5EF4-FFF2-40B4-BE49-F238E27FC236}">
                <a16:creationId xmlns:a16="http://schemas.microsoft.com/office/drawing/2014/main" id="{ED50C711-C252-8A24-925A-6739B8DCCAE8}"/>
              </a:ext>
            </a:extLst>
          </p:cNvPr>
          <p:cNvSpPr txBox="1"/>
          <p:nvPr/>
        </p:nvSpPr>
        <p:spPr>
          <a:xfrm>
            <a:off x="8715362" y="5982448"/>
            <a:ext cx="1467293" cy="1661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dirty="0">
                <a:solidFill>
                  <a:schemeClr val="tx2"/>
                </a:solidFill>
              </a:rPr>
              <a:t>Generated files</a:t>
            </a:r>
            <a:endParaRPr lang="en-US" sz="1200" kern="1200" dirty="0">
              <a:solidFill>
                <a:schemeClr val="tx2"/>
              </a:solidFill>
              <a:latin typeface="+mn-lt"/>
              <a:ea typeface="+mn-ea"/>
              <a:cs typeface="+mn-cs"/>
            </a:endParaRPr>
          </a:p>
        </p:txBody>
      </p:sp>
      <p:cxnSp>
        <p:nvCxnSpPr>
          <p:cNvPr id="10" name="Connector: Elbow 9">
            <a:extLst>
              <a:ext uri="{FF2B5EF4-FFF2-40B4-BE49-F238E27FC236}">
                <a16:creationId xmlns:a16="http://schemas.microsoft.com/office/drawing/2014/main" id="{5C5CB5C3-2EA5-1DDD-AA0D-AC491F71748B}"/>
              </a:ext>
            </a:extLst>
          </p:cNvPr>
          <p:cNvCxnSpPr>
            <a:cxnSpLocks/>
            <a:stCxn id="41" idx="3"/>
            <a:endCxn id="58" idx="2"/>
          </p:cNvCxnSpPr>
          <p:nvPr/>
        </p:nvCxnSpPr>
        <p:spPr>
          <a:xfrm flipV="1">
            <a:off x="6265198" y="5337623"/>
            <a:ext cx="3510144" cy="158173"/>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38269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21.7|59.4"/>
</p:tagLst>
</file>

<file path=ppt/tags/tag2.xml><?xml version="1.0" encoding="utf-8"?>
<p:tagLst xmlns:a="http://schemas.openxmlformats.org/drawingml/2006/main" xmlns:r="http://schemas.openxmlformats.org/officeDocument/2006/relationships" xmlns:p="http://schemas.openxmlformats.org/presentationml/2006/main">
  <p:tag name="TIMING" val="|121.7|59.4"/>
</p:tagLst>
</file>

<file path=ppt/tags/tag3.xml><?xml version="1.0" encoding="utf-8"?>
<p:tagLst xmlns:a="http://schemas.openxmlformats.org/drawingml/2006/main" xmlns:r="http://schemas.openxmlformats.org/officeDocument/2006/relationships" xmlns:p="http://schemas.openxmlformats.org/presentationml/2006/main">
  <p:tag name="TIMING" val="|121.7|59.4"/>
</p:tagLst>
</file>

<file path=ppt/tags/tag4.xml><?xml version="1.0" encoding="utf-8"?>
<p:tagLst xmlns:a="http://schemas.openxmlformats.org/drawingml/2006/main" xmlns:r="http://schemas.openxmlformats.org/officeDocument/2006/relationships" xmlns:p="http://schemas.openxmlformats.org/presentationml/2006/main">
  <p:tag name="TIMING" val="|121.7|59.4"/>
</p:tagLst>
</file>

<file path=ppt/tags/tag5.xml><?xml version="1.0" encoding="utf-8"?>
<p:tagLst xmlns:a="http://schemas.openxmlformats.org/drawingml/2006/main" xmlns:r="http://schemas.openxmlformats.org/officeDocument/2006/relationships" xmlns:p="http://schemas.openxmlformats.org/presentationml/2006/main">
  <p:tag name="TIMING" val="|121.7|59.4"/>
</p:tagLst>
</file>

<file path=ppt/tags/tag6.xml><?xml version="1.0" encoding="utf-8"?>
<p:tagLst xmlns:a="http://schemas.openxmlformats.org/drawingml/2006/main" xmlns:r="http://schemas.openxmlformats.org/officeDocument/2006/relationships" xmlns:p="http://schemas.openxmlformats.org/presentationml/2006/main">
  <p:tag name="TIMING" val="|121.7|59.4"/>
</p:tagLst>
</file>

<file path=ppt/tags/tag7.xml><?xml version="1.0" encoding="utf-8"?>
<p:tagLst xmlns:a="http://schemas.openxmlformats.org/drawingml/2006/main" xmlns:r="http://schemas.openxmlformats.org/officeDocument/2006/relationships" xmlns:p="http://schemas.openxmlformats.org/presentationml/2006/main">
  <p:tag name="TIMING" val="|121.7|59.4"/>
</p:tagLst>
</file>

<file path=ppt/theme/theme1.xml><?xml version="1.0" encoding="utf-8"?>
<a:theme xmlns:a="http://schemas.openxmlformats.org/drawingml/2006/main" name="Arm_PPT_Public">
  <a:themeElements>
    <a:clrScheme name="Arm PPT">
      <a:dk1>
        <a:srgbClr val="000000"/>
      </a:dk1>
      <a:lt1>
        <a:srgbClr val="FFFFFF"/>
      </a:lt1>
      <a:dk2>
        <a:srgbClr val="333E48"/>
      </a:dk2>
      <a:lt2>
        <a:srgbClr val="E5ECEB"/>
      </a:lt2>
      <a:accent1>
        <a:srgbClr val="0091BD"/>
      </a:accent1>
      <a:accent2>
        <a:srgbClr val="002B49"/>
      </a:accent2>
      <a:accent3>
        <a:srgbClr val="FFC700"/>
      </a:accent3>
      <a:accent4>
        <a:srgbClr val="95D600"/>
      </a:accent4>
      <a:accent5>
        <a:srgbClr val="FF6B00"/>
      </a:accent5>
      <a:accent6>
        <a:srgbClr val="7D868C"/>
      </a:accent6>
      <a:hlink>
        <a:srgbClr val="00C1DE"/>
      </a:hlink>
      <a:folHlink>
        <a:srgbClr val="002F6C"/>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Presentation37" id="{BAEDCA4E-07D3-CF45-8582-069B713BBD79}" vid="{B429C1B6-4366-0543-9EF0-CA4016DA91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6492</TotalTime>
  <Words>9949</Words>
  <Application>Microsoft Office PowerPoint</Application>
  <PresentationFormat>Widescreen</PresentationFormat>
  <Paragraphs>1407</Paragraphs>
  <Slides>67</Slides>
  <Notes>34</Notes>
  <HiddenSlides>2</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67</vt:i4>
      </vt:variant>
    </vt:vector>
  </HeadingPairs>
  <TitlesOfParts>
    <vt:vector size="77" baseType="lpstr">
      <vt:lpstr>ＭＳ Ｐゴシック</vt:lpstr>
      <vt:lpstr>-apple-system</vt:lpstr>
      <vt:lpstr>Arial</vt:lpstr>
      <vt:lpstr>Calibri</vt:lpstr>
      <vt:lpstr>Consolas</vt:lpstr>
      <vt:lpstr>Courier New</vt:lpstr>
      <vt:lpstr>Lato</vt:lpstr>
      <vt:lpstr>Times New Roman</vt:lpstr>
      <vt:lpstr>Wingdings</vt:lpstr>
      <vt:lpstr>Arm_PPT_Public</vt:lpstr>
      <vt:lpstr>CMSIS-Toolbox: Basis for next generation software tooling</vt:lpstr>
      <vt:lpstr>Developer require flexibility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Multi-Project Build Process: IDE and CLI</vt:lpstr>
      <vt:lpstr>Application Software – from Virtual to Physical Hardware</vt:lpstr>
      <vt:lpstr>Multi-Project Requirements</vt:lpstr>
      <vt:lpstr>Software Layers Group Pre-configured Software Components</vt:lpstr>
      <vt:lpstr>Scenarios to consider</vt:lpstr>
      <vt:lpstr>CubeMX location of generated files</vt:lpstr>
      <vt:lpstr>CubeMX location of generated files</vt:lpstr>
      <vt:lpstr>CSolution / CBuild: Generator Workflow</vt:lpstr>
      <vt:lpstr>IoT Workshop Example - Structure</vt:lpstr>
      <vt:lpstr>Opportunity: Packs give flexibility to the SW Eco-system</vt:lpstr>
      <vt:lpstr>Linker Script File and Startup Code (Toolchain independent)</vt:lpstr>
      <vt:lpstr>Linker Script Management for Multi-Project Applications</vt:lpstr>
      <vt:lpstr>PowerPoint Presentation</vt:lpstr>
      <vt:lpstr>PowerPoint Presentation</vt:lpstr>
      <vt:lpstr>PowerPoint Presentation</vt:lpstr>
      <vt:lpstr>PowerPoint Presentation</vt:lpstr>
      <vt:lpstr>Distribution of Reference Applications</vt:lpstr>
      <vt:lpstr>PowerPoint Presentation</vt:lpstr>
      <vt:lpstr>IoT Workshop Example - Structure</vt:lpstr>
      <vt:lpstr>Roadmap H1’2023 – CMSIS-Toolbox 2.0</vt:lpstr>
      <vt:lpstr>PowerPoint Presentation</vt:lpstr>
      <vt:lpstr>PowerPoint Presentation</vt:lpstr>
      <vt:lpstr>PowerPoint Presentation</vt:lpstr>
      <vt:lpstr>Software components</vt:lpstr>
      <vt:lpstr>PowerPoint Presentation</vt:lpstr>
      <vt:lpstr>Application example: TCP/IP network</vt:lpstr>
      <vt:lpstr>Class / Pack view </vt:lpstr>
      <vt:lpstr>Software components – Taxonomy</vt:lpstr>
      <vt:lpstr>Bundles</vt:lpstr>
      <vt:lpstr>Bundles</vt:lpstr>
      <vt:lpstr>Relationships of packs and software components</vt:lpstr>
      <vt:lpstr>Central API Interface definition for software components</vt:lpstr>
      <vt:lpstr>API components</vt:lpstr>
      <vt:lpstr>Application example: TCP/IP network</vt:lpstr>
      <vt:lpstr>Application example: TCP/IP network</vt:lpstr>
      <vt:lpstr>Managing software components in a project</vt:lpstr>
      <vt:lpstr>Distribution of Reference Applications</vt:lpstr>
      <vt:lpstr>Distribution of Reference Applications</vt:lpstr>
      <vt:lpstr>Header File Structure</vt:lpstr>
      <vt:lpstr>PowerPoint Presentation</vt:lpstr>
      <vt:lpstr>PowerPoint Presentation</vt:lpstr>
      <vt:lpstr>Configuration of Reference Applications</vt:lpstr>
      <vt:lpstr>cbuild-idx.yml – variable settings</vt:lpstr>
      <vt:lpstr>Developers want project examples</vt:lpstr>
      <vt:lpstr>PowerPoint Presentation</vt:lpstr>
      <vt:lpstr>PowerPoint Presentation</vt:lpstr>
      <vt:lpstr>Run and Debug Management: pyOCD implementation</vt:lpstr>
      <vt:lpstr>PowerPoint Presentation</vt:lpstr>
      <vt:lpstr>Using Layers for Middleware Examples</vt:lpstr>
      <vt:lpstr>Using Layers for test automation</vt:lpstr>
      <vt:lpstr>Using Layers to add Hardware Shields</vt:lpstr>
      <vt:lpstr>PowerPoint Presentation</vt:lpstr>
      <vt:lpstr>PowerPoint Presentation</vt:lpstr>
      <vt:lpstr>Telnet service for character I/O (stdio) </vt:lpstr>
      <vt:lpstr>RTT: Real-Time Transfer for I/O and system monitoring</vt:lpstr>
      <vt:lpstr>Connect SDS-Framework with MLOps Systems</vt:lpstr>
      <vt:lpstr>Trace for heterogenous multi-core systems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Reinhard Keil</dc:creator>
  <cp:lastModifiedBy>Reinhard Keil</cp:lastModifiedBy>
  <cp:revision>86</cp:revision>
  <dcterms:created xsi:type="dcterms:W3CDTF">2021-11-12T09:09:53Z</dcterms:created>
  <dcterms:modified xsi:type="dcterms:W3CDTF">2026-07-09T06:54:17Z</dcterms:modified>
</cp:coreProperties>
</file>